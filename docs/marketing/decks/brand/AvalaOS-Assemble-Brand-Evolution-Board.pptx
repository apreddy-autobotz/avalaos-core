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6f22dab0424b3b" /><Relationship Type="http://schemas.openxmlformats.org/officeDocument/2006/relationships/extended-properties" Target="/docProps/app.xml" Id="R44330ab2154a4ff5" /><Relationship Type="http://schemas.openxmlformats.org/officeDocument/2006/relationships/officeDocument" Target="/ppt/presentation.xml" Id="Ra8e355194e4a44c4" /></Relationships>
</file>

<file path=ppt/presentation.xml><?xml version="1.0" encoding="utf-8"?>
<p:presentation xmlns:p="http://schemas.openxmlformats.org/presentationml/2006/main">
  <p:sldMasterIdLst>
    <p:sldMasterId xmlns:r="http://schemas.openxmlformats.org/officeDocument/2006/relationships" id="2147483648" r:id="Red17fb95a9184135"/>
  </p:sldMasterIdLst>
  <p:notesMasterIdLst>
    <p:notesMasterId xmlns:r="http://schemas.openxmlformats.org/officeDocument/2006/relationships" r:id="R5ef4b6aeb9b24081"/>
  </p:notesMasterIdLst>
  <p:sldIdLst>
    <p:sldId xmlns:r="http://schemas.openxmlformats.org/officeDocument/2006/relationships" id="256" r:id="R0d04865f831f41af"/>
    <p:sldId xmlns:r="http://schemas.openxmlformats.org/officeDocument/2006/relationships" id="257" r:id="R687d4dcc67b64cd3"/>
    <p:sldId xmlns:r="http://schemas.openxmlformats.org/officeDocument/2006/relationships" id="258" r:id="Ra2526832432a438f"/>
    <p:sldId xmlns:r="http://schemas.openxmlformats.org/officeDocument/2006/relationships" id="259" r:id="R242f3cecf36941b7"/>
    <p:sldId xmlns:r="http://schemas.openxmlformats.org/officeDocument/2006/relationships" id="260" r:id="R76156030652d4e1d"/>
    <p:sldId xmlns:r="http://schemas.openxmlformats.org/officeDocument/2006/relationships" id="261" r:id="R5e1168399fcc49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801544f2c44a1e" /><Relationship Type="http://schemas.openxmlformats.org/officeDocument/2006/relationships/slideMaster" Target="/ppt/slideMasters/slideMaster1.xml" Id="Red17fb95a9184135" /><Relationship Type="http://schemas.openxmlformats.org/officeDocument/2006/relationships/notesMaster" Target="/ppt/notesMasters/notesMaster1.xml" Id="R5ef4b6aeb9b24081" /><Relationship Type="http://schemas.openxmlformats.org/officeDocument/2006/relationships/presProps" Target="/ppt/presProps.xml" Id="R1a6e2a0f300c4165" /><Relationship Type="http://schemas.openxmlformats.org/officeDocument/2006/relationships/tableStyles" Target="/ppt/tableStyles.xml" Id="R95e5a41e59dd4c2b" /><Relationship Type="http://schemas.openxmlformats.org/officeDocument/2006/relationships/slide" Target="/ppt/slides/slide1.xml" Id="R0d04865f831f41af" /><Relationship Type="http://schemas.openxmlformats.org/officeDocument/2006/relationships/slide" Target="/ppt/slides/slide2.xml" Id="R687d4dcc67b64cd3" /><Relationship Type="http://schemas.openxmlformats.org/officeDocument/2006/relationships/slide" Target="/ppt/slides/slide3.xml" Id="Ra2526832432a438f" /><Relationship Type="http://schemas.openxmlformats.org/officeDocument/2006/relationships/slide" Target="/ppt/slides/slide4.xml" Id="R242f3cecf36941b7" /><Relationship Type="http://schemas.openxmlformats.org/officeDocument/2006/relationships/slide" Target="/ppt/slides/slide5.xml" Id="R76156030652d4e1d" /><Relationship Type="http://schemas.openxmlformats.org/officeDocument/2006/relationships/slide" Target="/ppt/slides/slide6.xml" Id="R5e1168399fcc49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0bcb8ec7c44a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32b168ae324be5" /><Relationship Type="http://schemas.openxmlformats.org/officeDocument/2006/relationships/notesMaster" Target="/ppt/notesMasters/notesMaster1.xml" Id="Rd830753775a449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c8f8fcf734433f" /><Relationship Type="http://schemas.openxmlformats.org/officeDocument/2006/relationships/notesMaster" Target="/ppt/notesMasters/notesMaster1.xml" Id="R0d0a6aa09ab342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8636391f0a4bf3" /><Relationship Type="http://schemas.openxmlformats.org/officeDocument/2006/relationships/notesMaster" Target="/ppt/notesMasters/notesMaster1.xml" Id="Ra022a253bd9f4f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6fad8440e14aa0" /><Relationship Type="http://schemas.openxmlformats.org/officeDocument/2006/relationships/notesMaster" Target="/ppt/notesMasters/notesMaster1.xml" Id="R11aa7d48ce5943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392383df4245f9" /><Relationship Type="http://schemas.openxmlformats.org/officeDocument/2006/relationships/notesMaster" Target="/ppt/notesMasters/notesMaster1.xml" Id="R7553c369d47740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86ffb728b54736" /><Relationship Type="http://schemas.openxmlformats.org/officeDocument/2006/relationships/notesMaster" Target="/ppt/notesMasters/notesMaster1.xml" Id="R159462678b9c44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retain the equity already working. Preserve the AvalaOS name, current A silhouette, premium wordmark proportions, navy and amber palette, enterprise tone, and canonical tagline. The key distinction is that AvalaOS governs the decision and handoff while authorized systems execute. State the boundary plainly: Internal exploration. No production brand asset is changed.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Retain the equity already working.</a:t>
            </a:r>
          </a:p>
          <a:p xmlns:a="http://schemas.openxmlformats.org/drawingml/2006/main">
            <a:r>
              <a:t/>
            </a:r>
          </a:p>
          <a:p xmlns:a="http://schemas.openxmlformats.org/drawingml/2006/main">
            <a:r>
              <a:t>AUDIENCE-SPECIFIC EMPHASIS</a:t>
            </a:r>
          </a:p>
          <a:p xmlns:a="http://schemas.openxmlformats.org/drawingml/2006/main">
            <a:r>
              <a:t>Define the non-negotiable recognition assets.</a:t>
            </a:r>
          </a:p>
          <a:p xmlns:a="http://schemas.openxmlformats.org/drawingml/2006/main">
            <a:r>
              <a:t/>
            </a:r>
          </a:p>
          <a:p xmlns:a="http://schemas.openxmlformats.org/drawingml/2006/main">
            <a:r>
              <a:t>CLAIMS USED</a:t>
            </a:r>
          </a:p>
          <a:p xmlns:a="http://schemas.openxmlformats.org/drawingml/2006/main">
            <a:r>
              <a:t>CL-002, CL-028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CL-002: docs/00_SOURCE_OF_TRUTH.md — canonical tagline</a:t>
            </a:r>
          </a:p>
          <a:p xmlns:a="http://schemas.openxmlformats.org/drawingml/2006/main">
            <a:r>
              <a:t>- CL-028: components/shared/brand.tsx — AvalaLifecycleLockup; approved master brief — Avala Assemble vision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give the name a future meaning without inventing a current module. Walk through Assess → Avala Assess, Validate → Avala Govern, Assemble → Studio + future assembly, and Launch → Avala Delivery. The remaining signals — Launch → Avala Delivery and Audit → Monitor + Admin — matter because they keep authority and evidence visible. State the boundary plainly: Brand meaning and roadmap vision; not proof of a current Avala Assemble module.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Give the name a future meaning without inventing a current module.</a:t>
            </a:r>
          </a:p>
          <a:p xmlns:a="http://schemas.openxmlformats.org/drawingml/2006/main">
            <a:r>
              <a:t/>
            </a:r>
          </a:p>
          <a:p xmlns:a="http://schemas.openxmlformats.org/drawingml/2006/main">
            <a:r>
              <a:t>AUDIENCE-SPECIFIC EMPHASIS</a:t>
            </a:r>
          </a:p>
          <a:p xmlns:a="http://schemas.openxmlformats.org/drawingml/2006/main">
            <a:r>
              <a:t>Use the mnemonic to clarify the lifecycle, not to overstate capability.</a:t>
            </a:r>
          </a:p>
          <a:p xmlns:a="http://schemas.openxmlformats.org/drawingml/2006/main">
            <a:r>
              <a:t/>
            </a:r>
          </a:p>
          <a:p xmlns:a="http://schemas.openxmlformats.org/drawingml/2006/main">
            <a:r>
              <a:t>CLAIMS USED</a:t>
            </a:r>
          </a:p>
          <a:p xmlns:a="http://schemas.openxmlformats.org/drawingml/2006/main">
            <a:r>
              <a:t>CL-004, CL-028</a:t>
            </a:r>
          </a:p>
          <a:p xmlns:a="http://schemas.openxmlformats.org/drawingml/2006/main">
            <a:r>
              <a:t/>
            </a:r>
          </a:p>
          <a:p xmlns:a="http://schemas.openxmlformats.org/drawingml/2006/main">
            <a:r>
              <a:t>CURRENT VS ROADMAP</a:t>
            </a:r>
          </a:p>
          <a:p xmlns:a="http://schemas.openxmlformats.org/drawingml/2006/main">
            <a:r>
              <a:t>Roadmap vision.</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CL-004: docs/design/avalaos-enterprise-ui-rebaseline.md — Authenticated information architecture</a:t>
            </a:r>
          </a:p>
          <a:p xmlns:a="http://schemas.openxmlformats.org/drawingml/2006/main">
            <a:r>
              <a:t>- CL-028: components/shared/brand.tsx — AvalaLifecycleLockup; approved master brief — Avala Assemble vision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concept 1 — modular a. Walk through Strong assembly metaphor, Clear five-part construction, More radical silhouette, and Risk: reduced recognition at small sizes. The remaining signals — Risk: reduced recognition at small sizes — matter because they keep authority and evidence visible. State the boundary plainly: Exploratory internal mark. Not a production replacement.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Concept 1 — Modular A</a:t>
            </a:r>
          </a:p>
          <a:p xmlns:a="http://schemas.openxmlformats.org/drawingml/2006/main">
            <a:r>
              <a:t/>
            </a:r>
          </a:p>
          <a:p xmlns:a="http://schemas.openxmlformats.org/drawingml/2006/main">
            <a:r>
              <a:t>AUDIENCE-SPECIFIC EMPHASIS</a:t>
            </a:r>
          </a:p>
          <a:p xmlns:a="http://schemas.openxmlformats.org/drawingml/2006/main">
            <a:r>
              <a:t>Judge whether the modularity is worth the recognition cost.</a:t>
            </a:r>
          </a:p>
          <a:p xmlns:a="http://schemas.openxmlformats.org/drawingml/2006/main">
            <a:r>
              <a:t/>
            </a:r>
          </a:p>
          <a:p xmlns:a="http://schemas.openxmlformats.org/drawingml/2006/main">
            <a:r>
              <a:t>CLAIMS USED</a:t>
            </a:r>
          </a:p>
          <a:p xmlns:a="http://schemas.openxmlformats.org/drawingml/2006/main">
            <a:r>
              <a:t>CL-028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CL-028: components/shared/brand.tsx — AvalaLifecycleLockup; approved master brief — Avala Assemble vision</a:t>
            </a:r>
          </a:p>
          <a:p xmlns:a="http://schemas.openxmlformats.org/drawingml/2006/main">
            <a:r>
              <a:t>- Asset: docs/marketing/decks/brand/concepts/concept-01-modular-a.svg (original internal exploration)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concept 2 — governed bridge. Walk through Expresses the connective control layer, Amber pathway signals governed movement, Distinctive at large scale, and Risk: more illustrative than iconic. The remaining signals — Risk: more illustrative than iconic — matter because they keep authority and evidence visible. State the boundary plainly: Exploratory internal mark. Not a production replacement.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Concept 2 — Governed Bridge</a:t>
            </a:r>
          </a:p>
          <a:p xmlns:a="http://schemas.openxmlformats.org/drawingml/2006/main">
            <a:r>
              <a:t/>
            </a:r>
          </a:p>
          <a:p xmlns:a="http://schemas.openxmlformats.org/drawingml/2006/main">
            <a:r>
              <a:t>AUDIENCE-SPECIFIC EMPHASIS</a:t>
            </a:r>
          </a:p>
          <a:p xmlns:a="http://schemas.openxmlformats.org/drawingml/2006/main">
            <a:r>
              <a:t>Test whether the pathway reads at favicon and document sizes.</a:t>
            </a:r>
          </a:p>
          <a:p xmlns:a="http://schemas.openxmlformats.org/drawingml/2006/main">
            <a:r>
              <a:t/>
            </a:r>
          </a:p>
          <a:p xmlns:a="http://schemas.openxmlformats.org/drawingml/2006/main">
            <a:r>
              <a:t>CLAIMS USED</a:t>
            </a:r>
          </a:p>
          <a:p xmlns:a="http://schemas.openxmlformats.org/drawingml/2006/main">
            <a:r>
              <a:t>CL-003, CL-028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CL-003: docs/design/avalaos-enterprise-ui-rebaseline.md — Purpose</a:t>
            </a:r>
          </a:p>
          <a:p xmlns:a="http://schemas.openxmlformats.org/drawingml/2006/main">
            <a:r>
              <a:t>- CL-028: components/shared/brand.tsx — AvalaLifecycleLockup; approved master brief — Avala Assemble vision</a:t>
            </a:r>
          </a:p>
          <a:p xmlns:a="http://schemas.openxmlformats.org/drawingml/2006/main">
            <a:r>
              <a:t>- Asset: docs/marketing/decks/brand/concepts/concept-02-governed-bridge.svg (original internal exploration)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concept 3 — assembly node. Walk through Preserves the current A silhouette, Adds a subtle joining node, Retains navy / amber equity, and Scales with the strongest recognition. The remaining signals — Scales with the strongest recognition — matter because they keep authority and evidence visible. State the boundary plainly: Recommended internal direction. Production use still requires brand and legal approval.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Concept 3 — Assembly Node</a:t>
            </a:r>
          </a:p>
          <a:p xmlns:a="http://schemas.openxmlformats.org/drawingml/2006/main">
            <a:r>
              <a:t/>
            </a:r>
          </a:p>
          <a:p xmlns:a="http://schemas.openxmlformats.org/drawingml/2006/main">
            <a:r>
              <a:t>AUDIENCE-SPECIFIC EMPHASIS</a:t>
            </a:r>
          </a:p>
          <a:p xmlns:a="http://schemas.openxmlformats.org/drawingml/2006/main">
            <a:r>
              <a:t>Show why the smallest change carries the most future meaning.</a:t>
            </a:r>
          </a:p>
          <a:p xmlns:a="http://schemas.openxmlformats.org/drawingml/2006/main">
            <a:r>
              <a:t/>
            </a:r>
          </a:p>
          <a:p xmlns:a="http://schemas.openxmlformats.org/drawingml/2006/main">
            <a:r>
              <a:t>CLAIMS USED</a:t>
            </a:r>
          </a:p>
          <a:p xmlns:a="http://schemas.openxmlformats.org/drawingml/2006/main">
            <a:r>
              <a:t>CL-028</a:t>
            </a:r>
          </a:p>
          <a:p xmlns:a="http://schemas.openxmlformats.org/drawingml/2006/main">
            <a:r>
              <a:t/>
            </a:r>
          </a:p>
          <a:p xmlns:a="http://schemas.openxmlformats.org/drawingml/2006/main">
            <a:r>
              <a:t>CURRENT VS ROADMAP</a:t>
            </a:r>
          </a:p>
          <a:p xmlns:a="http://schemas.openxmlformats.org/drawingml/2006/main">
            <a:r>
              <a:t>Brand evolution candidate.</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CL-028: components/shared/brand.tsx — AvalaLifecycleLockup; approved master brief — Avala Assemble vision</a:t>
            </a:r>
          </a:p>
          <a:p xmlns:a="http://schemas.openxmlformats.org/drawingml/2006/main">
            <a:r>
              <a:t>- Asset: docs/marketing/decks/brand/concepts/concept-03-assembly-node.svg (original internal exploration)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recommend the assembly node — evolve, do not replace. Walk through Keep AvalaOS as the product brand, Use the node only in approved future contexts, Retain current wordmark proportions, and Keep amber below 15% of visual area. The remaining signals — Keep amber below 15% of visual area and Never imply current app generation — matter because they keep authority and evidence visible. State the boundary plainly: Internal recommendation. No production logo, public page, or application asset is modified.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Recommend the Assembly Node — evolve, do not replace.</a:t>
            </a:r>
          </a:p>
          <a:p xmlns:a="http://schemas.openxmlformats.org/drawingml/2006/main">
            <a:r>
              <a:t/>
            </a:r>
          </a:p>
          <a:p xmlns:a="http://schemas.openxmlformats.org/drawingml/2006/main">
            <a:r>
              <a:t>AUDIENCE-SPECIFIC EMPHASIS</a:t>
            </a:r>
          </a:p>
          <a:p xmlns:a="http://schemas.openxmlformats.org/drawingml/2006/main">
            <a:r>
              <a:t>Close with a clear recommendation and safe adoption gate.</a:t>
            </a:r>
          </a:p>
          <a:p xmlns:a="http://schemas.openxmlformats.org/drawingml/2006/main">
            <a:r>
              <a:t/>
            </a:r>
          </a:p>
          <a:p xmlns:a="http://schemas.openxmlformats.org/drawingml/2006/main">
            <a:r>
              <a:t>CLAIMS USED</a:t>
            </a:r>
          </a:p>
          <a:p xmlns:a="http://schemas.openxmlformats.org/drawingml/2006/main">
            <a:r>
              <a:t>CL-002, CL-028</a:t>
            </a:r>
          </a:p>
          <a:p xmlns:a="http://schemas.openxmlformats.org/drawingml/2006/main">
            <a:r>
              <a:t/>
            </a:r>
          </a:p>
          <a:p xmlns:a="http://schemas.openxmlformats.org/drawingml/2006/main">
            <a:r>
              <a:t>CURRENT VS ROADMAP</a:t>
            </a:r>
          </a:p>
          <a:p xmlns:a="http://schemas.openxmlformats.org/drawingml/2006/main">
            <a:r>
              <a:t>Future identity decision only.</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AP brand approval, trademark review, accessibility variants, and production rollout decision.</a:t>
            </a:r>
          </a:p>
          <a:p xmlns:a="http://schemas.openxmlformats.org/drawingml/2006/main">
            <a:r>
              <a:t/>
            </a:r>
          </a:p>
          <a:p xmlns:a="http://schemas.openxmlformats.org/drawingml/2006/main">
            <a:r>
              <a:t>[Sources]</a:t>
            </a:r>
          </a:p>
          <a:p xmlns:a="http://schemas.openxmlformats.org/drawingml/2006/main">
            <a:r>
              <a:t>- CL-002: docs/00_SOURCE_OF_TRUTH.md — canonical tagline</a:t>
            </a:r>
          </a:p>
          <a:p xmlns:a="http://schemas.openxmlformats.org/drawingml/2006/main">
            <a:r>
              <a:t>- CL-028: components/shared/brand.tsx — AvalaLifecycleLockup; approved master brief — Avala Assemble vision</a:t>
            </a:r>
          </a:p>
          <a:p xmlns:a="http://schemas.openxmlformats.org/drawingml/2006/main">
            <a:r>
              <a:t>- Asset: docs/marketing/decks/brand/concepts/concept-03-assembly-node.svg (original internal exploration)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d2d964daf94e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855139b4194965" /><Relationship Type="http://schemas.openxmlformats.org/officeDocument/2006/relationships/slideLayout" Target="/ppt/slideLayouts/slideLayout1.xml" Id="R841e26acc5db45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1e26acc5db45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a675912c9a461b" /><Relationship Type="http://schemas.openxmlformats.org/officeDocument/2006/relationships/image" Target="/ppt/media/image.png" Id="R5ee7a5d01f364b7a" /><Relationship Type="http://schemas.openxmlformats.org/officeDocument/2006/relationships/notesSlide" Target="/ppt/notesSlides/notesSlide1.xml" Id="R465489837eb74e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2ab1faad21400a" /><Relationship Type="http://schemas.openxmlformats.org/officeDocument/2006/relationships/notesSlide" Target="/ppt/notesSlides/notesSlide2.xml" Id="R84d8d2cc8a6949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a4d19a8a07429b" /><Relationship Type="http://schemas.openxmlformats.org/officeDocument/2006/relationships/image" Target="/ppt/media/image2.png" Id="Re1ff29faf4054e6f" /><Relationship Type="http://schemas.openxmlformats.org/officeDocument/2006/relationships/notesSlide" Target="/ppt/notesSlides/notesSlide3.xml" Id="R9f8d9e0fb78c4f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e4476543724ec9" /><Relationship Type="http://schemas.openxmlformats.org/officeDocument/2006/relationships/image" Target="/ppt/media/image3.png" Id="R4a10e5ac0a214864" /><Relationship Type="http://schemas.openxmlformats.org/officeDocument/2006/relationships/notesSlide" Target="/ppt/notesSlides/notesSlide4.xml" Id="Raf8a65d94f4244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2ba36376404838" /><Relationship Type="http://schemas.openxmlformats.org/officeDocument/2006/relationships/image" Target="/ppt/media/image4.png" Id="Rd3deaab3185d4b8a" /><Relationship Type="http://schemas.openxmlformats.org/officeDocument/2006/relationships/notesSlide" Target="/ppt/notesSlides/notesSlide5.xml" Id="R7a003883081041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5e6ff8333e4cd9" /><Relationship Type="http://schemas.openxmlformats.org/officeDocument/2006/relationships/image" Target="/ppt/media/image5.png" Id="R3c34d6b50e174896" /><Relationship Type="http://schemas.openxmlformats.org/officeDocument/2006/relationships/notesSlide" Target="/ppt/notesSlides/notesSlide6.xml" Id="R3406d52235de4f84" /></Relationships>
</file>

<file path=ppt/slides/slide1.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B8C183-8500-435D-BAA0-A1A6A371468A}"/>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DC1765A-2C58-4FD6-B0F3-DDAE02259692}"/>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AVALAOS BRAND EVOLUTION • INTERNAL</a:t>
            </a:r>
          </a:p>
        </p:txBody>
      </p:sp>
      <p:sp>
        <p:nvSpPr>
          <p:cNvPr id="3" name="">
            <a:extLst xmlns:a="http://schemas.openxmlformats.org/drawingml/2006/main">
              <a:ext uri="{FF2B5EF4-FFF2-40B4-BE49-F238E27FC236}">
                <a16:creationId xmlns:a16="http://schemas.microsoft.com/office/drawing/2014/main" id="{6610A284-B043-4068-B636-844FCC4520F8}"/>
              </a:ext>
            </a:extLst>
          </p:cNvPr>
          <p:cNvSpPr>
            <a:spLocks xmlns:a="http://schemas.openxmlformats.org/drawingml/2006/main" noGrp="1"/>
          </p:cNvSpPr>
          <p:nvPr/>
        </p:nvSpPr>
        <p:spPr>
          <a:xfrm xmlns:a="http://schemas.openxmlformats.org/drawingml/2006/main">
            <a:off x="609600" y="685800"/>
            <a:ext cx="102870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75" b="1">
                <a:solidFill>
                  <a:srgbClr val="FFFFFF"/>
                </a:solidFill>
                <a:latin typeface="Outfit"/>
                <a:ea typeface="Outfit"/>
                <a:cs typeface="Outfit"/>
              </a:defRPr>
            </a:pPr>
            <a:r>
              <a:rPr sz="3075" b="1">
                <a:solidFill>
                  <a:srgbClr val="FFFFFF"/>
                </a:solidFill>
                <a:latin typeface="Outfit"/>
                <a:ea typeface="Outfit"/>
                <a:cs typeface="Outfit"/>
              </a:rPr>
              <a:t>Retain the equity already working.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ee7a5d01f364b7a"/>
          <a:stretch xmlns:a="http://schemas.openxmlformats.org/drawingml/2006/main"/>
        </p:blipFill>
        <p:spPr>
          <a:xfrm xmlns:a="http://schemas.openxmlformats.org/drawingml/2006/main">
            <a:off x="1143000" y="2128492"/>
            <a:ext cx="9906000" cy="212476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5301CE-64C9-44AE-964D-8C8446004ED5}"/>
              </a:ext>
            </a:extLst>
          </p:cNvPr>
          <p:cNvSpPr>
            <a:spLocks xmlns:a="http://schemas.openxmlformats.org/drawingml/2006/main" noGrp="1"/>
          </p:cNvSpPr>
          <p:nvPr/>
        </p:nvSpPr>
        <p:spPr>
          <a:xfrm xmlns:a="http://schemas.openxmlformats.org/drawingml/2006/main">
            <a:off x="1524000" y="4762500"/>
            <a:ext cx="9144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a:solidFill>
                  <a:srgbClr val="DCE6EF"/>
                </a:solidFill>
                <a:latin typeface="Inter"/>
                <a:ea typeface="Inter"/>
                <a:cs typeface="Inter"/>
              </a:defRPr>
            </a:pPr>
            <a:r>
              <a:rPr sz="1500" b="0">
                <a:solidFill>
                  <a:srgbClr val="DCE6EF"/>
                </a:solidFill>
                <a:latin typeface="Inter"/>
                <a:ea typeface="Inter"/>
                <a:cs typeface="Inter"/>
              </a:rPr>
              <a:t>Preserve the AvalaOS name, current A silhouette, premium wordmark proportions, navy and amber palette, enterprise tone, and canonical tagline.</a:t>
            </a:r>
          </a:p>
        </p:txBody>
      </p:sp>
      <p:sp>
        <p:nvSpPr>
          <p:cNvPr id="6" name="">
            <a:extLst xmlns:a="http://schemas.openxmlformats.org/drawingml/2006/main">
              <a:ext uri="{FF2B5EF4-FFF2-40B4-BE49-F238E27FC236}">
                <a16:creationId xmlns:a16="http://schemas.microsoft.com/office/drawing/2014/main" id="{61ECFCEB-FD81-43D9-8EB6-C2F8DE2169BB}"/>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Evolution, not replacement • Internal AvalaOS brand and product decision-makers</a:t>
            </a:r>
          </a:p>
        </p:txBody>
      </p:sp>
      <p:sp>
        <p:nvSpPr>
          <p:cNvPr id="7" name="">
            <a:extLst xmlns:a="http://schemas.openxmlformats.org/drawingml/2006/main">
              <a:ext uri="{FF2B5EF4-FFF2-40B4-BE49-F238E27FC236}">
                <a16:creationId xmlns:a16="http://schemas.microsoft.com/office/drawing/2014/main" id="{92A2F8DD-80B8-4B64-86BF-1887F1B2A377}"/>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Internal exploration. No production brand asset is changed.</a:t>
            </a:r>
          </a:p>
        </p:txBody>
      </p:sp>
      <p:sp>
        <p:nvSpPr>
          <p:cNvPr id="8" name="">
            <a:extLst xmlns:a="http://schemas.openxmlformats.org/drawingml/2006/main">
              <a:ext uri="{FF2B5EF4-FFF2-40B4-BE49-F238E27FC236}">
                <a16:creationId xmlns:a16="http://schemas.microsoft.com/office/drawing/2014/main" id="{8BB5820B-F48C-4998-ADF5-BF5D653C3C35}"/>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01</a:t>
            </a:r>
          </a:p>
        </p:txBody>
      </p:sp>
    </p:spTree>
    <p:extLst>
      <p:ext uri="{BB962C8B-B14F-4D97-AF65-F5344CB8AC3E}">
        <p14:creationId xmlns:p14="http://schemas.microsoft.com/office/powerpoint/2010/main" val="1414854356"/>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777F528-126D-4C5B-A015-A84A8712A454}"/>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AFA3107-05F6-4E6F-A0F0-0A3B1F1C8C7F}"/>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FUTURE MNEMONIC</a:t>
            </a:r>
          </a:p>
        </p:txBody>
      </p:sp>
      <p:sp>
        <p:nvSpPr>
          <p:cNvPr id="3" name="">
            <a:extLst xmlns:a="http://schemas.openxmlformats.org/drawingml/2006/main">
              <a:ext uri="{FF2B5EF4-FFF2-40B4-BE49-F238E27FC236}">
                <a16:creationId xmlns:a16="http://schemas.microsoft.com/office/drawing/2014/main" id="{6C7F9D21-FD1E-499E-A007-B4D5F5EFB084}"/>
              </a:ext>
            </a:extLst>
          </p:cNvPr>
          <p:cNvSpPr>
            <a:spLocks xmlns:a="http://schemas.openxmlformats.org/drawingml/2006/main" noGrp="1"/>
          </p:cNvSpPr>
          <p:nvPr/>
        </p:nvSpPr>
        <p:spPr>
          <a:xfrm xmlns:a="http://schemas.openxmlformats.org/drawingml/2006/main">
            <a:off x="609600" y="638175"/>
            <a:ext cx="10287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Give the name a future meaning without inventing a current module.</a:t>
            </a:r>
          </a:p>
        </p:txBody>
      </p:sp>
      <p:sp>
        <p:nvSpPr>
          <p:cNvPr id="4" name="">
            <a:extLst xmlns:a="http://schemas.openxmlformats.org/drawingml/2006/main">
              <a:ext uri="{FF2B5EF4-FFF2-40B4-BE49-F238E27FC236}">
                <a16:creationId xmlns:a16="http://schemas.microsoft.com/office/drawing/2014/main" id="{B0199D46-FEE3-48AA-9F01-3941D0C00728}"/>
              </a:ext>
            </a:extLst>
          </p:cNvPr>
          <p:cNvSpPr>
            <a:spLocks xmlns:a="http://schemas.openxmlformats.org/drawingml/2006/main" noGrp="1"/>
          </p:cNvSpPr>
          <p:nvPr/>
        </p:nvSpPr>
        <p:spPr>
          <a:xfrm xmlns:a="http://schemas.openxmlformats.org/drawingml/2006/main">
            <a:off x="714375" y="1809750"/>
            <a:ext cx="16192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650" b="1">
                <a:solidFill>
                  <a:srgbClr val="001B30"/>
                </a:solidFill>
                <a:latin typeface="Outfit"/>
                <a:ea typeface="Outfit"/>
                <a:cs typeface="Outfit"/>
              </a:defRPr>
            </a:pPr>
            <a:r>
              <a:rPr sz="4650" b="1">
                <a:solidFill>
                  <a:srgbClr val="001B30"/>
                </a:solidFill>
                <a:latin typeface="Outfit"/>
                <a:ea typeface="Outfit"/>
                <a:cs typeface="Outfit"/>
              </a:rPr>
              <a:t>A</a:t>
            </a:r>
          </a:p>
        </p:txBody>
      </p:sp>
      <p:sp>
        <p:nvSpPr>
          <p:cNvPr id="5" name="">
            <a:extLst xmlns:a="http://schemas.openxmlformats.org/drawingml/2006/main">
              <a:ext uri="{FF2B5EF4-FFF2-40B4-BE49-F238E27FC236}">
                <a16:creationId xmlns:a16="http://schemas.microsoft.com/office/drawing/2014/main" id="{63B89356-26B6-47D9-80CD-2709D30BDD6E}"/>
              </a:ext>
            </a:extLst>
          </p:cNvPr>
          <p:cNvSpPr>
            <a:spLocks xmlns:a="http://schemas.openxmlformats.org/drawingml/2006/main" noGrp="1"/>
          </p:cNvSpPr>
          <p:nvPr/>
        </p:nvSpPr>
        <p:spPr>
          <a:xfrm xmlns:a="http://schemas.openxmlformats.org/drawingml/2006/main">
            <a:off x="714375" y="2857500"/>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52627A"/>
                </a:solidFill>
                <a:latin typeface="Inter"/>
                <a:ea typeface="Inter"/>
                <a:cs typeface="Inter"/>
              </a:defRPr>
            </a:pPr>
            <a:r>
              <a:rPr sz="1200" b="1">
                <a:solidFill>
                  <a:srgbClr val="52627A"/>
                </a:solidFill>
                <a:latin typeface="Inter"/>
                <a:ea typeface="Inter"/>
                <a:cs typeface="Inter"/>
              </a:rPr>
              <a:t>Assess</a:t>
            </a:r>
          </a:p>
        </p:txBody>
      </p:sp>
      <p:sp>
        <p:nvSpPr>
          <p:cNvPr id="6" name="">
            <a:extLst xmlns:a="http://schemas.openxmlformats.org/drawingml/2006/main">
              <a:ext uri="{FF2B5EF4-FFF2-40B4-BE49-F238E27FC236}">
                <a16:creationId xmlns:a16="http://schemas.microsoft.com/office/drawing/2014/main" id="{D2350C1D-F998-4807-91E1-3D5E518E6350}"/>
              </a:ext>
            </a:extLst>
          </p:cNvPr>
          <p:cNvSpPr>
            <a:spLocks xmlns:a="http://schemas.openxmlformats.org/drawingml/2006/main" noGrp="1"/>
          </p:cNvSpPr>
          <p:nvPr/>
        </p:nvSpPr>
        <p:spPr>
          <a:xfrm xmlns:a="http://schemas.openxmlformats.org/drawingml/2006/main">
            <a:off x="2524125" y="1809750"/>
            <a:ext cx="16192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650" b="1">
                <a:solidFill>
                  <a:srgbClr val="001B30"/>
                </a:solidFill>
                <a:latin typeface="Outfit"/>
                <a:ea typeface="Outfit"/>
                <a:cs typeface="Outfit"/>
              </a:defRPr>
            </a:pPr>
            <a:r>
              <a:rPr sz="4650" b="1">
                <a:solidFill>
                  <a:srgbClr val="001B30"/>
                </a:solidFill>
                <a:latin typeface="Outfit"/>
                <a:ea typeface="Outfit"/>
                <a:cs typeface="Outfit"/>
              </a:rPr>
              <a:t>V</a:t>
            </a:r>
          </a:p>
        </p:txBody>
      </p:sp>
      <p:sp>
        <p:nvSpPr>
          <p:cNvPr id="7" name="">
            <a:extLst xmlns:a="http://schemas.openxmlformats.org/drawingml/2006/main">
              <a:ext uri="{FF2B5EF4-FFF2-40B4-BE49-F238E27FC236}">
                <a16:creationId xmlns:a16="http://schemas.microsoft.com/office/drawing/2014/main" id="{92B1153F-D2C9-4A98-9A61-78647BFFB6CD}"/>
              </a:ext>
            </a:extLst>
          </p:cNvPr>
          <p:cNvSpPr>
            <a:spLocks xmlns:a="http://schemas.openxmlformats.org/drawingml/2006/main" noGrp="1"/>
          </p:cNvSpPr>
          <p:nvPr/>
        </p:nvSpPr>
        <p:spPr>
          <a:xfrm xmlns:a="http://schemas.openxmlformats.org/drawingml/2006/main">
            <a:off x="2524125" y="2857500"/>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52627A"/>
                </a:solidFill>
                <a:latin typeface="Inter"/>
                <a:ea typeface="Inter"/>
                <a:cs typeface="Inter"/>
              </a:defRPr>
            </a:pPr>
            <a:r>
              <a:rPr sz="1200" b="1">
                <a:solidFill>
                  <a:srgbClr val="52627A"/>
                </a:solidFill>
                <a:latin typeface="Inter"/>
                <a:ea typeface="Inter"/>
                <a:cs typeface="Inter"/>
              </a:rPr>
              <a:t>Validate</a:t>
            </a:r>
          </a:p>
        </p:txBody>
      </p:sp>
      <p:sp>
        <p:nvSpPr>
          <p:cNvPr id="8" name="">
            <a:extLst xmlns:a="http://schemas.openxmlformats.org/drawingml/2006/main">
              <a:ext uri="{FF2B5EF4-FFF2-40B4-BE49-F238E27FC236}">
                <a16:creationId xmlns:a16="http://schemas.microsoft.com/office/drawing/2014/main" id="{C5E0C18E-87D7-4714-9311-A5E9CCD8C831}"/>
              </a:ext>
            </a:extLst>
          </p:cNvPr>
          <p:cNvSpPr>
            <a:spLocks xmlns:a="http://schemas.openxmlformats.org/drawingml/2006/main" noGrp="1"/>
          </p:cNvSpPr>
          <p:nvPr/>
        </p:nvSpPr>
        <p:spPr>
          <a:xfrm xmlns:a="http://schemas.openxmlformats.org/drawingml/2006/main">
            <a:off x="4333875" y="1809750"/>
            <a:ext cx="16192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650" b="1">
                <a:solidFill>
                  <a:srgbClr val="FFBC03"/>
                </a:solidFill>
                <a:latin typeface="Outfit"/>
                <a:ea typeface="Outfit"/>
                <a:cs typeface="Outfit"/>
              </a:defRPr>
            </a:pPr>
            <a:r>
              <a:rPr sz="4650" b="1">
                <a:solidFill>
                  <a:srgbClr val="FFBC03"/>
                </a:solidFill>
                <a:latin typeface="Outfit"/>
                <a:ea typeface="Outfit"/>
                <a:cs typeface="Outfit"/>
              </a:rPr>
              <a:t>A</a:t>
            </a:r>
          </a:p>
        </p:txBody>
      </p:sp>
      <p:sp>
        <p:nvSpPr>
          <p:cNvPr id="9" name="">
            <a:extLst xmlns:a="http://schemas.openxmlformats.org/drawingml/2006/main">
              <a:ext uri="{FF2B5EF4-FFF2-40B4-BE49-F238E27FC236}">
                <a16:creationId xmlns:a16="http://schemas.microsoft.com/office/drawing/2014/main" id="{27B2EFC1-560C-4E95-9532-F043E3D63787}"/>
              </a:ext>
            </a:extLst>
          </p:cNvPr>
          <p:cNvSpPr>
            <a:spLocks xmlns:a="http://schemas.openxmlformats.org/drawingml/2006/main" noGrp="1"/>
          </p:cNvSpPr>
          <p:nvPr/>
        </p:nvSpPr>
        <p:spPr>
          <a:xfrm xmlns:a="http://schemas.openxmlformats.org/drawingml/2006/main">
            <a:off x="4333875" y="2857500"/>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52627A"/>
                </a:solidFill>
                <a:latin typeface="Inter"/>
                <a:ea typeface="Inter"/>
                <a:cs typeface="Inter"/>
              </a:defRPr>
            </a:pPr>
            <a:r>
              <a:rPr sz="1200" b="1">
                <a:solidFill>
                  <a:srgbClr val="52627A"/>
                </a:solidFill>
                <a:latin typeface="Inter"/>
                <a:ea typeface="Inter"/>
                <a:cs typeface="Inter"/>
              </a:rPr>
              <a:t>Assemble</a:t>
            </a:r>
          </a:p>
        </p:txBody>
      </p:sp>
      <p:sp>
        <p:nvSpPr>
          <p:cNvPr id="10" name="">
            <a:extLst xmlns:a="http://schemas.openxmlformats.org/drawingml/2006/main">
              <a:ext uri="{FF2B5EF4-FFF2-40B4-BE49-F238E27FC236}">
                <a16:creationId xmlns:a16="http://schemas.microsoft.com/office/drawing/2014/main" id="{3509FE15-700C-4FAA-BE55-9FE5E4BA6A1D}"/>
              </a:ext>
            </a:extLst>
          </p:cNvPr>
          <p:cNvSpPr>
            <a:spLocks xmlns:a="http://schemas.openxmlformats.org/drawingml/2006/main" noGrp="1"/>
          </p:cNvSpPr>
          <p:nvPr/>
        </p:nvSpPr>
        <p:spPr>
          <a:xfrm xmlns:a="http://schemas.openxmlformats.org/drawingml/2006/main">
            <a:off x="6143625" y="1809750"/>
            <a:ext cx="16192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650" b="1">
                <a:solidFill>
                  <a:srgbClr val="001B30"/>
                </a:solidFill>
                <a:latin typeface="Outfit"/>
                <a:ea typeface="Outfit"/>
                <a:cs typeface="Outfit"/>
              </a:defRPr>
            </a:pPr>
            <a:r>
              <a:rPr sz="4650" b="1">
                <a:solidFill>
                  <a:srgbClr val="001B30"/>
                </a:solidFill>
                <a:latin typeface="Outfit"/>
                <a:ea typeface="Outfit"/>
                <a:cs typeface="Outfit"/>
              </a:rPr>
              <a:t>L</a:t>
            </a:r>
          </a:p>
        </p:txBody>
      </p:sp>
      <p:sp>
        <p:nvSpPr>
          <p:cNvPr id="11" name="">
            <a:extLst xmlns:a="http://schemas.openxmlformats.org/drawingml/2006/main">
              <a:ext uri="{FF2B5EF4-FFF2-40B4-BE49-F238E27FC236}">
                <a16:creationId xmlns:a16="http://schemas.microsoft.com/office/drawing/2014/main" id="{91EAA0B9-586E-4838-BBA3-C299834AABB5}"/>
              </a:ext>
            </a:extLst>
          </p:cNvPr>
          <p:cNvSpPr>
            <a:spLocks xmlns:a="http://schemas.openxmlformats.org/drawingml/2006/main" noGrp="1"/>
          </p:cNvSpPr>
          <p:nvPr/>
        </p:nvSpPr>
        <p:spPr>
          <a:xfrm xmlns:a="http://schemas.openxmlformats.org/drawingml/2006/main">
            <a:off x="6143625" y="2857500"/>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52627A"/>
                </a:solidFill>
                <a:latin typeface="Inter"/>
                <a:ea typeface="Inter"/>
                <a:cs typeface="Inter"/>
              </a:defRPr>
            </a:pPr>
            <a:r>
              <a:rPr sz="1200" b="1">
                <a:solidFill>
                  <a:srgbClr val="52627A"/>
                </a:solidFill>
                <a:latin typeface="Inter"/>
                <a:ea typeface="Inter"/>
                <a:cs typeface="Inter"/>
              </a:rPr>
              <a:t>Launch</a:t>
            </a:r>
          </a:p>
        </p:txBody>
      </p:sp>
      <p:sp>
        <p:nvSpPr>
          <p:cNvPr id="12" name="">
            <a:extLst xmlns:a="http://schemas.openxmlformats.org/drawingml/2006/main">
              <a:ext uri="{FF2B5EF4-FFF2-40B4-BE49-F238E27FC236}">
                <a16:creationId xmlns:a16="http://schemas.microsoft.com/office/drawing/2014/main" id="{35B4A726-6253-4B93-9047-141A4CEB2AAB}"/>
              </a:ext>
            </a:extLst>
          </p:cNvPr>
          <p:cNvSpPr>
            <a:spLocks xmlns:a="http://schemas.openxmlformats.org/drawingml/2006/main" noGrp="1"/>
          </p:cNvSpPr>
          <p:nvPr/>
        </p:nvSpPr>
        <p:spPr>
          <a:xfrm xmlns:a="http://schemas.openxmlformats.org/drawingml/2006/main">
            <a:off x="7953375" y="1809750"/>
            <a:ext cx="16192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650" b="1">
                <a:solidFill>
                  <a:srgbClr val="001B30"/>
                </a:solidFill>
                <a:latin typeface="Outfit"/>
                <a:ea typeface="Outfit"/>
                <a:cs typeface="Outfit"/>
              </a:defRPr>
            </a:pPr>
            <a:r>
              <a:rPr sz="4650" b="1">
                <a:solidFill>
                  <a:srgbClr val="001B30"/>
                </a:solidFill>
                <a:latin typeface="Outfit"/>
                <a:ea typeface="Outfit"/>
                <a:cs typeface="Outfit"/>
              </a:rPr>
              <a:t>A</a:t>
            </a:r>
          </a:p>
        </p:txBody>
      </p:sp>
      <p:sp>
        <p:nvSpPr>
          <p:cNvPr id="13" name="">
            <a:extLst xmlns:a="http://schemas.openxmlformats.org/drawingml/2006/main">
              <a:ext uri="{FF2B5EF4-FFF2-40B4-BE49-F238E27FC236}">
                <a16:creationId xmlns:a16="http://schemas.microsoft.com/office/drawing/2014/main" id="{A4DE9DD3-6625-412C-9319-4673BC9F380C}"/>
              </a:ext>
            </a:extLst>
          </p:cNvPr>
          <p:cNvSpPr>
            <a:spLocks xmlns:a="http://schemas.openxmlformats.org/drawingml/2006/main" noGrp="1"/>
          </p:cNvSpPr>
          <p:nvPr/>
        </p:nvSpPr>
        <p:spPr>
          <a:xfrm xmlns:a="http://schemas.openxmlformats.org/drawingml/2006/main">
            <a:off x="7953375" y="2857500"/>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52627A"/>
                </a:solidFill>
                <a:latin typeface="Inter"/>
                <a:ea typeface="Inter"/>
                <a:cs typeface="Inter"/>
              </a:defRPr>
            </a:pPr>
            <a:r>
              <a:rPr sz="1200" b="1">
                <a:solidFill>
                  <a:srgbClr val="52627A"/>
                </a:solidFill>
                <a:latin typeface="Inter"/>
                <a:ea typeface="Inter"/>
                <a:cs typeface="Inter"/>
              </a:rPr>
              <a:t>Audit</a:t>
            </a:r>
          </a:p>
        </p:txBody>
      </p:sp>
      <p:sp>
        <p:nvSpPr>
          <p:cNvPr id="14" name="">
            <a:extLst xmlns:a="http://schemas.openxmlformats.org/drawingml/2006/main">
              <a:ext uri="{FF2B5EF4-FFF2-40B4-BE49-F238E27FC236}">
                <a16:creationId xmlns:a16="http://schemas.microsoft.com/office/drawing/2014/main" id="{8BB940A3-FF4C-4747-A98A-8D70DDE37F8E}"/>
              </a:ext>
            </a:extLst>
          </p:cNvPr>
          <p:cNvSpPr>
            <a:spLocks xmlns:a="http://schemas.openxmlformats.org/drawingml/2006/main" noGrp="1"/>
          </p:cNvSpPr>
          <p:nvPr/>
        </p:nvSpPr>
        <p:spPr>
          <a:xfrm xmlns:a="http://schemas.openxmlformats.org/drawingml/2006/main">
            <a:off x="9763125" y="1809750"/>
            <a:ext cx="16192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600" b="1">
                <a:solidFill>
                  <a:srgbClr val="001B30"/>
                </a:solidFill>
                <a:latin typeface="Outfit"/>
                <a:ea typeface="Outfit"/>
                <a:cs typeface="Outfit"/>
              </a:defRPr>
            </a:pPr>
            <a:r>
              <a:rPr sz="3600" b="1">
                <a:solidFill>
                  <a:srgbClr val="001B30"/>
                </a:solidFill>
                <a:latin typeface="Outfit"/>
                <a:ea typeface="Outfit"/>
                <a:cs typeface="Outfit"/>
              </a:rPr>
              <a:t>OS</a:t>
            </a:r>
          </a:p>
        </p:txBody>
      </p:sp>
      <p:sp>
        <p:nvSpPr>
          <p:cNvPr id="15" name="">
            <a:extLst xmlns:a="http://schemas.openxmlformats.org/drawingml/2006/main">
              <a:ext uri="{FF2B5EF4-FFF2-40B4-BE49-F238E27FC236}">
                <a16:creationId xmlns:a16="http://schemas.microsoft.com/office/drawing/2014/main" id="{DB43B3C1-5E6C-45E1-BCD4-59DC2317ED62}"/>
              </a:ext>
            </a:extLst>
          </p:cNvPr>
          <p:cNvSpPr>
            <a:spLocks xmlns:a="http://schemas.openxmlformats.org/drawingml/2006/main" noGrp="1"/>
          </p:cNvSpPr>
          <p:nvPr/>
        </p:nvSpPr>
        <p:spPr>
          <a:xfrm xmlns:a="http://schemas.openxmlformats.org/drawingml/2006/main">
            <a:off x="9763125" y="2857500"/>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52627A"/>
                </a:solidFill>
                <a:latin typeface="Inter"/>
                <a:ea typeface="Inter"/>
                <a:cs typeface="Inter"/>
              </a:defRPr>
            </a:pPr>
            <a:r>
              <a:rPr sz="1200" b="1">
                <a:solidFill>
                  <a:srgbClr val="52627A"/>
                </a:solidFill>
                <a:latin typeface="Inter"/>
                <a:ea typeface="Inter"/>
                <a:cs typeface="Inter"/>
              </a:rPr>
              <a:t>Operating System</a:t>
            </a:r>
          </a:p>
        </p:txBody>
      </p:sp>
      <p:sp>
        <p:nvSpPr>
          <p:cNvPr id="16" name="">
            <a:extLst xmlns:a="http://schemas.openxmlformats.org/drawingml/2006/main">
              <a:ext uri="{FF2B5EF4-FFF2-40B4-BE49-F238E27FC236}">
                <a16:creationId xmlns:a16="http://schemas.microsoft.com/office/drawing/2014/main" id="{9C037180-00EE-4D26-B2B1-C58D8F0C0B14}"/>
              </a:ext>
            </a:extLst>
          </p:cNvPr>
          <p:cNvSpPr>
            <a:spLocks xmlns:a="http://schemas.openxmlformats.org/drawingml/2006/main" noGrp="1"/>
          </p:cNvSpPr>
          <p:nvPr/>
        </p:nvSpPr>
        <p:spPr>
          <a:xfrm xmlns:a="http://schemas.openxmlformats.org/drawingml/2006/main">
            <a:off x="1524000" y="40767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98D3899-CE49-42DF-8562-32E7C3678723}"/>
              </a:ext>
            </a:extLst>
          </p:cNvPr>
          <p:cNvSpPr>
            <a:spLocks xmlns:a="http://schemas.openxmlformats.org/drawingml/2006/main" noGrp="1"/>
          </p:cNvSpPr>
          <p:nvPr/>
        </p:nvSpPr>
        <p:spPr>
          <a:xfrm xmlns:a="http://schemas.openxmlformats.org/drawingml/2006/main">
            <a:off x="1752600" y="4000500"/>
            <a:ext cx="89154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Assess → Avala Assess</a:t>
            </a:r>
          </a:p>
        </p:txBody>
      </p:sp>
      <p:sp>
        <p:nvSpPr>
          <p:cNvPr id="18" name="">
            <a:extLst xmlns:a="http://schemas.openxmlformats.org/drawingml/2006/main">
              <a:ext uri="{FF2B5EF4-FFF2-40B4-BE49-F238E27FC236}">
                <a16:creationId xmlns:a16="http://schemas.microsoft.com/office/drawing/2014/main" id="{3E39D0A7-4421-4C00-AF5A-A7AB69C526B9}"/>
              </a:ext>
            </a:extLst>
          </p:cNvPr>
          <p:cNvSpPr>
            <a:spLocks xmlns:a="http://schemas.openxmlformats.org/drawingml/2006/main" noGrp="1"/>
          </p:cNvSpPr>
          <p:nvPr/>
        </p:nvSpPr>
        <p:spPr>
          <a:xfrm xmlns:a="http://schemas.openxmlformats.org/drawingml/2006/main">
            <a:off x="1524000" y="448627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0BA3127-90F2-4EA5-AFC1-642714B70503}"/>
              </a:ext>
            </a:extLst>
          </p:cNvPr>
          <p:cNvSpPr>
            <a:spLocks xmlns:a="http://schemas.openxmlformats.org/drawingml/2006/main" noGrp="1"/>
          </p:cNvSpPr>
          <p:nvPr/>
        </p:nvSpPr>
        <p:spPr>
          <a:xfrm xmlns:a="http://schemas.openxmlformats.org/drawingml/2006/main">
            <a:off x="1752600" y="4410075"/>
            <a:ext cx="89154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Validate → Avala Govern</a:t>
            </a:r>
          </a:p>
        </p:txBody>
      </p:sp>
      <p:sp>
        <p:nvSpPr>
          <p:cNvPr id="20" name="">
            <a:extLst xmlns:a="http://schemas.openxmlformats.org/drawingml/2006/main">
              <a:ext uri="{FF2B5EF4-FFF2-40B4-BE49-F238E27FC236}">
                <a16:creationId xmlns:a16="http://schemas.microsoft.com/office/drawing/2014/main" id="{0E904A40-47FF-44B8-8CF2-7BD27164B512}"/>
              </a:ext>
            </a:extLst>
          </p:cNvPr>
          <p:cNvSpPr>
            <a:spLocks xmlns:a="http://schemas.openxmlformats.org/drawingml/2006/main" noGrp="1"/>
          </p:cNvSpPr>
          <p:nvPr/>
        </p:nvSpPr>
        <p:spPr>
          <a:xfrm xmlns:a="http://schemas.openxmlformats.org/drawingml/2006/main">
            <a:off x="1524000" y="48958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A1E9C50-0ACA-4B5E-8A42-55286576C6FE}"/>
              </a:ext>
            </a:extLst>
          </p:cNvPr>
          <p:cNvSpPr>
            <a:spLocks xmlns:a="http://schemas.openxmlformats.org/drawingml/2006/main" noGrp="1"/>
          </p:cNvSpPr>
          <p:nvPr/>
        </p:nvSpPr>
        <p:spPr>
          <a:xfrm xmlns:a="http://schemas.openxmlformats.org/drawingml/2006/main">
            <a:off x="1752600" y="4819650"/>
            <a:ext cx="89154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Assemble → Studio + future assembly</a:t>
            </a:r>
          </a:p>
        </p:txBody>
      </p:sp>
      <p:sp>
        <p:nvSpPr>
          <p:cNvPr id="22" name="">
            <a:extLst xmlns:a="http://schemas.openxmlformats.org/drawingml/2006/main">
              <a:ext uri="{FF2B5EF4-FFF2-40B4-BE49-F238E27FC236}">
                <a16:creationId xmlns:a16="http://schemas.microsoft.com/office/drawing/2014/main" id="{3EA324DB-41A1-4C1A-B028-6FE62A7A5620}"/>
              </a:ext>
            </a:extLst>
          </p:cNvPr>
          <p:cNvSpPr>
            <a:spLocks xmlns:a="http://schemas.openxmlformats.org/drawingml/2006/main" noGrp="1"/>
          </p:cNvSpPr>
          <p:nvPr/>
        </p:nvSpPr>
        <p:spPr>
          <a:xfrm xmlns:a="http://schemas.openxmlformats.org/drawingml/2006/main">
            <a:off x="1524000" y="53054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CC01075-C189-45CC-887B-9353198643DB}"/>
              </a:ext>
            </a:extLst>
          </p:cNvPr>
          <p:cNvSpPr>
            <a:spLocks xmlns:a="http://schemas.openxmlformats.org/drawingml/2006/main" noGrp="1"/>
          </p:cNvSpPr>
          <p:nvPr/>
        </p:nvSpPr>
        <p:spPr>
          <a:xfrm xmlns:a="http://schemas.openxmlformats.org/drawingml/2006/main">
            <a:off x="1752600" y="5229225"/>
            <a:ext cx="89154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Launch → Avala Delivery</a:t>
            </a:r>
          </a:p>
        </p:txBody>
      </p:sp>
      <p:sp>
        <p:nvSpPr>
          <p:cNvPr id="24" name="">
            <a:extLst xmlns:a="http://schemas.openxmlformats.org/drawingml/2006/main">
              <a:ext uri="{FF2B5EF4-FFF2-40B4-BE49-F238E27FC236}">
                <a16:creationId xmlns:a16="http://schemas.microsoft.com/office/drawing/2014/main" id="{3D64FDE9-9ACA-4A4B-814E-2A7E13EEE7EC}"/>
              </a:ext>
            </a:extLst>
          </p:cNvPr>
          <p:cNvSpPr>
            <a:spLocks xmlns:a="http://schemas.openxmlformats.org/drawingml/2006/main" noGrp="1"/>
          </p:cNvSpPr>
          <p:nvPr/>
        </p:nvSpPr>
        <p:spPr>
          <a:xfrm xmlns:a="http://schemas.openxmlformats.org/drawingml/2006/main">
            <a:off x="1524000" y="5715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038B805-8926-4611-9782-279D713EE2F8}"/>
              </a:ext>
            </a:extLst>
          </p:cNvPr>
          <p:cNvSpPr>
            <a:spLocks xmlns:a="http://schemas.openxmlformats.org/drawingml/2006/main" noGrp="1"/>
          </p:cNvSpPr>
          <p:nvPr/>
        </p:nvSpPr>
        <p:spPr>
          <a:xfrm xmlns:a="http://schemas.openxmlformats.org/drawingml/2006/main">
            <a:off x="1752600" y="5638800"/>
            <a:ext cx="89154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Audit → Monitor + Admin</a:t>
            </a:r>
          </a:p>
        </p:txBody>
      </p:sp>
      <p:sp>
        <p:nvSpPr>
          <p:cNvPr id="26" name="">
            <a:extLst xmlns:a="http://schemas.openxmlformats.org/drawingml/2006/main">
              <a:ext uri="{FF2B5EF4-FFF2-40B4-BE49-F238E27FC236}">
                <a16:creationId xmlns:a16="http://schemas.microsoft.com/office/drawing/2014/main" id="{0CC798F0-E9C3-4E6B-87A6-651663A12C07}"/>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Evolution, not replacement • Internal AvalaOS brand and product decision-makers</a:t>
            </a:r>
          </a:p>
        </p:txBody>
      </p:sp>
      <p:sp>
        <p:nvSpPr>
          <p:cNvPr id="27" name="">
            <a:extLst xmlns:a="http://schemas.openxmlformats.org/drawingml/2006/main">
              <a:ext uri="{FF2B5EF4-FFF2-40B4-BE49-F238E27FC236}">
                <a16:creationId xmlns:a16="http://schemas.microsoft.com/office/drawing/2014/main" id="{8D982FC7-D18A-4037-B34B-878E8535853D}"/>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Brand meaning and roadmap vision; not proof of a current Avala Assemble module.</a:t>
            </a:r>
          </a:p>
        </p:txBody>
      </p:sp>
      <p:sp>
        <p:nvSpPr>
          <p:cNvPr id="28" name="">
            <a:extLst xmlns:a="http://schemas.openxmlformats.org/drawingml/2006/main">
              <a:ext uri="{FF2B5EF4-FFF2-40B4-BE49-F238E27FC236}">
                <a16:creationId xmlns:a16="http://schemas.microsoft.com/office/drawing/2014/main" id="{4070C371-7F58-4623-A070-DCF7760107F1}"/>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02</a:t>
            </a:r>
          </a:p>
        </p:txBody>
      </p:sp>
    </p:spTree>
    <p:extLst>
      <p:ext uri="{BB962C8B-B14F-4D97-AF65-F5344CB8AC3E}">
        <p14:creationId xmlns:p14="http://schemas.microsoft.com/office/powerpoint/2010/main" val="2039381981"/>
      </p:ext>
    </p:extLst>
  </p:cSld>
</p:sld>
</file>

<file path=ppt/slides/slide3.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9FCE90A-F376-4C13-AD9F-1E358E07D7AA}"/>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F3AB05D-89B4-4475-BAA9-22911F4D21B6}"/>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FIVE CONTROLLED COMPONENTS</a:t>
            </a:r>
          </a:p>
        </p:txBody>
      </p:sp>
      <p:sp>
        <p:nvSpPr>
          <p:cNvPr id="3" name="">
            <a:extLst xmlns:a="http://schemas.openxmlformats.org/drawingml/2006/main">
              <a:ext uri="{FF2B5EF4-FFF2-40B4-BE49-F238E27FC236}">
                <a16:creationId xmlns:a16="http://schemas.microsoft.com/office/drawing/2014/main" id="{D4F78711-2E6D-46D7-9A35-6A1A8E50FAA2}"/>
              </a:ext>
            </a:extLst>
          </p:cNvPr>
          <p:cNvSpPr>
            <a:spLocks xmlns:a="http://schemas.openxmlformats.org/drawingml/2006/main" noGrp="1"/>
          </p:cNvSpPr>
          <p:nvPr/>
        </p:nvSpPr>
        <p:spPr>
          <a:xfrm xmlns:a="http://schemas.openxmlformats.org/drawingml/2006/main">
            <a:off x="609600" y="619125"/>
            <a:ext cx="102870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Outfit"/>
                <a:ea typeface="Outfit"/>
                <a:cs typeface="Outfit"/>
              </a:defRPr>
            </a:pPr>
            <a:r>
              <a:rPr sz="3000" b="1">
                <a:solidFill>
                  <a:srgbClr val="FFFFFF"/>
                </a:solidFill>
                <a:latin typeface="Outfit"/>
                <a:ea typeface="Outfit"/>
                <a:cs typeface="Outfit"/>
              </a:rPr>
              <a:t>Concept 1 — Modular A</a:t>
            </a:r>
          </a:p>
        </p:txBody>
      </p:sp>
      <p:sp>
        <p:nvSpPr>
          <p:cNvPr id="4" name="">
            <a:extLst xmlns:a="http://schemas.openxmlformats.org/drawingml/2006/main">
              <a:ext uri="{FF2B5EF4-FFF2-40B4-BE49-F238E27FC236}">
                <a16:creationId xmlns:a16="http://schemas.microsoft.com/office/drawing/2014/main" id="{57DF49E9-3265-4FEA-B696-E5960A445013}"/>
              </a:ext>
            </a:extLst>
          </p:cNvPr>
          <p:cNvSpPr>
            <a:spLocks xmlns:a="http://schemas.openxmlformats.org/drawingml/2006/main" noGrp="1"/>
          </p:cNvSpPr>
          <p:nvPr/>
        </p:nvSpPr>
        <p:spPr>
          <a:xfrm xmlns:a="http://schemas.openxmlformats.org/drawingml/2006/main">
            <a:off x="762000" y="1571625"/>
            <a:ext cx="5048250" cy="4476750"/>
          </a:xfrm>
          <a:prstGeom xmlns:a="http://schemas.openxmlformats.org/drawingml/2006/main" prst="roundRect">
            <a:avLst>
              <a:gd name="adj" fmla="val 1702"/>
            </a:avLst>
          </a:prstGeom>
          <a:solidFill xmlns:a="http://schemas.openxmlformats.org/drawingml/2006/main">
            <a:srgbClr val="002C4B"/>
          </a:solidFill>
          <a:ln xmlns:a="http://schemas.openxmlformats.org/drawingml/2006/main" w="9525">
            <a:solidFill>
              <a:srgbClr val="0C3B5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1ff29faf4054e6f"/>
          <a:stretch xmlns:a="http://schemas.openxmlformats.org/drawingml/2006/main"/>
        </p:blipFill>
        <p:spPr>
          <a:xfrm xmlns:a="http://schemas.openxmlformats.org/drawingml/2006/main">
            <a:off x="1333500" y="1857375"/>
            <a:ext cx="3905250"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64E8BA-7F6F-47A2-8964-2FE728F20AC4}"/>
              </a:ext>
            </a:extLst>
          </p:cNvPr>
          <p:cNvSpPr>
            <a:spLocks xmlns:a="http://schemas.openxmlformats.org/drawingml/2006/main" noGrp="1"/>
          </p:cNvSpPr>
          <p:nvPr/>
        </p:nvSpPr>
        <p:spPr>
          <a:xfrm xmlns:a="http://schemas.openxmlformats.org/drawingml/2006/main">
            <a:off x="6477000" y="22193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D17E509-0544-4B6B-A4E6-AEBE2968AC6B}"/>
              </a:ext>
            </a:extLst>
          </p:cNvPr>
          <p:cNvSpPr>
            <a:spLocks xmlns:a="http://schemas.openxmlformats.org/drawingml/2006/main" noGrp="1"/>
          </p:cNvSpPr>
          <p:nvPr/>
        </p:nvSpPr>
        <p:spPr>
          <a:xfrm xmlns:a="http://schemas.openxmlformats.org/drawingml/2006/main">
            <a:off x="6705600" y="21431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Strong assembly metaphor</a:t>
            </a:r>
          </a:p>
        </p:txBody>
      </p:sp>
      <p:sp>
        <p:nvSpPr>
          <p:cNvPr id="8" name="">
            <a:extLst xmlns:a="http://schemas.openxmlformats.org/drawingml/2006/main">
              <a:ext uri="{FF2B5EF4-FFF2-40B4-BE49-F238E27FC236}">
                <a16:creationId xmlns:a16="http://schemas.microsoft.com/office/drawing/2014/main" id="{67BF70AB-5BB4-4E79-B22A-7B997C6BA248}"/>
              </a:ext>
            </a:extLst>
          </p:cNvPr>
          <p:cNvSpPr>
            <a:spLocks xmlns:a="http://schemas.openxmlformats.org/drawingml/2006/main" noGrp="1"/>
          </p:cNvSpPr>
          <p:nvPr/>
        </p:nvSpPr>
        <p:spPr>
          <a:xfrm xmlns:a="http://schemas.openxmlformats.org/drawingml/2006/main">
            <a:off x="6477000" y="30194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D205C2D-ED54-4AA3-A704-75B5D8F47833}"/>
              </a:ext>
            </a:extLst>
          </p:cNvPr>
          <p:cNvSpPr>
            <a:spLocks xmlns:a="http://schemas.openxmlformats.org/drawingml/2006/main" noGrp="1"/>
          </p:cNvSpPr>
          <p:nvPr/>
        </p:nvSpPr>
        <p:spPr>
          <a:xfrm xmlns:a="http://schemas.openxmlformats.org/drawingml/2006/main">
            <a:off x="6705600" y="29432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Clear five-part construction</a:t>
            </a:r>
          </a:p>
        </p:txBody>
      </p:sp>
      <p:sp>
        <p:nvSpPr>
          <p:cNvPr id="10" name="">
            <a:extLst xmlns:a="http://schemas.openxmlformats.org/drawingml/2006/main">
              <a:ext uri="{FF2B5EF4-FFF2-40B4-BE49-F238E27FC236}">
                <a16:creationId xmlns:a16="http://schemas.microsoft.com/office/drawing/2014/main" id="{14987D53-436A-4384-9FDC-D3F6397C6A81}"/>
              </a:ext>
            </a:extLst>
          </p:cNvPr>
          <p:cNvSpPr>
            <a:spLocks xmlns:a="http://schemas.openxmlformats.org/drawingml/2006/main" noGrp="1"/>
          </p:cNvSpPr>
          <p:nvPr/>
        </p:nvSpPr>
        <p:spPr>
          <a:xfrm xmlns:a="http://schemas.openxmlformats.org/drawingml/2006/main">
            <a:off x="6477000" y="38195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F15A833-1C89-4914-AC3D-89445A5D7D6E}"/>
              </a:ext>
            </a:extLst>
          </p:cNvPr>
          <p:cNvSpPr>
            <a:spLocks xmlns:a="http://schemas.openxmlformats.org/drawingml/2006/main" noGrp="1"/>
          </p:cNvSpPr>
          <p:nvPr/>
        </p:nvSpPr>
        <p:spPr>
          <a:xfrm xmlns:a="http://schemas.openxmlformats.org/drawingml/2006/main">
            <a:off x="6705600" y="37433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More radical silhouette</a:t>
            </a:r>
          </a:p>
        </p:txBody>
      </p:sp>
      <p:sp>
        <p:nvSpPr>
          <p:cNvPr id="12" name="">
            <a:extLst xmlns:a="http://schemas.openxmlformats.org/drawingml/2006/main">
              <a:ext uri="{FF2B5EF4-FFF2-40B4-BE49-F238E27FC236}">
                <a16:creationId xmlns:a16="http://schemas.microsoft.com/office/drawing/2014/main" id="{E6055E23-FDD1-40D1-A0F1-0B1EF9E44717}"/>
              </a:ext>
            </a:extLst>
          </p:cNvPr>
          <p:cNvSpPr>
            <a:spLocks xmlns:a="http://schemas.openxmlformats.org/drawingml/2006/main" noGrp="1"/>
          </p:cNvSpPr>
          <p:nvPr/>
        </p:nvSpPr>
        <p:spPr>
          <a:xfrm xmlns:a="http://schemas.openxmlformats.org/drawingml/2006/main">
            <a:off x="6477000" y="46196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99AB9EC-1C55-421F-9789-65ABD64550E2}"/>
              </a:ext>
            </a:extLst>
          </p:cNvPr>
          <p:cNvSpPr>
            <a:spLocks xmlns:a="http://schemas.openxmlformats.org/drawingml/2006/main" noGrp="1"/>
          </p:cNvSpPr>
          <p:nvPr/>
        </p:nvSpPr>
        <p:spPr>
          <a:xfrm xmlns:a="http://schemas.openxmlformats.org/drawingml/2006/main">
            <a:off x="6705600" y="45434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Risk: reduced recognition at small sizes</a:t>
            </a:r>
          </a:p>
        </p:txBody>
      </p:sp>
      <p:sp>
        <p:nvSpPr>
          <p:cNvPr id="14" name="">
            <a:extLst xmlns:a="http://schemas.openxmlformats.org/drawingml/2006/main">
              <a:ext uri="{FF2B5EF4-FFF2-40B4-BE49-F238E27FC236}">
                <a16:creationId xmlns:a16="http://schemas.microsoft.com/office/drawing/2014/main" id="{B87D4FF8-E23B-4D8D-B0FA-52E097469900}"/>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Evolution, not replacement • Internal AvalaOS brand and product decision-makers</a:t>
            </a:r>
          </a:p>
        </p:txBody>
      </p:sp>
      <p:sp>
        <p:nvSpPr>
          <p:cNvPr id="15" name="">
            <a:extLst xmlns:a="http://schemas.openxmlformats.org/drawingml/2006/main">
              <a:ext uri="{FF2B5EF4-FFF2-40B4-BE49-F238E27FC236}">
                <a16:creationId xmlns:a16="http://schemas.microsoft.com/office/drawing/2014/main" id="{213EF539-4D4A-4D25-8771-03693DE89FEB}"/>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Exploratory internal mark. Not a production replacement.</a:t>
            </a:r>
          </a:p>
        </p:txBody>
      </p:sp>
      <p:sp>
        <p:nvSpPr>
          <p:cNvPr id="16" name="">
            <a:extLst xmlns:a="http://schemas.openxmlformats.org/drawingml/2006/main">
              <a:ext uri="{FF2B5EF4-FFF2-40B4-BE49-F238E27FC236}">
                <a16:creationId xmlns:a16="http://schemas.microsoft.com/office/drawing/2014/main" id="{77480260-EEBF-4ABA-9450-3F76AAF1939D}"/>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03</a:t>
            </a:r>
          </a:p>
        </p:txBody>
      </p:sp>
    </p:spTree>
    <p:extLst>
      <p:ext uri="{BB962C8B-B14F-4D97-AF65-F5344CB8AC3E}">
        <p14:creationId xmlns:p14="http://schemas.microsoft.com/office/powerpoint/2010/main" val="1272235211"/>
      </p:ext>
    </p:extLst>
  </p:cSld>
</p:sld>
</file>

<file path=ppt/slides/slide4.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C8596E4-2AE9-4C07-84A1-CBBBF1C77440}"/>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018BB16-99AB-4FB2-BB58-08085EC609BF}"/>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EVIDENCE TO EXECUTION</a:t>
            </a:r>
          </a:p>
        </p:txBody>
      </p:sp>
      <p:sp>
        <p:nvSpPr>
          <p:cNvPr id="3" name="">
            <a:extLst xmlns:a="http://schemas.openxmlformats.org/drawingml/2006/main">
              <a:ext uri="{FF2B5EF4-FFF2-40B4-BE49-F238E27FC236}">
                <a16:creationId xmlns:a16="http://schemas.microsoft.com/office/drawing/2014/main" id="{258E2348-D6C7-494E-B5C6-4A5FBD11A89D}"/>
              </a:ext>
            </a:extLst>
          </p:cNvPr>
          <p:cNvSpPr>
            <a:spLocks xmlns:a="http://schemas.openxmlformats.org/drawingml/2006/main" noGrp="1"/>
          </p:cNvSpPr>
          <p:nvPr/>
        </p:nvSpPr>
        <p:spPr>
          <a:xfrm xmlns:a="http://schemas.openxmlformats.org/drawingml/2006/main">
            <a:off x="609600" y="619125"/>
            <a:ext cx="102870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Outfit"/>
                <a:ea typeface="Outfit"/>
                <a:cs typeface="Outfit"/>
              </a:defRPr>
            </a:pPr>
            <a:r>
              <a:rPr sz="3000" b="1">
                <a:solidFill>
                  <a:srgbClr val="FFFFFF"/>
                </a:solidFill>
                <a:latin typeface="Outfit"/>
                <a:ea typeface="Outfit"/>
                <a:cs typeface="Outfit"/>
              </a:rPr>
              <a:t>Concept 2 — Governed Bridge</a:t>
            </a:r>
          </a:p>
        </p:txBody>
      </p:sp>
      <p:sp>
        <p:nvSpPr>
          <p:cNvPr id="4" name="">
            <a:extLst xmlns:a="http://schemas.openxmlformats.org/drawingml/2006/main">
              <a:ext uri="{FF2B5EF4-FFF2-40B4-BE49-F238E27FC236}">
                <a16:creationId xmlns:a16="http://schemas.microsoft.com/office/drawing/2014/main" id="{5BAFDD82-635F-411E-814D-818CBEBB46AE}"/>
              </a:ext>
            </a:extLst>
          </p:cNvPr>
          <p:cNvSpPr>
            <a:spLocks xmlns:a="http://schemas.openxmlformats.org/drawingml/2006/main" noGrp="1"/>
          </p:cNvSpPr>
          <p:nvPr/>
        </p:nvSpPr>
        <p:spPr>
          <a:xfrm xmlns:a="http://schemas.openxmlformats.org/drawingml/2006/main">
            <a:off x="762000" y="1571625"/>
            <a:ext cx="5048250" cy="4476750"/>
          </a:xfrm>
          <a:prstGeom xmlns:a="http://schemas.openxmlformats.org/drawingml/2006/main" prst="roundRect">
            <a:avLst>
              <a:gd name="adj" fmla="val 1702"/>
            </a:avLst>
          </a:prstGeom>
          <a:solidFill xmlns:a="http://schemas.openxmlformats.org/drawingml/2006/main">
            <a:srgbClr val="002C4B"/>
          </a:solidFill>
          <a:ln xmlns:a="http://schemas.openxmlformats.org/drawingml/2006/main" w="9525">
            <a:solidFill>
              <a:srgbClr val="0C3B5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a10e5ac0a214864"/>
          <a:stretch xmlns:a="http://schemas.openxmlformats.org/drawingml/2006/main"/>
        </p:blipFill>
        <p:spPr>
          <a:xfrm xmlns:a="http://schemas.openxmlformats.org/drawingml/2006/main">
            <a:off x="1333500" y="1857375"/>
            <a:ext cx="3905250"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9B25B5-6FD1-45AB-B91D-44A7DDFEE2FF}"/>
              </a:ext>
            </a:extLst>
          </p:cNvPr>
          <p:cNvSpPr>
            <a:spLocks xmlns:a="http://schemas.openxmlformats.org/drawingml/2006/main" noGrp="1"/>
          </p:cNvSpPr>
          <p:nvPr/>
        </p:nvSpPr>
        <p:spPr>
          <a:xfrm xmlns:a="http://schemas.openxmlformats.org/drawingml/2006/main">
            <a:off x="6477000" y="22193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4C1E3DF-D487-42C0-A31A-DD23A9308474}"/>
              </a:ext>
            </a:extLst>
          </p:cNvPr>
          <p:cNvSpPr>
            <a:spLocks xmlns:a="http://schemas.openxmlformats.org/drawingml/2006/main" noGrp="1"/>
          </p:cNvSpPr>
          <p:nvPr/>
        </p:nvSpPr>
        <p:spPr>
          <a:xfrm xmlns:a="http://schemas.openxmlformats.org/drawingml/2006/main">
            <a:off x="6705600" y="21431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Expresses the connective control layer</a:t>
            </a:r>
          </a:p>
        </p:txBody>
      </p:sp>
      <p:sp>
        <p:nvSpPr>
          <p:cNvPr id="8" name="">
            <a:extLst xmlns:a="http://schemas.openxmlformats.org/drawingml/2006/main">
              <a:ext uri="{FF2B5EF4-FFF2-40B4-BE49-F238E27FC236}">
                <a16:creationId xmlns:a16="http://schemas.microsoft.com/office/drawing/2014/main" id="{9F48D208-4D1E-4DB8-9E62-2ABDB47A2878}"/>
              </a:ext>
            </a:extLst>
          </p:cNvPr>
          <p:cNvSpPr>
            <a:spLocks xmlns:a="http://schemas.openxmlformats.org/drawingml/2006/main" noGrp="1"/>
          </p:cNvSpPr>
          <p:nvPr/>
        </p:nvSpPr>
        <p:spPr>
          <a:xfrm xmlns:a="http://schemas.openxmlformats.org/drawingml/2006/main">
            <a:off x="6477000" y="30194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768F9FB-13D2-48FF-A493-D32687FDBEFC}"/>
              </a:ext>
            </a:extLst>
          </p:cNvPr>
          <p:cNvSpPr>
            <a:spLocks xmlns:a="http://schemas.openxmlformats.org/drawingml/2006/main" noGrp="1"/>
          </p:cNvSpPr>
          <p:nvPr/>
        </p:nvSpPr>
        <p:spPr>
          <a:xfrm xmlns:a="http://schemas.openxmlformats.org/drawingml/2006/main">
            <a:off x="6705600" y="29432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Amber pathway signals governed movement</a:t>
            </a:r>
          </a:p>
        </p:txBody>
      </p:sp>
      <p:sp>
        <p:nvSpPr>
          <p:cNvPr id="10" name="">
            <a:extLst xmlns:a="http://schemas.openxmlformats.org/drawingml/2006/main">
              <a:ext uri="{FF2B5EF4-FFF2-40B4-BE49-F238E27FC236}">
                <a16:creationId xmlns:a16="http://schemas.microsoft.com/office/drawing/2014/main" id="{1F677CA6-39F4-4CDD-98C2-B7C11AADF25B}"/>
              </a:ext>
            </a:extLst>
          </p:cNvPr>
          <p:cNvSpPr>
            <a:spLocks xmlns:a="http://schemas.openxmlformats.org/drawingml/2006/main" noGrp="1"/>
          </p:cNvSpPr>
          <p:nvPr/>
        </p:nvSpPr>
        <p:spPr>
          <a:xfrm xmlns:a="http://schemas.openxmlformats.org/drawingml/2006/main">
            <a:off x="6477000" y="38195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B3E23AD-0C1B-4DF4-85B0-E979D2752D8E}"/>
              </a:ext>
            </a:extLst>
          </p:cNvPr>
          <p:cNvSpPr>
            <a:spLocks xmlns:a="http://schemas.openxmlformats.org/drawingml/2006/main" noGrp="1"/>
          </p:cNvSpPr>
          <p:nvPr/>
        </p:nvSpPr>
        <p:spPr>
          <a:xfrm xmlns:a="http://schemas.openxmlformats.org/drawingml/2006/main">
            <a:off x="6705600" y="37433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Distinctive at large scale</a:t>
            </a:r>
          </a:p>
        </p:txBody>
      </p:sp>
      <p:sp>
        <p:nvSpPr>
          <p:cNvPr id="12" name="">
            <a:extLst xmlns:a="http://schemas.openxmlformats.org/drawingml/2006/main">
              <a:ext uri="{FF2B5EF4-FFF2-40B4-BE49-F238E27FC236}">
                <a16:creationId xmlns:a16="http://schemas.microsoft.com/office/drawing/2014/main" id="{E0D59F3A-AF91-4AE9-862D-301D3A327B6C}"/>
              </a:ext>
            </a:extLst>
          </p:cNvPr>
          <p:cNvSpPr>
            <a:spLocks xmlns:a="http://schemas.openxmlformats.org/drawingml/2006/main" noGrp="1"/>
          </p:cNvSpPr>
          <p:nvPr/>
        </p:nvSpPr>
        <p:spPr>
          <a:xfrm xmlns:a="http://schemas.openxmlformats.org/drawingml/2006/main">
            <a:off x="6477000" y="46196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298CEC0-DB48-4EAE-A8A4-2B22AF066029}"/>
              </a:ext>
            </a:extLst>
          </p:cNvPr>
          <p:cNvSpPr>
            <a:spLocks xmlns:a="http://schemas.openxmlformats.org/drawingml/2006/main" noGrp="1"/>
          </p:cNvSpPr>
          <p:nvPr/>
        </p:nvSpPr>
        <p:spPr>
          <a:xfrm xmlns:a="http://schemas.openxmlformats.org/drawingml/2006/main">
            <a:off x="6705600" y="45434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Risk: more illustrative than iconic</a:t>
            </a:r>
          </a:p>
        </p:txBody>
      </p:sp>
      <p:sp>
        <p:nvSpPr>
          <p:cNvPr id="14" name="">
            <a:extLst xmlns:a="http://schemas.openxmlformats.org/drawingml/2006/main">
              <a:ext uri="{FF2B5EF4-FFF2-40B4-BE49-F238E27FC236}">
                <a16:creationId xmlns:a16="http://schemas.microsoft.com/office/drawing/2014/main" id="{B9B422DE-C2D4-43BC-8088-75AAD0DDED9E}"/>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Evolution, not replacement • Internal AvalaOS brand and product decision-makers</a:t>
            </a:r>
          </a:p>
        </p:txBody>
      </p:sp>
      <p:sp>
        <p:nvSpPr>
          <p:cNvPr id="15" name="">
            <a:extLst xmlns:a="http://schemas.openxmlformats.org/drawingml/2006/main">
              <a:ext uri="{FF2B5EF4-FFF2-40B4-BE49-F238E27FC236}">
                <a16:creationId xmlns:a16="http://schemas.microsoft.com/office/drawing/2014/main" id="{DA9A68A0-38AF-4ED0-AFA5-FB9664289815}"/>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Exploratory internal mark. Not a production replacement.</a:t>
            </a:r>
          </a:p>
        </p:txBody>
      </p:sp>
      <p:sp>
        <p:nvSpPr>
          <p:cNvPr id="16" name="">
            <a:extLst xmlns:a="http://schemas.openxmlformats.org/drawingml/2006/main">
              <a:ext uri="{FF2B5EF4-FFF2-40B4-BE49-F238E27FC236}">
                <a16:creationId xmlns:a16="http://schemas.microsoft.com/office/drawing/2014/main" id="{88587A67-97FD-4E22-BB22-109B0EC3340C}"/>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04</a:t>
            </a:r>
          </a:p>
        </p:txBody>
      </p:sp>
    </p:spTree>
    <p:extLst>
      <p:ext uri="{BB962C8B-B14F-4D97-AF65-F5344CB8AC3E}">
        <p14:creationId xmlns:p14="http://schemas.microsoft.com/office/powerpoint/2010/main" val="1367405255"/>
      </p:ext>
    </p:extLst>
  </p:cSld>
</p:sld>
</file>

<file path=ppt/slides/slide5.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3F7587C-CDCF-4FD7-99F1-97BA0FEEE63C}"/>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014E25-5738-4C53-807D-C1657934668D}"/>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EVOLUTIONARY RECOMMENDATION</a:t>
            </a:r>
          </a:p>
        </p:txBody>
      </p:sp>
      <p:sp>
        <p:nvSpPr>
          <p:cNvPr id="3" name="">
            <a:extLst xmlns:a="http://schemas.openxmlformats.org/drawingml/2006/main">
              <a:ext uri="{FF2B5EF4-FFF2-40B4-BE49-F238E27FC236}">
                <a16:creationId xmlns:a16="http://schemas.microsoft.com/office/drawing/2014/main" id="{37E7B141-A206-4DC7-AF0A-8844EE2EF4B3}"/>
              </a:ext>
            </a:extLst>
          </p:cNvPr>
          <p:cNvSpPr>
            <a:spLocks xmlns:a="http://schemas.openxmlformats.org/drawingml/2006/main" noGrp="1"/>
          </p:cNvSpPr>
          <p:nvPr/>
        </p:nvSpPr>
        <p:spPr>
          <a:xfrm xmlns:a="http://schemas.openxmlformats.org/drawingml/2006/main">
            <a:off x="609600" y="619125"/>
            <a:ext cx="102870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Outfit"/>
                <a:ea typeface="Outfit"/>
                <a:cs typeface="Outfit"/>
              </a:defRPr>
            </a:pPr>
            <a:r>
              <a:rPr sz="3000" b="1">
                <a:solidFill>
                  <a:srgbClr val="FFFFFF"/>
                </a:solidFill>
                <a:latin typeface="Outfit"/>
                <a:ea typeface="Outfit"/>
                <a:cs typeface="Outfit"/>
              </a:rPr>
              <a:t>Concept 3 — Assembly Node</a:t>
            </a:r>
          </a:p>
        </p:txBody>
      </p:sp>
      <p:sp>
        <p:nvSpPr>
          <p:cNvPr id="4" name="">
            <a:extLst xmlns:a="http://schemas.openxmlformats.org/drawingml/2006/main">
              <a:ext uri="{FF2B5EF4-FFF2-40B4-BE49-F238E27FC236}">
                <a16:creationId xmlns:a16="http://schemas.microsoft.com/office/drawing/2014/main" id="{AE9DEF2F-555C-424C-90EC-C06A5B39AA97}"/>
              </a:ext>
            </a:extLst>
          </p:cNvPr>
          <p:cNvSpPr>
            <a:spLocks xmlns:a="http://schemas.openxmlformats.org/drawingml/2006/main" noGrp="1"/>
          </p:cNvSpPr>
          <p:nvPr/>
        </p:nvSpPr>
        <p:spPr>
          <a:xfrm xmlns:a="http://schemas.openxmlformats.org/drawingml/2006/main">
            <a:off x="762000" y="1571625"/>
            <a:ext cx="5048250" cy="4476750"/>
          </a:xfrm>
          <a:prstGeom xmlns:a="http://schemas.openxmlformats.org/drawingml/2006/main" prst="roundRect">
            <a:avLst>
              <a:gd name="adj" fmla="val 1702"/>
            </a:avLst>
          </a:prstGeom>
          <a:solidFill xmlns:a="http://schemas.openxmlformats.org/drawingml/2006/main">
            <a:srgbClr val="002C4B"/>
          </a:solidFill>
          <a:ln xmlns:a="http://schemas.openxmlformats.org/drawingml/2006/main" w="9525">
            <a:solidFill>
              <a:srgbClr val="0C3B5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3deaab3185d4b8a"/>
          <a:stretch xmlns:a="http://schemas.openxmlformats.org/drawingml/2006/main"/>
        </p:blipFill>
        <p:spPr>
          <a:xfrm xmlns:a="http://schemas.openxmlformats.org/drawingml/2006/main">
            <a:off x="1333500" y="1857375"/>
            <a:ext cx="3905250"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983EE04-3F4C-49A6-9FFF-920F7F411AD7}"/>
              </a:ext>
            </a:extLst>
          </p:cNvPr>
          <p:cNvSpPr>
            <a:spLocks xmlns:a="http://schemas.openxmlformats.org/drawingml/2006/main" noGrp="1"/>
          </p:cNvSpPr>
          <p:nvPr/>
        </p:nvSpPr>
        <p:spPr>
          <a:xfrm xmlns:a="http://schemas.openxmlformats.org/drawingml/2006/main">
            <a:off x="6477000" y="22193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06BCF5E-591C-42B5-AB71-4DDAF1BD5CFD}"/>
              </a:ext>
            </a:extLst>
          </p:cNvPr>
          <p:cNvSpPr>
            <a:spLocks xmlns:a="http://schemas.openxmlformats.org/drawingml/2006/main" noGrp="1"/>
          </p:cNvSpPr>
          <p:nvPr/>
        </p:nvSpPr>
        <p:spPr>
          <a:xfrm xmlns:a="http://schemas.openxmlformats.org/drawingml/2006/main">
            <a:off x="6705600" y="21431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Preserves the current A silhouette</a:t>
            </a:r>
          </a:p>
        </p:txBody>
      </p:sp>
      <p:sp>
        <p:nvSpPr>
          <p:cNvPr id="8" name="">
            <a:extLst xmlns:a="http://schemas.openxmlformats.org/drawingml/2006/main">
              <a:ext uri="{FF2B5EF4-FFF2-40B4-BE49-F238E27FC236}">
                <a16:creationId xmlns:a16="http://schemas.microsoft.com/office/drawing/2014/main" id="{C8AB1351-0B21-432F-A4EC-F68B7624A62E}"/>
              </a:ext>
            </a:extLst>
          </p:cNvPr>
          <p:cNvSpPr>
            <a:spLocks xmlns:a="http://schemas.openxmlformats.org/drawingml/2006/main" noGrp="1"/>
          </p:cNvSpPr>
          <p:nvPr/>
        </p:nvSpPr>
        <p:spPr>
          <a:xfrm xmlns:a="http://schemas.openxmlformats.org/drawingml/2006/main">
            <a:off x="6477000" y="30194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BFA96FA-7834-4996-8E44-280DCF3916DB}"/>
              </a:ext>
            </a:extLst>
          </p:cNvPr>
          <p:cNvSpPr>
            <a:spLocks xmlns:a="http://schemas.openxmlformats.org/drawingml/2006/main" noGrp="1"/>
          </p:cNvSpPr>
          <p:nvPr/>
        </p:nvSpPr>
        <p:spPr>
          <a:xfrm xmlns:a="http://schemas.openxmlformats.org/drawingml/2006/main">
            <a:off x="6705600" y="29432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Adds a subtle joining node</a:t>
            </a:r>
          </a:p>
        </p:txBody>
      </p:sp>
      <p:sp>
        <p:nvSpPr>
          <p:cNvPr id="10" name="">
            <a:extLst xmlns:a="http://schemas.openxmlformats.org/drawingml/2006/main">
              <a:ext uri="{FF2B5EF4-FFF2-40B4-BE49-F238E27FC236}">
                <a16:creationId xmlns:a16="http://schemas.microsoft.com/office/drawing/2014/main" id="{F5D27619-3A62-43B9-BCEE-BCF20AB15BCD}"/>
              </a:ext>
            </a:extLst>
          </p:cNvPr>
          <p:cNvSpPr>
            <a:spLocks xmlns:a="http://schemas.openxmlformats.org/drawingml/2006/main" noGrp="1"/>
          </p:cNvSpPr>
          <p:nvPr/>
        </p:nvSpPr>
        <p:spPr>
          <a:xfrm xmlns:a="http://schemas.openxmlformats.org/drawingml/2006/main">
            <a:off x="6477000" y="38195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3860C37-55B1-4E60-A4E0-6EAD1D1A0BED}"/>
              </a:ext>
            </a:extLst>
          </p:cNvPr>
          <p:cNvSpPr>
            <a:spLocks xmlns:a="http://schemas.openxmlformats.org/drawingml/2006/main" noGrp="1"/>
          </p:cNvSpPr>
          <p:nvPr/>
        </p:nvSpPr>
        <p:spPr>
          <a:xfrm xmlns:a="http://schemas.openxmlformats.org/drawingml/2006/main">
            <a:off x="6705600" y="37433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Retains navy / amber equity</a:t>
            </a:r>
          </a:p>
        </p:txBody>
      </p:sp>
      <p:sp>
        <p:nvSpPr>
          <p:cNvPr id="12" name="">
            <a:extLst xmlns:a="http://schemas.openxmlformats.org/drawingml/2006/main">
              <a:ext uri="{FF2B5EF4-FFF2-40B4-BE49-F238E27FC236}">
                <a16:creationId xmlns:a16="http://schemas.microsoft.com/office/drawing/2014/main" id="{EDC7E5F3-8012-4290-A18F-015A158926BC}"/>
              </a:ext>
            </a:extLst>
          </p:cNvPr>
          <p:cNvSpPr>
            <a:spLocks xmlns:a="http://schemas.openxmlformats.org/drawingml/2006/main" noGrp="1"/>
          </p:cNvSpPr>
          <p:nvPr/>
        </p:nvSpPr>
        <p:spPr>
          <a:xfrm xmlns:a="http://schemas.openxmlformats.org/drawingml/2006/main">
            <a:off x="6477000" y="46196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7F2E885-2983-4594-9240-BB3699660964}"/>
              </a:ext>
            </a:extLst>
          </p:cNvPr>
          <p:cNvSpPr>
            <a:spLocks xmlns:a="http://schemas.openxmlformats.org/drawingml/2006/main" noGrp="1"/>
          </p:cNvSpPr>
          <p:nvPr/>
        </p:nvSpPr>
        <p:spPr>
          <a:xfrm xmlns:a="http://schemas.openxmlformats.org/drawingml/2006/main">
            <a:off x="6705600" y="4543425"/>
            <a:ext cx="42481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Inter"/>
                <a:ea typeface="Inter"/>
                <a:cs typeface="Inter"/>
              </a:defRPr>
            </a:pPr>
            <a:r>
              <a:rPr sz="1500" b="0">
                <a:solidFill>
                  <a:srgbClr val="FFFFFF"/>
                </a:solidFill>
                <a:latin typeface="Inter"/>
                <a:ea typeface="Inter"/>
                <a:cs typeface="Inter"/>
              </a:rPr>
              <a:t>Scales with the strongest recognition</a:t>
            </a:r>
          </a:p>
        </p:txBody>
      </p:sp>
      <p:sp>
        <p:nvSpPr>
          <p:cNvPr id="14" name="">
            <a:extLst xmlns:a="http://schemas.openxmlformats.org/drawingml/2006/main">
              <a:ext uri="{FF2B5EF4-FFF2-40B4-BE49-F238E27FC236}">
                <a16:creationId xmlns:a16="http://schemas.microsoft.com/office/drawing/2014/main" id="{AE4C6015-49AC-4853-85E0-9747AFF0369C}"/>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Evolution, not replacement • Internal AvalaOS brand and product decision-makers</a:t>
            </a:r>
          </a:p>
        </p:txBody>
      </p:sp>
      <p:sp>
        <p:nvSpPr>
          <p:cNvPr id="15" name="">
            <a:extLst xmlns:a="http://schemas.openxmlformats.org/drawingml/2006/main">
              <a:ext uri="{FF2B5EF4-FFF2-40B4-BE49-F238E27FC236}">
                <a16:creationId xmlns:a16="http://schemas.microsoft.com/office/drawing/2014/main" id="{49F5B82B-0051-4237-B1F8-70011BAD65AC}"/>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Recommended internal direction. Production use still requires brand and legal approval.</a:t>
            </a:r>
          </a:p>
        </p:txBody>
      </p:sp>
      <p:sp>
        <p:nvSpPr>
          <p:cNvPr id="16" name="">
            <a:extLst xmlns:a="http://schemas.openxmlformats.org/drawingml/2006/main">
              <a:ext uri="{FF2B5EF4-FFF2-40B4-BE49-F238E27FC236}">
                <a16:creationId xmlns:a16="http://schemas.microsoft.com/office/drawing/2014/main" id="{5FF6F4F0-D0D7-475C-B182-42153A731A4C}"/>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05</a:t>
            </a:r>
          </a:p>
        </p:txBody>
      </p:sp>
    </p:spTree>
    <p:extLst>
      <p:ext uri="{BB962C8B-B14F-4D97-AF65-F5344CB8AC3E}">
        <p14:creationId xmlns:p14="http://schemas.microsoft.com/office/powerpoint/2010/main" val="2038776774"/>
      </p:ext>
    </p:extLst>
  </p:cSld>
</p:sld>
</file>

<file path=ppt/slides/slide6.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01B2CAE-5C16-4806-967A-19268965094C}"/>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021E604-ACFC-4B7E-AA1B-533B1E06B9A2}"/>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RECOMMENDATION + USAGE RULES</a:t>
            </a:r>
          </a:p>
        </p:txBody>
      </p:sp>
      <p:sp>
        <p:nvSpPr>
          <p:cNvPr id="3" name="">
            <a:extLst xmlns:a="http://schemas.openxmlformats.org/drawingml/2006/main">
              <a:ext uri="{FF2B5EF4-FFF2-40B4-BE49-F238E27FC236}">
                <a16:creationId xmlns:a16="http://schemas.microsoft.com/office/drawing/2014/main" id="{33A61A56-6EB3-4AC1-8E53-B00382158FA7}"/>
              </a:ext>
            </a:extLst>
          </p:cNvPr>
          <p:cNvSpPr>
            <a:spLocks xmlns:a="http://schemas.openxmlformats.org/drawingml/2006/main" noGrp="1"/>
          </p:cNvSpPr>
          <p:nvPr/>
        </p:nvSpPr>
        <p:spPr>
          <a:xfrm xmlns:a="http://schemas.openxmlformats.org/drawingml/2006/main">
            <a:off x="609600" y="619125"/>
            <a:ext cx="102870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Outfit"/>
                <a:ea typeface="Outfit"/>
                <a:cs typeface="Outfit"/>
              </a:defRPr>
            </a:pPr>
            <a:r>
              <a:rPr sz="3000" b="1">
                <a:solidFill>
                  <a:srgbClr val="FFFFFF"/>
                </a:solidFill>
                <a:latin typeface="Outfit"/>
                <a:ea typeface="Outfit"/>
                <a:cs typeface="Outfit"/>
              </a:rPr>
              <a:t>Recommend the Assembly Node — evolve, do not replace.</a:t>
            </a:r>
          </a:p>
        </p:txBody>
      </p:sp>
      <p:sp>
        <p:nvSpPr>
          <p:cNvPr id="4" name="">
            <a:extLst xmlns:a="http://schemas.openxmlformats.org/drawingml/2006/main">
              <a:ext uri="{FF2B5EF4-FFF2-40B4-BE49-F238E27FC236}">
                <a16:creationId xmlns:a16="http://schemas.microsoft.com/office/drawing/2014/main" id="{F30F12F4-5074-4988-9723-81BBF6F2774C}"/>
              </a:ext>
            </a:extLst>
          </p:cNvPr>
          <p:cNvSpPr>
            <a:spLocks xmlns:a="http://schemas.openxmlformats.org/drawingml/2006/main" noGrp="1"/>
          </p:cNvSpPr>
          <p:nvPr/>
        </p:nvSpPr>
        <p:spPr>
          <a:xfrm xmlns:a="http://schemas.openxmlformats.org/drawingml/2006/main">
            <a:off x="762000" y="1571625"/>
            <a:ext cx="5048250" cy="4476750"/>
          </a:xfrm>
          <a:prstGeom xmlns:a="http://schemas.openxmlformats.org/drawingml/2006/main" prst="roundRect">
            <a:avLst>
              <a:gd name="adj" fmla="val 1702"/>
            </a:avLst>
          </a:prstGeom>
          <a:solidFill xmlns:a="http://schemas.openxmlformats.org/drawingml/2006/main">
            <a:srgbClr val="002C4B"/>
          </a:solidFill>
          <a:ln xmlns:a="http://schemas.openxmlformats.org/drawingml/2006/main" w="9525">
            <a:solidFill>
              <a:srgbClr val="0C3B5B"/>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c34d6b50e174896"/>
          <a:stretch xmlns:a="http://schemas.openxmlformats.org/drawingml/2006/main"/>
        </p:blipFill>
        <p:spPr>
          <a:xfrm xmlns:a="http://schemas.openxmlformats.org/drawingml/2006/main">
            <a:off x="1333500" y="1857375"/>
            <a:ext cx="3905250"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BBB0262-B3F5-4A9B-A3AE-578D53F0F52C}"/>
              </a:ext>
            </a:extLst>
          </p:cNvPr>
          <p:cNvSpPr>
            <a:spLocks xmlns:a="http://schemas.openxmlformats.org/drawingml/2006/main" noGrp="1"/>
          </p:cNvSpPr>
          <p:nvPr/>
        </p:nvSpPr>
        <p:spPr>
          <a:xfrm xmlns:a="http://schemas.openxmlformats.org/drawingml/2006/main">
            <a:off x="6477000" y="19812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AA799A7-180F-4CFC-BC3B-E2A446A53787}"/>
              </a:ext>
            </a:extLst>
          </p:cNvPr>
          <p:cNvSpPr>
            <a:spLocks xmlns:a="http://schemas.openxmlformats.org/drawingml/2006/main" noGrp="1"/>
          </p:cNvSpPr>
          <p:nvPr/>
        </p:nvSpPr>
        <p:spPr>
          <a:xfrm xmlns:a="http://schemas.openxmlformats.org/drawingml/2006/main">
            <a:off x="6705600" y="1905000"/>
            <a:ext cx="4248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Inter"/>
                <a:ea typeface="Inter"/>
                <a:cs typeface="Inter"/>
              </a:defRPr>
            </a:pPr>
            <a:r>
              <a:rPr sz="1275" b="0">
                <a:solidFill>
                  <a:srgbClr val="FFFFFF"/>
                </a:solidFill>
                <a:latin typeface="Inter"/>
                <a:ea typeface="Inter"/>
                <a:cs typeface="Inter"/>
              </a:rPr>
              <a:t>Keep AvalaOS as the product brand</a:t>
            </a:r>
          </a:p>
        </p:txBody>
      </p:sp>
      <p:sp>
        <p:nvSpPr>
          <p:cNvPr id="8" name="">
            <a:extLst xmlns:a="http://schemas.openxmlformats.org/drawingml/2006/main">
              <a:ext uri="{FF2B5EF4-FFF2-40B4-BE49-F238E27FC236}">
                <a16:creationId xmlns:a16="http://schemas.microsoft.com/office/drawing/2014/main" id="{40975A8F-009C-4C86-8A24-A46188D03329}"/>
              </a:ext>
            </a:extLst>
          </p:cNvPr>
          <p:cNvSpPr>
            <a:spLocks xmlns:a="http://schemas.openxmlformats.org/drawingml/2006/main" noGrp="1"/>
          </p:cNvSpPr>
          <p:nvPr/>
        </p:nvSpPr>
        <p:spPr>
          <a:xfrm xmlns:a="http://schemas.openxmlformats.org/drawingml/2006/main">
            <a:off x="6477000" y="25717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CD5950B-4D7B-4573-BDE4-21D32FA7ED46}"/>
              </a:ext>
            </a:extLst>
          </p:cNvPr>
          <p:cNvSpPr>
            <a:spLocks xmlns:a="http://schemas.openxmlformats.org/drawingml/2006/main" noGrp="1"/>
          </p:cNvSpPr>
          <p:nvPr/>
        </p:nvSpPr>
        <p:spPr>
          <a:xfrm xmlns:a="http://schemas.openxmlformats.org/drawingml/2006/main">
            <a:off x="6705600" y="2495550"/>
            <a:ext cx="4248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Inter"/>
                <a:ea typeface="Inter"/>
                <a:cs typeface="Inter"/>
              </a:defRPr>
            </a:pPr>
            <a:r>
              <a:rPr sz="1275" b="0">
                <a:solidFill>
                  <a:srgbClr val="FFFFFF"/>
                </a:solidFill>
                <a:latin typeface="Inter"/>
                <a:ea typeface="Inter"/>
                <a:cs typeface="Inter"/>
              </a:rPr>
              <a:t>Use the node only in approved future contexts</a:t>
            </a:r>
          </a:p>
        </p:txBody>
      </p:sp>
      <p:sp>
        <p:nvSpPr>
          <p:cNvPr id="10" name="">
            <a:extLst xmlns:a="http://schemas.openxmlformats.org/drawingml/2006/main">
              <a:ext uri="{FF2B5EF4-FFF2-40B4-BE49-F238E27FC236}">
                <a16:creationId xmlns:a16="http://schemas.microsoft.com/office/drawing/2014/main" id="{7E442593-A3E4-415D-8F45-658655AF2A0F}"/>
              </a:ext>
            </a:extLst>
          </p:cNvPr>
          <p:cNvSpPr>
            <a:spLocks xmlns:a="http://schemas.openxmlformats.org/drawingml/2006/main" noGrp="1"/>
          </p:cNvSpPr>
          <p:nvPr/>
        </p:nvSpPr>
        <p:spPr>
          <a:xfrm xmlns:a="http://schemas.openxmlformats.org/drawingml/2006/main">
            <a:off x="6477000" y="3162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E88F541-4A44-4A4B-A5C3-A2E3B1D9209D}"/>
              </a:ext>
            </a:extLst>
          </p:cNvPr>
          <p:cNvSpPr>
            <a:spLocks xmlns:a="http://schemas.openxmlformats.org/drawingml/2006/main" noGrp="1"/>
          </p:cNvSpPr>
          <p:nvPr/>
        </p:nvSpPr>
        <p:spPr>
          <a:xfrm xmlns:a="http://schemas.openxmlformats.org/drawingml/2006/main">
            <a:off x="6705600" y="3086100"/>
            <a:ext cx="4248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Inter"/>
                <a:ea typeface="Inter"/>
                <a:cs typeface="Inter"/>
              </a:defRPr>
            </a:pPr>
            <a:r>
              <a:rPr sz="1275" b="0">
                <a:solidFill>
                  <a:srgbClr val="FFFFFF"/>
                </a:solidFill>
                <a:latin typeface="Inter"/>
                <a:ea typeface="Inter"/>
                <a:cs typeface="Inter"/>
              </a:rPr>
              <a:t>Retain current wordmark proportions</a:t>
            </a:r>
          </a:p>
        </p:txBody>
      </p:sp>
      <p:sp>
        <p:nvSpPr>
          <p:cNvPr id="12" name="">
            <a:extLst xmlns:a="http://schemas.openxmlformats.org/drawingml/2006/main">
              <a:ext uri="{FF2B5EF4-FFF2-40B4-BE49-F238E27FC236}">
                <a16:creationId xmlns:a16="http://schemas.microsoft.com/office/drawing/2014/main" id="{F6669CDE-0845-4EF0-B90C-BBB620A813D1}"/>
              </a:ext>
            </a:extLst>
          </p:cNvPr>
          <p:cNvSpPr>
            <a:spLocks xmlns:a="http://schemas.openxmlformats.org/drawingml/2006/main" noGrp="1"/>
          </p:cNvSpPr>
          <p:nvPr/>
        </p:nvSpPr>
        <p:spPr>
          <a:xfrm xmlns:a="http://schemas.openxmlformats.org/drawingml/2006/main">
            <a:off x="6477000" y="37528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4DD1054D-796C-421E-A706-BADE369A4996}"/>
              </a:ext>
            </a:extLst>
          </p:cNvPr>
          <p:cNvSpPr>
            <a:spLocks xmlns:a="http://schemas.openxmlformats.org/drawingml/2006/main" noGrp="1"/>
          </p:cNvSpPr>
          <p:nvPr/>
        </p:nvSpPr>
        <p:spPr>
          <a:xfrm xmlns:a="http://schemas.openxmlformats.org/drawingml/2006/main">
            <a:off x="6705600" y="3676650"/>
            <a:ext cx="4248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Inter"/>
                <a:ea typeface="Inter"/>
                <a:cs typeface="Inter"/>
              </a:defRPr>
            </a:pPr>
            <a:r>
              <a:rPr sz="1275" b="0">
                <a:solidFill>
                  <a:srgbClr val="FFFFFF"/>
                </a:solidFill>
                <a:latin typeface="Inter"/>
                <a:ea typeface="Inter"/>
                <a:cs typeface="Inter"/>
              </a:rPr>
              <a:t>Keep amber below 15% of visual area</a:t>
            </a:r>
          </a:p>
        </p:txBody>
      </p:sp>
      <p:sp>
        <p:nvSpPr>
          <p:cNvPr id="14" name="">
            <a:extLst xmlns:a="http://schemas.openxmlformats.org/drawingml/2006/main">
              <a:ext uri="{FF2B5EF4-FFF2-40B4-BE49-F238E27FC236}">
                <a16:creationId xmlns:a16="http://schemas.microsoft.com/office/drawing/2014/main" id="{47FB1BC0-FD19-4A13-BBC8-A055A06758B2}"/>
              </a:ext>
            </a:extLst>
          </p:cNvPr>
          <p:cNvSpPr>
            <a:spLocks xmlns:a="http://schemas.openxmlformats.org/drawingml/2006/main" noGrp="1"/>
          </p:cNvSpPr>
          <p:nvPr/>
        </p:nvSpPr>
        <p:spPr>
          <a:xfrm xmlns:a="http://schemas.openxmlformats.org/drawingml/2006/main">
            <a:off x="6477000" y="43434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3C584A5-4282-4DA8-970B-B2297BAAE901}"/>
              </a:ext>
            </a:extLst>
          </p:cNvPr>
          <p:cNvSpPr>
            <a:spLocks xmlns:a="http://schemas.openxmlformats.org/drawingml/2006/main" noGrp="1"/>
          </p:cNvSpPr>
          <p:nvPr/>
        </p:nvSpPr>
        <p:spPr>
          <a:xfrm xmlns:a="http://schemas.openxmlformats.org/drawingml/2006/main">
            <a:off x="6705600" y="4267200"/>
            <a:ext cx="4248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Inter"/>
                <a:ea typeface="Inter"/>
                <a:cs typeface="Inter"/>
              </a:defRPr>
            </a:pPr>
            <a:r>
              <a:rPr sz="1275" b="0">
                <a:solidFill>
                  <a:srgbClr val="FFFFFF"/>
                </a:solidFill>
                <a:latin typeface="Inter"/>
                <a:ea typeface="Inter"/>
                <a:cs typeface="Inter"/>
              </a:rPr>
              <a:t>Never imply current app generation</a:t>
            </a:r>
          </a:p>
        </p:txBody>
      </p:sp>
      <p:sp>
        <p:nvSpPr>
          <p:cNvPr id="16" name="">
            <a:extLst xmlns:a="http://schemas.openxmlformats.org/drawingml/2006/main">
              <a:ext uri="{FF2B5EF4-FFF2-40B4-BE49-F238E27FC236}">
                <a16:creationId xmlns:a16="http://schemas.microsoft.com/office/drawing/2014/main" id="{41F8D990-9D85-45BC-8AA9-1331766B0599}"/>
              </a:ext>
            </a:extLst>
          </p:cNvPr>
          <p:cNvSpPr>
            <a:spLocks xmlns:a="http://schemas.openxmlformats.org/drawingml/2006/main" noGrp="1"/>
          </p:cNvSpPr>
          <p:nvPr/>
        </p:nvSpPr>
        <p:spPr>
          <a:xfrm xmlns:a="http://schemas.openxmlformats.org/drawingml/2006/main">
            <a:off x="6477000" y="4933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4244926-9D97-4792-8EF1-C18F76A87021}"/>
              </a:ext>
            </a:extLst>
          </p:cNvPr>
          <p:cNvSpPr>
            <a:spLocks xmlns:a="http://schemas.openxmlformats.org/drawingml/2006/main" noGrp="1"/>
          </p:cNvSpPr>
          <p:nvPr/>
        </p:nvSpPr>
        <p:spPr>
          <a:xfrm xmlns:a="http://schemas.openxmlformats.org/drawingml/2006/main">
            <a:off x="6705600" y="4857750"/>
            <a:ext cx="4248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Inter"/>
                <a:ea typeface="Inter"/>
                <a:cs typeface="Inter"/>
              </a:defRPr>
            </a:pPr>
            <a:r>
              <a:rPr sz="1275" b="0">
                <a:solidFill>
                  <a:srgbClr val="FFFFFF"/>
                </a:solidFill>
                <a:latin typeface="Inter"/>
                <a:ea typeface="Inter"/>
                <a:cs typeface="Inter"/>
              </a:rPr>
              <a:t>Test mono, small-size, and accessibility variants before adoption</a:t>
            </a:r>
          </a:p>
        </p:txBody>
      </p:sp>
      <p:sp>
        <p:nvSpPr>
          <p:cNvPr id="18" name="">
            <a:extLst xmlns:a="http://schemas.openxmlformats.org/drawingml/2006/main">
              <a:ext uri="{FF2B5EF4-FFF2-40B4-BE49-F238E27FC236}">
                <a16:creationId xmlns:a16="http://schemas.microsoft.com/office/drawing/2014/main" id="{88142947-1FAE-487F-9CA4-AD769D1B9A19}"/>
              </a:ext>
            </a:extLst>
          </p:cNvPr>
          <p:cNvSpPr>
            <a:spLocks xmlns:a="http://schemas.openxmlformats.org/drawingml/2006/main" noGrp="1"/>
          </p:cNvSpPr>
          <p:nvPr/>
        </p:nvSpPr>
        <p:spPr>
          <a:xfrm xmlns:a="http://schemas.openxmlformats.org/drawingml/2006/main">
            <a:off x="8001000" y="5667375"/>
            <a:ext cx="2381250" cy="285750"/>
          </a:xfrm>
          <a:prstGeom xmlns:a="http://schemas.openxmlformats.org/drawingml/2006/main" prst="roundRect">
            <a:avLst>
              <a:gd name="adj" fmla="val 26667"/>
            </a:avLst>
          </a:prstGeom>
          <a:solidFill xmlns:a="http://schemas.openxmlformats.org/drawingml/2006/main">
            <a:srgbClr val="FFBC03"/>
          </a:solidFill>
          <a:ln xmlns:a="http://schemas.openxmlformats.org/drawingml/2006/main" w="9525">
            <a:solidFill>
              <a:srgbClr val="FFBC03"/>
            </a:solidFill>
            <a:prstDash val="solid"/>
          </a:ln>
        </p:spPr>
      </p:sp>
      <p:sp>
        <p:nvSpPr>
          <p:cNvPr id="19" name="">
            <a:extLst xmlns:a="http://schemas.openxmlformats.org/drawingml/2006/main">
              <a:ext uri="{FF2B5EF4-FFF2-40B4-BE49-F238E27FC236}">
                <a16:creationId xmlns:a16="http://schemas.microsoft.com/office/drawing/2014/main" id="{6D153F71-FF10-4F30-AD3A-31686942ACEC}"/>
              </a:ext>
            </a:extLst>
          </p:cNvPr>
          <p:cNvSpPr>
            <a:spLocks xmlns:a="http://schemas.openxmlformats.org/drawingml/2006/main" noGrp="1"/>
          </p:cNvSpPr>
          <p:nvPr/>
        </p:nvSpPr>
        <p:spPr>
          <a:xfrm xmlns:a="http://schemas.openxmlformats.org/drawingml/2006/main">
            <a:off x="8096250" y="5724525"/>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RECOMMENDED DIRECTION</a:t>
            </a:r>
          </a:p>
        </p:txBody>
      </p:sp>
      <p:sp>
        <p:nvSpPr>
          <p:cNvPr id="20" name="">
            <a:extLst xmlns:a="http://schemas.openxmlformats.org/drawingml/2006/main">
              <a:ext uri="{FF2B5EF4-FFF2-40B4-BE49-F238E27FC236}">
                <a16:creationId xmlns:a16="http://schemas.microsoft.com/office/drawing/2014/main" id="{8B44C0C4-E8E8-4335-8692-2214A23465BF}"/>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Evolution, not replacement • Internal AvalaOS brand and product decision-makers</a:t>
            </a:r>
          </a:p>
        </p:txBody>
      </p:sp>
      <p:sp>
        <p:nvSpPr>
          <p:cNvPr id="21" name="">
            <a:extLst xmlns:a="http://schemas.openxmlformats.org/drawingml/2006/main">
              <a:ext uri="{FF2B5EF4-FFF2-40B4-BE49-F238E27FC236}">
                <a16:creationId xmlns:a16="http://schemas.microsoft.com/office/drawing/2014/main" id="{C30C8DC6-D313-465F-903C-FE8DFEDC94DB}"/>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Internal recommendation. No production logo, public page, or application asset is modified.</a:t>
            </a:r>
          </a:p>
        </p:txBody>
      </p:sp>
      <p:sp>
        <p:nvSpPr>
          <p:cNvPr id="22" name="">
            <a:extLst xmlns:a="http://schemas.openxmlformats.org/drawingml/2006/main">
              <a:ext uri="{FF2B5EF4-FFF2-40B4-BE49-F238E27FC236}">
                <a16:creationId xmlns:a16="http://schemas.microsoft.com/office/drawing/2014/main" id="{93A1C057-57F5-45AF-B041-6ED2726EC18A}"/>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06</a:t>
            </a:r>
          </a:p>
        </p:txBody>
      </p:sp>
    </p:spTree>
    <p:extLst>
      <p:ext uri="{BB962C8B-B14F-4D97-AF65-F5344CB8AC3E}">
        <p14:creationId xmlns:p14="http://schemas.microsoft.com/office/powerpoint/2010/main" val="461379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2026-08-02T11:36:01.1520000Z</dcterms:created>
  <dcterms:modified xsi:type="dcterms:W3CDTF">2026-08-02T11:36:01.1520000Z</dcterms:modified>
</coreProperties>
</file>