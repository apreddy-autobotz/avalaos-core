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47c5a61eef4a17" /><Relationship Type="http://schemas.openxmlformats.org/officeDocument/2006/relationships/extended-properties" Target="/docProps/app.xml" Id="Ra8a23ce1d1fe4761" /><Relationship Type="http://schemas.openxmlformats.org/officeDocument/2006/relationships/officeDocument" Target="/ppt/presentation.xml" Id="R02d79becb433429f" /></Relationships>
</file>

<file path=ppt/presentation.xml><?xml version="1.0" encoding="utf-8"?>
<p:presentation xmlns:p="http://schemas.openxmlformats.org/presentationml/2006/main">
  <p:sldMasterIdLst>
    <p:sldMasterId xmlns:r="http://schemas.openxmlformats.org/officeDocument/2006/relationships" id="2147483648" r:id="R8e2c8fd9025140b9"/>
  </p:sldMasterIdLst>
  <p:notesMasterIdLst>
    <p:notesMasterId xmlns:r="http://schemas.openxmlformats.org/officeDocument/2006/relationships" r:id="Ra3d8b7a046b14370"/>
  </p:notesMasterIdLst>
  <p:sldIdLst>
    <p:sldId xmlns:r="http://schemas.openxmlformats.org/officeDocument/2006/relationships" id="256" r:id="R825492ea77c44252"/>
    <p:sldId xmlns:r="http://schemas.openxmlformats.org/officeDocument/2006/relationships" id="257" r:id="R11f791c4cd194cea"/>
    <p:sldId xmlns:r="http://schemas.openxmlformats.org/officeDocument/2006/relationships" id="258" r:id="Rc7a67e2d59924cd7"/>
    <p:sldId xmlns:r="http://schemas.openxmlformats.org/officeDocument/2006/relationships" id="259" r:id="R1bf53fa9ba364d27"/>
    <p:sldId xmlns:r="http://schemas.openxmlformats.org/officeDocument/2006/relationships" id="260" r:id="R1e75b74c083648d4"/>
    <p:sldId xmlns:r="http://schemas.openxmlformats.org/officeDocument/2006/relationships" id="261" r:id="R346590ff917c4fd2"/>
    <p:sldId xmlns:r="http://schemas.openxmlformats.org/officeDocument/2006/relationships" id="262" r:id="R6a8fd70fe34249d3"/>
    <p:sldId xmlns:r="http://schemas.openxmlformats.org/officeDocument/2006/relationships" id="263" r:id="Rdf41f1b31514404f"/>
    <p:sldId xmlns:r="http://schemas.openxmlformats.org/officeDocument/2006/relationships" id="264" r:id="R440b10adbd35483d"/>
    <p:sldId xmlns:r="http://schemas.openxmlformats.org/officeDocument/2006/relationships" id="265" r:id="R977a70f4fb8949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aa7d9a986404089" /><Relationship Type="http://schemas.openxmlformats.org/officeDocument/2006/relationships/slideMaster" Target="/ppt/slideMasters/slideMaster1.xml" Id="R8e2c8fd9025140b9" /><Relationship Type="http://schemas.openxmlformats.org/officeDocument/2006/relationships/notesMaster" Target="/ppt/notesMasters/notesMaster1.xml" Id="Ra3d8b7a046b14370" /><Relationship Type="http://schemas.openxmlformats.org/officeDocument/2006/relationships/presProps" Target="/ppt/presProps.xml" Id="R072fda55db4a4979" /><Relationship Type="http://schemas.openxmlformats.org/officeDocument/2006/relationships/tableStyles" Target="/ppt/tableStyles.xml" Id="Rc2c9702b8d1d4277" /><Relationship Type="http://schemas.openxmlformats.org/officeDocument/2006/relationships/slide" Target="/ppt/slides/slide1.xml" Id="R825492ea77c44252" /><Relationship Type="http://schemas.openxmlformats.org/officeDocument/2006/relationships/slide" Target="/ppt/slides/slide2.xml" Id="R11f791c4cd194cea" /><Relationship Type="http://schemas.openxmlformats.org/officeDocument/2006/relationships/slide" Target="/ppt/slides/slide3.xml" Id="Rc7a67e2d59924cd7" /><Relationship Type="http://schemas.openxmlformats.org/officeDocument/2006/relationships/slide" Target="/ppt/slides/slide4.xml" Id="R1bf53fa9ba364d27" /><Relationship Type="http://schemas.openxmlformats.org/officeDocument/2006/relationships/slide" Target="/ppt/slides/slide5.xml" Id="R1e75b74c083648d4" /><Relationship Type="http://schemas.openxmlformats.org/officeDocument/2006/relationships/slide" Target="/ppt/slides/slide6.xml" Id="R346590ff917c4fd2" /><Relationship Type="http://schemas.openxmlformats.org/officeDocument/2006/relationships/slide" Target="/ppt/slides/slide7.xml" Id="R6a8fd70fe34249d3" /><Relationship Type="http://schemas.openxmlformats.org/officeDocument/2006/relationships/slide" Target="/ppt/slides/slide8.xml" Id="Rdf41f1b31514404f" /><Relationship Type="http://schemas.openxmlformats.org/officeDocument/2006/relationships/slide" Target="/ppt/slides/slide9.xml" Id="R440b10adbd35483d" /><Relationship Type="http://schemas.openxmlformats.org/officeDocument/2006/relationships/slide" Target="/ppt/slides/slide10.xml" Id="R977a70f4fb8949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444a9bd2c64e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a929dc10fe4528" /><Relationship Type="http://schemas.openxmlformats.org/officeDocument/2006/relationships/notesMaster" Target="/ppt/notesMasters/notesMaster1.xml" Id="R7f0adb7e413842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388ecf04e347ec" /><Relationship Type="http://schemas.openxmlformats.org/officeDocument/2006/relationships/notesMaster" Target="/ppt/notesMasters/notesMaster1.xml" Id="Rc0241324a2a649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bef46802bf4249" /><Relationship Type="http://schemas.openxmlformats.org/officeDocument/2006/relationships/notesMaster" Target="/ppt/notesMasters/notesMaster1.xml" Id="Rdaf28416c5594d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df84ea473d4b32" /><Relationship Type="http://schemas.openxmlformats.org/officeDocument/2006/relationships/notesMaster" Target="/ppt/notesMasters/notesMaster1.xml" Id="Rde63cbc2b0744a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9d3d256a374237" /><Relationship Type="http://schemas.openxmlformats.org/officeDocument/2006/relationships/notesMaster" Target="/ppt/notesMasters/notesMaster1.xml" Id="Rf957934ade7545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ed831b17cd4422" /><Relationship Type="http://schemas.openxmlformats.org/officeDocument/2006/relationships/notesMaster" Target="/ppt/notesMasters/notesMaster1.xml" Id="R0dbb68d0766c47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3f4071e3d040d1" /><Relationship Type="http://schemas.openxmlformats.org/officeDocument/2006/relationships/notesMaster" Target="/ppt/notesMasters/notesMaster1.xml" Id="R3c2a36d9bce44b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73d2a3e737e4a29" /><Relationship Type="http://schemas.openxmlformats.org/officeDocument/2006/relationships/notesMaster" Target="/ppt/notesMasters/notesMaster1.xml" Id="Rff74ebd544084a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6f7d19e0d24958" /><Relationship Type="http://schemas.openxmlformats.org/officeDocument/2006/relationships/notesMaster" Target="/ppt/notesMasters/notesMaster1.xml" Id="R4dc6c7454b604e4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1213db635764029" /><Relationship Type="http://schemas.openxmlformats.org/officeDocument/2006/relationships/notesMaster" Target="/ppt/notesMasters/notesMaster1.xml" Id="Rf10e83b21c8b41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evaluate before you automate. govern before you execute. The governed decision and delivery layer around AI, automation, and human work. The key distinction is that AvalaOS governs the decision and handoff while authorized systems execute. State the boundary plainly: Synthetic product preview. No live execution.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Evaluate before you automate. Govern before you execute.</a:t>
            </a:r>
          </a:p>
          <a:p xmlns:a="http://schemas.openxmlformats.org/drawingml/2006/main">
            <a:r>
              <a:t/>
            </a:r>
          </a:p>
          <a:p xmlns:a="http://schemas.openxmlformats.org/drawingml/2006/main">
            <a:r>
              <a:t>AUDIENCE-SPECIFIC EMPHASIS</a:t>
            </a:r>
          </a:p>
          <a:p xmlns:a="http://schemas.openxmlformats.org/drawingml/2006/main">
            <a:r>
              <a:t>Open with the decision problem, not a feature list.</a:t>
            </a:r>
          </a:p>
          <a:p xmlns:a="http://schemas.openxmlformats.org/drawingml/2006/main">
            <a:r>
              <a:t/>
            </a:r>
          </a:p>
          <a:p xmlns:a="http://schemas.openxmlformats.org/drawingml/2006/main">
            <a:r>
              <a:t>CLAIMS USED</a:t>
            </a:r>
          </a:p>
          <a:p xmlns:a="http://schemas.openxmlformats.org/drawingml/2006/main">
            <a:r>
              <a:t>CL-001, CL-002, CL-003, CL-024</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Is this another automation platform?</a:t>
            </a:r>
          </a:p>
          <a:p xmlns:a="http://schemas.openxmlformats.org/drawingml/2006/main">
            <a:r>
              <a:t/>
            </a:r>
          </a:p>
          <a:p xmlns:a="http://schemas.openxmlformats.org/drawingml/2006/main">
            <a:r>
              <a:t>SUGGESTED RESPONSE</a:t>
            </a:r>
          </a:p>
          <a:p xmlns:a="http://schemas.openxmlformats.org/drawingml/2006/main">
            <a:r>
              <a:t>AvalaOS governs the decision and handoff around execution; authorized systems execute.</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CL-001: docs/00_SOURCE_OF_TRUTH.md — product identity; docs/01_PRODUCT_STRATEGY.md — Positioning</a:t>
            </a:r>
          </a:p>
          <a:p xmlns:a="http://schemas.openxmlformats.org/drawingml/2006/main">
            <a:r>
              <a:t>- CL-002: docs/00_SOURCE_OF_TRUTH.md — canonical tagline</a:t>
            </a:r>
          </a:p>
          <a:p xmlns:a="http://schemas.openxmlformats.org/drawingml/2006/main">
            <a:r>
              <a:t>- CL-003: docs/design/avalaos-enterprise-ui-rebaseline.md — Purpose</a:t>
            </a:r>
          </a:p>
          <a:p xmlns:a="http://schemas.openxmlformats.org/drawingml/2006/main">
            <a:r>
              <a:t>- CL-024: docs/design/avalaos-enterprise-ui-rebaseline.md — Isolated marketing capture</a:t>
            </a:r>
          </a:p>
          <a:p xmlns:a="http://schemas.openxmlformats.org/drawingml/2006/main">
            <a:r>
              <a:t>- Asset: public/marketing/screenshots/ (synthetic committed product captures)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enterprises are choosing tools before understanding the work. Walk through AI applied where deterministic rules would be safer, RPA selected where APIs or workflow would be stronger, Agents introduced without sufficient evidence or control, and Human accountability introduced after the design is committed. The remaining signals — Human accountability introduced after the design is committed — matter because they keep authority and evidence visible. State the boundary plainly: Strategic problem framing; no quantified failure-rate claim.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Enterprises are choosing tools before understanding the work.</a:t>
            </a:r>
          </a:p>
          <a:p xmlns:a="http://schemas.openxmlformats.org/drawingml/2006/main">
            <a:r>
              <a:t/>
            </a:r>
          </a:p>
          <a:p xmlns:a="http://schemas.openxmlformats.org/drawingml/2006/main">
            <a:r>
              <a:t>AUDIENCE-SPECIFIC EMPHASIS</a:t>
            </a:r>
          </a:p>
          <a:p xmlns:a="http://schemas.openxmlformats.org/drawingml/2006/main">
            <a:r>
              <a:t>Make the cost of a technology-first decision intuitive.</a:t>
            </a:r>
          </a:p>
          <a:p xmlns:a="http://schemas.openxmlformats.org/drawingml/2006/main">
            <a:r>
              <a:t/>
            </a:r>
          </a:p>
          <a:p xmlns:a="http://schemas.openxmlformats.org/drawingml/2006/main">
            <a:r>
              <a:t>CLAIMS USED</a:t>
            </a:r>
          </a:p>
          <a:p xmlns:a="http://schemas.openxmlformats.org/drawingml/2006/main">
            <a:r>
              <a:t>CL-001, CL-007, CL-008, CL-012</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Is this a measured enterprise failure pattern?</a:t>
            </a:r>
          </a:p>
          <a:p xmlns:a="http://schemas.openxmlformats.org/drawingml/2006/main">
            <a:r>
              <a:t/>
            </a:r>
          </a:p>
          <a:p xmlns:a="http://schemas.openxmlformats.org/drawingml/2006/main">
            <a:r>
              <a:t>SUGGESTED RESPONSE</a:t>
            </a:r>
          </a:p>
          <a:p xmlns:a="http://schemas.openxmlformats.org/drawingml/2006/main">
            <a:r>
              <a:t>It is the operating problem AvalaOS is designed to address, not a quantified market statistic.</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CL-001: docs/00_SOURCE_OF_TRUTH.md — product identity; docs/01_PRODUCT_STRATEGY.md — Positioning</a:t>
            </a:r>
          </a:p>
          <a:p xmlns:a="http://schemas.openxmlformats.org/drawingml/2006/main">
            <a:r>
              <a:t>- CL-007: docs/architecture/assess-v2-decision-intelligence-architecture.md — Canonical AP Invoice Exception Outcome</a:t>
            </a:r>
          </a:p>
          <a:p xmlns:a="http://schemas.openxmlformats.org/drawingml/2006/main">
            <a:r>
              <a:t>- CL-008: docs/00_SOURCE_OF_TRUTH.md — Product and Security Law</a:t>
            </a:r>
          </a:p>
          <a:p xmlns:a="http://schemas.openxmlformats.org/drawingml/2006/main">
            <a:r>
              <a:t>- CL-012: docs/00_SOURCE_OF_TRUTH.md — Product and Security Law</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one process is not one technology. Walk through Stable + structured: Rules / workflow: Deterministic controls, Repetitive UI work: RPA: Only where stronger interfaces are unavailable, Unstructured content: AI assistance: Extraction, classification, summarisation, and Context-heavy inquiry: Bounded agent assistance: Evidence synthesis with controls. The remaining signals — Context-heavy inquiry: Bounded agent assistance: Evidence synthesis with controls and Material-risk judgment: Human / HITL: Accountable approval — matter because they keep authority and evidence visible. State the boundary plainly: AvalaOS evaluates fit, controls, and handoff readiness. Authorized systems execute.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One process is not one technology.</a:t>
            </a:r>
          </a:p>
          <a:p xmlns:a="http://schemas.openxmlformats.org/drawingml/2006/main">
            <a:r>
              <a:t/>
            </a:r>
          </a:p>
          <a:p xmlns:a="http://schemas.openxmlformats.org/drawingml/2006/main">
            <a:r>
              <a:t>AUDIENCE-SPECIFIC EMPHASIS</a:t>
            </a:r>
          </a:p>
          <a:p xmlns:a="http://schemas.openxmlformats.org/drawingml/2006/main">
            <a:r>
              <a:t>Show that hybrid is the normal outcome, not a compromise.</a:t>
            </a:r>
          </a:p>
          <a:p xmlns:a="http://schemas.openxmlformats.org/drawingml/2006/main">
            <a:r>
              <a:t/>
            </a:r>
          </a:p>
          <a:p xmlns:a="http://schemas.openxmlformats.org/drawingml/2006/main">
            <a:r>
              <a:t>CLAIMS USED</a:t>
            </a:r>
          </a:p>
          <a:p xmlns:a="http://schemas.openxmlformats.org/drawingml/2006/main">
            <a:r>
              <a:t>CL-006, CL-007, CL-008</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Does AvalaOS autonomously select the technology?</a:t>
            </a:r>
          </a:p>
          <a:p xmlns:a="http://schemas.openxmlformats.org/drawingml/2006/main">
            <a:r>
              <a:t/>
            </a:r>
          </a:p>
          <a:p xmlns:a="http://schemas.openxmlformats.org/drawingml/2006/main">
            <a:r>
              <a:t>SUGGESTED RESPONSE</a:t>
            </a:r>
          </a:p>
          <a:p xmlns:a="http://schemas.openxmlformats.org/drawingml/2006/main">
            <a:r>
              <a:t>No. Versioned deterministic logic produces a recommendation that accountable humans review.</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CL-006: docs/architecture/assess-v2-decision-intelligence-architecture.md — Purpose and Deterministic Decision Layers</a:t>
            </a:r>
          </a:p>
          <a:p xmlns:a="http://schemas.openxmlformats.org/drawingml/2006/main">
            <a:r>
              <a:t>- CL-007: docs/architecture/assess-v2-decision-intelligence-architecture.md — Canonical AP Invoice Exception Outcome</a:t>
            </a:r>
          </a:p>
          <a:p xmlns:a="http://schemas.openxmlformats.org/drawingml/2006/main">
            <a:r>
              <a:t>- CL-008: docs/00_SOURCE_OF_TRUTH.md — Product and Security Law</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one governed lifecycle keeps the evidence attached. Walk through Assess: Evidence-qualified recommendation, Govern: Human-owned controls, Studio: Approved artifacts, and Delivery: Source-linked work. The remaining signals — Delivery: Source-linked work and Monitor: Outcome visibility — matter because they keep authority and evidence visible. State the boundary plainly: Synthetic product previews. Execution remains with authorized systems.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One governed lifecycle keeps the evidence attached.</a:t>
            </a:r>
          </a:p>
          <a:p xmlns:a="http://schemas.openxmlformats.org/drawingml/2006/main">
            <a:r>
              <a:t/>
            </a:r>
          </a:p>
          <a:p xmlns:a="http://schemas.openxmlformats.org/drawingml/2006/main">
            <a:r>
              <a:t>AUDIENCE-SPECIFIC EMPHASIS</a:t>
            </a:r>
          </a:p>
          <a:p xmlns:a="http://schemas.openxmlformats.org/drawingml/2006/main">
            <a:r>
              <a:t>Present the lifecycle as one cumulative decision path.</a:t>
            </a:r>
          </a:p>
          <a:p xmlns:a="http://schemas.openxmlformats.org/drawingml/2006/main">
            <a:r>
              <a:t/>
            </a:r>
          </a:p>
          <a:p xmlns:a="http://schemas.openxmlformats.org/drawingml/2006/main">
            <a:r>
              <a:t>CLAIMS USED</a:t>
            </a:r>
          </a:p>
          <a:p xmlns:a="http://schemas.openxmlformats.org/drawingml/2006/main">
            <a:r>
              <a:t>CL-003, CL-004, CL-024</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Is this a new project-management suite?</a:t>
            </a:r>
          </a:p>
          <a:p xmlns:a="http://schemas.openxmlformats.org/drawingml/2006/main">
            <a:r>
              <a:t/>
            </a:r>
          </a:p>
          <a:p xmlns:a="http://schemas.openxmlformats.org/drawingml/2006/main">
            <a:r>
              <a:t>SUGGESTED RESPONSE</a:t>
            </a:r>
          </a:p>
          <a:p xmlns:a="http://schemas.openxmlformats.org/drawingml/2006/main">
            <a:r>
              <a:t>No. AvalaOS preserves governed context and complements the execution ecosystem.</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CL-003: docs/design/avalaos-enterprise-ui-rebaseline.md — Purpose</a:t>
            </a:r>
          </a:p>
          <a:p xmlns:a="http://schemas.openxmlformats.org/drawingml/2006/main">
            <a:r>
              <a:t>- CL-004: docs/design/avalaos-enterprise-ui-rebaseline.md — Authenticated information architecture</a:t>
            </a:r>
          </a:p>
          <a:p xmlns:a="http://schemas.openxmlformats.org/drawingml/2006/main">
            <a:r>
              <a:t>- CL-024: docs/design/avalaos-enterprise-ui-rebaseline.md — Isolated marketing capture</a:t>
            </a:r>
          </a:p>
          <a:p xmlns:a="http://schemas.openxmlformats.org/drawingml/2006/main">
            <a:r>
              <a:t>- Asset: public/marketing/screenshots/ (synthetic committed product captures)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evidence becomes a governed decision. Process decomposition and deterministic recommendation meet evidence gaps, material-risk review, control conditions, and human approval. The remaining signals — Human-owned approval — matter because they keep authority and evidence visible. State the boundary plainly: Source/CI authority; not hosted, pilot, or production proof.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Evidence becomes a governed decision.</a:t>
            </a:r>
          </a:p>
          <a:p xmlns:a="http://schemas.openxmlformats.org/drawingml/2006/main">
            <a:r>
              <a:t/>
            </a:r>
          </a:p>
          <a:p xmlns:a="http://schemas.openxmlformats.org/drawingml/2006/main">
            <a:r>
              <a:t>AUDIENCE-SPECIFIC EMPHASIS</a:t>
            </a:r>
          </a:p>
          <a:p xmlns:a="http://schemas.openxmlformats.org/drawingml/2006/main">
            <a:r>
              <a:t>Connect explainability to accountable governance.</a:t>
            </a:r>
          </a:p>
          <a:p xmlns:a="http://schemas.openxmlformats.org/drawingml/2006/main">
            <a:r>
              <a:t/>
            </a:r>
          </a:p>
          <a:p xmlns:a="http://schemas.openxmlformats.org/drawingml/2006/main">
            <a:r>
              <a:t>CLAIMS USED</a:t>
            </a:r>
          </a:p>
          <a:p xmlns:a="http://schemas.openxmlformats.org/drawingml/2006/main">
            <a:r>
              <a:t>CL-005, CL-006, CL-008, CL-011, CL-012, CL-024</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Is AI approving the recommendation?</a:t>
            </a:r>
          </a:p>
          <a:p xmlns:a="http://schemas.openxmlformats.org/drawingml/2006/main">
            <a:r>
              <a:t/>
            </a:r>
          </a:p>
          <a:p xmlns:a="http://schemas.openxmlformats.org/drawingml/2006/main">
            <a:r>
              <a:t>SUGGESTED RESPONSE</a:t>
            </a:r>
          </a:p>
          <a:p xmlns:a="http://schemas.openxmlformats.org/drawingml/2006/main">
            <a:r>
              <a:t>No. AI remains outside scoring and approval authority.</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CL-005: docs/00_SOURCE_OF_TRUTH.md — Accepted Capabilities</a:t>
            </a:r>
          </a:p>
          <a:p xmlns:a="http://schemas.openxmlformats.org/drawingml/2006/main">
            <a:r>
              <a:t>- CL-006: docs/architecture/assess-v2-decision-intelligence-architecture.md — Purpose and Deterministic Decision Layers</a:t>
            </a:r>
          </a:p>
          <a:p xmlns:a="http://schemas.openxmlformats.org/drawingml/2006/main">
            <a:r>
              <a:t>- CL-008: docs/00_SOURCE_OF_TRUTH.md — Product and Security Law</a:t>
            </a:r>
          </a:p>
          <a:p xmlns:a="http://schemas.openxmlformats.org/drawingml/2006/main">
            <a:r>
              <a:t>- CL-011: docs/07_AVALA_GOVERN_FRAMEWORK.md — Current Scope</a:t>
            </a:r>
          </a:p>
          <a:p xmlns:a="http://schemas.openxmlformats.org/drawingml/2006/main">
            <a:r>
              <a:t>- CL-012: docs/00_SOURCE_OF_TRUTH.md — Product and Security Law</a:t>
            </a:r>
          </a:p>
          <a:p xmlns:a="http://schemas.openxmlformats.org/drawingml/2006/main">
            <a:r>
              <a:t>- CL-024: docs/design/avalaos-enterprise-ui-rebaseline.md — Isolated marketing capture</a:t>
            </a:r>
          </a:p>
          <a:p xmlns:a="http://schemas.openxmlformats.org/drawingml/2006/main">
            <a:r>
              <a:t>- Asset: public/marketing/screenshots/ (synthetic committed product captures)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approved context becomes an artifact people can revise and approve. Walk through BRD, FRD, PDD, and Immutable revisions. The remaining signals — Immutable revisions and Independent review — matter because they keep authority and evidence visible. State the boundary plainly: Common enterprise artifacts. Studio private files and brokered download remain candidate-only.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Approved context becomes an artifact people can revise and approve.</a:t>
            </a:r>
          </a:p>
          <a:p xmlns:a="http://schemas.openxmlformats.org/drawingml/2006/main">
            <a:r>
              <a:t/>
            </a:r>
          </a:p>
          <a:p xmlns:a="http://schemas.openxmlformats.org/drawingml/2006/main">
            <a:r>
              <a:t>AUDIENCE-SPECIFIC EMPHASIS</a:t>
            </a:r>
          </a:p>
          <a:p xmlns:a="http://schemas.openxmlformats.org/drawingml/2006/main">
            <a:r>
              <a:t>Stress editability, lineage, and human separation of duty.</a:t>
            </a:r>
          </a:p>
          <a:p xmlns:a="http://schemas.openxmlformats.org/drawingml/2006/main">
            <a:r>
              <a:t/>
            </a:r>
          </a:p>
          <a:p xmlns:a="http://schemas.openxmlformats.org/drawingml/2006/main">
            <a:r>
              <a:t>CLAIMS USED</a:t>
            </a:r>
          </a:p>
          <a:p xmlns:a="http://schemas.openxmlformats.org/drawingml/2006/main">
            <a:r>
              <a:t>CL-013, CL-014, CL-024</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Are these certified document standards?</a:t>
            </a:r>
          </a:p>
          <a:p xmlns:a="http://schemas.openxmlformats.org/drawingml/2006/main">
            <a:r>
              <a:t/>
            </a:r>
          </a:p>
          <a:p xmlns:a="http://schemas.openxmlformats.org/drawingml/2006/main">
            <a:r>
              <a:t>SUGGESTED RESPONSE</a:t>
            </a:r>
          </a:p>
          <a:p xmlns:a="http://schemas.openxmlformats.org/drawingml/2006/main">
            <a:r>
              <a:t>They are common enterprise artifact types, not globally certified templates.</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CL-013: docs/architecture/studio-governed-artifact-authority.md — Scope and trust boundary</a:t>
            </a:r>
          </a:p>
          <a:p xmlns:a="http://schemas.openxmlformats.org/drawingml/2006/main">
            <a:r>
              <a:t>- CL-014: docs/architecture/studio-governed-artifact-authority.md — Lifecycle and people</a:t>
            </a:r>
          </a:p>
          <a:p xmlns:a="http://schemas.openxmlformats.org/drawingml/2006/main">
            <a:r>
              <a:t>- CL-024: docs/design/avalaos-enterprise-ui-rebaseline.md — Isolated marketing capture</a:t>
            </a:r>
          </a:p>
          <a:p xmlns:a="http://schemas.openxmlformats.org/drawingml/2006/main">
            <a:r>
              <a:t>- Asset: public/marketing/screenshots/ (synthetic committed product captures)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approved context reaches delivery without losing the why. One governed handoff prepares source-linked work in Delivery. Monitor provides readiness, risk, blocker, lineage, and recorded-outcome visibility. The remaining signals — Delivery Pack lineage and Outcome recording state — matter because they keep authority and evidence visible. State the boundary plainly: Delivery complements execution systems. Monitor does not create tasks or claim live telemetry.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Approved context reaches delivery without losing the why.</a:t>
            </a:r>
          </a:p>
          <a:p xmlns:a="http://schemas.openxmlformats.org/drawingml/2006/main">
            <a:r>
              <a:t/>
            </a:r>
          </a:p>
          <a:p xmlns:a="http://schemas.openxmlformats.org/drawingml/2006/main">
            <a:r>
              <a:t>AUDIENCE-SPECIFIC EMPHASIS</a:t>
            </a:r>
          </a:p>
          <a:p xmlns:a="http://schemas.openxmlformats.org/drawingml/2006/main">
            <a:r>
              <a:t>Use the exact Delivery-versus-Monitor split.</a:t>
            </a:r>
          </a:p>
          <a:p xmlns:a="http://schemas.openxmlformats.org/drawingml/2006/main">
            <a:r>
              <a:t/>
            </a:r>
          </a:p>
          <a:p xmlns:a="http://schemas.openxmlformats.org/drawingml/2006/main">
            <a:r>
              <a:t>CLAIMS USED</a:t>
            </a:r>
          </a:p>
          <a:p xmlns:a="http://schemas.openxmlformats.org/drawingml/2006/main">
            <a:r>
              <a:t>CL-016, CL-017, CL-018, CL-019, CL-024</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Is Avala Delivery a Jira replacement?</a:t>
            </a:r>
          </a:p>
          <a:p xmlns:a="http://schemas.openxmlformats.org/drawingml/2006/main">
            <a:r>
              <a:t/>
            </a:r>
          </a:p>
          <a:p xmlns:a="http://schemas.openxmlformats.org/drawingml/2006/main">
            <a:r>
              <a:t>SUGGESTED RESPONSE</a:t>
            </a:r>
          </a:p>
          <a:p xmlns:a="http://schemas.openxmlformats.org/drawingml/2006/main">
            <a:r>
              <a:t>No. It prepares governed work and complements authorized delivery systems.</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CL-016: docs/02_PRODUCT_REQUIREMENTS.md — Avala Delivery</a:t>
            </a:r>
          </a:p>
          <a:p xmlns:a="http://schemas.openxmlformats.org/drawingml/2006/main">
            <a:r>
              <a:t>- CL-017: docs/design/avalaos-enterprise-ui-rebaseline.md — Delivery and Monitor</a:t>
            </a:r>
          </a:p>
          <a:p xmlns:a="http://schemas.openxmlformats.org/drawingml/2006/main">
            <a:r>
              <a:t>- CL-018: docs/01_PRODUCT_STRATEGY.md — Product Boundaries</a:t>
            </a:r>
          </a:p>
          <a:p xmlns:a="http://schemas.openxmlformats.org/drawingml/2006/main">
            <a:r>
              <a:t>- CL-019: docs/design/avalaos-enterprise-ui-rebaseline.md — Delivery and Monitor</a:t>
            </a:r>
          </a:p>
          <a:p xmlns:a="http://schemas.openxmlformats.org/drawingml/2006/main">
            <a:r>
              <a:t>- CL-024: docs/design/avalaos-enterprise-ui-rebaseline.md — Isolated marketing capture</a:t>
            </a:r>
          </a:p>
          <a:p xmlns:a="http://schemas.openxmlformats.org/drawingml/2006/main">
            <a:r>
              <a:t>- Asset: public/marketing/screenshots/ (synthetic committed product captures)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enterprise control starts at the model boundary. Walk through BYOK-ready architecture, Provider choice, Server-side secret boundary, and Human authority. The remaining signals — Human authority and Evidence and audit — matter because they keep authority and evidence visible. State the boundary plainly: Provider availability is deployment-dependent. No security or compliance certification claim.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Enterprise control starts at the model boundary.</a:t>
            </a:r>
          </a:p>
          <a:p xmlns:a="http://schemas.openxmlformats.org/drawingml/2006/main">
            <a:r>
              <a:t/>
            </a:r>
          </a:p>
          <a:p xmlns:a="http://schemas.openxmlformats.org/drawingml/2006/main">
            <a:r>
              <a:t>AUDIENCE-SPECIFIC EMPHASIS</a:t>
            </a:r>
          </a:p>
          <a:p xmlns:a="http://schemas.openxmlformats.org/drawingml/2006/main">
            <a:r>
              <a:t>Separate model access from human decision authority.</a:t>
            </a:r>
          </a:p>
          <a:p xmlns:a="http://schemas.openxmlformats.org/drawingml/2006/main">
            <a:r>
              <a:t/>
            </a:r>
          </a:p>
          <a:p xmlns:a="http://schemas.openxmlformats.org/drawingml/2006/main">
            <a:r>
              <a:t>CLAIMS USED</a:t>
            </a:r>
          </a:p>
          <a:p xmlns:a="http://schemas.openxmlformats.org/drawingml/2006/main">
            <a:r>
              <a:t>CL-008, CL-021, CL-022, CL-024, CL-026</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Is enterprise BYOK available today?</a:t>
            </a:r>
          </a:p>
          <a:p xmlns:a="http://schemas.openxmlformats.org/drawingml/2006/main">
            <a:r>
              <a:t/>
            </a:r>
          </a:p>
          <a:p xmlns:a="http://schemas.openxmlformats.org/drawingml/2006/main">
            <a:r>
              <a:t>SUGGESTED RESPONSE</a:t>
            </a:r>
          </a:p>
          <a:p xmlns:a="http://schemas.openxmlformats.org/drawingml/2006/main">
            <a:r>
              <a:t>The safe current claim is BYOK-ready architecture; availability depends on a validated deployment.</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CL-008: docs/00_SOURCE_OF_TRUTH.md — Product and Security Law</a:t>
            </a:r>
          </a:p>
          <a:p xmlns:a="http://schemas.openxmlformats.org/drawingml/2006/main">
            <a:r>
              <a:t>- CL-021: docs/design/avalaos-enterprise-ui-rebaseline.md — Product surfaces</a:t>
            </a:r>
          </a:p>
          <a:p xmlns:a="http://schemas.openxmlformats.org/drawingml/2006/main">
            <a:r>
              <a:t>- CL-022: components/public/PublicWebsite.tsx — TrustPage BYOK direction</a:t>
            </a:r>
          </a:p>
          <a:p xmlns:a="http://schemas.openxmlformats.org/drawingml/2006/main">
            <a:r>
              <a:t>- CL-024: docs/design/avalaos-enterprise-ui-rebaseline.md — Isolated marketing capture</a:t>
            </a:r>
          </a:p>
          <a:p xmlns:a="http://schemas.openxmlformats.org/drawingml/2006/main">
            <a:r>
              <a:t>- CL-026: docs/00_SOURCE_OF_TRUTH.md — Maturity Verdict and Not Accepted Or Proven</a:t>
            </a:r>
          </a:p>
          <a:p xmlns:a="http://schemas.openxmlformats.org/drawingml/2006/main">
            <a:r>
              <a:t>- Asset: public/marketing/screenshots/ (synthetic committed product captures)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built for the teams making automation decisions. Walk through Automation / AI CoE, Transformation Office, Process Excellence, and Business Analysts. The remaining signals — Business Analysts and Enterprise Architecture — matter because they keep authority and evidence visible. State the boundary plainly: Designed to reduce adoption friction; no zero-training or instant-adoption claim.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Built for the teams making automation decisions.</a:t>
            </a:r>
          </a:p>
          <a:p xmlns:a="http://schemas.openxmlformats.org/drawingml/2006/main">
            <a:r>
              <a:t/>
            </a:r>
          </a:p>
          <a:p xmlns:a="http://schemas.openxmlformats.org/drawingml/2006/main">
            <a:r>
              <a:t>AUDIENCE-SPECIFIC EMPHASIS</a:t>
            </a:r>
          </a:p>
          <a:p xmlns:a="http://schemas.openxmlformats.org/drawingml/2006/main">
            <a:r>
              <a:t>Show shared context with role-specific next actions.</a:t>
            </a:r>
          </a:p>
          <a:p xmlns:a="http://schemas.openxmlformats.org/drawingml/2006/main">
            <a:r>
              <a:t/>
            </a:r>
          </a:p>
          <a:p xmlns:a="http://schemas.openxmlformats.org/drawingml/2006/main">
            <a:r>
              <a:t>CLAIMS USED</a:t>
            </a:r>
          </a:p>
          <a:p xmlns:a="http://schemas.openxmlformats.org/drawingml/2006/main">
            <a:r>
              <a:t>CL-027</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How much change management is required?</a:t>
            </a:r>
          </a:p>
          <a:p xmlns:a="http://schemas.openxmlformats.org/drawingml/2006/main">
            <a:r>
              <a:t/>
            </a:r>
          </a:p>
          <a:p xmlns:a="http://schemas.openxmlformats.org/drawingml/2006/main">
            <a:r>
              <a:t>SUGGESTED RESPONSE</a:t>
            </a:r>
          </a:p>
          <a:p xmlns:a="http://schemas.openxmlformats.org/drawingml/2006/main">
            <a:r>
              <a:t>The product uses familiar roles and artifacts, but it does not claim zero training.</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CL-027: docs/01_PRODUCT_STRATEGY.md — Personas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make one governed decision before committing to build. Explore the synthetic product. Assess a real candidate process. Review the recommendation, evidence, and control conditions before committing automation budget. The remaining signals — Decide the governed next step — matter because they keep authority and evidence visible. State the boundary plainly: Success is a defensible decision, not a deployed automation.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Make one governed decision before committing to build.</a:t>
            </a:r>
          </a:p>
          <a:p xmlns:a="http://schemas.openxmlformats.org/drawingml/2006/main">
            <a:r>
              <a:t/>
            </a:r>
          </a:p>
          <a:p xmlns:a="http://schemas.openxmlformats.org/drawingml/2006/main">
            <a:r>
              <a:t>AUDIENCE-SPECIFIC EMPHASIS</a:t>
            </a:r>
          </a:p>
          <a:p xmlns:a="http://schemas.openxmlformats.org/drawingml/2006/main">
            <a:r>
              <a:t>Close with a bounded action the audience can take now.</a:t>
            </a:r>
          </a:p>
          <a:p xmlns:a="http://schemas.openxmlformats.org/drawingml/2006/main">
            <a:r>
              <a:t/>
            </a:r>
          </a:p>
          <a:p xmlns:a="http://schemas.openxmlformats.org/drawingml/2006/main">
            <a:r>
              <a:t>CLAIMS USED</a:t>
            </a:r>
          </a:p>
          <a:p xmlns:a="http://schemas.openxmlformats.org/drawingml/2006/main">
            <a:r>
              <a:t>CL-001, CL-002, CL-005, CL-008, CL-024</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What is the smallest credible first step?</a:t>
            </a:r>
          </a:p>
          <a:p xmlns:a="http://schemas.openxmlformats.org/drawingml/2006/main">
            <a:r>
              <a:t/>
            </a:r>
          </a:p>
          <a:p xmlns:a="http://schemas.openxmlformats.org/drawingml/2006/main">
            <a:r>
              <a:t>SUGGESTED RESPONSE</a:t>
            </a:r>
          </a:p>
          <a:p xmlns:a="http://schemas.openxmlformats.org/drawingml/2006/main">
            <a:r>
              <a:t>One candidate process, one evidence set, and one reviewed Decision Pack.</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CL-001: docs/00_SOURCE_OF_TRUTH.md — product identity; docs/01_PRODUCT_STRATEGY.md — Positioning</a:t>
            </a:r>
          </a:p>
          <a:p xmlns:a="http://schemas.openxmlformats.org/drawingml/2006/main">
            <a:r>
              <a:t>- CL-002: docs/00_SOURCE_OF_TRUTH.md — canonical tagline</a:t>
            </a:r>
          </a:p>
          <a:p xmlns:a="http://schemas.openxmlformats.org/drawingml/2006/main">
            <a:r>
              <a:t>- CL-005: docs/00_SOURCE_OF_TRUTH.md — Accepted Capabilities</a:t>
            </a:r>
          </a:p>
          <a:p xmlns:a="http://schemas.openxmlformats.org/drawingml/2006/main">
            <a:r>
              <a:t>- CL-008: docs/00_SOURCE_OF_TRUTH.md — Product and Security Law</a:t>
            </a:r>
          </a:p>
          <a:p xmlns:a="http://schemas.openxmlformats.org/drawingml/2006/main">
            <a:r>
              <a:t>- CL-024: docs/design/avalaos-enterprise-ui-rebaseline.md — Isolated marketing capture</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420ff45f9b45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ef59a3dbd048c1" /><Relationship Type="http://schemas.openxmlformats.org/officeDocument/2006/relationships/slideLayout" Target="/ppt/slideLayouts/slideLayout1.xml" Id="Rf5ab53aa549b4f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ab53aa549b4f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bad0ae4360745f4" /><Relationship Type="http://schemas.openxmlformats.org/officeDocument/2006/relationships/image" Target="/ppt/media/image.png" Id="Rdb681f78c0504874" /><Relationship Type="http://schemas.openxmlformats.org/officeDocument/2006/relationships/notesSlide" Target="/ppt/notesSlides/notesSlide1.xml" Id="R6d21fcf8782240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17afca1444d4f60" /><Relationship Type="http://schemas.openxmlformats.org/officeDocument/2006/relationships/notesSlide" Target="/ppt/notesSlides/notesSlide2.xml" Id="Rb3a971aa8b3642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2996e7af34e41b5" /><Relationship Type="http://schemas.openxmlformats.org/officeDocument/2006/relationships/notesSlide" Target="/ppt/notesSlides/notesSlide3.xml" Id="Ra3e93c7e92994e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3cd6c3474f84309" /><Relationship Type="http://schemas.openxmlformats.org/officeDocument/2006/relationships/image" Target="/ppt/media/image2.png" Id="R84646dd1eccb48b5" /><Relationship Type="http://schemas.openxmlformats.org/officeDocument/2006/relationships/image" Target="/ppt/media/image3.png" Id="R913d0f91729249c0" /><Relationship Type="http://schemas.openxmlformats.org/officeDocument/2006/relationships/image" Target="/ppt/media/image4.png" Id="R4006ef4279474e9d" /><Relationship Type="http://schemas.openxmlformats.org/officeDocument/2006/relationships/image" Target="/ppt/media/image5.png" Id="R65ca1c1b0ed8424f" /><Relationship Type="http://schemas.openxmlformats.org/officeDocument/2006/relationships/image" Target="/ppt/media/image6.png" Id="R68eb06f9387f433b" /><Relationship Type="http://schemas.openxmlformats.org/officeDocument/2006/relationships/notesSlide" Target="/ppt/notesSlides/notesSlide4.xml" Id="Rfd4136f7b79b4e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93aea2a5b8e4958" /><Relationship Type="http://schemas.openxmlformats.org/officeDocument/2006/relationships/image" Target="/ppt/media/image7.png" Id="R513f7f4429b844b9" /><Relationship Type="http://schemas.openxmlformats.org/officeDocument/2006/relationships/image" Target="/ppt/media/image8.png" Id="Rb69495bb2b564a77" /><Relationship Type="http://schemas.openxmlformats.org/officeDocument/2006/relationships/notesSlide" Target="/ppt/notesSlides/notesSlide5.xml" Id="Rf9b35e088c784f3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dcd828fc04e4048" /><Relationship Type="http://schemas.openxmlformats.org/officeDocument/2006/relationships/image" Target="/ppt/media/image9.png" Id="R2846d9225ad84f70" /><Relationship Type="http://schemas.openxmlformats.org/officeDocument/2006/relationships/notesSlide" Target="/ppt/notesSlides/notesSlide6.xml" Id="R5ddb4b019b0a4a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5d933b8e3b848c5" /><Relationship Type="http://schemas.openxmlformats.org/officeDocument/2006/relationships/image" Target="/ppt/media/image10.png" Id="R13ae6c250ecf47d3" /><Relationship Type="http://schemas.openxmlformats.org/officeDocument/2006/relationships/image" Target="/ppt/media/image11.png" Id="Rc97a9b92527045af" /><Relationship Type="http://schemas.openxmlformats.org/officeDocument/2006/relationships/notesSlide" Target="/ppt/notesSlides/notesSlide7.xml" Id="Ra935624479fb46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8c68c91583e48d4" /><Relationship Type="http://schemas.openxmlformats.org/officeDocument/2006/relationships/image" Target="/ppt/media/image12.png" Id="R174f4c10757f4de4" /><Relationship Type="http://schemas.openxmlformats.org/officeDocument/2006/relationships/notesSlide" Target="/ppt/notesSlides/notesSlide8.xml" Id="Ra7c20f9faae74d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9efabf65c0d467f" /><Relationship Type="http://schemas.openxmlformats.org/officeDocument/2006/relationships/notesSlide" Target="/ppt/notesSlides/notesSlide9.xml" Id="Rdc889fbde5844a1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49ee40a380148df" /><Relationship Type="http://schemas.openxmlformats.org/officeDocument/2006/relationships/notesSlide" Target="/ppt/notesSlides/notesSlide10.xml" Id="Ra622be7e7e74404e" /></Relationships>
</file>

<file path=ppt/slides/slide1.xml><?xml version="1.0" encoding="utf-8"?>
<p:sld xmlns:p="http://schemas.openxmlformats.org/presentationml/2006/main">
  <p:cSld>
    <p:bg>
      <p:bgPr>
        <a:solidFill xmlns:a="http://schemas.openxmlformats.org/drawingml/2006/main">
          <a:srgbClr val="001B3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62AE2E1-1A1F-408F-BBAC-854E9E6ECFBB}"/>
              </a:ext>
            </a:extLst>
          </p:cNvPr>
          <p:cNvSpPr>
            <a:spLocks xmlns:a="http://schemas.openxmlformats.org/drawingml/2006/main" noGrp="1"/>
          </p:cNvSpPr>
          <p:nvPr/>
        </p:nvSpPr>
        <p:spPr>
          <a:xfrm xmlns:a="http://schemas.openxmlformats.org/drawingml/2006/main">
            <a:off x="609600" y="514350"/>
            <a:ext cx="800100" cy="57150"/>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518D726-5D7C-4C6C-A0BB-A416C0D13B7B}"/>
              </a:ext>
            </a:extLst>
          </p:cNvPr>
          <p:cNvSpPr>
            <a:spLocks xmlns:a="http://schemas.openxmlformats.org/drawingml/2006/main" noGrp="1"/>
          </p:cNvSpPr>
          <p:nvPr/>
        </p:nvSpPr>
        <p:spPr>
          <a:xfrm xmlns:a="http://schemas.openxmlformats.org/drawingml/2006/main">
            <a:off x="609600" y="742950"/>
            <a:ext cx="5238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5D778"/>
                </a:solidFill>
                <a:latin typeface="Inter"/>
                <a:ea typeface="Inter"/>
                <a:cs typeface="Inter"/>
              </a:defRPr>
            </a:pPr>
            <a:r>
              <a:rPr sz="975" b="1">
                <a:solidFill>
                  <a:srgbClr val="F5D778"/>
                </a:solidFill>
                <a:latin typeface="Inter"/>
                <a:ea typeface="Inter"/>
                <a:cs typeface="Inter"/>
              </a:rPr>
              <a:t>AVALAOS • DECISION BEFORE EXECUTION</a:t>
            </a:r>
          </a:p>
        </p:txBody>
      </p:sp>
      <p:sp>
        <p:nvSpPr>
          <p:cNvPr id="3" name="">
            <a:extLst xmlns:a="http://schemas.openxmlformats.org/drawingml/2006/main">
              <a:ext uri="{FF2B5EF4-FFF2-40B4-BE49-F238E27FC236}">
                <a16:creationId xmlns:a16="http://schemas.microsoft.com/office/drawing/2014/main" id="{C4A6F4BB-A05B-4A45-B181-1CAA162248AA}"/>
              </a:ext>
            </a:extLst>
          </p:cNvPr>
          <p:cNvSpPr>
            <a:spLocks xmlns:a="http://schemas.openxmlformats.org/drawingml/2006/main" noGrp="1"/>
          </p:cNvSpPr>
          <p:nvPr/>
        </p:nvSpPr>
        <p:spPr>
          <a:xfrm xmlns:a="http://schemas.openxmlformats.org/drawingml/2006/main">
            <a:off x="609600" y="1285875"/>
            <a:ext cx="5143500" cy="2190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a:solidFill>
                  <a:srgbClr val="FFFFFF"/>
                </a:solidFill>
                <a:latin typeface="Outfit"/>
                <a:ea typeface="Outfit"/>
                <a:cs typeface="Outfit"/>
              </a:defRPr>
            </a:pPr>
            <a:r>
              <a:rPr sz="3600" b="1">
                <a:solidFill>
                  <a:srgbClr val="FFFFFF"/>
                </a:solidFill>
                <a:latin typeface="Outfit"/>
                <a:ea typeface="Outfit"/>
                <a:cs typeface="Outfit"/>
              </a:rPr>
              <a:t>Evaluate before you automate.</a:t>
            </a:r>
          </a:p>
          <a:p xmlns:a="http://schemas.openxmlformats.org/drawingml/2006/main">
            <a:pPr algn="l">
              <a:defRPr sz="3600" b="1">
                <a:solidFill>
                  <a:srgbClr val="FFFFFF"/>
                </a:solidFill>
                <a:latin typeface="Outfit"/>
                <a:ea typeface="Outfit"/>
                <a:cs typeface="Outfit"/>
              </a:defRPr>
            </a:pPr>
            <a:r>
              <a:rPr sz="3600" b="1">
                <a:solidFill>
                  <a:srgbClr val="FFFFFF"/>
                </a:solidFill>
                <a:latin typeface="Outfit"/>
                <a:ea typeface="Outfit"/>
                <a:cs typeface="Outfit"/>
              </a:rPr>
              <a:t>Govern before you execute.</a:t>
            </a:r>
          </a:p>
        </p:txBody>
      </p:sp>
      <p:sp>
        <p:nvSpPr>
          <p:cNvPr id="4" name="">
            <a:extLst xmlns:a="http://schemas.openxmlformats.org/drawingml/2006/main">
              <a:ext uri="{FF2B5EF4-FFF2-40B4-BE49-F238E27FC236}">
                <a16:creationId xmlns:a16="http://schemas.microsoft.com/office/drawing/2014/main" id="{9E33567C-FE02-4B12-B27B-B9CD74E1A86A}"/>
              </a:ext>
            </a:extLst>
          </p:cNvPr>
          <p:cNvSpPr>
            <a:spLocks xmlns:a="http://schemas.openxmlformats.org/drawingml/2006/main" noGrp="1"/>
          </p:cNvSpPr>
          <p:nvPr/>
        </p:nvSpPr>
        <p:spPr>
          <a:xfrm xmlns:a="http://schemas.openxmlformats.org/drawingml/2006/main">
            <a:off x="609600" y="3714750"/>
            <a:ext cx="476250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DCE6EF"/>
                </a:solidFill>
                <a:latin typeface="Inter"/>
                <a:ea typeface="Inter"/>
                <a:cs typeface="Inter"/>
              </a:defRPr>
            </a:pPr>
            <a:r>
              <a:rPr sz="1575" b="0">
                <a:solidFill>
                  <a:srgbClr val="DCE6EF"/>
                </a:solidFill>
                <a:latin typeface="Inter"/>
                <a:ea typeface="Inter"/>
                <a:cs typeface="Inter"/>
              </a:rPr>
              <a:t>The governed decision and delivery layer around AI, automation, and human work.</a:t>
            </a:r>
          </a:p>
        </p:txBody>
      </p:sp>
      <p:sp>
        <p:nvSpPr>
          <p:cNvPr id="5" name="">
            <a:extLst xmlns:a="http://schemas.openxmlformats.org/drawingml/2006/main">
              <a:ext uri="{FF2B5EF4-FFF2-40B4-BE49-F238E27FC236}">
                <a16:creationId xmlns:a16="http://schemas.microsoft.com/office/drawing/2014/main" id="{4F410D34-72F7-44A2-AEF9-6BFE1DA1C42F}"/>
              </a:ext>
            </a:extLst>
          </p:cNvPr>
          <p:cNvSpPr>
            <a:spLocks xmlns:a="http://schemas.openxmlformats.org/drawingml/2006/main" noGrp="1"/>
          </p:cNvSpPr>
          <p:nvPr/>
        </p:nvSpPr>
        <p:spPr>
          <a:xfrm xmlns:a="http://schemas.openxmlformats.org/drawingml/2006/main">
            <a:off x="6134100" y="990600"/>
            <a:ext cx="5505450" cy="4257675"/>
          </a:xfrm>
          <a:prstGeom xmlns:a="http://schemas.openxmlformats.org/drawingml/2006/main" prst="roundRect">
            <a:avLst>
              <a:gd name="adj" fmla="val 1790"/>
            </a:avLst>
          </a:prstGeom>
          <a:solidFill xmlns:a="http://schemas.openxmlformats.org/drawingml/2006/main">
            <a:srgbClr val="002C4B"/>
          </a:solidFill>
          <a:ln xmlns:a="http://schemas.openxmlformats.org/drawingml/2006/main" w="9525">
            <a:solidFill>
              <a:srgbClr val="0C3B5B"/>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b681f78c0504874"/>
          <a:srcRect xmlns:a="http://schemas.openxmlformats.org/drawingml/2006/main" l="797" t="0" r="797" b="0"/>
          <a:stretch xmlns:a="http://schemas.openxmlformats.org/drawingml/2006/main">
            <a:fillRect l="0" t="0" r="0" b="0"/>
          </a:stretch>
        </p:blipFill>
        <p:spPr>
          <a:xfrm xmlns:a="http://schemas.openxmlformats.org/drawingml/2006/main">
            <a:off x="6191250" y="1047750"/>
            <a:ext cx="5391150" cy="4143375"/>
          </a:xfrm>
          <a:prstGeom xmlns:a="http://schemas.openxmlformats.org/drawingml/2006/main" prst="roundRect">
            <a:avLst>
              <a:gd name="adj" fmla="val 2759"/>
            </a:avLst>
          </a:prstGeom>
        </p:spPr>
      </p:pic>
      <p:sp>
        <p:nvSpPr>
          <p:cNvPr id="7" name="">
            <a:extLst xmlns:a="http://schemas.openxmlformats.org/drawingml/2006/main">
              <a:ext uri="{FF2B5EF4-FFF2-40B4-BE49-F238E27FC236}">
                <a16:creationId xmlns:a16="http://schemas.microsoft.com/office/drawing/2014/main" id="{1421FD77-B68A-46EB-A763-0E76B22A5692}"/>
              </a:ext>
            </a:extLst>
          </p:cNvPr>
          <p:cNvSpPr>
            <a:spLocks xmlns:a="http://schemas.openxmlformats.org/drawingml/2006/main" noGrp="1"/>
          </p:cNvSpPr>
          <p:nvPr/>
        </p:nvSpPr>
        <p:spPr>
          <a:xfrm xmlns:a="http://schemas.openxmlformats.org/drawingml/2006/main">
            <a:off x="609600" y="5381625"/>
            <a:ext cx="4476750" cy="285750"/>
          </a:xfrm>
          <a:prstGeom xmlns:a="http://schemas.openxmlformats.org/drawingml/2006/main" prst="roundRect">
            <a:avLst>
              <a:gd name="adj" fmla="val 26667"/>
            </a:avLst>
          </a:prstGeom>
          <a:solidFill xmlns:a="http://schemas.openxmlformats.org/drawingml/2006/main">
            <a:srgbClr val="002C4B"/>
          </a:solidFill>
          <a:ln xmlns:a="http://schemas.openxmlformats.org/drawingml/2006/main" w="9525">
            <a:solidFill>
              <a:srgbClr val="0C3B5B"/>
            </a:solidFill>
            <a:prstDash val="solid"/>
          </a:ln>
        </p:spPr>
      </p:sp>
      <p:sp>
        <p:nvSpPr>
          <p:cNvPr id="8" name="">
            <a:extLst xmlns:a="http://schemas.openxmlformats.org/drawingml/2006/main">
              <a:ext uri="{FF2B5EF4-FFF2-40B4-BE49-F238E27FC236}">
                <a16:creationId xmlns:a16="http://schemas.microsoft.com/office/drawing/2014/main" id="{4C1EC85B-E74D-4B5E-8C3C-DCFEEAA00B70}"/>
              </a:ext>
            </a:extLst>
          </p:cNvPr>
          <p:cNvSpPr>
            <a:spLocks xmlns:a="http://schemas.openxmlformats.org/drawingml/2006/main" noGrp="1"/>
          </p:cNvSpPr>
          <p:nvPr/>
        </p:nvSpPr>
        <p:spPr>
          <a:xfrm xmlns:a="http://schemas.openxmlformats.org/drawingml/2006/main">
            <a:off x="704850" y="5438775"/>
            <a:ext cx="4286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FFFFF"/>
                </a:solidFill>
                <a:latin typeface="Inter"/>
                <a:ea typeface="Inter"/>
                <a:cs typeface="Inter"/>
              </a:defRPr>
            </a:pPr>
            <a:r>
              <a:rPr sz="900" b="1">
                <a:solidFill>
                  <a:srgbClr val="FFFFFF"/>
                </a:solidFill>
                <a:latin typeface="Inter"/>
                <a:ea typeface="Inter"/>
                <a:cs typeface="Inter"/>
              </a:rPr>
              <a:t>EVIDENCE • HUMAN AUTHORITY • TRACEABLE HANDOFF</a:t>
            </a:r>
          </a:p>
        </p:txBody>
      </p:sp>
      <p:sp>
        <p:nvSpPr>
          <p:cNvPr id="9" name="">
            <a:extLst xmlns:a="http://schemas.openxmlformats.org/drawingml/2006/main">
              <a:ext uri="{FF2B5EF4-FFF2-40B4-BE49-F238E27FC236}">
                <a16:creationId xmlns:a16="http://schemas.microsoft.com/office/drawing/2014/main" id="{255895DB-94CB-4E77-829E-5B0F91E56122}"/>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B9C7D5"/>
                </a:solidFill>
                <a:latin typeface="Inter"/>
                <a:ea typeface="Inter"/>
                <a:cs typeface="Inter"/>
              </a:defRPr>
            </a:pPr>
            <a:r>
              <a:rPr sz="750" b="1">
                <a:solidFill>
                  <a:srgbClr val="B9C7D5"/>
                </a:solidFill>
                <a:latin typeface="Inter"/>
                <a:ea typeface="Inter"/>
                <a:cs typeface="Inter"/>
              </a:rPr>
              <a:t>Decision Before Execution • Automation, AI, transformation, process excellence, architecture, and consulting leaders</a:t>
            </a:r>
          </a:p>
        </p:txBody>
      </p:sp>
      <p:sp>
        <p:nvSpPr>
          <p:cNvPr id="10" name="">
            <a:extLst xmlns:a="http://schemas.openxmlformats.org/drawingml/2006/main">
              <a:ext uri="{FF2B5EF4-FFF2-40B4-BE49-F238E27FC236}">
                <a16:creationId xmlns:a16="http://schemas.microsoft.com/office/drawing/2014/main" id="{5A69C016-0947-40CA-91B5-8CC41A1DEEF3}"/>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B9C7D5"/>
                </a:solidFill>
                <a:latin typeface="Inter"/>
                <a:ea typeface="Inter"/>
                <a:cs typeface="Inter"/>
              </a:defRPr>
            </a:pPr>
            <a:r>
              <a:rPr sz="750" b="0">
                <a:solidFill>
                  <a:srgbClr val="B9C7D5"/>
                </a:solidFill>
                <a:latin typeface="Inter"/>
                <a:ea typeface="Inter"/>
                <a:cs typeface="Inter"/>
              </a:rPr>
              <a:t>Synthetic product preview. No live execution.</a:t>
            </a:r>
          </a:p>
        </p:txBody>
      </p:sp>
      <p:sp>
        <p:nvSpPr>
          <p:cNvPr id="11" name="">
            <a:extLst xmlns:a="http://schemas.openxmlformats.org/drawingml/2006/main">
              <a:ext uri="{FF2B5EF4-FFF2-40B4-BE49-F238E27FC236}">
                <a16:creationId xmlns:a16="http://schemas.microsoft.com/office/drawing/2014/main" id="{D727FA8A-6621-410B-9272-33C5A1BA0F73}"/>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B9C7D5"/>
                </a:solidFill>
                <a:latin typeface="Inter"/>
                <a:ea typeface="Inter"/>
                <a:cs typeface="Inter"/>
              </a:defRPr>
            </a:pPr>
            <a:r>
              <a:rPr sz="750" b="1">
                <a:solidFill>
                  <a:srgbClr val="B9C7D5"/>
                </a:solidFill>
                <a:latin typeface="Inter"/>
                <a:ea typeface="Inter"/>
                <a:cs typeface="Inter"/>
              </a:rPr>
              <a:t>01</a:t>
            </a:r>
          </a:p>
        </p:txBody>
      </p:sp>
    </p:spTree>
    <p:extLst>
      <p:ext uri="{BB962C8B-B14F-4D97-AF65-F5344CB8AC3E}">
        <p14:creationId xmlns:p14="http://schemas.microsoft.com/office/powerpoint/2010/main" val="519094385"/>
      </p:ext>
    </p:extLst>
  </p:cSld>
</p:sld>
</file>

<file path=ppt/slides/slide2.xml><?xml version="1.0" encoding="utf-8"?>
<p:sld xmlns:p="http://schemas.openxmlformats.org/presentationml/2006/main">
  <p:cSld>
    <p:bg>
      <p:bgPr>
        <a:solidFill xmlns:a="http://schemas.openxmlformats.org/drawingml/2006/main">
          <a:srgbClr val="001B3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B9D2BA2-F35D-4B22-BDC4-122120D2BDA5}"/>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22413FC-DC78-4C98-B739-644BA2AE559E}"/>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5D778"/>
                </a:solidFill>
                <a:latin typeface="Inter"/>
                <a:ea typeface="Inter"/>
                <a:cs typeface="Inter"/>
              </a:defRPr>
            </a:pPr>
            <a:r>
              <a:rPr sz="975" b="1">
                <a:solidFill>
                  <a:srgbClr val="F5D778"/>
                </a:solidFill>
                <a:latin typeface="Inter"/>
                <a:ea typeface="Inter"/>
                <a:cs typeface="Inter"/>
              </a:rPr>
              <a:t>THE AUTOMATION DECISION GAP</a:t>
            </a:r>
          </a:p>
        </p:txBody>
      </p:sp>
      <p:sp>
        <p:nvSpPr>
          <p:cNvPr id="3" name="">
            <a:extLst xmlns:a="http://schemas.openxmlformats.org/drawingml/2006/main">
              <a:ext uri="{FF2B5EF4-FFF2-40B4-BE49-F238E27FC236}">
                <a16:creationId xmlns:a16="http://schemas.microsoft.com/office/drawing/2014/main" id="{DE5335DD-D61F-4408-9B92-CB94554DB729}"/>
              </a:ext>
            </a:extLst>
          </p:cNvPr>
          <p:cNvSpPr>
            <a:spLocks xmlns:a="http://schemas.openxmlformats.org/drawingml/2006/main" noGrp="1"/>
          </p:cNvSpPr>
          <p:nvPr/>
        </p:nvSpPr>
        <p:spPr>
          <a:xfrm xmlns:a="http://schemas.openxmlformats.org/drawingml/2006/main">
            <a:off x="609600" y="1000125"/>
            <a:ext cx="5429250" cy="2095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75" b="1">
                <a:solidFill>
                  <a:srgbClr val="FFFFFF"/>
                </a:solidFill>
                <a:latin typeface="Outfit"/>
                <a:ea typeface="Outfit"/>
                <a:cs typeface="Outfit"/>
              </a:defRPr>
            </a:pPr>
            <a:r>
              <a:rPr sz="3375" b="1">
                <a:solidFill>
                  <a:srgbClr val="FFFFFF"/>
                </a:solidFill>
                <a:latin typeface="Outfit"/>
                <a:ea typeface="Outfit"/>
                <a:cs typeface="Outfit"/>
              </a:rPr>
              <a:t>Enterprises are choosing tools before understanding the work.</a:t>
            </a:r>
          </a:p>
        </p:txBody>
      </p:sp>
      <p:sp>
        <p:nvSpPr>
          <p:cNvPr id="4" name="">
            <a:extLst xmlns:a="http://schemas.openxmlformats.org/drawingml/2006/main">
              <a:ext uri="{FF2B5EF4-FFF2-40B4-BE49-F238E27FC236}">
                <a16:creationId xmlns:a16="http://schemas.microsoft.com/office/drawing/2014/main" id="{54C641E3-C837-4EF0-A842-726802F6B0D2}"/>
              </a:ext>
            </a:extLst>
          </p:cNvPr>
          <p:cNvSpPr>
            <a:spLocks xmlns:a="http://schemas.openxmlformats.org/drawingml/2006/main" noGrp="1"/>
          </p:cNvSpPr>
          <p:nvPr/>
        </p:nvSpPr>
        <p:spPr>
          <a:xfrm xmlns:a="http://schemas.openxmlformats.org/drawingml/2006/main">
            <a:off x="609600" y="3333750"/>
            <a:ext cx="4000500" cy="4762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CE634BAF-4A51-421C-A537-821D4DBFA1DC}"/>
              </a:ext>
            </a:extLst>
          </p:cNvPr>
          <p:cNvSpPr>
            <a:spLocks xmlns:a="http://schemas.openxmlformats.org/drawingml/2006/main" noGrp="1"/>
          </p:cNvSpPr>
          <p:nvPr/>
        </p:nvSpPr>
        <p:spPr>
          <a:xfrm xmlns:a="http://schemas.openxmlformats.org/drawingml/2006/main">
            <a:off x="6858000" y="12954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6B994B23-2A7E-4C6F-891F-C061C807115F}"/>
              </a:ext>
            </a:extLst>
          </p:cNvPr>
          <p:cNvSpPr>
            <a:spLocks xmlns:a="http://schemas.openxmlformats.org/drawingml/2006/main" noGrp="1"/>
          </p:cNvSpPr>
          <p:nvPr/>
        </p:nvSpPr>
        <p:spPr>
          <a:xfrm xmlns:a="http://schemas.openxmlformats.org/drawingml/2006/main">
            <a:off x="7086600" y="1219200"/>
            <a:ext cx="41529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EDF3F8"/>
                </a:solidFill>
                <a:latin typeface="Inter"/>
                <a:ea typeface="Inter"/>
                <a:cs typeface="Inter"/>
              </a:defRPr>
            </a:pPr>
            <a:r>
              <a:rPr sz="1425" b="0">
                <a:solidFill>
                  <a:srgbClr val="EDF3F8"/>
                </a:solidFill>
                <a:latin typeface="Inter"/>
                <a:ea typeface="Inter"/>
                <a:cs typeface="Inter"/>
              </a:rPr>
              <a:t>AI applied where deterministic rules would be safer</a:t>
            </a:r>
          </a:p>
        </p:txBody>
      </p:sp>
      <p:sp>
        <p:nvSpPr>
          <p:cNvPr id="7" name="">
            <a:extLst xmlns:a="http://schemas.openxmlformats.org/drawingml/2006/main">
              <a:ext uri="{FF2B5EF4-FFF2-40B4-BE49-F238E27FC236}">
                <a16:creationId xmlns:a16="http://schemas.microsoft.com/office/drawing/2014/main" id="{158C6315-C68E-4135-9377-D70FAB45B3A3}"/>
              </a:ext>
            </a:extLst>
          </p:cNvPr>
          <p:cNvSpPr>
            <a:spLocks xmlns:a="http://schemas.openxmlformats.org/drawingml/2006/main" noGrp="1"/>
          </p:cNvSpPr>
          <p:nvPr/>
        </p:nvSpPr>
        <p:spPr>
          <a:xfrm xmlns:a="http://schemas.openxmlformats.org/drawingml/2006/main">
            <a:off x="6858000" y="20193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3C94562C-8A81-4C9A-A4E2-DAD918DBF005}"/>
              </a:ext>
            </a:extLst>
          </p:cNvPr>
          <p:cNvSpPr>
            <a:spLocks xmlns:a="http://schemas.openxmlformats.org/drawingml/2006/main" noGrp="1"/>
          </p:cNvSpPr>
          <p:nvPr/>
        </p:nvSpPr>
        <p:spPr>
          <a:xfrm xmlns:a="http://schemas.openxmlformats.org/drawingml/2006/main">
            <a:off x="7086600" y="1943100"/>
            <a:ext cx="41529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EDF3F8"/>
                </a:solidFill>
                <a:latin typeface="Inter"/>
                <a:ea typeface="Inter"/>
                <a:cs typeface="Inter"/>
              </a:defRPr>
            </a:pPr>
            <a:r>
              <a:rPr sz="1425" b="0">
                <a:solidFill>
                  <a:srgbClr val="EDF3F8"/>
                </a:solidFill>
                <a:latin typeface="Inter"/>
                <a:ea typeface="Inter"/>
                <a:cs typeface="Inter"/>
              </a:rPr>
              <a:t>RPA selected where APIs or workflow would be stronger</a:t>
            </a:r>
          </a:p>
        </p:txBody>
      </p:sp>
      <p:sp>
        <p:nvSpPr>
          <p:cNvPr id="9" name="">
            <a:extLst xmlns:a="http://schemas.openxmlformats.org/drawingml/2006/main">
              <a:ext uri="{FF2B5EF4-FFF2-40B4-BE49-F238E27FC236}">
                <a16:creationId xmlns:a16="http://schemas.microsoft.com/office/drawing/2014/main" id="{FAD15E7A-97F7-44B6-9F42-60FE36C2F8D1}"/>
              </a:ext>
            </a:extLst>
          </p:cNvPr>
          <p:cNvSpPr>
            <a:spLocks xmlns:a="http://schemas.openxmlformats.org/drawingml/2006/main" noGrp="1"/>
          </p:cNvSpPr>
          <p:nvPr/>
        </p:nvSpPr>
        <p:spPr>
          <a:xfrm xmlns:a="http://schemas.openxmlformats.org/drawingml/2006/main">
            <a:off x="6858000" y="27432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DDC6FABF-79EE-45F0-B47B-A48B7A7149A6}"/>
              </a:ext>
            </a:extLst>
          </p:cNvPr>
          <p:cNvSpPr>
            <a:spLocks xmlns:a="http://schemas.openxmlformats.org/drawingml/2006/main" noGrp="1"/>
          </p:cNvSpPr>
          <p:nvPr/>
        </p:nvSpPr>
        <p:spPr>
          <a:xfrm xmlns:a="http://schemas.openxmlformats.org/drawingml/2006/main">
            <a:off x="7086600" y="2667000"/>
            <a:ext cx="41529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EDF3F8"/>
                </a:solidFill>
                <a:latin typeface="Inter"/>
                <a:ea typeface="Inter"/>
                <a:cs typeface="Inter"/>
              </a:defRPr>
            </a:pPr>
            <a:r>
              <a:rPr sz="1425" b="0">
                <a:solidFill>
                  <a:srgbClr val="EDF3F8"/>
                </a:solidFill>
                <a:latin typeface="Inter"/>
                <a:ea typeface="Inter"/>
                <a:cs typeface="Inter"/>
              </a:rPr>
              <a:t>Agents introduced without sufficient evidence or control</a:t>
            </a:r>
          </a:p>
        </p:txBody>
      </p:sp>
      <p:sp>
        <p:nvSpPr>
          <p:cNvPr id="11" name="">
            <a:extLst xmlns:a="http://schemas.openxmlformats.org/drawingml/2006/main">
              <a:ext uri="{FF2B5EF4-FFF2-40B4-BE49-F238E27FC236}">
                <a16:creationId xmlns:a16="http://schemas.microsoft.com/office/drawing/2014/main" id="{408C3D7B-AE83-4023-94CB-FE231548CF6F}"/>
              </a:ext>
            </a:extLst>
          </p:cNvPr>
          <p:cNvSpPr>
            <a:spLocks xmlns:a="http://schemas.openxmlformats.org/drawingml/2006/main" noGrp="1"/>
          </p:cNvSpPr>
          <p:nvPr/>
        </p:nvSpPr>
        <p:spPr>
          <a:xfrm xmlns:a="http://schemas.openxmlformats.org/drawingml/2006/main">
            <a:off x="6858000" y="34671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08CCCDAF-BC6C-45E9-B0A9-B86E4D9AC96E}"/>
              </a:ext>
            </a:extLst>
          </p:cNvPr>
          <p:cNvSpPr>
            <a:spLocks xmlns:a="http://schemas.openxmlformats.org/drawingml/2006/main" noGrp="1"/>
          </p:cNvSpPr>
          <p:nvPr/>
        </p:nvSpPr>
        <p:spPr>
          <a:xfrm xmlns:a="http://schemas.openxmlformats.org/drawingml/2006/main">
            <a:off x="7086600" y="3390900"/>
            <a:ext cx="41529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EDF3F8"/>
                </a:solidFill>
                <a:latin typeface="Inter"/>
                <a:ea typeface="Inter"/>
                <a:cs typeface="Inter"/>
              </a:defRPr>
            </a:pPr>
            <a:r>
              <a:rPr sz="1425" b="0">
                <a:solidFill>
                  <a:srgbClr val="EDF3F8"/>
                </a:solidFill>
                <a:latin typeface="Inter"/>
                <a:ea typeface="Inter"/>
                <a:cs typeface="Inter"/>
              </a:rPr>
              <a:t>Human accountability introduced after the design is committed</a:t>
            </a:r>
          </a:p>
        </p:txBody>
      </p:sp>
      <p:sp>
        <p:nvSpPr>
          <p:cNvPr id="13" name="">
            <a:extLst xmlns:a="http://schemas.openxmlformats.org/drawingml/2006/main">
              <a:ext uri="{FF2B5EF4-FFF2-40B4-BE49-F238E27FC236}">
                <a16:creationId xmlns:a16="http://schemas.microsoft.com/office/drawing/2014/main" id="{2F23C306-4721-46D0-9FC5-87DCC8B149F1}"/>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B9C7D5"/>
                </a:solidFill>
                <a:latin typeface="Inter"/>
                <a:ea typeface="Inter"/>
                <a:cs typeface="Inter"/>
              </a:defRPr>
            </a:pPr>
            <a:r>
              <a:rPr sz="750" b="1">
                <a:solidFill>
                  <a:srgbClr val="B9C7D5"/>
                </a:solidFill>
                <a:latin typeface="Inter"/>
                <a:ea typeface="Inter"/>
                <a:cs typeface="Inter"/>
              </a:rPr>
              <a:t>Decision Before Execution • Automation, AI, transformation, process excellence, architecture, and consulting leaders</a:t>
            </a:r>
          </a:p>
        </p:txBody>
      </p:sp>
      <p:sp>
        <p:nvSpPr>
          <p:cNvPr id="14" name="">
            <a:extLst xmlns:a="http://schemas.openxmlformats.org/drawingml/2006/main">
              <a:ext uri="{FF2B5EF4-FFF2-40B4-BE49-F238E27FC236}">
                <a16:creationId xmlns:a16="http://schemas.microsoft.com/office/drawing/2014/main" id="{EB7A4B99-CDC4-4FCE-A124-313AA25F199B}"/>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B9C7D5"/>
                </a:solidFill>
                <a:latin typeface="Inter"/>
                <a:ea typeface="Inter"/>
                <a:cs typeface="Inter"/>
              </a:defRPr>
            </a:pPr>
            <a:r>
              <a:rPr sz="750" b="0">
                <a:solidFill>
                  <a:srgbClr val="B9C7D5"/>
                </a:solidFill>
                <a:latin typeface="Inter"/>
                <a:ea typeface="Inter"/>
                <a:cs typeface="Inter"/>
              </a:rPr>
              <a:t>Strategic problem framing; no quantified failure-rate claim.</a:t>
            </a:r>
          </a:p>
        </p:txBody>
      </p:sp>
      <p:sp>
        <p:nvSpPr>
          <p:cNvPr id="15" name="">
            <a:extLst xmlns:a="http://schemas.openxmlformats.org/drawingml/2006/main">
              <a:ext uri="{FF2B5EF4-FFF2-40B4-BE49-F238E27FC236}">
                <a16:creationId xmlns:a16="http://schemas.microsoft.com/office/drawing/2014/main" id="{54D3EE0E-599B-4D2E-B9D5-C319192B8687}"/>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B9C7D5"/>
                </a:solidFill>
                <a:latin typeface="Inter"/>
                <a:ea typeface="Inter"/>
                <a:cs typeface="Inter"/>
              </a:defRPr>
            </a:pPr>
            <a:r>
              <a:rPr sz="750" b="1">
                <a:solidFill>
                  <a:srgbClr val="B9C7D5"/>
                </a:solidFill>
                <a:latin typeface="Inter"/>
                <a:ea typeface="Inter"/>
                <a:cs typeface="Inter"/>
              </a:rPr>
              <a:t>02</a:t>
            </a:r>
          </a:p>
        </p:txBody>
      </p:sp>
    </p:spTree>
    <p:extLst>
      <p:ext uri="{BB962C8B-B14F-4D97-AF65-F5344CB8AC3E}">
        <p14:creationId xmlns:p14="http://schemas.microsoft.com/office/powerpoint/2010/main" val="894727532"/>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AE536C01-3504-49C2-8F4E-D9E2C71822DF}"/>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31DAE41-DC94-4AEC-8506-5DA026E77E90}"/>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TECHNOLOGY FIT</a:t>
            </a:r>
          </a:p>
        </p:txBody>
      </p:sp>
      <p:sp>
        <p:nvSpPr>
          <p:cNvPr id="3" name="">
            <a:extLst xmlns:a="http://schemas.openxmlformats.org/drawingml/2006/main">
              <a:ext uri="{FF2B5EF4-FFF2-40B4-BE49-F238E27FC236}">
                <a16:creationId xmlns:a16="http://schemas.microsoft.com/office/drawing/2014/main" id="{A2FEC6EC-846F-48DF-99D2-740FE4A8AAB6}"/>
              </a:ext>
            </a:extLst>
          </p:cNvPr>
          <p:cNvSpPr>
            <a:spLocks xmlns:a="http://schemas.openxmlformats.org/drawingml/2006/main" noGrp="1"/>
          </p:cNvSpPr>
          <p:nvPr/>
        </p:nvSpPr>
        <p:spPr>
          <a:xfrm xmlns:a="http://schemas.openxmlformats.org/drawingml/2006/main">
            <a:off x="609600" y="666750"/>
            <a:ext cx="10287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One process is not one technology.</a:t>
            </a:r>
          </a:p>
        </p:txBody>
      </p:sp>
      <p:sp>
        <p:nvSpPr>
          <p:cNvPr id="4" name="">
            <a:extLst xmlns:a="http://schemas.openxmlformats.org/drawingml/2006/main">
              <a:ext uri="{FF2B5EF4-FFF2-40B4-BE49-F238E27FC236}">
                <a16:creationId xmlns:a16="http://schemas.microsoft.com/office/drawing/2014/main" id="{7F4E9F00-FDBA-4512-BF76-08859A5D5026}"/>
              </a:ext>
            </a:extLst>
          </p:cNvPr>
          <p:cNvSpPr>
            <a:spLocks xmlns:a="http://schemas.openxmlformats.org/drawingml/2006/main" noGrp="1"/>
          </p:cNvSpPr>
          <p:nvPr/>
        </p:nvSpPr>
        <p:spPr>
          <a:xfrm xmlns:a="http://schemas.openxmlformats.org/drawingml/2006/main">
            <a:off x="723900" y="1638300"/>
            <a:ext cx="2857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426"/>
                </a:solidFill>
                <a:latin typeface="Inter"/>
                <a:ea typeface="Inter"/>
                <a:cs typeface="Inter"/>
              </a:defRPr>
            </a:pPr>
            <a:r>
              <a:rPr sz="1350" b="1">
                <a:solidFill>
                  <a:srgbClr val="0B1426"/>
                </a:solidFill>
                <a:latin typeface="Inter"/>
                <a:ea typeface="Inter"/>
                <a:cs typeface="Inter"/>
              </a:rPr>
              <a:t>Stable + structured</a:t>
            </a:r>
          </a:p>
        </p:txBody>
      </p:sp>
      <p:sp>
        <p:nvSpPr>
          <p:cNvPr id="5" name="">
            <a:extLst xmlns:a="http://schemas.openxmlformats.org/drawingml/2006/main">
              <a:ext uri="{FF2B5EF4-FFF2-40B4-BE49-F238E27FC236}">
                <a16:creationId xmlns:a16="http://schemas.microsoft.com/office/drawing/2014/main" id="{1E629448-438A-4AD4-8CA3-72829204816F}"/>
              </a:ext>
            </a:extLst>
          </p:cNvPr>
          <p:cNvSpPr>
            <a:spLocks xmlns:a="http://schemas.openxmlformats.org/drawingml/2006/main" noGrp="1"/>
          </p:cNvSpPr>
          <p:nvPr/>
        </p:nvSpPr>
        <p:spPr>
          <a:xfrm xmlns:a="http://schemas.openxmlformats.org/drawingml/2006/main">
            <a:off x="3667125" y="1714500"/>
            <a:ext cx="666750" cy="361950"/>
          </a:xfrm>
          <a:prstGeom xmlns:a="http://schemas.openxmlformats.org/drawingml/2006/main" prst="rightArrow">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AFA965F8-C3D1-4A5B-9BC0-643A115B9AE2}"/>
              </a:ext>
            </a:extLst>
          </p:cNvPr>
          <p:cNvSpPr>
            <a:spLocks xmlns:a="http://schemas.openxmlformats.org/drawingml/2006/main" noGrp="1"/>
          </p:cNvSpPr>
          <p:nvPr/>
        </p:nvSpPr>
        <p:spPr>
          <a:xfrm xmlns:a="http://schemas.openxmlformats.org/drawingml/2006/main">
            <a:off x="4572000" y="1638300"/>
            <a:ext cx="2667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Inter"/>
                <a:ea typeface="Inter"/>
                <a:cs typeface="Inter"/>
              </a:defRPr>
            </a:pPr>
            <a:r>
              <a:rPr sz="1500" b="1">
                <a:solidFill>
                  <a:srgbClr val="001B30"/>
                </a:solidFill>
                <a:latin typeface="Inter"/>
                <a:ea typeface="Inter"/>
                <a:cs typeface="Inter"/>
              </a:rPr>
              <a:t>Rules / workflow</a:t>
            </a:r>
          </a:p>
        </p:txBody>
      </p:sp>
      <p:sp>
        <p:nvSpPr>
          <p:cNvPr id="7" name="">
            <a:extLst xmlns:a="http://schemas.openxmlformats.org/drawingml/2006/main">
              <a:ext uri="{FF2B5EF4-FFF2-40B4-BE49-F238E27FC236}">
                <a16:creationId xmlns:a16="http://schemas.microsoft.com/office/drawing/2014/main" id="{ECCE8124-5D80-47FB-A0AE-AA810483687B}"/>
              </a:ext>
            </a:extLst>
          </p:cNvPr>
          <p:cNvSpPr>
            <a:spLocks xmlns:a="http://schemas.openxmlformats.org/drawingml/2006/main" noGrp="1"/>
          </p:cNvSpPr>
          <p:nvPr/>
        </p:nvSpPr>
        <p:spPr>
          <a:xfrm xmlns:a="http://schemas.openxmlformats.org/drawingml/2006/main">
            <a:off x="7524750" y="1638300"/>
            <a:ext cx="3905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2627A"/>
                </a:solidFill>
                <a:latin typeface="Inter"/>
                <a:ea typeface="Inter"/>
                <a:cs typeface="Inter"/>
              </a:defRPr>
            </a:pPr>
            <a:r>
              <a:rPr sz="1200" b="0">
                <a:solidFill>
                  <a:srgbClr val="52627A"/>
                </a:solidFill>
                <a:latin typeface="Inter"/>
                <a:ea typeface="Inter"/>
                <a:cs typeface="Inter"/>
              </a:rPr>
              <a:t>Deterministic controls</a:t>
            </a:r>
          </a:p>
        </p:txBody>
      </p:sp>
      <p:sp>
        <p:nvSpPr>
          <p:cNvPr id="8" name="">
            <a:extLst xmlns:a="http://schemas.openxmlformats.org/drawingml/2006/main">
              <a:ext uri="{FF2B5EF4-FFF2-40B4-BE49-F238E27FC236}">
                <a16:creationId xmlns:a16="http://schemas.microsoft.com/office/drawing/2014/main" id="{BCF4A53C-25E8-44E0-B323-F23165A1381B}"/>
              </a:ext>
            </a:extLst>
          </p:cNvPr>
          <p:cNvSpPr>
            <a:spLocks xmlns:a="http://schemas.openxmlformats.org/drawingml/2006/main" noGrp="1"/>
          </p:cNvSpPr>
          <p:nvPr/>
        </p:nvSpPr>
        <p:spPr>
          <a:xfrm xmlns:a="http://schemas.openxmlformats.org/drawingml/2006/main">
            <a:off x="723900" y="2228850"/>
            <a:ext cx="10706100" cy="9525"/>
          </a:xfrm>
          <a:prstGeom xmlns:a="http://schemas.openxmlformats.org/drawingml/2006/main" prst="rect">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66C2656F-9ECE-4827-81C0-F4B55AA3DCF6}"/>
              </a:ext>
            </a:extLst>
          </p:cNvPr>
          <p:cNvSpPr>
            <a:spLocks xmlns:a="http://schemas.openxmlformats.org/drawingml/2006/main" noGrp="1"/>
          </p:cNvSpPr>
          <p:nvPr/>
        </p:nvSpPr>
        <p:spPr>
          <a:xfrm xmlns:a="http://schemas.openxmlformats.org/drawingml/2006/main">
            <a:off x="723900" y="2333625"/>
            <a:ext cx="2857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426"/>
                </a:solidFill>
                <a:latin typeface="Inter"/>
                <a:ea typeface="Inter"/>
                <a:cs typeface="Inter"/>
              </a:defRPr>
            </a:pPr>
            <a:r>
              <a:rPr sz="1350" b="1">
                <a:solidFill>
                  <a:srgbClr val="0B1426"/>
                </a:solidFill>
                <a:latin typeface="Inter"/>
                <a:ea typeface="Inter"/>
                <a:cs typeface="Inter"/>
              </a:rPr>
              <a:t>Repetitive UI work</a:t>
            </a:r>
          </a:p>
        </p:txBody>
      </p:sp>
      <p:sp>
        <p:nvSpPr>
          <p:cNvPr id="10" name="">
            <a:extLst xmlns:a="http://schemas.openxmlformats.org/drawingml/2006/main">
              <a:ext uri="{FF2B5EF4-FFF2-40B4-BE49-F238E27FC236}">
                <a16:creationId xmlns:a16="http://schemas.microsoft.com/office/drawing/2014/main" id="{8010658F-A3EF-4710-AA6D-C007B99E8915}"/>
              </a:ext>
            </a:extLst>
          </p:cNvPr>
          <p:cNvSpPr>
            <a:spLocks xmlns:a="http://schemas.openxmlformats.org/drawingml/2006/main" noGrp="1"/>
          </p:cNvSpPr>
          <p:nvPr/>
        </p:nvSpPr>
        <p:spPr>
          <a:xfrm xmlns:a="http://schemas.openxmlformats.org/drawingml/2006/main">
            <a:off x="3667125" y="2409825"/>
            <a:ext cx="666750" cy="361950"/>
          </a:xfrm>
          <a:prstGeom xmlns:a="http://schemas.openxmlformats.org/drawingml/2006/main" prst="rightArrow">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0F6BCDD6-E60B-4868-8CF6-851B84E095DA}"/>
              </a:ext>
            </a:extLst>
          </p:cNvPr>
          <p:cNvSpPr>
            <a:spLocks xmlns:a="http://schemas.openxmlformats.org/drawingml/2006/main" noGrp="1"/>
          </p:cNvSpPr>
          <p:nvPr/>
        </p:nvSpPr>
        <p:spPr>
          <a:xfrm xmlns:a="http://schemas.openxmlformats.org/drawingml/2006/main">
            <a:off x="4572000" y="2333625"/>
            <a:ext cx="2667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Inter"/>
                <a:ea typeface="Inter"/>
                <a:cs typeface="Inter"/>
              </a:defRPr>
            </a:pPr>
            <a:r>
              <a:rPr sz="1500" b="1">
                <a:solidFill>
                  <a:srgbClr val="001B30"/>
                </a:solidFill>
                <a:latin typeface="Inter"/>
                <a:ea typeface="Inter"/>
                <a:cs typeface="Inter"/>
              </a:rPr>
              <a:t>RPA</a:t>
            </a:r>
          </a:p>
        </p:txBody>
      </p:sp>
      <p:sp>
        <p:nvSpPr>
          <p:cNvPr id="12" name="">
            <a:extLst xmlns:a="http://schemas.openxmlformats.org/drawingml/2006/main">
              <a:ext uri="{FF2B5EF4-FFF2-40B4-BE49-F238E27FC236}">
                <a16:creationId xmlns:a16="http://schemas.microsoft.com/office/drawing/2014/main" id="{0D82E5BA-7B51-41F4-A7FF-D5C12C7B27F5}"/>
              </a:ext>
            </a:extLst>
          </p:cNvPr>
          <p:cNvSpPr>
            <a:spLocks xmlns:a="http://schemas.openxmlformats.org/drawingml/2006/main" noGrp="1"/>
          </p:cNvSpPr>
          <p:nvPr/>
        </p:nvSpPr>
        <p:spPr>
          <a:xfrm xmlns:a="http://schemas.openxmlformats.org/drawingml/2006/main">
            <a:off x="7524750" y="2333625"/>
            <a:ext cx="3905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2627A"/>
                </a:solidFill>
                <a:latin typeface="Inter"/>
                <a:ea typeface="Inter"/>
                <a:cs typeface="Inter"/>
              </a:defRPr>
            </a:pPr>
            <a:r>
              <a:rPr sz="1200" b="0">
                <a:solidFill>
                  <a:srgbClr val="52627A"/>
                </a:solidFill>
                <a:latin typeface="Inter"/>
                <a:ea typeface="Inter"/>
                <a:cs typeface="Inter"/>
              </a:rPr>
              <a:t>Only where stronger interfaces are unavailable</a:t>
            </a:r>
          </a:p>
        </p:txBody>
      </p:sp>
      <p:sp>
        <p:nvSpPr>
          <p:cNvPr id="13" name="">
            <a:extLst xmlns:a="http://schemas.openxmlformats.org/drawingml/2006/main">
              <a:ext uri="{FF2B5EF4-FFF2-40B4-BE49-F238E27FC236}">
                <a16:creationId xmlns:a16="http://schemas.microsoft.com/office/drawing/2014/main" id="{D19D90E1-4BFB-4DAD-A3FF-D0DECA8FB236}"/>
              </a:ext>
            </a:extLst>
          </p:cNvPr>
          <p:cNvSpPr>
            <a:spLocks xmlns:a="http://schemas.openxmlformats.org/drawingml/2006/main" noGrp="1"/>
          </p:cNvSpPr>
          <p:nvPr/>
        </p:nvSpPr>
        <p:spPr>
          <a:xfrm xmlns:a="http://schemas.openxmlformats.org/drawingml/2006/main">
            <a:off x="723900" y="2924175"/>
            <a:ext cx="10706100" cy="9525"/>
          </a:xfrm>
          <a:prstGeom xmlns:a="http://schemas.openxmlformats.org/drawingml/2006/main" prst="rect">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070E80D1-DDA6-446B-84BB-64029AB3730D}"/>
              </a:ext>
            </a:extLst>
          </p:cNvPr>
          <p:cNvSpPr>
            <a:spLocks xmlns:a="http://schemas.openxmlformats.org/drawingml/2006/main" noGrp="1"/>
          </p:cNvSpPr>
          <p:nvPr/>
        </p:nvSpPr>
        <p:spPr>
          <a:xfrm xmlns:a="http://schemas.openxmlformats.org/drawingml/2006/main">
            <a:off x="723900" y="3028950"/>
            <a:ext cx="2857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426"/>
                </a:solidFill>
                <a:latin typeface="Inter"/>
                <a:ea typeface="Inter"/>
                <a:cs typeface="Inter"/>
              </a:defRPr>
            </a:pPr>
            <a:r>
              <a:rPr sz="1350" b="1">
                <a:solidFill>
                  <a:srgbClr val="0B1426"/>
                </a:solidFill>
                <a:latin typeface="Inter"/>
                <a:ea typeface="Inter"/>
                <a:cs typeface="Inter"/>
              </a:rPr>
              <a:t>Unstructured content</a:t>
            </a:r>
          </a:p>
        </p:txBody>
      </p:sp>
      <p:sp>
        <p:nvSpPr>
          <p:cNvPr id="15" name="">
            <a:extLst xmlns:a="http://schemas.openxmlformats.org/drawingml/2006/main">
              <a:ext uri="{FF2B5EF4-FFF2-40B4-BE49-F238E27FC236}">
                <a16:creationId xmlns:a16="http://schemas.microsoft.com/office/drawing/2014/main" id="{C87171C2-F842-4C82-B1C2-92DA6324BCFC}"/>
              </a:ext>
            </a:extLst>
          </p:cNvPr>
          <p:cNvSpPr>
            <a:spLocks xmlns:a="http://schemas.openxmlformats.org/drawingml/2006/main" noGrp="1"/>
          </p:cNvSpPr>
          <p:nvPr/>
        </p:nvSpPr>
        <p:spPr>
          <a:xfrm xmlns:a="http://schemas.openxmlformats.org/drawingml/2006/main">
            <a:off x="3667125" y="3105150"/>
            <a:ext cx="666750" cy="361950"/>
          </a:xfrm>
          <a:prstGeom xmlns:a="http://schemas.openxmlformats.org/drawingml/2006/main" prst="rightArrow">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6D84940C-72DE-49FF-8D57-BAE1FA64B1CB}"/>
              </a:ext>
            </a:extLst>
          </p:cNvPr>
          <p:cNvSpPr>
            <a:spLocks xmlns:a="http://schemas.openxmlformats.org/drawingml/2006/main" noGrp="1"/>
          </p:cNvSpPr>
          <p:nvPr/>
        </p:nvSpPr>
        <p:spPr>
          <a:xfrm xmlns:a="http://schemas.openxmlformats.org/drawingml/2006/main">
            <a:off x="4572000" y="3028950"/>
            <a:ext cx="2667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Inter"/>
                <a:ea typeface="Inter"/>
                <a:cs typeface="Inter"/>
              </a:defRPr>
            </a:pPr>
            <a:r>
              <a:rPr sz="1500" b="1">
                <a:solidFill>
                  <a:srgbClr val="001B30"/>
                </a:solidFill>
                <a:latin typeface="Inter"/>
                <a:ea typeface="Inter"/>
                <a:cs typeface="Inter"/>
              </a:rPr>
              <a:t>AI assistance</a:t>
            </a:r>
          </a:p>
        </p:txBody>
      </p:sp>
      <p:sp>
        <p:nvSpPr>
          <p:cNvPr id="17" name="">
            <a:extLst xmlns:a="http://schemas.openxmlformats.org/drawingml/2006/main">
              <a:ext uri="{FF2B5EF4-FFF2-40B4-BE49-F238E27FC236}">
                <a16:creationId xmlns:a16="http://schemas.microsoft.com/office/drawing/2014/main" id="{5923DEBE-A090-4C5C-B504-16F85F5D730B}"/>
              </a:ext>
            </a:extLst>
          </p:cNvPr>
          <p:cNvSpPr>
            <a:spLocks xmlns:a="http://schemas.openxmlformats.org/drawingml/2006/main" noGrp="1"/>
          </p:cNvSpPr>
          <p:nvPr/>
        </p:nvSpPr>
        <p:spPr>
          <a:xfrm xmlns:a="http://schemas.openxmlformats.org/drawingml/2006/main">
            <a:off x="7524750" y="3028950"/>
            <a:ext cx="3905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2627A"/>
                </a:solidFill>
                <a:latin typeface="Inter"/>
                <a:ea typeface="Inter"/>
                <a:cs typeface="Inter"/>
              </a:defRPr>
            </a:pPr>
            <a:r>
              <a:rPr sz="1200" b="0">
                <a:solidFill>
                  <a:srgbClr val="52627A"/>
                </a:solidFill>
                <a:latin typeface="Inter"/>
                <a:ea typeface="Inter"/>
                <a:cs typeface="Inter"/>
              </a:rPr>
              <a:t>Extraction, classification, summarisation</a:t>
            </a:r>
          </a:p>
        </p:txBody>
      </p:sp>
      <p:sp>
        <p:nvSpPr>
          <p:cNvPr id="18" name="">
            <a:extLst xmlns:a="http://schemas.openxmlformats.org/drawingml/2006/main">
              <a:ext uri="{FF2B5EF4-FFF2-40B4-BE49-F238E27FC236}">
                <a16:creationId xmlns:a16="http://schemas.microsoft.com/office/drawing/2014/main" id="{6BB4D530-6223-4947-AAF4-0E93E5C6FF5D}"/>
              </a:ext>
            </a:extLst>
          </p:cNvPr>
          <p:cNvSpPr>
            <a:spLocks xmlns:a="http://schemas.openxmlformats.org/drawingml/2006/main" noGrp="1"/>
          </p:cNvSpPr>
          <p:nvPr/>
        </p:nvSpPr>
        <p:spPr>
          <a:xfrm xmlns:a="http://schemas.openxmlformats.org/drawingml/2006/main">
            <a:off x="723900" y="3619500"/>
            <a:ext cx="10706100" cy="9525"/>
          </a:xfrm>
          <a:prstGeom xmlns:a="http://schemas.openxmlformats.org/drawingml/2006/main" prst="rect">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C554A3C1-C260-4F44-929F-DB3878F19ECF}"/>
              </a:ext>
            </a:extLst>
          </p:cNvPr>
          <p:cNvSpPr>
            <a:spLocks xmlns:a="http://schemas.openxmlformats.org/drawingml/2006/main" noGrp="1"/>
          </p:cNvSpPr>
          <p:nvPr/>
        </p:nvSpPr>
        <p:spPr>
          <a:xfrm xmlns:a="http://schemas.openxmlformats.org/drawingml/2006/main">
            <a:off x="723900" y="3724275"/>
            <a:ext cx="2857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426"/>
                </a:solidFill>
                <a:latin typeface="Inter"/>
                <a:ea typeface="Inter"/>
                <a:cs typeface="Inter"/>
              </a:defRPr>
            </a:pPr>
            <a:r>
              <a:rPr sz="1350" b="1">
                <a:solidFill>
                  <a:srgbClr val="0B1426"/>
                </a:solidFill>
                <a:latin typeface="Inter"/>
                <a:ea typeface="Inter"/>
                <a:cs typeface="Inter"/>
              </a:rPr>
              <a:t>Context-heavy inquiry</a:t>
            </a:r>
          </a:p>
        </p:txBody>
      </p:sp>
      <p:sp>
        <p:nvSpPr>
          <p:cNvPr id="20" name="">
            <a:extLst xmlns:a="http://schemas.openxmlformats.org/drawingml/2006/main">
              <a:ext uri="{FF2B5EF4-FFF2-40B4-BE49-F238E27FC236}">
                <a16:creationId xmlns:a16="http://schemas.microsoft.com/office/drawing/2014/main" id="{8F428470-9387-4328-A6AB-EFFA91EA075E}"/>
              </a:ext>
            </a:extLst>
          </p:cNvPr>
          <p:cNvSpPr>
            <a:spLocks xmlns:a="http://schemas.openxmlformats.org/drawingml/2006/main" noGrp="1"/>
          </p:cNvSpPr>
          <p:nvPr/>
        </p:nvSpPr>
        <p:spPr>
          <a:xfrm xmlns:a="http://schemas.openxmlformats.org/drawingml/2006/main">
            <a:off x="3667125" y="3800475"/>
            <a:ext cx="666750" cy="361950"/>
          </a:xfrm>
          <a:prstGeom xmlns:a="http://schemas.openxmlformats.org/drawingml/2006/main" prst="rightArrow">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9D62F6A1-7908-442E-A749-F3F634DE9B59}"/>
              </a:ext>
            </a:extLst>
          </p:cNvPr>
          <p:cNvSpPr>
            <a:spLocks xmlns:a="http://schemas.openxmlformats.org/drawingml/2006/main" noGrp="1"/>
          </p:cNvSpPr>
          <p:nvPr/>
        </p:nvSpPr>
        <p:spPr>
          <a:xfrm xmlns:a="http://schemas.openxmlformats.org/drawingml/2006/main">
            <a:off x="4572000" y="3724275"/>
            <a:ext cx="2667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Inter"/>
                <a:ea typeface="Inter"/>
                <a:cs typeface="Inter"/>
              </a:defRPr>
            </a:pPr>
            <a:r>
              <a:rPr sz="1500" b="1">
                <a:solidFill>
                  <a:srgbClr val="001B30"/>
                </a:solidFill>
                <a:latin typeface="Inter"/>
                <a:ea typeface="Inter"/>
                <a:cs typeface="Inter"/>
              </a:rPr>
              <a:t>Bounded agent assistance</a:t>
            </a:r>
          </a:p>
        </p:txBody>
      </p:sp>
      <p:sp>
        <p:nvSpPr>
          <p:cNvPr id="22" name="">
            <a:extLst xmlns:a="http://schemas.openxmlformats.org/drawingml/2006/main">
              <a:ext uri="{FF2B5EF4-FFF2-40B4-BE49-F238E27FC236}">
                <a16:creationId xmlns:a16="http://schemas.microsoft.com/office/drawing/2014/main" id="{544EC0B9-E20B-4695-82BF-D12B14D5E412}"/>
              </a:ext>
            </a:extLst>
          </p:cNvPr>
          <p:cNvSpPr>
            <a:spLocks xmlns:a="http://schemas.openxmlformats.org/drawingml/2006/main" noGrp="1"/>
          </p:cNvSpPr>
          <p:nvPr/>
        </p:nvSpPr>
        <p:spPr>
          <a:xfrm xmlns:a="http://schemas.openxmlformats.org/drawingml/2006/main">
            <a:off x="7524750" y="3724275"/>
            <a:ext cx="3905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2627A"/>
                </a:solidFill>
                <a:latin typeface="Inter"/>
                <a:ea typeface="Inter"/>
                <a:cs typeface="Inter"/>
              </a:defRPr>
            </a:pPr>
            <a:r>
              <a:rPr sz="1200" b="0">
                <a:solidFill>
                  <a:srgbClr val="52627A"/>
                </a:solidFill>
                <a:latin typeface="Inter"/>
                <a:ea typeface="Inter"/>
                <a:cs typeface="Inter"/>
              </a:rPr>
              <a:t>Evidence synthesis with controls</a:t>
            </a:r>
          </a:p>
        </p:txBody>
      </p:sp>
      <p:sp>
        <p:nvSpPr>
          <p:cNvPr id="23" name="">
            <a:extLst xmlns:a="http://schemas.openxmlformats.org/drawingml/2006/main">
              <a:ext uri="{FF2B5EF4-FFF2-40B4-BE49-F238E27FC236}">
                <a16:creationId xmlns:a16="http://schemas.microsoft.com/office/drawing/2014/main" id="{2ABC983C-5141-4875-8B0E-48568A89789C}"/>
              </a:ext>
            </a:extLst>
          </p:cNvPr>
          <p:cNvSpPr>
            <a:spLocks xmlns:a="http://schemas.openxmlformats.org/drawingml/2006/main" noGrp="1"/>
          </p:cNvSpPr>
          <p:nvPr/>
        </p:nvSpPr>
        <p:spPr>
          <a:xfrm xmlns:a="http://schemas.openxmlformats.org/drawingml/2006/main">
            <a:off x="723900" y="4314825"/>
            <a:ext cx="10706100" cy="9525"/>
          </a:xfrm>
          <a:prstGeom xmlns:a="http://schemas.openxmlformats.org/drawingml/2006/main" prst="rect">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B08DEDAB-4C9A-4A08-8191-E204F214FE61}"/>
              </a:ext>
            </a:extLst>
          </p:cNvPr>
          <p:cNvSpPr>
            <a:spLocks xmlns:a="http://schemas.openxmlformats.org/drawingml/2006/main" noGrp="1"/>
          </p:cNvSpPr>
          <p:nvPr/>
        </p:nvSpPr>
        <p:spPr>
          <a:xfrm xmlns:a="http://schemas.openxmlformats.org/drawingml/2006/main">
            <a:off x="723900" y="4419600"/>
            <a:ext cx="2857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426"/>
                </a:solidFill>
                <a:latin typeface="Inter"/>
                <a:ea typeface="Inter"/>
                <a:cs typeface="Inter"/>
              </a:defRPr>
            </a:pPr>
            <a:r>
              <a:rPr sz="1350" b="1">
                <a:solidFill>
                  <a:srgbClr val="0B1426"/>
                </a:solidFill>
                <a:latin typeface="Inter"/>
                <a:ea typeface="Inter"/>
                <a:cs typeface="Inter"/>
              </a:rPr>
              <a:t>Material-risk judgment</a:t>
            </a:r>
          </a:p>
        </p:txBody>
      </p:sp>
      <p:sp>
        <p:nvSpPr>
          <p:cNvPr id="25" name="">
            <a:extLst xmlns:a="http://schemas.openxmlformats.org/drawingml/2006/main">
              <a:ext uri="{FF2B5EF4-FFF2-40B4-BE49-F238E27FC236}">
                <a16:creationId xmlns:a16="http://schemas.microsoft.com/office/drawing/2014/main" id="{0F0E852E-1F01-4556-B6F6-C5C5926E5286}"/>
              </a:ext>
            </a:extLst>
          </p:cNvPr>
          <p:cNvSpPr>
            <a:spLocks xmlns:a="http://schemas.openxmlformats.org/drawingml/2006/main" noGrp="1"/>
          </p:cNvSpPr>
          <p:nvPr/>
        </p:nvSpPr>
        <p:spPr>
          <a:xfrm xmlns:a="http://schemas.openxmlformats.org/drawingml/2006/main">
            <a:off x="3667125" y="4495800"/>
            <a:ext cx="666750" cy="361950"/>
          </a:xfrm>
          <a:prstGeom xmlns:a="http://schemas.openxmlformats.org/drawingml/2006/main" prst="rightArrow">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71C5E9BB-3ED1-474B-B184-07278E273FD9}"/>
              </a:ext>
            </a:extLst>
          </p:cNvPr>
          <p:cNvSpPr>
            <a:spLocks xmlns:a="http://schemas.openxmlformats.org/drawingml/2006/main" noGrp="1"/>
          </p:cNvSpPr>
          <p:nvPr/>
        </p:nvSpPr>
        <p:spPr>
          <a:xfrm xmlns:a="http://schemas.openxmlformats.org/drawingml/2006/main">
            <a:off x="4572000" y="4419600"/>
            <a:ext cx="2667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Inter"/>
                <a:ea typeface="Inter"/>
                <a:cs typeface="Inter"/>
              </a:defRPr>
            </a:pPr>
            <a:r>
              <a:rPr sz="1500" b="1">
                <a:solidFill>
                  <a:srgbClr val="001B30"/>
                </a:solidFill>
                <a:latin typeface="Inter"/>
                <a:ea typeface="Inter"/>
                <a:cs typeface="Inter"/>
              </a:rPr>
              <a:t>Human / HITL</a:t>
            </a:r>
          </a:p>
        </p:txBody>
      </p:sp>
      <p:sp>
        <p:nvSpPr>
          <p:cNvPr id="27" name="">
            <a:extLst xmlns:a="http://schemas.openxmlformats.org/drawingml/2006/main">
              <a:ext uri="{FF2B5EF4-FFF2-40B4-BE49-F238E27FC236}">
                <a16:creationId xmlns:a16="http://schemas.microsoft.com/office/drawing/2014/main" id="{7A0BC2EC-30C6-4ABB-BDC2-B099DEC3E987}"/>
              </a:ext>
            </a:extLst>
          </p:cNvPr>
          <p:cNvSpPr>
            <a:spLocks xmlns:a="http://schemas.openxmlformats.org/drawingml/2006/main" noGrp="1"/>
          </p:cNvSpPr>
          <p:nvPr/>
        </p:nvSpPr>
        <p:spPr>
          <a:xfrm xmlns:a="http://schemas.openxmlformats.org/drawingml/2006/main">
            <a:off x="7524750" y="4419600"/>
            <a:ext cx="3905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2627A"/>
                </a:solidFill>
                <a:latin typeface="Inter"/>
                <a:ea typeface="Inter"/>
                <a:cs typeface="Inter"/>
              </a:defRPr>
            </a:pPr>
            <a:r>
              <a:rPr sz="1200" b="0">
                <a:solidFill>
                  <a:srgbClr val="52627A"/>
                </a:solidFill>
                <a:latin typeface="Inter"/>
                <a:ea typeface="Inter"/>
                <a:cs typeface="Inter"/>
              </a:rPr>
              <a:t>Accountable approval</a:t>
            </a:r>
          </a:p>
        </p:txBody>
      </p:sp>
      <p:sp>
        <p:nvSpPr>
          <p:cNvPr id="28" name="">
            <a:extLst xmlns:a="http://schemas.openxmlformats.org/drawingml/2006/main">
              <a:ext uri="{FF2B5EF4-FFF2-40B4-BE49-F238E27FC236}">
                <a16:creationId xmlns:a16="http://schemas.microsoft.com/office/drawing/2014/main" id="{DBB5CA65-529E-488D-81E7-A0AA924FC896}"/>
              </a:ext>
            </a:extLst>
          </p:cNvPr>
          <p:cNvSpPr>
            <a:spLocks xmlns:a="http://schemas.openxmlformats.org/drawingml/2006/main" noGrp="1"/>
          </p:cNvSpPr>
          <p:nvPr/>
        </p:nvSpPr>
        <p:spPr>
          <a:xfrm xmlns:a="http://schemas.openxmlformats.org/drawingml/2006/main">
            <a:off x="723900" y="5010150"/>
            <a:ext cx="10706100" cy="9525"/>
          </a:xfrm>
          <a:prstGeom xmlns:a="http://schemas.openxmlformats.org/drawingml/2006/main" prst="rect">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A1D2B9AE-15A3-4CF3-AE26-B3EDA1E556B0}"/>
              </a:ext>
            </a:extLst>
          </p:cNvPr>
          <p:cNvSpPr>
            <a:spLocks xmlns:a="http://schemas.openxmlformats.org/drawingml/2006/main" noGrp="1"/>
          </p:cNvSpPr>
          <p:nvPr/>
        </p:nvSpPr>
        <p:spPr>
          <a:xfrm xmlns:a="http://schemas.openxmlformats.org/drawingml/2006/main">
            <a:off x="723900" y="5114925"/>
            <a:ext cx="2857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426"/>
                </a:solidFill>
                <a:latin typeface="Inter"/>
                <a:ea typeface="Inter"/>
                <a:cs typeface="Inter"/>
              </a:defRPr>
            </a:pPr>
            <a:r>
              <a:rPr sz="1350" b="1">
                <a:solidFill>
                  <a:srgbClr val="0B1426"/>
                </a:solidFill>
                <a:latin typeface="Inter"/>
                <a:ea typeface="Inter"/>
                <a:cs typeface="Inter"/>
              </a:rPr>
              <a:t>Mixed end-to-end work</a:t>
            </a:r>
          </a:p>
        </p:txBody>
      </p:sp>
      <p:sp>
        <p:nvSpPr>
          <p:cNvPr id="30" name="">
            <a:extLst xmlns:a="http://schemas.openxmlformats.org/drawingml/2006/main">
              <a:ext uri="{FF2B5EF4-FFF2-40B4-BE49-F238E27FC236}">
                <a16:creationId xmlns:a16="http://schemas.microsoft.com/office/drawing/2014/main" id="{3BB58A40-0B6E-4378-BFC7-539CF0678208}"/>
              </a:ext>
            </a:extLst>
          </p:cNvPr>
          <p:cNvSpPr>
            <a:spLocks xmlns:a="http://schemas.openxmlformats.org/drawingml/2006/main" noGrp="1"/>
          </p:cNvSpPr>
          <p:nvPr/>
        </p:nvSpPr>
        <p:spPr>
          <a:xfrm xmlns:a="http://schemas.openxmlformats.org/drawingml/2006/main">
            <a:off x="3667125" y="5191125"/>
            <a:ext cx="666750" cy="361950"/>
          </a:xfrm>
          <a:prstGeom xmlns:a="http://schemas.openxmlformats.org/drawingml/2006/main" prst="rightArrow">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45F2EA21-8A72-497E-B19E-315ECD3B51A3}"/>
              </a:ext>
            </a:extLst>
          </p:cNvPr>
          <p:cNvSpPr>
            <a:spLocks xmlns:a="http://schemas.openxmlformats.org/drawingml/2006/main" noGrp="1"/>
          </p:cNvSpPr>
          <p:nvPr/>
        </p:nvSpPr>
        <p:spPr>
          <a:xfrm xmlns:a="http://schemas.openxmlformats.org/drawingml/2006/main">
            <a:off x="4572000" y="5114925"/>
            <a:ext cx="2667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Inter"/>
                <a:ea typeface="Inter"/>
                <a:cs typeface="Inter"/>
              </a:defRPr>
            </a:pPr>
            <a:r>
              <a:rPr sz="1500" b="1">
                <a:solidFill>
                  <a:srgbClr val="001B30"/>
                </a:solidFill>
                <a:latin typeface="Inter"/>
                <a:ea typeface="Inter"/>
                <a:cs typeface="Inter"/>
              </a:rPr>
              <a:t>Hybrid model</a:t>
            </a:r>
          </a:p>
        </p:txBody>
      </p:sp>
      <p:sp>
        <p:nvSpPr>
          <p:cNvPr id="32" name="">
            <a:extLst xmlns:a="http://schemas.openxmlformats.org/drawingml/2006/main">
              <a:ext uri="{FF2B5EF4-FFF2-40B4-BE49-F238E27FC236}">
                <a16:creationId xmlns:a16="http://schemas.microsoft.com/office/drawing/2014/main" id="{E1AFA444-9469-47FB-9C29-414D76425826}"/>
              </a:ext>
            </a:extLst>
          </p:cNvPr>
          <p:cNvSpPr>
            <a:spLocks xmlns:a="http://schemas.openxmlformats.org/drawingml/2006/main" noGrp="1"/>
          </p:cNvSpPr>
          <p:nvPr/>
        </p:nvSpPr>
        <p:spPr>
          <a:xfrm xmlns:a="http://schemas.openxmlformats.org/drawingml/2006/main">
            <a:off x="7524750" y="5114925"/>
            <a:ext cx="3905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2627A"/>
                </a:solidFill>
                <a:latin typeface="Inter"/>
                <a:ea typeface="Inter"/>
                <a:cs typeface="Inter"/>
              </a:defRPr>
            </a:pPr>
            <a:r>
              <a:rPr sz="1200" b="0">
                <a:solidFill>
                  <a:srgbClr val="52627A"/>
                </a:solidFill>
                <a:latin typeface="Inter"/>
                <a:ea typeface="Inter"/>
                <a:cs typeface="Inter"/>
              </a:rPr>
              <a:t>A governed combination</a:t>
            </a:r>
          </a:p>
        </p:txBody>
      </p:sp>
      <p:sp>
        <p:nvSpPr>
          <p:cNvPr id="33" name="">
            <a:extLst xmlns:a="http://schemas.openxmlformats.org/drawingml/2006/main">
              <a:ext uri="{FF2B5EF4-FFF2-40B4-BE49-F238E27FC236}">
                <a16:creationId xmlns:a16="http://schemas.microsoft.com/office/drawing/2014/main" id="{84F85190-B9DF-493A-AB15-DC4EEF0C9867}"/>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Decision Before Execution • Automation, AI, transformation, process excellence, architecture, and consulting leaders</a:t>
            </a:r>
          </a:p>
        </p:txBody>
      </p:sp>
      <p:sp>
        <p:nvSpPr>
          <p:cNvPr id="34" name="">
            <a:extLst xmlns:a="http://schemas.openxmlformats.org/drawingml/2006/main">
              <a:ext uri="{FF2B5EF4-FFF2-40B4-BE49-F238E27FC236}">
                <a16:creationId xmlns:a16="http://schemas.microsoft.com/office/drawing/2014/main" id="{4976E2FC-F95F-43A6-8AC4-BEF0EB6B6E12}"/>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AvalaOS evaluates fit, controls, and handoff readiness. Authorized systems execute.</a:t>
            </a:r>
          </a:p>
        </p:txBody>
      </p:sp>
      <p:sp>
        <p:nvSpPr>
          <p:cNvPr id="35" name="">
            <a:extLst xmlns:a="http://schemas.openxmlformats.org/drawingml/2006/main">
              <a:ext uri="{FF2B5EF4-FFF2-40B4-BE49-F238E27FC236}">
                <a16:creationId xmlns:a16="http://schemas.microsoft.com/office/drawing/2014/main" id="{B1EEE8CD-BA21-4C1D-8BDD-7EAFD8300621}"/>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03</a:t>
            </a:r>
          </a:p>
        </p:txBody>
      </p:sp>
    </p:spTree>
    <p:extLst>
      <p:ext uri="{BB962C8B-B14F-4D97-AF65-F5344CB8AC3E}">
        <p14:creationId xmlns:p14="http://schemas.microsoft.com/office/powerpoint/2010/main" val="1491957221"/>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C793D318-7E13-4759-82B9-9EF1E978A410}"/>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898A233-A407-47B4-A08A-80C70AB60B82}"/>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ASSESS → GOVERN → STUDIO → DELIVERY → MONITOR</a:t>
            </a:r>
          </a:p>
        </p:txBody>
      </p:sp>
      <p:sp>
        <p:nvSpPr>
          <p:cNvPr id="3" name="">
            <a:extLst xmlns:a="http://schemas.openxmlformats.org/drawingml/2006/main">
              <a:ext uri="{FF2B5EF4-FFF2-40B4-BE49-F238E27FC236}">
                <a16:creationId xmlns:a16="http://schemas.microsoft.com/office/drawing/2014/main" id="{49C1B8CC-817D-4ECE-BC23-BB122DBD2CBE}"/>
              </a:ext>
            </a:extLst>
          </p:cNvPr>
          <p:cNvSpPr>
            <a:spLocks xmlns:a="http://schemas.openxmlformats.org/drawingml/2006/main" noGrp="1"/>
          </p:cNvSpPr>
          <p:nvPr/>
        </p:nvSpPr>
        <p:spPr>
          <a:xfrm xmlns:a="http://schemas.openxmlformats.org/drawingml/2006/main">
            <a:off x="609600" y="628650"/>
            <a:ext cx="10287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One governed lifecycle keeps the evidence attached.</a:t>
            </a:r>
          </a:p>
        </p:txBody>
      </p:sp>
      <p:sp>
        <p:nvSpPr>
          <p:cNvPr id="4" name="">
            <a:extLst xmlns:a="http://schemas.openxmlformats.org/drawingml/2006/main">
              <a:ext uri="{FF2B5EF4-FFF2-40B4-BE49-F238E27FC236}">
                <a16:creationId xmlns:a16="http://schemas.microsoft.com/office/drawing/2014/main" id="{69CC0905-549B-4258-B56E-5AC8299801BB}"/>
              </a:ext>
            </a:extLst>
          </p:cNvPr>
          <p:cNvSpPr>
            <a:spLocks xmlns:a="http://schemas.openxmlformats.org/drawingml/2006/main" noGrp="1"/>
          </p:cNvSpPr>
          <p:nvPr/>
        </p:nvSpPr>
        <p:spPr>
          <a:xfrm xmlns:a="http://schemas.openxmlformats.org/drawingml/2006/main">
            <a:off x="552450" y="1609725"/>
            <a:ext cx="2202180" cy="2209800"/>
          </a:xfrm>
          <a:prstGeom xmlns:a="http://schemas.openxmlformats.org/drawingml/2006/main" prst="roundRect">
            <a:avLst>
              <a:gd name="adj" fmla="val 3460"/>
            </a:avLst>
          </a:prstGeom>
          <a:solidFill xmlns:a="http://schemas.openxmlformats.org/drawingml/2006/main">
            <a:srgbClr val="FFFFFF"/>
          </a:solidFill>
          <a:ln xmlns:a="http://schemas.openxmlformats.org/drawingml/2006/main" w="9525">
            <a:solidFill>
              <a:srgbClr val="D7E0E8"/>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84646dd1eccb48b5"/>
          <a:srcRect xmlns:a="http://schemas.openxmlformats.org/drawingml/2006/main" l="12322" t="0" r="12322" b="0"/>
          <a:stretch xmlns:a="http://schemas.openxmlformats.org/drawingml/2006/main">
            <a:fillRect l="0" t="0" r="0" b="0"/>
          </a:stretch>
        </p:blipFill>
        <p:spPr>
          <a:xfrm xmlns:a="http://schemas.openxmlformats.org/drawingml/2006/main">
            <a:off x="609600" y="1666875"/>
            <a:ext cx="2087880" cy="2095500"/>
          </a:xfrm>
          <a:prstGeom xmlns:a="http://schemas.openxmlformats.org/drawingml/2006/main" prst="roundRect">
            <a:avLst>
              <a:gd name="adj" fmla="val 5474"/>
            </a:avLst>
          </a:prstGeom>
        </p:spPr>
      </p:pic>
      <p:sp>
        <p:nvSpPr>
          <p:cNvPr id="6" name="">
            <a:extLst xmlns:a="http://schemas.openxmlformats.org/drawingml/2006/main">
              <a:ext uri="{FF2B5EF4-FFF2-40B4-BE49-F238E27FC236}">
                <a16:creationId xmlns:a16="http://schemas.microsoft.com/office/drawing/2014/main" id="{7CC8F308-2A07-4203-9DC0-E33D4C302FCB}"/>
              </a:ext>
            </a:extLst>
          </p:cNvPr>
          <p:cNvSpPr>
            <a:spLocks xmlns:a="http://schemas.openxmlformats.org/drawingml/2006/main" noGrp="1"/>
          </p:cNvSpPr>
          <p:nvPr/>
        </p:nvSpPr>
        <p:spPr>
          <a:xfrm xmlns:a="http://schemas.openxmlformats.org/drawingml/2006/main">
            <a:off x="609600" y="4019550"/>
            <a:ext cx="28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FBC03"/>
                </a:solidFill>
                <a:latin typeface="Inter"/>
                <a:ea typeface="Inter"/>
                <a:cs typeface="Inter"/>
              </a:defRPr>
            </a:pPr>
            <a:r>
              <a:rPr sz="900" b="1">
                <a:solidFill>
                  <a:srgbClr val="FFBC03"/>
                </a:solidFill>
                <a:latin typeface="Inter"/>
                <a:ea typeface="Inter"/>
                <a:cs typeface="Inter"/>
              </a:rPr>
              <a:t>01</a:t>
            </a:r>
          </a:p>
        </p:txBody>
      </p:sp>
      <p:sp>
        <p:nvSpPr>
          <p:cNvPr id="7" name="">
            <a:extLst xmlns:a="http://schemas.openxmlformats.org/drawingml/2006/main">
              <a:ext uri="{FF2B5EF4-FFF2-40B4-BE49-F238E27FC236}">
                <a16:creationId xmlns:a16="http://schemas.microsoft.com/office/drawing/2014/main" id="{EFC10189-4F45-440D-8C37-3915BBAC6BE9}"/>
              </a:ext>
            </a:extLst>
          </p:cNvPr>
          <p:cNvSpPr>
            <a:spLocks xmlns:a="http://schemas.openxmlformats.org/drawingml/2006/main" noGrp="1"/>
          </p:cNvSpPr>
          <p:nvPr/>
        </p:nvSpPr>
        <p:spPr>
          <a:xfrm xmlns:a="http://schemas.openxmlformats.org/drawingml/2006/main">
            <a:off x="933450" y="3943350"/>
            <a:ext cx="176403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Outfit"/>
                <a:ea typeface="Outfit"/>
                <a:cs typeface="Outfit"/>
              </a:defRPr>
            </a:pPr>
            <a:r>
              <a:rPr sz="1500" b="1">
                <a:solidFill>
                  <a:srgbClr val="001B30"/>
                </a:solidFill>
                <a:latin typeface="Outfit"/>
                <a:ea typeface="Outfit"/>
                <a:cs typeface="Outfit"/>
              </a:rPr>
              <a:t>Assess</a:t>
            </a:r>
          </a:p>
        </p:txBody>
      </p:sp>
      <p:sp>
        <p:nvSpPr>
          <p:cNvPr id="8" name="">
            <a:extLst xmlns:a="http://schemas.openxmlformats.org/drawingml/2006/main">
              <a:ext uri="{FF2B5EF4-FFF2-40B4-BE49-F238E27FC236}">
                <a16:creationId xmlns:a16="http://schemas.microsoft.com/office/drawing/2014/main" id="{1A8853D9-AAE7-410F-9451-D2F698DEB914}"/>
              </a:ext>
            </a:extLst>
          </p:cNvPr>
          <p:cNvSpPr>
            <a:spLocks xmlns:a="http://schemas.openxmlformats.org/drawingml/2006/main" noGrp="1"/>
          </p:cNvSpPr>
          <p:nvPr/>
        </p:nvSpPr>
        <p:spPr>
          <a:xfrm xmlns:a="http://schemas.openxmlformats.org/drawingml/2006/main">
            <a:off x="609600" y="4343400"/>
            <a:ext cx="208788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2627A"/>
                </a:solidFill>
                <a:latin typeface="Inter"/>
                <a:ea typeface="Inter"/>
                <a:cs typeface="Inter"/>
              </a:defRPr>
            </a:pPr>
            <a:r>
              <a:rPr sz="1125" b="0">
                <a:solidFill>
                  <a:srgbClr val="52627A"/>
                </a:solidFill>
                <a:latin typeface="Inter"/>
                <a:ea typeface="Inter"/>
                <a:cs typeface="Inter"/>
              </a:rPr>
              <a:t>Evidence-qualified recommendation</a:t>
            </a:r>
          </a:p>
        </p:txBody>
      </p:sp>
      <p:sp>
        <p:nvSpPr>
          <p:cNvPr id="9" name="">
            <a:extLst xmlns:a="http://schemas.openxmlformats.org/drawingml/2006/main">
              <a:ext uri="{FF2B5EF4-FFF2-40B4-BE49-F238E27FC236}">
                <a16:creationId xmlns:a16="http://schemas.microsoft.com/office/drawing/2014/main" id="{FCA01FC7-1423-452B-8F77-D375D6C9A806}"/>
              </a:ext>
            </a:extLst>
          </p:cNvPr>
          <p:cNvSpPr>
            <a:spLocks xmlns:a="http://schemas.openxmlformats.org/drawingml/2006/main" noGrp="1"/>
          </p:cNvSpPr>
          <p:nvPr/>
        </p:nvSpPr>
        <p:spPr>
          <a:xfrm xmlns:a="http://schemas.openxmlformats.org/drawingml/2006/main">
            <a:off x="2773680" y="1609725"/>
            <a:ext cx="2202180" cy="2209800"/>
          </a:xfrm>
          <a:prstGeom xmlns:a="http://schemas.openxmlformats.org/drawingml/2006/main" prst="roundRect">
            <a:avLst>
              <a:gd name="adj" fmla="val 3460"/>
            </a:avLst>
          </a:prstGeom>
          <a:solidFill xmlns:a="http://schemas.openxmlformats.org/drawingml/2006/main">
            <a:srgbClr val="FFFFFF"/>
          </a:solidFill>
          <a:ln xmlns:a="http://schemas.openxmlformats.org/drawingml/2006/main" w="9525">
            <a:solidFill>
              <a:srgbClr val="D7E0E8"/>
            </a:solidFill>
            <a:prstDash val="solid"/>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913d0f91729249c0"/>
          <a:srcRect xmlns:a="http://schemas.openxmlformats.org/drawingml/2006/main" l="12322" t="0" r="12322" b="0"/>
          <a:stretch xmlns:a="http://schemas.openxmlformats.org/drawingml/2006/main">
            <a:fillRect l="0" t="0" r="0" b="0"/>
          </a:stretch>
        </p:blipFill>
        <p:spPr>
          <a:xfrm xmlns:a="http://schemas.openxmlformats.org/drawingml/2006/main">
            <a:off x="2830830" y="1666875"/>
            <a:ext cx="2087880" cy="2095500"/>
          </a:xfrm>
          <a:prstGeom xmlns:a="http://schemas.openxmlformats.org/drawingml/2006/main" prst="roundRect">
            <a:avLst>
              <a:gd name="adj" fmla="val 5474"/>
            </a:avLst>
          </a:prstGeom>
        </p:spPr>
      </p:pic>
      <p:sp>
        <p:nvSpPr>
          <p:cNvPr id="11" name="">
            <a:extLst xmlns:a="http://schemas.openxmlformats.org/drawingml/2006/main">
              <a:ext uri="{FF2B5EF4-FFF2-40B4-BE49-F238E27FC236}">
                <a16:creationId xmlns:a16="http://schemas.microsoft.com/office/drawing/2014/main" id="{599DE91C-74CA-4805-B2B8-0FDCA538AEF4}"/>
              </a:ext>
            </a:extLst>
          </p:cNvPr>
          <p:cNvSpPr>
            <a:spLocks xmlns:a="http://schemas.openxmlformats.org/drawingml/2006/main" noGrp="1"/>
          </p:cNvSpPr>
          <p:nvPr/>
        </p:nvSpPr>
        <p:spPr>
          <a:xfrm xmlns:a="http://schemas.openxmlformats.org/drawingml/2006/main">
            <a:off x="2830830" y="4019550"/>
            <a:ext cx="28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FBC03"/>
                </a:solidFill>
                <a:latin typeface="Inter"/>
                <a:ea typeface="Inter"/>
                <a:cs typeface="Inter"/>
              </a:defRPr>
            </a:pPr>
            <a:r>
              <a:rPr sz="900" b="1">
                <a:solidFill>
                  <a:srgbClr val="FFBC03"/>
                </a:solidFill>
                <a:latin typeface="Inter"/>
                <a:ea typeface="Inter"/>
                <a:cs typeface="Inter"/>
              </a:rPr>
              <a:t>02</a:t>
            </a:r>
          </a:p>
        </p:txBody>
      </p:sp>
      <p:sp>
        <p:nvSpPr>
          <p:cNvPr id="12" name="">
            <a:extLst xmlns:a="http://schemas.openxmlformats.org/drawingml/2006/main">
              <a:ext uri="{FF2B5EF4-FFF2-40B4-BE49-F238E27FC236}">
                <a16:creationId xmlns:a16="http://schemas.microsoft.com/office/drawing/2014/main" id="{D4615A81-7F50-49A8-91AB-21060B251FCF}"/>
              </a:ext>
            </a:extLst>
          </p:cNvPr>
          <p:cNvSpPr>
            <a:spLocks xmlns:a="http://schemas.openxmlformats.org/drawingml/2006/main" noGrp="1"/>
          </p:cNvSpPr>
          <p:nvPr/>
        </p:nvSpPr>
        <p:spPr>
          <a:xfrm xmlns:a="http://schemas.openxmlformats.org/drawingml/2006/main">
            <a:off x="3154680" y="3943350"/>
            <a:ext cx="176403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Outfit"/>
                <a:ea typeface="Outfit"/>
                <a:cs typeface="Outfit"/>
              </a:defRPr>
            </a:pPr>
            <a:r>
              <a:rPr sz="1500" b="1">
                <a:solidFill>
                  <a:srgbClr val="001B30"/>
                </a:solidFill>
                <a:latin typeface="Outfit"/>
                <a:ea typeface="Outfit"/>
                <a:cs typeface="Outfit"/>
              </a:rPr>
              <a:t>Govern</a:t>
            </a:r>
          </a:p>
        </p:txBody>
      </p:sp>
      <p:sp>
        <p:nvSpPr>
          <p:cNvPr id="13" name="">
            <a:extLst xmlns:a="http://schemas.openxmlformats.org/drawingml/2006/main">
              <a:ext uri="{FF2B5EF4-FFF2-40B4-BE49-F238E27FC236}">
                <a16:creationId xmlns:a16="http://schemas.microsoft.com/office/drawing/2014/main" id="{EF0B5720-3DBE-4B07-8A05-86A50176724C}"/>
              </a:ext>
            </a:extLst>
          </p:cNvPr>
          <p:cNvSpPr>
            <a:spLocks xmlns:a="http://schemas.openxmlformats.org/drawingml/2006/main" noGrp="1"/>
          </p:cNvSpPr>
          <p:nvPr/>
        </p:nvSpPr>
        <p:spPr>
          <a:xfrm xmlns:a="http://schemas.openxmlformats.org/drawingml/2006/main">
            <a:off x="2830830" y="4343400"/>
            <a:ext cx="208788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2627A"/>
                </a:solidFill>
                <a:latin typeface="Inter"/>
                <a:ea typeface="Inter"/>
                <a:cs typeface="Inter"/>
              </a:defRPr>
            </a:pPr>
            <a:r>
              <a:rPr sz="1125" b="0">
                <a:solidFill>
                  <a:srgbClr val="52627A"/>
                </a:solidFill>
                <a:latin typeface="Inter"/>
                <a:ea typeface="Inter"/>
                <a:cs typeface="Inter"/>
              </a:rPr>
              <a:t>Human-owned controls</a:t>
            </a:r>
          </a:p>
        </p:txBody>
      </p:sp>
      <p:sp>
        <p:nvSpPr>
          <p:cNvPr id="14" name="">
            <a:extLst xmlns:a="http://schemas.openxmlformats.org/drawingml/2006/main">
              <a:ext uri="{FF2B5EF4-FFF2-40B4-BE49-F238E27FC236}">
                <a16:creationId xmlns:a16="http://schemas.microsoft.com/office/drawing/2014/main" id="{FFB1D835-41EA-41AF-9C6D-378E2A2CB5D8}"/>
              </a:ext>
            </a:extLst>
          </p:cNvPr>
          <p:cNvSpPr>
            <a:spLocks xmlns:a="http://schemas.openxmlformats.org/drawingml/2006/main" noGrp="1"/>
          </p:cNvSpPr>
          <p:nvPr/>
        </p:nvSpPr>
        <p:spPr>
          <a:xfrm xmlns:a="http://schemas.openxmlformats.org/drawingml/2006/main">
            <a:off x="4994910" y="1609725"/>
            <a:ext cx="2202180" cy="2209800"/>
          </a:xfrm>
          <a:prstGeom xmlns:a="http://schemas.openxmlformats.org/drawingml/2006/main" prst="roundRect">
            <a:avLst>
              <a:gd name="adj" fmla="val 3460"/>
            </a:avLst>
          </a:prstGeom>
          <a:solidFill xmlns:a="http://schemas.openxmlformats.org/drawingml/2006/main">
            <a:srgbClr val="FFFFFF"/>
          </a:solidFill>
          <a:ln xmlns:a="http://schemas.openxmlformats.org/drawingml/2006/main" w="9525">
            <a:solidFill>
              <a:srgbClr val="D7E0E8"/>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4006ef4279474e9d"/>
          <a:srcRect xmlns:a="http://schemas.openxmlformats.org/drawingml/2006/main" l="12322" t="0" r="12322" b="0"/>
          <a:stretch xmlns:a="http://schemas.openxmlformats.org/drawingml/2006/main">
            <a:fillRect l="0" t="0" r="0" b="0"/>
          </a:stretch>
        </p:blipFill>
        <p:spPr>
          <a:xfrm xmlns:a="http://schemas.openxmlformats.org/drawingml/2006/main">
            <a:off x="5052060" y="1666875"/>
            <a:ext cx="2087880" cy="2095500"/>
          </a:xfrm>
          <a:prstGeom xmlns:a="http://schemas.openxmlformats.org/drawingml/2006/main" prst="roundRect">
            <a:avLst>
              <a:gd name="adj" fmla="val 5474"/>
            </a:avLst>
          </a:prstGeom>
        </p:spPr>
      </p:pic>
      <p:sp>
        <p:nvSpPr>
          <p:cNvPr id="16" name="">
            <a:extLst xmlns:a="http://schemas.openxmlformats.org/drawingml/2006/main">
              <a:ext uri="{FF2B5EF4-FFF2-40B4-BE49-F238E27FC236}">
                <a16:creationId xmlns:a16="http://schemas.microsoft.com/office/drawing/2014/main" id="{4672DCCC-37F7-4EC5-AE5E-D4784D77742B}"/>
              </a:ext>
            </a:extLst>
          </p:cNvPr>
          <p:cNvSpPr>
            <a:spLocks xmlns:a="http://schemas.openxmlformats.org/drawingml/2006/main" noGrp="1"/>
          </p:cNvSpPr>
          <p:nvPr/>
        </p:nvSpPr>
        <p:spPr>
          <a:xfrm xmlns:a="http://schemas.openxmlformats.org/drawingml/2006/main">
            <a:off x="5052060" y="4019550"/>
            <a:ext cx="28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FBC03"/>
                </a:solidFill>
                <a:latin typeface="Inter"/>
                <a:ea typeface="Inter"/>
                <a:cs typeface="Inter"/>
              </a:defRPr>
            </a:pPr>
            <a:r>
              <a:rPr sz="900" b="1">
                <a:solidFill>
                  <a:srgbClr val="FFBC03"/>
                </a:solidFill>
                <a:latin typeface="Inter"/>
                <a:ea typeface="Inter"/>
                <a:cs typeface="Inter"/>
              </a:rPr>
              <a:t>03</a:t>
            </a:r>
          </a:p>
        </p:txBody>
      </p:sp>
      <p:sp>
        <p:nvSpPr>
          <p:cNvPr id="17" name="">
            <a:extLst xmlns:a="http://schemas.openxmlformats.org/drawingml/2006/main">
              <a:ext uri="{FF2B5EF4-FFF2-40B4-BE49-F238E27FC236}">
                <a16:creationId xmlns:a16="http://schemas.microsoft.com/office/drawing/2014/main" id="{6AB58F06-4DC7-419C-A155-3C7126BB21A4}"/>
              </a:ext>
            </a:extLst>
          </p:cNvPr>
          <p:cNvSpPr>
            <a:spLocks xmlns:a="http://schemas.openxmlformats.org/drawingml/2006/main" noGrp="1"/>
          </p:cNvSpPr>
          <p:nvPr/>
        </p:nvSpPr>
        <p:spPr>
          <a:xfrm xmlns:a="http://schemas.openxmlformats.org/drawingml/2006/main">
            <a:off x="5375910" y="3943350"/>
            <a:ext cx="176403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Outfit"/>
                <a:ea typeface="Outfit"/>
                <a:cs typeface="Outfit"/>
              </a:defRPr>
            </a:pPr>
            <a:r>
              <a:rPr sz="1500" b="1">
                <a:solidFill>
                  <a:srgbClr val="001B30"/>
                </a:solidFill>
                <a:latin typeface="Outfit"/>
                <a:ea typeface="Outfit"/>
                <a:cs typeface="Outfit"/>
              </a:rPr>
              <a:t>Studio</a:t>
            </a:r>
          </a:p>
        </p:txBody>
      </p:sp>
      <p:sp>
        <p:nvSpPr>
          <p:cNvPr id="18" name="">
            <a:extLst xmlns:a="http://schemas.openxmlformats.org/drawingml/2006/main">
              <a:ext uri="{FF2B5EF4-FFF2-40B4-BE49-F238E27FC236}">
                <a16:creationId xmlns:a16="http://schemas.microsoft.com/office/drawing/2014/main" id="{08DA97B8-42BE-43C2-B796-4039877F91EA}"/>
              </a:ext>
            </a:extLst>
          </p:cNvPr>
          <p:cNvSpPr>
            <a:spLocks xmlns:a="http://schemas.openxmlformats.org/drawingml/2006/main" noGrp="1"/>
          </p:cNvSpPr>
          <p:nvPr/>
        </p:nvSpPr>
        <p:spPr>
          <a:xfrm xmlns:a="http://schemas.openxmlformats.org/drawingml/2006/main">
            <a:off x="5052060" y="4343400"/>
            <a:ext cx="208788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2627A"/>
                </a:solidFill>
                <a:latin typeface="Inter"/>
                <a:ea typeface="Inter"/>
                <a:cs typeface="Inter"/>
              </a:defRPr>
            </a:pPr>
            <a:r>
              <a:rPr sz="1125" b="0">
                <a:solidFill>
                  <a:srgbClr val="52627A"/>
                </a:solidFill>
                <a:latin typeface="Inter"/>
                <a:ea typeface="Inter"/>
                <a:cs typeface="Inter"/>
              </a:rPr>
              <a:t>Approved artifacts</a:t>
            </a:r>
          </a:p>
        </p:txBody>
      </p:sp>
      <p:sp>
        <p:nvSpPr>
          <p:cNvPr id="19" name="">
            <a:extLst xmlns:a="http://schemas.openxmlformats.org/drawingml/2006/main">
              <a:ext uri="{FF2B5EF4-FFF2-40B4-BE49-F238E27FC236}">
                <a16:creationId xmlns:a16="http://schemas.microsoft.com/office/drawing/2014/main" id="{8731D7A4-200B-4AFD-8AB3-AB4C3145F716}"/>
              </a:ext>
            </a:extLst>
          </p:cNvPr>
          <p:cNvSpPr>
            <a:spLocks xmlns:a="http://schemas.openxmlformats.org/drawingml/2006/main" noGrp="1"/>
          </p:cNvSpPr>
          <p:nvPr/>
        </p:nvSpPr>
        <p:spPr>
          <a:xfrm xmlns:a="http://schemas.openxmlformats.org/drawingml/2006/main">
            <a:off x="7216140" y="1609725"/>
            <a:ext cx="2202180" cy="2209800"/>
          </a:xfrm>
          <a:prstGeom xmlns:a="http://schemas.openxmlformats.org/drawingml/2006/main" prst="roundRect">
            <a:avLst>
              <a:gd name="adj" fmla="val 3460"/>
            </a:avLst>
          </a:prstGeom>
          <a:solidFill xmlns:a="http://schemas.openxmlformats.org/drawingml/2006/main">
            <a:srgbClr val="FFFFFF"/>
          </a:solidFill>
          <a:ln xmlns:a="http://schemas.openxmlformats.org/drawingml/2006/main" w="9525">
            <a:solidFill>
              <a:srgbClr val="D7E0E8"/>
            </a:solidFill>
            <a:prstDash val="solid"/>
          </a:ln>
        </p:spPr>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65ca1c1b0ed8424f"/>
          <a:srcRect xmlns:a="http://schemas.openxmlformats.org/drawingml/2006/main" l="12322" t="0" r="12322" b="0"/>
          <a:stretch xmlns:a="http://schemas.openxmlformats.org/drawingml/2006/main">
            <a:fillRect l="0" t="0" r="0" b="0"/>
          </a:stretch>
        </p:blipFill>
        <p:spPr>
          <a:xfrm xmlns:a="http://schemas.openxmlformats.org/drawingml/2006/main">
            <a:off x="7273290" y="1666875"/>
            <a:ext cx="2087880" cy="2095500"/>
          </a:xfrm>
          <a:prstGeom xmlns:a="http://schemas.openxmlformats.org/drawingml/2006/main" prst="roundRect">
            <a:avLst>
              <a:gd name="adj" fmla="val 5474"/>
            </a:avLst>
          </a:prstGeom>
        </p:spPr>
      </p:pic>
      <p:sp>
        <p:nvSpPr>
          <p:cNvPr id="21" name="">
            <a:extLst xmlns:a="http://schemas.openxmlformats.org/drawingml/2006/main">
              <a:ext uri="{FF2B5EF4-FFF2-40B4-BE49-F238E27FC236}">
                <a16:creationId xmlns:a16="http://schemas.microsoft.com/office/drawing/2014/main" id="{565280E9-1CCB-40F0-B181-CD3BBAE7D74F}"/>
              </a:ext>
            </a:extLst>
          </p:cNvPr>
          <p:cNvSpPr>
            <a:spLocks xmlns:a="http://schemas.openxmlformats.org/drawingml/2006/main" noGrp="1"/>
          </p:cNvSpPr>
          <p:nvPr/>
        </p:nvSpPr>
        <p:spPr>
          <a:xfrm xmlns:a="http://schemas.openxmlformats.org/drawingml/2006/main">
            <a:off x="7273290" y="4019550"/>
            <a:ext cx="28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FBC03"/>
                </a:solidFill>
                <a:latin typeface="Inter"/>
                <a:ea typeface="Inter"/>
                <a:cs typeface="Inter"/>
              </a:defRPr>
            </a:pPr>
            <a:r>
              <a:rPr sz="900" b="1">
                <a:solidFill>
                  <a:srgbClr val="FFBC03"/>
                </a:solidFill>
                <a:latin typeface="Inter"/>
                <a:ea typeface="Inter"/>
                <a:cs typeface="Inter"/>
              </a:rPr>
              <a:t>04</a:t>
            </a:r>
          </a:p>
        </p:txBody>
      </p:sp>
      <p:sp>
        <p:nvSpPr>
          <p:cNvPr id="22" name="">
            <a:extLst xmlns:a="http://schemas.openxmlformats.org/drawingml/2006/main">
              <a:ext uri="{FF2B5EF4-FFF2-40B4-BE49-F238E27FC236}">
                <a16:creationId xmlns:a16="http://schemas.microsoft.com/office/drawing/2014/main" id="{EFD93A58-ABF3-4FED-8769-F1179B8FD947}"/>
              </a:ext>
            </a:extLst>
          </p:cNvPr>
          <p:cNvSpPr>
            <a:spLocks xmlns:a="http://schemas.openxmlformats.org/drawingml/2006/main" noGrp="1"/>
          </p:cNvSpPr>
          <p:nvPr/>
        </p:nvSpPr>
        <p:spPr>
          <a:xfrm xmlns:a="http://schemas.openxmlformats.org/drawingml/2006/main">
            <a:off x="7597140" y="3943350"/>
            <a:ext cx="176403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Outfit"/>
                <a:ea typeface="Outfit"/>
                <a:cs typeface="Outfit"/>
              </a:defRPr>
            </a:pPr>
            <a:r>
              <a:rPr sz="1500" b="1">
                <a:solidFill>
                  <a:srgbClr val="001B30"/>
                </a:solidFill>
                <a:latin typeface="Outfit"/>
                <a:ea typeface="Outfit"/>
                <a:cs typeface="Outfit"/>
              </a:rPr>
              <a:t>Delivery</a:t>
            </a:r>
          </a:p>
        </p:txBody>
      </p:sp>
      <p:sp>
        <p:nvSpPr>
          <p:cNvPr id="23" name="">
            <a:extLst xmlns:a="http://schemas.openxmlformats.org/drawingml/2006/main">
              <a:ext uri="{FF2B5EF4-FFF2-40B4-BE49-F238E27FC236}">
                <a16:creationId xmlns:a16="http://schemas.microsoft.com/office/drawing/2014/main" id="{61E690C4-430E-487C-980A-482413912A63}"/>
              </a:ext>
            </a:extLst>
          </p:cNvPr>
          <p:cNvSpPr>
            <a:spLocks xmlns:a="http://schemas.openxmlformats.org/drawingml/2006/main" noGrp="1"/>
          </p:cNvSpPr>
          <p:nvPr/>
        </p:nvSpPr>
        <p:spPr>
          <a:xfrm xmlns:a="http://schemas.openxmlformats.org/drawingml/2006/main">
            <a:off x="7273290" y="4343400"/>
            <a:ext cx="208788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2627A"/>
                </a:solidFill>
                <a:latin typeface="Inter"/>
                <a:ea typeface="Inter"/>
                <a:cs typeface="Inter"/>
              </a:defRPr>
            </a:pPr>
            <a:r>
              <a:rPr sz="1125" b="0">
                <a:solidFill>
                  <a:srgbClr val="52627A"/>
                </a:solidFill>
                <a:latin typeface="Inter"/>
                <a:ea typeface="Inter"/>
                <a:cs typeface="Inter"/>
              </a:rPr>
              <a:t>Source-linked work</a:t>
            </a:r>
          </a:p>
        </p:txBody>
      </p:sp>
      <p:sp>
        <p:nvSpPr>
          <p:cNvPr id="24" name="">
            <a:extLst xmlns:a="http://schemas.openxmlformats.org/drawingml/2006/main">
              <a:ext uri="{FF2B5EF4-FFF2-40B4-BE49-F238E27FC236}">
                <a16:creationId xmlns:a16="http://schemas.microsoft.com/office/drawing/2014/main" id="{BE567713-8A82-4CEE-9943-4CBFA1B98B4B}"/>
              </a:ext>
            </a:extLst>
          </p:cNvPr>
          <p:cNvSpPr>
            <a:spLocks xmlns:a="http://schemas.openxmlformats.org/drawingml/2006/main" noGrp="1"/>
          </p:cNvSpPr>
          <p:nvPr/>
        </p:nvSpPr>
        <p:spPr>
          <a:xfrm xmlns:a="http://schemas.openxmlformats.org/drawingml/2006/main">
            <a:off x="9437370" y="1609725"/>
            <a:ext cx="2202180" cy="2209800"/>
          </a:xfrm>
          <a:prstGeom xmlns:a="http://schemas.openxmlformats.org/drawingml/2006/main" prst="roundRect">
            <a:avLst>
              <a:gd name="adj" fmla="val 3460"/>
            </a:avLst>
          </a:prstGeom>
          <a:solidFill xmlns:a="http://schemas.openxmlformats.org/drawingml/2006/main">
            <a:srgbClr val="FFFFFF"/>
          </a:solidFill>
          <a:ln xmlns:a="http://schemas.openxmlformats.org/drawingml/2006/main" w="9525">
            <a:solidFill>
              <a:srgbClr val="D7E0E8"/>
            </a:solidFill>
            <a:prstDash val="solid"/>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68eb06f9387f433b"/>
          <a:srcRect xmlns:a="http://schemas.openxmlformats.org/drawingml/2006/main" l="12322" t="0" r="12322" b="0"/>
          <a:stretch xmlns:a="http://schemas.openxmlformats.org/drawingml/2006/main">
            <a:fillRect l="0" t="0" r="0" b="0"/>
          </a:stretch>
        </p:blipFill>
        <p:spPr>
          <a:xfrm xmlns:a="http://schemas.openxmlformats.org/drawingml/2006/main">
            <a:off x="9494520" y="1666875"/>
            <a:ext cx="2087880" cy="2095500"/>
          </a:xfrm>
          <a:prstGeom xmlns:a="http://schemas.openxmlformats.org/drawingml/2006/main" prst="roundRect">
            <a:avLst>
              <a:gd name="adj" fmla="val 5474"/>
            </a:avLst>
          </a:prstGeom>
        </p:spPr>
      </p:pic>
      <p:sp>
        <p:nvSpPr>
          <p:cNvPr id="26" name="">
            <a:extLst xmlns:a="http://schemas.openxmlformats.org/drawingml/2006/main">
              <a:ext uri="{FF2B5EF4-FFF2-40B4-BE49-F238E27FC236}">
                <a16:creationId xmlns:a16="http://schemas.microsoft.com/office/drawing/2014/main" id="{50E85ED1-8D0F-489D-9F2E-C66FE6246564}"/>
              </a:ext>
            </a:extLst>
          </p:cNvPr>
          <p:cNvSpPr>
            <a:spLocks xmlns:a="http://schemas.openxmlformats.org/drawingml/2006/main" noGrp="1"/>
          </p:cNvSpPr>
          <p:nvPr/>
        </p:nvSpPr>
        <p:spPr>
          <a:xfrm xmlns:a="http://schemas.openxmlformats.org/drawingml/2006/main">
            <a:off x="9494520" y="4019550"/>
            <a:ext cx="28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FBC03"/>
                </a:solidFill>
                <a:latin typeface="Inter"/>
                <a:ea typeface="Inter"/>
                <a:cs typeface="Inter"/>
              </a:defRPr>
            </a:pPr>
            <a:r>
              <a:rPr sz="900" b="1">
                <a:solidFill>
                  <a:srgbClr val="FFBC03"/>
                </a:solidFill>
                <a:latin typeface="Inter"/>
                <a:ea typeface="Inter"/>
                <a:cs typeface="Inter"/>
              </a:rPr>
              <a:t>05</a:t>
            </a:r>
          </a:p>
        </p:txBody>
      </p:sp>
      <p:sp>
        <p:nvSpPr>
          <p:cNvPr id="27" name="">
            <a:extLst xmlns:a="http://schemas.openxmlformats.org/drawingml/2006/main">
              <a:ext uri="{FF2B5EF4-FFF2-40B4-BE49-F238E27FC236}">
                <a16:creationId xmlns:a16="http://schemas.microsoft.com/office/drawing/2014/main" id="{98157238-4A26-44EC-8EA0-3520A311E987}"/>
              </a:ext>
            </a:extLst>
          </p:cNvPr>
          <p:cNvSpPr>
            <a:spLocks xmlns:a="http://schemas.openxmlformats.org/drawingml/2006/main" noGrp="1"/>
          </p:cNvSpPr>
          <p:nvPr/>
        </p:nvSpPr>
        <p:spPr>
          <a:xfrm xmlns:a="http://schemas.openxmlformats.org/drawingml/2006/main">
            <a:off x="9818370" y="3943350"/>
            <a:ext cx="176403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Outfit"/>
                <a:ea typeface="Outfit"/>
                <a:cs typeface="Outfit"/>
              </a:defRPr>
            </a:pPr>
            <a:r>
              <a:rPr sz="1500" b="1">
                <a:solidFill>
                  <a:srgbClr val="001B30"/>
                </a:solidFill>
                <a:latin typeface="Outfit"/>
                <a:ea typeface="Outfit"/>
                <a:cs typeface="Outfit"/>
              </a:rPr>
              <a:t>Monitor</a:t>
            </a:r>
          </a:p>
        </p:txBody>
      </p:sp>
      <p:sp>
        <p:nvSpPr>
          <p:cNvPr id="28" name="">
            <a:extLst xmlns:a="http://schemas.openxmlformats.org/drawingml/2006/main">
              <a:ext uri="{FF2B5EF4-FFF2-40B4-BE49-F238E27FC236}">
                <a16:creationId xmlns:a16="http://schemas.microsoft.com/office/drawing/2014/main" id="{D045C91A-D8BF-433A-A0AD-4D006F4DF7CD}"/>
              </a:ext>
            </a:extLst>
          </p:cNvPr>
          <p:cNvSpPr>
            <a:spLocks xmlns:a="http://schemas.openxmlformats.org/drawingml/2006/main" noGrp="1"/>
          </p:cNvSpPr>
          <p:nvPr/>
        </p:nvSpPr>
        <p:spPr>
          <a:xfrm xmlns:a="http://schemas.openxmlformats.org/drawingml/2006/main">
            <a:off x="9494520" y="4343400"/>
            <a:ext cx="208788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2627A"/>
                </a:solidFill>
                <a:latin typeface="Inter"/>
                <a:ea typeface="Inter"/>
                <a:cs typeface="Inter"/>
              </a:defRPr>
            </a:pPr>
            <a:r>
              <a:rPr sz="1125" b="0">
                <a:solidFill>
                  <a:srgbClr val="52627A"/>
                </a:solidFill>
                <a:latin typeface="Inter"/>
                <a:ea typeface="Inter"/>
                <a:cs typeface="Inter"/>
              </a:rPr>
              <a:t>Outcome visibility</a:t>
            </a:r>
          </a:p>
        </p:txBody>
      </p:sp>
      <p:sp>
        <p:nvSpPr>
          <p:cNvPr id="29" name="">
            <a:extLst xmlns:a="http://schemas.openxmlformats.org/drawingml/2006/main">
              <a:ext uri="{FF2B5EF4-FFF2-40B4-BE49-F238E27FC236}">
                <a16:creationId xmlns:a16="http://schemas.microsoft.com/office/drawing/2014/main" id="{65E17FA4-59EC-42A6-88ED-5D5A587FF73C}"/>
              </a:ext>
            </a:extLst>
          </p:cNvPr>
          <p:cNvSpPr>
            <a:spLocks xmlns:a="http://schemas.openxmlformats.org/drawingml/2006/main" noGrp="1"/>
          </p:cNvSpPr>
          <p:nvPr/>
        </p:nvSpPr>
        <p:spPr>
          <a:xfrm xmlns:a="http://schemas.openxmlformats.org/drawingml/2006/main">
            <a:off x="609600" y="5219700"/>
            <a:ext cx="10972800" cy="38100"/>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7AD4A640-395F-4ACD-A2DB-8ABE2452ECA9}"/>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Decision Before Execution • Automation, AI, transformation, process excellence, architecture, and consulting leaders</a:t>
            </a:r>
          </a:p>
        </p:txBody>
      </p:sp>
      <p:sp>
        <p:nvSpPr>
          <p:cNvPr id="31" name="">
            <a:extLst xmlns:a="http://schemas.openxmlformats.org/drawingml/2006/main">
              <a:ext uri="{FF2B5EF4-FFF2-40B4-BE49-F238E27FC236}">
                <a16:creationId xmlns:a16="http://schemas.microsoft.com/office/drawing/2014/main" id="{7B09307A-6AEA-4F50-B3FF-A67E44B4B86E}"/>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Synthetic product previews. Execution remains with authorized systems.</a:t>
            </a:r>
          </a:p>
        </p:txBody>
      </p:sp>
      <p:sp>
        <p:nvSpPr>
          <p:cNvPr id="32" name="">
            <a:extLst xmlns:a="http://schemas.openxmlformats.org/drawingml/2006/main">
              <a:ext uri="{FF2B5EF4-FFF2-40B4-BE49-F238E27FC236}">
                <a16:creationId xmlns:a16="http://schemas.microsoft.com/office/drawing/2014/main" id="{1B4CEB90-6F82-4952-9F2A-34E8DE4B369C}"/>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04</a:t>
            </a:r>
          </a:p>
        </p:txBody>
      </p:sp>
    </p:spTree>
    <p:extLst>
      <p:ext uri="{BB962C8B-B14F-4D97-AF65-F5344CB8AC3E}">
        <p14:creationId xmlns:p14="http://schemas.microsoft.com/office/powerpoint/2010/main" val="87837393"/>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34B6FD6-0824-4A45-BE7F-7FC3AFCD5AFC}"/>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69F10C9-2F05-4793-A85C-4FFD2CF0FA1A}"/>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ASSESS + GOVERN</a:t>
            </a:r>
          </a:p>
        </p:txBody>
      </p:sp>
      <p:sp>
        <p:nvSpPr>
          <p:cNvPr id="3" name="">
            <a:extLst xmlns:a="http://schemas.openxmlformats.org/drawingml/2006/main">
              <a:ext uri="{FF2B5EF4-FFF2-40B4-BE49-F238E27FC236}">
                <a16:creationId xmlns:a16="http://schemas.microsoft.com/office/drawing/2014/main" id="{67CAEB52-AC16-4945-B22C-84359C3CDCEE}"/>
              </a:ext>
            </a:extLst>
          </p:cNvPr>
          <p:cNvSpPr>
            <a:spLocks xmlns:a="http://schemas.openxmlformats.org/drawingml/2006/main" noGrp="1"/>
          </p:cNvSpPr>
          <p:nvPr/>
        </p:nvSpPr>
        <p:spPr>
          <a:xfrm xmlns:a="http://schemas.openxmlformats.org/drawingml/2006/main">
            <a:off x="609600" y="619125"/>
            <a:ext cx="10287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Evidence becomes a governed decision.</a:t>
            </a:r>
          </a:p>
        </p:txBody>
      </p:sp>
      <p:sp>
        <p:nvSpPr>
          <p:cNvPr id="4" name="">
            <a:extLst xmlns:a="http://schemas.openxmlformats.org/drawingml/2006/main">
              <a:ext uri="{FF2B5EF4-FFF2-40B4-BE49-F238E27FC236}">
                <a16:creationId xmlns:a16="http://schemas.microsoft.com/office/drawing/2014/main" id="{B8B525AA-EDBE-4538-8929-1E39631189D1}"/>
              </a:ext>
            </a:extLst>
          </p:cNvPr>
          <p:cNvSpPr>
            <a:spLocks xmlns:a="http://schemas.openxmlformats.org/drawingml/2006/main" noGrp="1"/>
          </p:cNvSpPr>
          <p:nvPr/>
        </p:nvSpPr>
        <p:spPr>
          <a:xfrm xmlns:a="http://schemas.openxmlformats.org/drawingml/2006/main">
            <a:off x="609600" y="1304925"/>
            <a:ext cx="109728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2627A"/>
                </a:solidFill>
                <a:latin typeface="Inter"/>
                <a:ea typeface="Inter"/>
                <a:cs typeface="Inter"/>
              </a:defRPr>
            </a:pPr>
            <a:r>
              <a:rPr sz="1275" b="0">
                <a:solidFill>
                  <a:srgbClr val="52627A"/>
                </a:solidFill>
                <a:latin typeface="Inter"/>
                <a:ea typeface="Inter"/>
                <a:cs typeface="Inter"/>
              </a:rPr>
              <a:t>Process decomposition and deterministic recommendation meet evidence gaps, material-risk review, control conditions, and human approval.</a:t>
            </a:r>
          </a:p>
        </p:txBody>
      </p:sp>
      <p:sp>
        <p:nvSpPr>
          <p:cNvPr id="5" name="">
            <a:extLst xmlns:a="http://schemas.openxmlformats.org/drawingml/2006/main">
              <a:ext uri="{FF2B5EF4-FFF2-40B4-BE49-F238E27FC236}">
                <a16:creationId xmlns:a16="http://schemas.microsoft.com/office/drawing/2014/main" id="{90AF9AD1-1DA2-439E-9055-4F8D86265B22}"/>
              </a:ext>
            </a:extLst>
          </p:cNvPr>
          <p:cNvSpPr>
            <a:spLocks xmlns:a="http://schemas.openxmlformats.org/drawingml/2006/main" noGrp="1"/>
          </p:cNvSpPr>
          <p:nvPr/>
        </p:nvSpPr>
        <p:spPr>
          <a:xfrm xmlns:a="http://schemas.openxmlformats.org/drawingml/2006/main">
            <a:off x="552450" y="1943100"/>
            <a:ext cx="5353050" cy="3400425"/>
          </a:xfrm>
          <a:prstGeom xmlns:a="http://schemas.openxmlformats.org/drawingml/2006/main" prst="roundRect">
            <a:avLst>
              <a:gd name="adj" fmla="val 2241"/>
            </a:avLst>
          </a:prstGeom>
          <a:solidFill xmlns:a="http://schemas.openxmlformats.org/drawingml/2006/main">
            <a:srgbClr val="FFFFFF"/>
          </a:solidFill>
          <a:ln xmlns:a="http://schemas.openxmlformats.org/drawingml/2006/main" w="9525">
            <a:solidFill>
              <a:srgbClr val="D7E0E8"/>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513f7f4429b844b9"/>
          <a:srcRect xmlns:a="http://schemas.openxmlformats.org/drawingml/2006/main" l="0" t="8530" r="0" b="8530"/>
          <a:stretch xmlns:a="http://schemas.openxmlformats.org/drawingml/2006/main">
            <a:fillRect l="0" t="0" r="0" b="0"/>
          </a:stretch>
        </p:blipFill>
        <p:spPr>
          <a:xfrm xmlns:a="http://schemas.openxmlformats.org/drawingml/2006/main">
            <a:off x="609600" y="2000250"/>
            <a:ext cx="5238750" cy="3286125"/>
          </a:xfrm>
          <a:prstGeom xmlns:a="http://schemas.openxmlformats.org/drawingml/2006/main" prst="roundRect">
            <a:avLst>
              <a:gd name="adj" fmla="val 3478"/>
            </a:avLst>
          </a:prstGeom>
        </p:spPr>
      </p:pic>
      <p:sp>
        <p:nvSpPr>
          <p:cNvPr id="7" name="">
            <a:extLst xmlns:a="http://schemas.openxmlformats.org/drawingml/2006/main">
              <a:ext uri="{FF2B5EF4-FFF2-40B4-BE49-F238E27FC236}">
                <a16:creationId xmlns:a16="http://schemas.microsoft.com/office/drawing/2014/main" id="{CEFB7641-7164-40C8-A307-926D1E4DAD1D}"/>
              </a:ext>
            </a:extLst>
          </p:cNvPr>
          <p:cNvSpPr>
            <a:spLocks xmlns:a="http://schemas.openxmlformats.org/drawingml/2006/main" noGrp="1"/>
          </p:cNvSpPr>
          <p:nvPr/>
        </p:nvSpPr>
        <p:spPr>
          <a:xfrm xmlns:a="http://schemas.openxmlformats.org/drawingml/2006/main">
            <a:off x="6286500" y="1943100"/>
            <a:ext cx="5353050" cy="3400425"/>
          </a:xfrm>
          <a:prstGeom xmlns:a="http://schemas.openxmlformats.org/drawingml/2006/main" prst="roundRect">
            <a:avLst>
              <a:gd name="adj" fmla="val 2241"/>
            </a:avLst>
          </a:prstGeom>
          <a:solidFill xmlns:a="http://schemas.openxmlformats.org/drawingml/2006/main">
            <a:srgbClr val="FFFFFF"/>
          </a:solidFill>
          <a:ln xmlns:a="http://schemas.openxmlformats.org/drawingml/2006/main" w="9525">
            <a:solidFill>
              <a:srgbClr val="D7E0E8"/>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b69495bb2b564a77"/>
          <a:srcRect xmlns:a="http://schemas.openxmlformats.org/drawingml/2006/main" l="0" t="8530" r="0" b="8530"/>
          <a:stretch xmlns:a="http://schemas.openxmlformats.org/drawingml/2006/main">
            <a:fillRect l="0" t="0" r="0" b="0"/>
          </a:stretch>
        </p:blipFill>
        <p:spPr>
          <a:xfrm xmlns:a="http://schemas.openxmlformats.org/drawingml/2006/main">
            <a:off x="6343650" y="2000250"/>
            <a:ext cx="5238750" cy="3286125"/>
          </a:xfrm>
          <a:prstGeom xmlns:a="http://schemas.openxmlformats.org/drawingml/2006/main" prst="roundRect">
            <a:avLst>
              <a:gd name="adj" fmla="val 3478"/>
            </a:avLst>
          </a:prstGeom>
        </p:spPr>
      </p:pic>
      <p:sp>
        <p:nvSpPr>
          <p:cNvPr id="9" name="">
            <a:extLst xmlns:a="http://schemas.openxmlformats.org/drawingml/2006/main">
              <a:ext uri="{FF2B5EF4-FFF2-40B4-BE49-F238E27FC236}">
                <a16:creationId xmlns:a16="http://schemas.microsoft.com/office/drawing/2014/main" id="{D8C06556-6736-4913-8C9C-D5B1D3A15D4A}"/>
              </a:ext>
            </a:extLst>
          </p:cNvPr>
          <p:cNvSpPr>
            <a:spLocks xmlns:a="http://schemas.openxmlformats.org/drawingml/2006/main" noGrp="1"/>
          </p:cNvSpPr>
          <p:nvPr/>
        </p:nvSpPr>
        <p:spPr>
          <a:xfrm xmlns:a="http://schemas.openxmlformats.org/drawingml/2006/main">
            <a:off x="762000" y="5543550"/>
            <a:ext cx="2514600" cy="285750"/>
          </a:xfrm>
          <a:prstGeom xmlns:a="http://schemas.openxmlformats.org/drawingml/2006/main" prst="roundRect">
            <a:avLst>
              <a:gd name="adj" fmla="val 26667"/>
            </a:avLst>
          </a:prstGeom>
          <a:solidFill xmlns:a="http://schemas.openxmlformats.org/drawingml/2006/main">
            <a:srgbClr val="FFF4D6"/>
          </a:solidFill>
          <a:ln xmlns:a="http://schemas.openxmlformats.org/drawingml/2006/main" w="9525">
            <a:solidFill>
              <a:srgbClr val="FFBC03"/>
            </a:solidFill>
            <a:prstDash val="solid"/>
          </a:ln>
        </p:spPr>
      </p:sp>
      <p:sp>
        <p:nvSpPr>
          <p:cNvPr id="10" name="">
            <a:extLst xmlns:a="http://schemas.openxmlformats.org/drawingml/2006/main">
              <a:ext uri="{FF2B5EF4-FFF2-40B4-BE49-F238E27FC236}">
                <a16:creationId xmlns:a16="http://schemas.microsoft.com/office/drawing/2014/main" id="{7823883D-F994-4CF0-8BBE-BF627B3B4DB3}"/>
              </a:ext>
            </a:extLst>
          </p:cNvPr>
          <p:cNvSpPr>
            <a:spLocks xmlns:a="http://schemas.openxmlformats.org/drawingml/2006/main" noGrp="1"/>
          </p:cNvSpPr>
          <p:nvPr/>
        </p:nvSpPr>
        <p:spPr>
          <a:xfrm xmlns:a="http://schemas.openxmlformats.org/drawingml/2006/main">
            <a:off x="857250" y="5600700"/>
            <a:ext cx="23241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001B30"/>
                </a:solidFill>
                <a:latin typeface="Inter"/>
                <a:ea typeface="Inter"/>
                <a:cs typeface="Inter"/>
              </a:defRPr>
            </a:pPr>
            <a:r>
              <a:rPr sz="900" b="1">
                <a:solidFill>
                  <a:srgbClr val="001B30"/>
                </a:solidFill>
                <a:latin typeface="Inter"/>
                <a:ea typeface="Inter"/>
                <a:cs typeface="Inter"/>
              </a:rPr>
              <a:t>Primitive-level fitment</a:t>
            </a:r>
          </a:p>
        </p:txBody>
      </p:sp>
      <p:sp>
        <p:nvSpPr>
          <p:cNvPr id="11" name="">
            <a:extLst xmlns:a="http://schemas.openxmlformats.org/drawingml/2006/main">
              <a:ext uri="{FF2B5EF4-FFF2-40B4-BE49-F238E27FC236}">
                <a16:creationId xmlns:a16="http://schemas.microsoft.com/office/drawing/2014/main" id="{2E3C53D9-C099-4727-BDDF-9752170C9553}"/>
              </a:ext>
            </a:extLst>
          </p:cNvPr>
          <p:cNvSpPr>
            <a:spLocks xmlns:a="http://schemas.openxmlformats.org/drawingml/2006/main" noGrp="1"/>
          </p:cNvSpPr>
          <p:nvPr/>
        </p:nvSpPr>
        <p:spPr>
          <a:xfrm xmlns:a="http://schemas.openxmlformats.org/drawingml/2006/main">
            <a:off x="3429000" y="5543550"/>
            <a:ext cx="2514600" cy="285750"/>
          </a:xfrm>
          <a:prstGeom xmlns:a="http://schemas.openxmlformats.org/drawingml/2006/main" prst="roundRect">
            <a:avLst>
              <a:gd name="adj" fmla="val 26667"/>
            </a:avLst>
          </a:prstGeom>
          <a:solidFill xmlns:a="http://schemas.openxmlformats.org/drawingml/2006/main">
            <a:srgbClr val="E5F2FB"/>
          </a:solidFill>
          <a:ln xmlns:a="http://schemas.openxmlformats.org/drawingml/2006/main" w="9525">
            <a:solidFill>
              <a:srgbClr val="0C3B5B"/>
            </a:solidFill>
            <a:prstDash val="solid"/>
          </a:ln>
        </p:spPr>
      </p:sp>
      <p:sp>
        <p:nvSpPr>
          <p:cNvPr id="12" name="">
            <a:extLst xmlns:a="http://schemas.openxmlformats.org/drawingml/2006/main">
              <a:ext uri="{FF2B5EF4-FFF2-40B4-BE49-F238E27FC236}">
                <a16:creationId xmlns:a16="http://schemas.microsoft.com/office/drawing/2014/main" id="{A273D6EC-45E4-4368-BBBA-C502EC63A79F}"/>
              </a:ext>
            </a:extLst>
          </p:cNvPr>
          <p:cNvSpPr>
            <a:spLocks xmlns:a="http://schemas.openxmlformats.org/drawingml/2006/main" noGrp="1"/>
          </p:cNvSpPr>
          <p:nvPr/>
        </p:nvSpPr>
        <p:spPr>
          <a:xfrm xmlns:a="http://schemas.openxmlformats.org/drawingml/2006/main">
            <a:off x="3524250" y="5600700"/>
            <a:ext cx="23241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001B30"/>
                </a:solidFill>
                <a:latin typeface="Inter"/>
                <a:ea typeface="Inter"/>
                <a:cs typeface="Inter"/>
              </a:defRPr>
            </a:pPr>
            <a:r>
              <a:rPr sz="900" b="1">
                <a:solidFill>
                  <a:srgbClr val="001B30"/>
                </a:solidFill>
                <a:latin typeface="Inter"/>
                <a:ea typeface="Inter"/>
                <a:cs typeface="Inter"/>
              </a:rPr>
              <a:t>Evidence and assumptions</a:t>
            </a:r>
          </a:p>
        </p:txBody>
      </p:sp>
      <p:sp>
        <p:nvSpPr>
          <p:cNvPr id="13" name="">
            <a:extLst xmlns:a="http://schemas.openxmlformats.org/drawingml/2006/main">
              <a:ext uri="{FF2B5EF4-FFF2-40B4-BE49-F238E27FC236}">
                <a16:creationId xmlns:a16="http://schemas.microsoft.com/office/drawing/2014/main" id="{9F145B63-98BA-4516-8C83-7A821F7CE9B3}"/>
              </a:ext>
            </a:extLst>
          </p:cNvPr>
          <p:cNvSpPr>
            <a:spLocks xmlns:a="http://schemas.openxmlformats.org/drawingml/2006/main" noGrp="1"/>
          </p:cNvSpPr>
          <p:nvPr/>
        </p:nvSpPr>
        <p:spPr>
          <a:xfrm xmlns:a="http://schemas.openxmlformats.org/drawingml/2006/main">
            <a:off x="6096000" y="5543550"/>
            <a:ext cx="2514600" cy="285750"/>
          </a:xfrm>
          <a:prstGeom xmlns:a="http://schemas.openxmlformats.org/drawingml/2006/main" prst="roundRect">
            <a:avLst>
              <a:gd name="adj" fmla="val 26667"/>
            </a:avLst>
          </a:prstGeom>
          <a:solidFill xmlns:a="http://schemas.openxmlformats.org/drawingml/2006/main">
            <a:srgbClr val="FFF4D6"/>
          </a:solidFill>
          <a:ln xmlns:a="http://schemas.openxmlformats.org/drawingml/2006/main" w="9525">
            <a:solidFill>
              <a:srgbClr val="FFBC03"/>
            </a:solidFill>
            <a:prstDash val="solid"/>
          </a:ln>
        </p:spPr>
      </p:sp>
      <p:sp>
        <p:nvSpPr>
          <p:cNvPr id="14" name="">
            <a:extLst xmlns:a="http://schemas.openxmlformats.org/drawingml/2006/main">
              <a:ext uri="{FF2B5EF4-FFF2-40B4-BE49-F238E27FC236}">
                <a16:creationId xmlns:a16="http://schemas.microsoft.com/office/drawing/2014/main" id="{78D0DF87-D023-44FE-A596-5CADF6F00478}"/>
              </a:ext>
            </a:extLst>
          </p:cNvPr>
          <p:cNvSpPr>
            <a:spLocks xmlns:a="http://schemas.openxmlformats.org/drawingml/2006/main" noGrp="1"/>
          </p:cNvSpPr>
          <p:nvPr/>
        </p:nvSpPr>
        <p:spPr>
          <a:xfrm xmlns:a="http://schemas.openxmlformats.org/drawingml/2006/main">
            <a:off x="6191250" y="5600700"/>
            <a:ext cx="23241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001B30"/>
                </a:solidFill>
                <a:latin typeface="Inter"/>
                <a:ea typeface="Inter"/>
                <a:cs typeface="Inter"/>
              </a:defRPr>
            </a:pPr>
            <a:r>
              <a:rPr sz="900" b="1">
                <a:solidFill>
                  <a:srgbClr val="001B30"/>
                </a:solidFill>
                <a:latin typeface="Inter"/>
                <a:ea typeface="Inter"/>
                <a:cs typeface="Inter"/>
              </a:rPr>
              <a:t>Action-specific controls</a:t>
            </a:r>
          </a:p>
        </p:txBody>
      </p:sp>
      <p:sp>
        <p:nvSpPr>
          <p:cNvPr id="15" name="">
            <a:extLst xmlns:a="http://schemas.openxmlformats.org/drawingml/2006/main">
              <a:ext uri="{FF2B5EF4-FFF2-40B4-BE49-F238E27FC236}">
                <a16:creationId xmlns:a16="http://schemas.microsoft.com/office/drawing/2014/main" id="{116D1FBF-B6FA-4600-A3E0-2CDBE5BD395A}"/>
              </a:ext>
            </a:extLst>
          </p:cNvPr>
          <p:cNvSpPr>
            <a:spLocks xmlns:a="http://schemas.openxmlformats.org/drawingml/2006/main" noGrp="1"/>
          </p:cNvSpPr>
          <p:nvPr/>
        </p:nvSpPr>
        <p:spPr>
          <a:xfrm xmlns:a="http://schemas.openxmlformats.org/drawingml/2006/main">
            <a:off x="8763000" y="5543550"/>
            <a:ext cx="2514600" cy="285750"/>
          </a:xfrm>
          <a:prstGeom xmlns:a="http://schemas.openxmlformats.org/drawingml/2006/main" prst="roundRect">
            <a:avLst>
              <a:gd name="adj" fmla="val 26667"/>
            </a:avLst>
          </a:prstGeom>
          <a:solidFill xmlns:a="http://schemas.openxmlformats.org/drawingml/2006/main">
            <a:srgbClr val="E5F2FB"/>
          </a:solidFill>
          <a:ln xmlns:a="http://schemas.openxmlformats.org/drawingml/2006/main" w="9525">
            <a:solidFill>
              <a:srgbClr val="0C3B5B"/>
            </a:solidFill>
            <a:prstDash val="solid"/>
          </a:ln>
        </p:spPr>
      </p:sp>
      <p:sp>
        <p:nvSpPr>
          <p:cNvPr id="16" name="">
            <a:extLst xmlns:a="http://schemas.openxmlformats.org/drawingml/2006/main">
              <a:ext uri="{FF2B5EF4-FFF2-40B4-BE49-F238E27FC236}">
                <a16:creationId xmlns:a16="http://schemas.microsoft.com/office/drawing/2014/main" id="{374487A6-4BC0-4EC1-8F58-803F963480CD}"/>
              </a:ext>
            </a:extLst>
          </p:cNvPr>
          <p:cNvSpPr>
            <a:spLocks xmlns:a="http://schemas.openxmlformats.org/drawingml/2006/main" noGrp="1"/>
          </p:cNvSpPr>
          <p:nvPr/>
        </p:nvSpPr>
        <p:spPr>
          <a:xfrm xmlns:a="http://schemas.openxmlformats.org/drawingml/2006/main">
            <a:off x="8858250" y="5600700"/>
            <a:ext cx="23241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001B30"/>
                </a:solidFill>
                <a:latin typeface="Inter"/>
                <a:ea typeface="Inter"/>
                <a:cs typeface="Inter"/>
              </a:defRPr>
            </a:pPr>
            <a:r>
              <a:rPr sz="900" b="1">
                <a:solidFill>
                  <a:srgbClr val="001B30"/>
                </a:solidFill>
                <a:latin typeface="Inter"/>
                <a:ea typeface="Inter"/>
                <a:cs typeface="Inter"/>
              </a:rPr>
              <a:t>Human-owned approval</a:t>
            </a:r>
          </a:p>
        </p:txBody>
      </p:sp>
      <p:sp>
        <p:nvSpPr>
          <p:cNvPr id="17" name="">
            <a:extLst xmlns:a="http://schemas.openxmlformats.org/drawingml/2006/main">
              <a:ext uri="{FF2B5EF4-FFF2-40B4-BE49-F238E27FC236}">
                <a16:creationId xmlns:a16="http://schemas.microsoft.com/office/drawing/2014/main" id="{FE8D0989-8855-4070-907D-C2E350DB9426}"/>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Decision Before Execution • Automation, AI, transformation, process excellence, architecture, and consulting leaders</a:t>
            </a:r>
          </a:p>
        </p:txBody>
      </p:sp>
      <p:sp>
        <p:nvSpPr>
          <p:cNvPr id="18" name="">
            <a:extLst xmlns:a="http://schemas.openxmlformats.org/drawingml/2006/main">
              <a:ext uri="{FF2B5EF4-FFF2-40B4-BE49-F238E27FC236}">
                <a16:creationId xmlns:a16="http://schemas.microsoft.com/office/drawing/2014/main" id="{E8C48EFD-41AD-46B3-A0EB-1356A4941F17}"/>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Source/CI authority; not hosted, pilot, or production proof.</a:t>
            </a:r>
          </a:p>
        </p:txBody>
      </p:sp>
      <p:sp>
        <p:nvSpPr>
          <p:cNvPr id="19" name="">
            <a:extLst xmlns:a="http://schemas.openxmlformats.org/drawingml/2006/main">
              <a:ext uri="{FF2B5EF4-FFF2-40B4-BE49-F238E27FC236}">
                <a16:creationId xmlns:a16="http://schemas.microsoft.com/office/drawing/2014/main" id="{4C917DD9-E3E2-4499-96A5-B91088A87F8E}"/>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05</a:t>
            </a:r>
          </a:p>
        </p:txBody>
      </p:sp>
    </p:spTree>
    <p:extLst>
      <p:ext uri="{BB962C8B-B14F-4D97-AF65-F5344CB8AC3E}">
        <p14:creationId xmlns:p14="http://schemas.microsoft.com/office/powerpoint/2010/main" val="245573286"/>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0F0D8CD-2602-469D-8D6B-201DCF2F43B1}"/>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4BBD5C2-A15C-410F-8032-0FB550EFDEB4}"/>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AVALA STUDIO</a:t>
            </a:r>
          </a:p>
        </p:txBody>
      </p:sp>
      <p:sp>
        <p:nvSpPr>
          <p:cNvPr id="3" name="">
            <a:extLst xmlns:a="http://schemas.openxmlformats.org/drawingml/2006/main">
              <a:ext uri="{FF2B5EF4-FFF2-40B4-BE49-F238E27FC236}">
                <a16:creationId xmlns:a16="http://schemas.microsoft.com/office/drawing/2014/main" id="{594B61A0-E548-4365-AD24-25EDF52A274E}"/>
              </a:ext>
            </a:extLst>
          </p:cNvPr>
          <p:cNvSpPr>
            <a:spLocks xmlns:a="http://schemas.openxmlformats.org/drawingml/2006/main" noGrp="1"/>
          </p:cNvSpPr>
          <p:nvPr/>
        </p:nvSpPr>
        <p:spPr>
          <a:xfrm xmlns:a="http://schemas.openxmlformats.org/drawingml/2006/main">
            <a:off x="609600" y="619125"/>
            <a:ext cx="106680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Approved context becomes an artifact people can revise and approve.</a:t>
            </a:r>
          </a:p>
        </p:txBody>
      </p:sp>
      <p:sp>
        <p:nvSpPr>
          <p:cNvPr id="4" name="">
            <a:extLst xmlns:a="http://schemas.openxmlformats.org/drawingml/2006/main">
              <a:ext uri="{FF2B5EF4-FFF2-40B4-BE49-F238E27FC236}">
                <a16:creationId xmlns:a16="http://schemas.microsoft.com/office/drawing/2014/main" id="{5157EF7A-3EB9-4BB3-A7B9-E21544FE21F7}"/>
              </a:ext>
            </a:extLst>
          </p:cNvPr>
          <p:cNvSpPr>
            <a:spLocks xmlns:a="http://schemas.openxmlformats.org/drawingml/2006/main" noGrp="1"/>
          </p:cNvSpPr>
          <p:nvPr/>
        </p:nvSpPr>
        <p:spPr>
          <a:xfrm xmlns:a="http://schemas.openxmlformats.org/drawingml/2006/main">
            <a:off x="4705350" y="1657350"/>
            <a:ext cx="6934200" cy="4305300"/>
          </a:xfrm>
          <a:prstGeom xmlns:a="http://schemas.openxmlformats.org/drawingml/2006/main" prst="roundRect">
            <a:avLst>
              <a:gd name="adj" fmla="val 1770"/>
            </a:avLst>
          </a:prstGeom>
          <a:solidFill xmlns:a="http://schemas.openxmlformats.org/drawingml/2006/main">
            <a:srgbClr val="FFFFFF"/>
          </a:solidFill>
          <a:ln xmlns:a="http://schemas.openxmlformats.org/drawingml/2006/main" w="9525">
            <a:solidFill>
              <a:srgbClr val="D7E0E8"/>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2846d9225ad84f70"/>
          <a:srcRect xmlns:a="http://schemas.openxmlformats.org/drawingml/2006/main" l="0" t="9373" r="0" b="9373"/>
          <a:stretch xmlns:a="http://schemas.openxmlformats.org/drawingml/2006/main">
            <a:fillRect l="0" t="0" r="0" b="0"/>
          </a:stretch>
        </p:blipFill>
        <p:spPr>
          <a:xfrm xmlns:a="http://schemas.openxmlformats.org/drawingml/2006/main">
            <a:off x="4762500" y="1714500"/>
            <a:ext cx="6819900" cy="4191000"/>
          </a:xfrm>
          <a:prstGeom xmlns:a="http://schemas.openxmlformats.org/drawingml/2006/main" prst="roundRect">
            <a:avLst>
              <a:gd name="adj" fmla="val 2727"/>
            </a:avLst>
          </a:prstGeom>
        </p:spPr>
      </p:pic>
      <p:sp>
        <p:nvSpPr>
          <p:cNvPr id="6" name="">
            <a:extLst xmlns:a="http://schemas.openxmlformats.org/drawingml/2006/main">
              <a:ext uri="{FF2B5EF4-FFF2-40B4-BE49-F238E27FC236}">
                <a16:creationId xmlns:a16="http://schemas.microsoft.com/office/drawing/2014/main" id="{49B42930-4229-45E2-9C2D-57F3300C1BF5}"/>
              </a:ext>
            </a:extLst>
          </p:cNvPr>
          <p:cNvSpPr>
            <a:spLocks xmlns:a="http://schemas.openxmlformats.org/drawingml/2006/main" noGrp="1"/>
          </p:cNvSpPr>
          <p:nvPr/>
        </p:nvSpPr>
        <p:spPr>
          <a:xfrm xmlns:a="http://schemas.openxmlformats.org/drawingml/2006/main">
            <a:off x="685800" y="20002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57BF8EE7-9B71-449F-B040-1C41C4690F9B}"/>
              </a:ext>
            </a:extLst>
          </p:cNvPr>
          <p:cNvSpPr>
            <a:spLocks xmlns:a="http://schemas.openxmlformats.org/drawingml/2006/main" noGrp="1"/>
          </p:cNvSpPr>
          <p:nvPr/>
        </p:nvSpPr>
        <p:spPr>
          <a:xfrm xmlns:a="http://schemas.openxmlformats.org/drawingml/2006/main">
            <a:off x="914400" y="192405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BRD</a:t>
            </a:r>
          </a:p>
        </p:txBody>
      </p:sp>
      <p:sp>
        <p:nvSpPr>
          <p:cNvPr id="8" name="">
            <a:extLst xmlns:a="http://schemas.openxmlformats.org/drawingml/2006/main">
              <a:ext uri="{FF2B5EF4-FFF2-40B4-BE49-F238E27FC236}">
                <a16:creationId xmlns:a16="http://schemas.microsoft.com/office/drawing/2014/main" id="{EFA62259-5069-44FA-BDE7-A38EB260161B}"/>
              </a:ext>
            </a:extLst>
          </p:cNvPr>
          <p:cNvSpPr>
            <a:spLocks xmlns:a="http://schemas.openxmlformats.org/drawingml/2006/main" noGrp="1"/>
          </p:cNvSpPr>
          <p:nvPr/>
        </p:nvSpPr>
        <p:spPr>
          <a:xfrm xmlns:a="http://schemas.openxmlformats.org/drawingml/2006/main">
            <a:off x="685800" y="25146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F221A7BC-8C94-4164-A551-53AFC0C44DE4}"/>
              </a:ext>
            </a:extLst>
          </p:cNvPr>
          <p:cNvSpPr>
            <a:spLocks xmlns:a="http://schemas.openxmlformats.org/drawingml/2006/main" noGrp="1"/>
          </p:cNvSpPr>
          <p:nvPr/>
        </p:nvSpPr>
        <p:spPr>
          <a:xfrm xmlns:a="http://schemas.openxmlformats.org/drawingml/2006/main">
            <a:off x="914400" y="243840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FRD</a:t>
            </a:r>
          </a:p>
        </p:txBody>
      </p:sp>
      <p:sp>
        <p:nvSpPr>
          <p:cNvPr id="10" name="">
            <a:extLst xmlns:a="http://schemas.openxmlformats.org/drawingml/2006/main">
              <a:ext uri="{FF2B5EF4-FFF2-40B4-BE49-F238E27FC236}">
                <a16:creationId xmlns:a16="http://schemas.microsoft.com/office/drawing/2014/main" id="{B2438239-985C-4D40-B28A-2AAAEA162536}"/>
              </a:ext>
            </a:extLst>
          </p:cNvPr>
          <p:cNvSpPr>
            <a:spLocks xmlns:a="http://schemas.openxmlformats.org/drawingml/2006/main" noGrp="1"/>
          </p:cNvSpPr>
          <p:nvPr/>
        </p:nvSpPr>
        <p:spPr>
          <a:xfrm xmlns:a="http://schemas.openxmlformats.org/drawingml/2006/main">
            <a:off x="685800" y="30289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97B09363-2830-4461-9B7F-CF62BA51AE5D}"/>
              </a:ext>
            </a:extLst>
          </p:cNvPr>
          <p:cNvSpPr>
            <a:spLocks xmlns:a="http://schemas.openxmlformats.org/drawingml/2006/main" noGrp="1"/>
          </p:cNvSpPr>
          <p:nvPr/>
        </p:nvSpPr>
        <p:spPr>
          <a:xfrm xmlns:a="http://schemas.openxmlformats.org/drawingml/2006/main">
            <a:off x="914400" y="295275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PDD</a:t>
            </a:r>
          </a:p>
        </p:txBody>
      </p:sp>
      <p:sp>
        <p:nvSpPr>
          <p:cNvPr id="12" name="">
            <a:extLst xmlns:a="http://schemas.openxmlformats.org/drawingml/2006/main">
              <a:ext uri="{FF2B5EF4-FFF2-40B4-BE49-F238E27FC236}">
                <a16:creationId xmlns:a16="http://schemas.microsoft.com/office/drawing/2014/main" id="{7C70F398-1819-4E3B-9B26-7BE37D3C7E45}"/>
              </a:ext>
            </a:extLst>
          </p:cNvPr>
          <p:cNvSpPr>
            <a:spLocks xmlns:a="http://schemas.openxmlformats.org/drawingml/2006/main" noGrp="1"/>
          </p:cNvSpPr>
          <p:nvPr/>
        </p:nvSpPr>
        <p:spPr>
          <a:xfrm xmlns:a="http://schemas.openxmlformats.org/drawingml/2006/main">
            <a:off x="685800" y="35433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2FA9CC42-6F80-4DBA-BAED-AA96D9A4100C}"/>
              </a:ext>
            </a:extLst>
          </p:cNvPr>
          <p:cNvSpPr>
            <a:spLocks xmlns:a="http://schemas.openxmlformats.org/drawingml/2006/main" noGrp="1"/>
          </p:cNvSpPr>
          <p:nvPr/>
        </p:nvSpPr>
        <p:spPr>
          <a:xfrm xmlns:a="http://schemas.openxmlformats.org/drawingml/2006/main">
            <a:off x="914400" y="346710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Immutable revisions</a:t>
            </a:r>
          </a:p>
        </p:txBody>
      </p:sp>
      <p:sp>
        <p:nvSpPr>
          <p:cNvPr id="14" name="">
            <a:extLst xmlns:a="http://schemas.openxmlformats.org/drawingml/2006/main">
              <a:ext uri="{FF2B5EF4-FFF2-40B4-BE49-F238E27FC236}">
                <a16:creationId xmlns:a16="http://schemas.microsoft.com/office/drawing/2014/main" id="{045C4400-5883-4E29-A722-C0B2E8D11EEE}"/>
              </a:ext>
            </a:extLst>
          </p:cNvPr>
          <p:cNvSpPr>
            <a:spLocks xmlns:a="http://schemas.openxmlformats.org/drawingml/2006/main" noGrp="1"/>
          </p:cNvSpPr>
          <p:nvPr/>
        </p:nvSpPr>
        <p:spPr>
          <a:xfrm xmlns:a="http://schemas.openxmlformats.org/drawingml/2006/main">
            <a:off x="685800" y="40576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78D4C037-B4FB-4D41-9FBB-9E6860709AD9}"/>
              </a:ext>
            </a:extLst>
          </p:cNvPr>
          <p:cNvSpPr>
            <a:spLocks xmlns:a="http://schemas.openxmlformats.org/drawingml/2006/main" noGrp="1"/>
          </p:cNvSpPr>
          <p:nvPr/>
        </p:nvSpPr>
        <p:spPr>
          <a:xfrm xmlns:a="http://schemas.openxmlformats.org/drawingml/2006/main">
            <a:off x="914400" y="398145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Independent review</a:t>
            </a:r>
          </a:p>
        </p:txBody>
      </p:sp>
      <p:sp>
        <p:nvSpPr>
          <p:cNvPr id="16" name="">
            <a:extLst xmlns:a="http://schemas.openxmlformats.org/drawingml/2006/main">
              <a:ext uri="{FF2B5EF4-FFF2-40B4-BE49-F238E27FC236}">
                <a16:creationId xmlns:a16="http://schemas.microsoft.com/office/drawing/2014/main" id="{37F792F8-3AD7-4836-8AC8-700A2C697701}"/>
              </a:ext>
            </a:extLst>
          </p:cNvPr>
          <p:cNvSpPr>
            <a:spLocks xmlns:a="http://schemas.openxmlformats.org/drawingml/2006/main" noGrp="1"/>
          </p:cNvSpPr>
          <p:nvPr/>
        </p:nvSpPr>
        <p:spPr>
          <a:xfrm xmlns:a="http://schemas.openxmlformats.org/drawingml/2006/main">
            <a:off x="685800" y="45720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F6EEFD9E-387A-46AC-9A76-B20D024B872F}"/>
              </a:ext>
            </a:extLst>
          </p:cNvPr>
          <p:cNvSpPr>
            <a:spLocks xmlns:a="http://schemas.openxmlformats.org/drawingml/2006/main" noGrp="1"/>
          </p:cNvSpPr>
          <p:nvPr/>
        </p:nvSpPr>
        <p:spPr>
          <a:xfrm xmlns:a="http://schemas.openxmlformats.org/drawingml/2006/main">
            <a:off x="914400" y="449580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Separate final approval</a:t>
            </a:r>
          </a:p>
        </p:txBody>
      </p:sp>
      <p:sp>
        <p:nvSpPr>
          <p:cNvPr id="18" name="">
            <a:extLst xmlns:a="http://schemas.openxmlformats.org/drawingml/2006/main">
              <a:ext uri="{FF2B5EF4-FFF2-40B4-BE49-F238E27FC236}">
                <a16:creationId xmlns:a16="http://schemas.microsoft.com/office/drawing/2014/main" id="{BE105960-2AB7-474D-A6F2-453C0E72F3B9}"/>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Decision Before Execution • Automation, AI, transformation, process excellence, architecture, and consulting leaders</a:t>
            </a:r>
          </a:p>
        </p:txBody>
      </p:sp>
      <p:sp>
        <p:nvSpPr>
          <p:cNvPr id="19" name="">
            <a:extLst xmlns:a="http://schemas.openxmlformats.org/drawingml/2006/main">
              <a:ext uri="{FF2B5EF4-FFF2-40B4-BE49-F238E27FC236}">
                <a16:creationId xmlns:a16="http://schemas.microsoft.com/office/drawing/2014/main" id="{A045383B-A5B8-4050-A20F-D2C00B4E38A9}"/>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Common enterprise artifacts. Studio private files and brokered download remain candidate-only.</a:t>
            </a:r>
          </a:p>
        </p:txBody>
      </p:sp>
      <p:sp>
        <p:nvSpPr>
          <p:cNvPr id="20" name="">
            <a:extLst xmlns:a="http://schemas.openxmlformats.org/drawingml/2006/main">
              <a:ext uri="{FF2B5EF4-FFF2-40B4-BE49-F238E27FC236}">
                <a16:creationId xmlns:a16="http://schemas.microsoft.com/office/drawing/2014/main" id="{67660339-006B-4C48-9B3E-F4CA50BFCCDF}"/>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06</a:t>
            </a:r>
          </a:p>
        </p:txBody>
      </p:sp>
    </p:spTree>
    <p:extLst>
      <p:ext uri="{BB962C8B-B14F-4D97-AF65-F5344CB8AC3E}">
        <p14:creationId xmlns:p14="http://schemas.microsoft.com/office/powerpoint/2010/main" val="917391481"/>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910DB79-BE05-412B-A1BD-DF557EC01524}"/>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50F2E09-A3D4-4605-A8E6-E4E4B095D4D1}"/>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DELIVERY + MONITOR</a:t>
            </a:r>
          </a:p>
        </p:txBody>
      </p:sp>
      <p:sp>
        <p:nvSpPr>
          <p:cNvPr id="3" name="">
            <a:extLst xmlns:a="http://schemas.openxmlformats.org/drawingml/2006/main">
              <a:ext uri="{FF2B5EF4-FFF2-40B4-BE49-F238E27FC236}">
                <a16:creationId xmlns:a16="http://schemas.microsoft.com/office/drawing/2014/main" id="{BD7F6C6D-6CC8-4035-98EA-78E2FD0BEC29}"/>
              </a:ext>
            </a:extLst>
          </p:cNvPr>
          <p:cNvSpPr>
            <a:spLocks xmlns:a="http://schemas.openxmlformats.org/drawingml/2006/main" noGrp="1"/>
          </p:cNvSpPr>
          <p:nvPr/>
        </p:nvSpPr>
        <p:spPr>
          <a:xfrm xmlns:a="http://schemas.openxmlformats.org/drawingml/2006/main">
            <a:off x="609600" y="619125"/>
            <a:ext cx="10287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Approved context reaches delivery without losing the why.</a:t>
            </a:r>
          </a:p>
        </p:txBody>
      </p:sp>
      <p:sp>
        <p:nvSpPr>
          <p:cNvPr id="4" name="">
            <a:extLst xmlns:a="http://schemas.openxmlformats.org/drawingml/2006/main">
              <a:ext uri="{FF2B5EF4-FFF2-40B4-BE49-F238E27FC236}">
                <a16:creationId xmlns:a16="http://schemas.microsoft.com/office/drawing/2014/main" id="{1EDD4E8C-CEA5-4974-A7C1-68AA2A81E8A9}"/>
              </a:ext>
            </a:extLst>
          </p:cNvPr>
          <p:cNvSpPr>
            <a:spLocks xmlns:a="http://schemas.openxmlformats.org/drawingml/2006/main" noGrp="1"/>
          </p:cNvSpPr>
          <p:nvPr/>
        </p:nvSpPr>
        <p:spPr>
          <a:xfrm xmlns:a="http://schemas.openxmlformats.org/drawingml/2006/main">
            <a:off x="609600" y="1304925"/>
            <a:ext cx="109728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2627A"/>
                </a:solidFill>
                <a:latin typeface="Inter"/>
                <a:ea typeface="Inter"/>
                <a:cs typeface="Inter"/>
              </a:defRPr>
            </a:pPr>
            <a:r>
              <a:rPr sz="1275" b="0">
                <a:solidFill>
                  <a:srgbClr val="52627A"/>
                </a:solidFill>
                <a:latin typeface="Inter"/>
                <a:ea typeface="Inter"/>
                <a:cs typeface="Inter"/>
              </a:rPr>
              <a:t>One governed handoff prepares source-linked work in Delivery. Monitor provides readiness, risk, blocker, lineage, and recorded-outcome visibility.</a:t>
            </a:r>
          </a:p>
        </p:txBody>
      </p:sp>
      <p:sp>
        <p:nvSpPr>
          <p:cNvPr id="5" name="">
            <a:extLst xmlns:a="http://schemas.openxmlformats.org/drawingml/2006/main">
              <a:ext uri="{FF2B5EF4-FFF2-40B4-BE49-F238E27FC236}">
                <a16:creationId xmlns:a16="http://schemas.microsoft.com/office/drawing/2014/main" id="{BC33F430-528F-46B2-BD01-3FC301BAFAA2}"/>
              </a:ext>
            </a:extLst>
          </p:cNvPr>
          <p:cNvSpPr>
            <a:spLocks xmlns:a="http://schemas.openxmlformats.org/drawingml/2006/main" noGrp="1"/>
          </p:cNvSpPr>
          <p:nvPr/>
        </p:nvSpPr>
        <p:spPr>
          <a:xfrm xmlns:a="http://schemas.openxmlformats.org/drawingml/2006/main">
            <a:off x="552450" y="1943100"/>
            <a:ext cx="5353050" cy="3400425"/>
          </a:xfrm>
          <a:prstGeom xmlns:a="http://schemas.openxmlformats.org/drawingml/2006/main" prst="roundRect">
            <a:avLst>
              <a:gd name="adj" fmla="val 2241"/>
            </a:avLst>
          </a:prstGeom>
          <a:solidFill xmlns:a="http://schemas.openxmlformats.org/drawingml/2006/main">
            <a:srgbClr val="FFFFFF"/>
          </a:solidFill>
          <a:ln xmlns:a="http://schemas.openxmlformats.org/drawingml/2006/main" w="9525">
            <a:solidFill>
              <a:srgbClr val="D7E0E8"/>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13ae6c250ecf47d3"/>
          <a:srcRect xmlns:a="http://schemas.openxmlformats.org/drawingml/2006/main" l="0" t="8530" r="0" b="8530"/>
          <a:stretch xmlns:a="http://schemas.openxmlformats.org/drawingml/2006/main">
            <a:fillRect l="0" t="0" r="0" b="0"/>
          </a:stretch>
        </p:blipFill>
        <p:spPr>
          <a:xfrm xmlns:a="http://schemas.openxmlformats.org/drawingml/2006/main">
            <a:off x="609600" y="2000250"/>
            <a:ext cx="5238750" cy="3286125"/>
          </a:xfrm>
          <a:prstGeom xmlns:a="http://schemas.openxmlformats.org/drawingml/2006/main" prst="roundRect">
            <a:avLst>
              <a:gd name="adj" fmla="val 3478"/>
            </a:avLst>
          </a:prstGeom>
        </p:spPr>
      </p:pic>
      <p:sp>
        <p:nvSpPr>
          <p:cNvPr id="7" name="">
            <a:extLst xmlns:a="http://schemas.openxmlformats.org/drawingml/2006/main">
              <a:ext uri="{FF2B5EF4-FFF2-40B4-BE49-F238E27FC236}">
                <a16:creationId xmlns:a16="http://schemas.microsoft.com/office/drawing/2014/main" id="{E9641158-9746-47FF-A915-145D45507326}"/>
              </a:ext>
            </a:extLst>
          </p:cNvPr>
          <p:cNvSpPr>
            <a:spLocks xmlns:a="http://schemas.openxmlformats.org/drawingml/2006/main" noGrp="1"/>
          </p:cNvSpPr>
          <p:nvPr/>
        </p:nvSpPr>
        <p:spPr>
          <a:xfrm xmlns:a="http://schemas.openxmlformats.org/drawingml/2006/main">
            <a:off x="6286500" y="1943100"/>
            <a:ext cx="5353050" cy="3400425"/>
          </a:xfrm>
          <a:prstGeom xmlns:a="http://schemas.openxmlformats.org/drawingml/2006/main" prst="roundRect">
            <a:avLst>
              <a:gd name="adj" fmla="val 2241"/>
            </a:avLst>
          </a:prstGeom>
          <a:solidFill xmlns:a="http://schemas.openxmlformats.org/drawingml/2006/main">
            <a:srgbClr val="FFFFFF"/>
          </a:solidFill>
          <a:ln xmlns:a="http://schemas.openxmlformats.org/drawingml/2006/main" w="9525">
            <a:solidFill>
              <a:srgbClr val="D7E0E8"/>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c97a9b92527045af"/>
          <a:srcRect xmlns:a="http://schemas.openxmlformats.org/drawingml/2006/main" l="0" t="8530" r="0" b="8530"/>
          <a:stretch xmlns:a="http://schemas.openxmlformats.org/drawingml/2006/main">
            <a:fillRect l="0" t="0" r="0" b="0"/>
          </a:stretch>
        </p:blipFill>
        <p:spPr>
          <a:xfrm xmlns:a="http://schemas.openxmlformats.org/drawingml/2006/main">
            <a:off x="6343650" y="2000250"/>
            <a:ext cx="5238750" cy="3286125"/>
          </a:xfrm>
          <a:prstGeom xmlns:a="http://schemas.openxmlformats.org/drawingml/2006/main" prst="roundRect">
            <a:avLst>
              <a:gd name="adj" fmla="val 3478"/>
            </a:avLst>
          </a:prstGeom>
        </p:spPr>
      </p:pic>
      <p:sp>
        <p:nvSpPr>
          <p:cNvPr id="9" name="">
            <a:extLst xmlns:a="http://schemas.openxmlformats.org/drawingml/2006/main">
              <a:ext uri="{FF2B5EF4-FFF2-40B4-BE49-F238E27FC236}">
                <a16:creationId xmlns:a16="http://schemas.microsoft.com/office/drawing/2014/main" id="{B1A1F84D-972F-47A3-88D8-AA0ADBE2E8DE}"/>
              </a:ext>
            </a:extLst>
          </p:cNvPr>
          <p:cNvSpPr>
            <a:spLocks xmlns:a="http://schemas.openxmlformats.org/drawingml/2006/main" noGrp="1"/>
          </p:cNvSpPr>
          <p:nvPr/>
        </p:nvSpPr>
        <p:spPr>
          <a:xfrm xmlns:a="http://schemas.openxmlformats.org/drawingml/2006/main">
            <a:off x="762000" y="5543550"/>
            <a:ext cx="1981200" cy="285750"/>
          </a:xfrm>
          <a:prstGeom xmlns:a="http://schemas.openxmlformats.org/drawingml/2006/main" prst="roundRect">
            <a:avLst>
              <a:gd name="adj" fmla="val 26667"/>
            </a:avLst>
          </a:prstGeom>
          <a:solidFill xmlns:a="http://schemas.openxmlformats.org/drawingml/2006/main">
            <a:srgbClr val="FFF4D6"/>
          </a:solidFill>
          <a:ln xmlns:a="http://schemas.openxmlformats.org/drawingml/2006/main" w="9525">
            <a:solidFill>
              <a:srgbClr val="FFBC03"/>
            </a:solidFill>
            <a:prstDash val="solid"/>
          </a:ln>
        </p:spPr>
      </p:sp>
      <p:sp>
        <p:nvSpPr>
          <p:cNvPr id="10" name="">
            <a:extLst xmlns:a="http://schemas.openxmlformats.org/drawingml/2006/main">
              <a:ext uri="{FF2B5EF4-FFF2-40B4-BE49-F238E27FC236}">
                <a16:creationId xmlns:a16="http://schemas.microsoft.com/office/drawing/2014/main" id="{F7A45FDE-2C09-4957-9CD5-8115661675E9}"/>
              </a:ext>
            </a:extLst>
          </p:cNvPr>
          <p:cNvSpPr>
            <a:spLocks xmlns:a="http://schemas.openxmlformats.org/drawingml/2006/main" noGrp="1"/>
          </p:cNvSpPr>
          <p:nvPr/>
        </p:nvSpPr>
        <p:spPr>
          <a:xfrm xmlns:a="http://schemas.openxmlformats.org/drawingml/2006/main">
            <a:off x="857250" y="5600700"/>
            <a:ext cx="1790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001B30"/>
                </a:solidFill>
                <a:latin typeface="Inter"/>
                <a:ea typeface="Inter"/>
                <a:cs typeface="Inter"/>
              </a:defRPr>
            </a:pPr>
            <a:r>
              <a:rPr sz="900" b="1">
                <a:solidFill>
                  <a:srgbClr val="001B30"/>
                </a:solidFill>
                <a:latin typeface="Inter"/>
                <a:ea typeface="Inter"/>
                <a:cs typeface="Inter"/>
              </a:rPr>
              <a:t>Work items and tasks</a:t>
            </a:r>
          </a:p>
        </p:txBody>
      </p:sp>
      <p:sp>
        <p:nvSpPr>
          <p:cNvPr id="11" name="">
            <a:extLst xmlns:a="http://schemas.openxmlformats.org/drawingml/2006/main">
              <a:ext uri="{FF2B5EF4-FFF2-40B4-BE49-F238E27FC236}">
                <a16:creationId xmlns:a16="http://schemas.microsoft.com/office/drawing/2014/main" id="{A9120AB2-E4D7-443F-A0A5-820A5F72E79D}"/>
              </a:ext>
            </a:extLst>
          </p:cNvPr>
          <p:cNvSpPr>
            <a:spLocks xmlns:a="http://schemas.openxmlformats.org/drawingml/2006/main" noGrp="1"/>
          </p:cNvSpPr>
          <p:nvPr/>
        </p:nvSpPr>
        <p:spPr>
          <a:xfrm xmlns:a="http://schemas.openxmlformats.org/drawingml/2006/main">
            <a:off x="2895600" y="5543550"/>
            <a:ext cx="1981200" cy="285750"/>
          </a:xfrm>
          <a:prstGeom xmlns:a="http://schemas.openxmlformats.org/drawingml/2006/main" prst="roundRect">
            <a:avLst>
              <a:gd name="adj" fmla="val 26667"/>
            </a:avLst>
          </a:prstGeom>
          <a:solidFill xmlns:a="http://schemas.openxmlformats.org/drawingml/2006/main">
            <a:srgbClr val="E5F2FB"/>
          </a:solidFill>
          <a:ln xmlns:a="http://schemas.openxmlformats.org/drawingml/2006/main" w="9525">
            <a:solidFill>
              <a:srgbClr val="0C3B5B"/>
            </a:solidFill>
            <a:prstDash val="solid"/>
          </a:ln>
        </p:spPr>
      </p:sp>
      <p:sp>
        <p:nvSpPr>
          <p:cNvPr id="12" name="">
            <a:extLst xmlns:a="http://schemas.openxmlformats.org/drawingml/2006/main">
              <a:ext uri="{FF2B5EF4-FFF2-40B4-BE49-F238E27FC236}">
                <a16:creationId xmlns:a16="http://schemas.microsoft.com/office/drawing/2014/main" id="{0599D7E5-8FEB-4C79-B055-2A220ABED89C}"/>
              </a:ext>
            </a:extLst>
          </p:cNvPr>
          <p:cNvSpPr>
            <a:spLocks xmlns:a="http://schemas.openxmlformats.org/drawingml/2006/main" noGrp="1"/>
          </p:cNvSpPr>
          <p:nvPr/>
        </p:nvSpPr>
        <p:spPr>
          <a:xfrm xmlns:a="http://schemas.openxmlformats.org/drawingml/2006/main">
            <a:off x="2990850" y="5600700"/>
            <a:ext cx="1790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001B30"/>
                </a:solidFill>
                <a:latin typeface="Inter"/>
                <a:ea typeface="Inter"/>
                <a:cs typeface="Inter"/>
              </a:defRPr>
            </a:pPr>
            <a:r>
              <a:rPr sz="900" b="1">
                <a:solidFill>
                  <a:srgbClr val="001B30"/>
                </a:solidFill>
                <a:latin typeface="Inter"/>
                <a:ea typeface="Inter"/>
                <a:cs typeface="Inter"/>
              </a:rPr>
              <a:t>Acceptance context</a:t>
            </a:r>
          </a:p>
        </p:txBody>
      </p:sp>
      <p:sp>
        <p:nvSpPr>
          <p:cNvPr id="13" name="">
            <a:extLst xmlns:a="http://schemas.openxmlformats.org/drawingml/2006/main">
              <a:ext uri="{FF2B5EF4-FFF2-40B4-BE49-F238E27FC236}">
                <a16:creationId xmlns:a16="http://schemas.microsoft.com/office/drawing/2014/main" id="{B5089D67-F39E-4268-9DC3-EB2E173F88A5}"/>
              </a:ext>
            </a:extLst>
          </p:cNvPr>
          <p:cNvSpPr>
            <a:spLocks xmlns:a="http://schemas.openxmlformats.org/drawingml/2006/main" noGrp="1"/>
          </p:cNvSpPr>
          <p:nvPr/>
        </p:nvSpPr>
        <p:spPr>
          <a:xfrm xmlns:a="http://schemas.openxmlformats.org/drawingml/2006/main">
            <a:off x="5029200" y="5543550"/>
            <a:ext cx="1981200" cy="285750"/>
          </a:xfrm>
          <a:prstGeom xmlns:a="http://schemas.openxmlformats.org/drawingml/2006/main" prst="roundRect">
            <a:avLst>
              <a:gd name="adj" fmla="val 26667"/>
            </a:avLst>
          </a:prstGeom>
          <a:solidFill xmlns:a="http://schemas.openxmlformats.org/drawingml/2006/main">
            <a:srgbClr val="FFF4D6"/>
          </a:solidFill>
          <a:ln xmlns:a="http://schemas.openxmlformats.org/drawingml/2006/main" w="9525">
            <a:solidFill>
              <a:srgbClr val="FFBC03"/>
            </a:solidFill>
            <a:prstDash val="solid"/>
          </a:ln>
        </p:spPr>
      </p:sp>
      <p:sp>
        <p:nvSpPr>
          <p:cNvPr id="14" name="">
            <a:extLst xmlns:a="http://schemas.openxmlformats.org/drawingml/2006/main">
              <a:ext uri="{FF2B5EF4-FFF2-40B4-BE49-F238E27FC236}">
                <a16:creationId xmlns:a16="http://schemas.microsoft.com/office/drawing/2014/main" id="{3BC0C216-A5F6-4E82-8445-549B160A5943}"/>
              </a:ext>
            </a:extLst>
          </p:cNvPr>
          <p:cNvSpPr>
            <a:spLocks xmlns:a="http://schemas.openxmlformats.org/drawingml/2006/main" noGrp="1"/>
          </p:cNvSpPr>
          <p:nvPr/>
        </p:nvSpPr>
        <p:spPr>
          <a:xfrm xmlns:a="http://schemas.openxmlformats.org/drawingml/2006/main">
            <a:off x="5124450" y="5600700"/>
            <a:ext cx="1790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001B30"/>
                </a:solidFill>
                <a:latin typeface="Inter"/>
                <a:ea typeface="Inter"/>
                <a:cs typeface="Inter"/>
              </a:defRPr>
            </a:pPr>
            <a:r>
              <a:rPr sz="900" b="1">
                <a:solidFill>
                  <a:srgbClr val="001B30"/>
                </a:solidFill>
                <a:latin typeface="Inter"/>
                <a:ea typeface="Inter"/>
                <a:cs typeface="Inter"/>
              </a:rPr>
              <a:t>Owners and blockers</a:t>
            </a:r>
          </a:p>
        </p:txBody>
      </p:sp>
      <p:sp>
        <p:nvSpPr>
          <p:cNvPr id="15" name="">
            <a:extLst xmlns:a="http://schemas.openxmlformats.org/drawingml/2006/main">
              <a:ext uri="{FF2B5EF4-FFF2-40B4-BE49-F238E27FC236}">
                <a16:creationId xmlns:a16="http://schemas.microsoft.com/office/drawing/2014/main" id="{4F3FCE0E-A0BC-465E-9116-BE03B1941769}"/>
              </a:ext>
            </a:extLst>
          </p:cNvPr>
          <p:cNvSpPr>
            <a:spLocks xmlns:a="http://schemas.openxmlformats.org/drawingml/2006/main" noGrp="1"/>
          </p:cNvSpPr>
          <p:nvPr/>
        </p:nvSpPr>
        <p:spPr>
          <a:xfrm xmlns:a="http://schemas.openxmlformats.org/drawingml/2006/main">
            <a:off x="7162800" y="5543550"/>
            <a:ext cx="1981200" cy="285750"/>
          </a:xfrm>
          <a:prstGeom xmlns:a="http://schemas.openxmlformats.org/drawingml/2006/main" prst="roundRect">
            <a:avLst>
              <a:gd name="adj" fmla="val 26667"/>
            </a:avLst>
          </a:prstGeom>
          <a:solidFill xmlns:a="http://schemas.openxmlformats.org/drawingml/2006/main">
            <a:srgbClr val="E5F2FB"/>
          </a:solidFill>
          <a:ln xmlns:a="http://schemas.openxmlformats.org/drawingml/2006/main" w="9525">
            <a:solidFill>
              <a:srgbClr val="0C3B5B"/>
            </a:solidFill>
            <a:prstDash val="solid"/>
          </a:ln>
        </p:spPr>
      </p:sp>
      <p:sp>
        <p:nvSpPr>
          <p:cNvPr id="16" name="">
            <a:extLst xmlns:a="http://schemas.openxmlformats.org/drawingml/2006/main">
              <a:ext uri="{FF2B5EF4-FFF2-40B4-BE49-F238E27FC236}">
                <a16:creationId xmlns:a16="http://schemas.microsoft.com/office/drawing/2014/main" id="{5D344D8F-89C9-4DAE-AF95-82A519188A8B}"/>
              </a:ext>
            </a:extLst>
          </p:cNvPr>
          <p:cNvSpPr>
            <a:spLocks xmlns:a="http://schemas.openxmlformats.org/drawingml/2006/main" noGrp="1"/>
          </p:cNvSpPr>
          <p:nvPr/>
        </p:nvSpPr>
        <p:spPr>
          <a:xfrm xmlns:a="http://schemas.openxmlformats.org/drawingml/2006/main">
            <a:off x="7258050" y="5600700"/>
            <a:ext cx="1790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001B30"/>
                </a:solidFill>
                <a:latin typeface="Inter"/>
                <a:ea typeface="Inter"/>
                <a:cs typeface="Inter"/>
              </a:defRPr>
            </a:pPr>
            <a:r>
              <a:rPr sz="900" b="1">
                <a:solidFill>
                  <a:srgbClr val="001B30"/>
                </a:solidFill>
                <a:latin typeface="Inter"/>
                <a:ea typeface="Inter"/>
                <a:cs typeface="Inter"/>
              </a:rPr>
              <a:t>Delivery Pack lineage</a:t>
            </a:r>
          </a:p>
        </p:txBody>
      </p:sp>
      <p:sp>
        <p:nvSpPr>
          <p:cNvPr id="17" name="">
            <a:extLst xmlns:a="http://schemas.openxmlformats.org/drawingml/2006/main">
              <a:ext uri="{FF2B5EF4-FFF2-40B4-BE49-F238E27FC236}">
                <a16:creationId xmlns:a16="http://schemas.microsoft.com/office/drawing/2014/main" id="{B884EC97-82AB-4AF5-9365-BA574F4D0B53}"/>
              </a:ext>
            </a:extLst>
          </p:cNvPr>
          <p:cNvSpPr>
            <a:spLocks xmlns:a="http://schemas.openxmlformats.org/drawingml/2006/main" noGrp="1"/>
          </p:cNvSpPr>
          <p:nvPr/>
        </p:nvSpPr>
        <p:spPr>
          <a:xfrm xmlns:a="http://schemas.openxmlformats.org/drawingml/2006/main">
            <a:off x="9296400" y="5543550"/>
            <a:ext cx="1981200" cy="285750"/>
          </a:xfrm>
          <a:prstGeom xmlns:a="http://schemas.openxmlformats.org/drawingml/2006/main" prst="roundRect">
            <a:avLst>
              <a:gd name="adj" fmla="val 26667"/>
            </a:avLst>
          </a:prstGeom>
          <a:solidFill xmlns:a="http://schemas.openxmlformats.org/drawingml/2006/main">
            <a:srgbClr val="FFF4D6"/>
          </a:solidFill>
          <a:ln xmlns:a="http://schemas.openxmlformats.org/drawingml/2006/main" w="9525">
            <a:solidFill>
              <a:srgbClr val="FFBC03"/>
            </a:solidFill>
            <a:prstDash val="solid"/>
          </a:ln>
        </p:spPr>
      </p:sp>
      <p:sp>
        <p:nvSpPr>
          <p:cNvPr id="18" name="">
            <a:extLst xmlns:a="http://schemas.openxmlformats.org/drawingml/2006/main">
              <a:ext uri="{FF2B5EF4-FFF2-40B4-BE49-F238E27FC236}">
                <a16:creationId xmlns:a16="http://schemas.microsoft.com/office/drawing/2014/main" id="{BFBE9DEE-9A1E-419A-9599-04689488DB05}"/>
              </a:ext>
            </a:extLst>
          </p:cNvPr>
          <p:cNvSpPr>
            <a:spLocks xmlns:a="http://schemas.openxmlformats.org/drawingml/2006/main" noGrp="1"/>
          </p:cNvSpPr>
          <p:nvPr/>
        </p:nvSpPr>
        <p:spPr>
          <a:xfrm xmlns:a="http://schemas.openxmlformats.org/drawingml/2006/main">
            <a:off x="9391650" y="5600700"/>
            <a:ext cx="1790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001B30"/>
                </a:solidFill>
                <a:latin typeface="Inter"/>
                <a:ea typeface="Inter"/>
                <a:cs typeface="Inter"/>
              </a:defRPr>
            </a:pPr>
            <a:r>
              <a:rPr sz="900" b="1">
                <a:solidFill>
                  <a:srgbClr val="001B30"/>
                </a:solidFill>
                <a:latin typeface="Inter"/>
                <a:ea typeface="Inter"/>
                <a:cs typeface="Inter"/>
              </a:rPr>
              <a:t>Outcome recording state</a:t>
            </a:r>
          </a:p>
        </p:txBody>
      </p:sp>
      <p:sp>
        <p:nvSpPr>
          <p:cNvPr id="19" name="">
            <a:extLst xmlns:a="http://schemas.openxmlformats.org/drawingml/2006/main">
              <a:ext uri="{FF2B5EF4-FFF2-40B4-BE49-F238E27FC236}">
                <a16:creationId xmlns:a16="http://schemas.microsoft.com/office/drawing/2014/main" id="{0215085D-66B5-49AD-B87B-BE952496943E}"/>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Decision Before Execution • Automation, AI, transformation, process excellence, architecture, and consulting leaders</a:t>
            </a:r>
          </a:p>
        </p:txBody>
      </p:sp>
      <p:sp>
        <p:nvSpPr>
          <p:cNvPr id="20" name="">
            <a:extLst xmlns:a="http://schemas.openxmlformats.org/drawingml/2006/main">
              <a:ext uri="{FF2B5EF4-FFF2-40B4-BE49-F238E27FC236}">
                <a16:creationId xmlns:a16="http://schemas.microsoft.com/office/drawing/2014/main" id="{F617C6DD-19B8-4CC9-A2C2-90DDB1835C8A}"/>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Delivery complements execution systems. Monitor does not create tasks or claim live telemetry.</a:t>
            </a:r>
          </a:p>
        </p:txBody>
      </p:sp>
      <p:sp>
        <p:nvSpPr>
          <p:cNvPr id="21" name="">
            <a:extLst xmlns:a="http://schemas.openxmlformats.org/drawingml/2006/main">
              <a:ext uri="{FF2B5EF4-FFF2-40B4-BE49-F238E27FC236}">
                <a16:creationId xmlns:a16="http://schemas.microsoft.com/office/drawing/2014/main" id="{0DCAB5C1-7B49-42C9-89A1-1F67DA38A1B0}"/>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07</a:t>
            </a:r>
          </a:p>
        </p:txBody>
      </p:sp>
    </p:spTree>
    <p:extLst>
      <p:ext uri="{BB962C8B-B14F-4D97-AF65-F5344CB8AC3E}">
        <p14:creationId xmlns:p14="http://schemas.microsoft.com/office/powerpoint/2010/main" val="2054076547"/>
      </p:ext>
    </p:extLst>
  </p:cSld>
</p:sld>
</file>

<file path=ppt/slides/slide8.xml><?xml version="1.0" encoding="utf-8"?>
<p:sld xmlns:p="http://schemas.openxmlformats.org/presentationml/2006/main">
  <p:cSld>
    <p:bg>
      <p:bgPr>
        <a:solidFill xmlns:a="http://schemas.openxmlformats.org/drawingml/2006/main">
          <a:srgbClr val="001B3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6402FD8-8C48-4464-801C-3CFB715ECDC2}"/>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F44B5C6-3EA5-4C28-986F-268223B3F38D}"/>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5D778"/>
                </a:solidFill>
                <a:latin typeface="Inter"/>
                <a:ea typeface="Inter"/>
                <a:cs typeface="Inter"/>
              </a:defRPr>
            </a:pPr>
            <a:r>
              <a:rPr sz="975" b="1">
                <a:solidFill>
                  <a:srgbClr val="F5D778"/>
                </a:solidFill>
                <a:latin typeface="Inter"/>
                <a:ea typeface="Inter"/>
                <a:cs typeface="Inter"/>
              </a:rPr>
              <a:t>TRUST + AI CONTROLS</a:t>
            </a:r>
          </a:p>
        </p:txBody>
      </p:sp>
      <p:sp>
        <p:nvSpPr>
          <p:cNvPr id="3" name="">
            <a:extLst xmlns:a="http://schemas.openxmlformats.org/drawingml/2006/main">
              <a:ext uri="{FF2B5EF4-FFF2-40B4-BE49-F238E27FC236}">
                <a16:creationId xmlns:a16="http://schemas.microsoft.com/office/drawing/2014/main" id="{162B7F87-CACF-4574-AFA1-4506244B082C}"/>
              </a:ext>
            </a:extLst>
          </p:cNvPr>
          <p:cNvSpPr>
            <a:spLocks xmlns:a="http://schemas.openxmlformats.org/drawingml/2006/main" noGrp="1"/>
          </p:cNvSpPr>
          <p:nvPr/>
        </p:nvSpPr>
        <p:spPr>
          <a:xfrm xmlns:a="http://schemas.openxmlformats.org/drawingml/2006/main">
            <a:off x="609600" y="666750"/>
            <a:ext cx="6286500" cy="1095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925" b="1">
                <a:solidFill>
                  <a:srgbClr val="FFFFFF"/>
                </a:solidFill>
                <a:latin typeface="Outfit"/>
                <a:ea typeface="Outfit"/>
                <a:cs typeface="Outfit"/>
              </a:defRPr>
            </a:pPr>
            <a:r>
              <a:rPr sz="2925" b="1">
                <a:solidFill>
                  <a:srgbClr val="FFFFFF"/>
                </a:solidFill>
                <a:latin typeface="Outfit"/>
                <a:ea typeface="Outfit"/>
                <a:cs typeface="Outfit"/>
              </a:rPr>
              <a:t>Enterprise control starts at the model boundary.</a:t>
            </a:r>
          </a:p>
        </p:txBody>
      </p:sp>
      <p:sp>
        <p:nvSpPr>
          <p:cNvPr id="4" name="">
            <a:extLst xmlns:a="http://schemas.openxmlformats.org/drawingml/2006/main">
              <a:ext uri="{FF2B5EF4-FFF2-40B4-BE49-F238E27FC236}">
                <a16:creationId xmlns:a16="http://schemas.microsoft.com/office/drawing/2014/main" id="{B236B81F-6D77-491E-AFB1-635F1911A9D2}"/>
              </a:ext>
            </a:extLst>
          </p:cNvPr>
          <p:cNvSpPr>
            <a:spLocks xmlns:a="http://schemas.openxmlformats.org/drawingml/2006/main" noGrp="1"/>
          </p:cNvSpPr>
          <p:nvPr/>
        </p:nvSpPr>
        <p:spPr>
          <a:xfrm xmlns:a="http://schemas.openxmlformats.org/drawingml/2006/main">
            <a:off x="704850" y="20955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B49C963E-49D7-4C92-881C-70E832159801}"/>
              </a:ext>
            </a:extLst>
          </p:cNvPr>
          <p:cNvSpPr>
            <a:spLocks xmlns:a="http://schemas.openxmlformats.org/drawingml/2006/main" noGrp="1"/>
          </p:cNvSpPr>
          <p:nvPr/>
        </p:nvSpPr>
        <p:spPr>
          <a:xfrm xmlns:a="http://schemas.openxmlformats.org/drawingml/2006/main">
            <a:off x="933450" y="2019300"/>
            <a:ext cx="3962400" cy="504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FFFFF"/>
                </a:solidFill>
                <a:latin typeface="Inter"/>
                <a:ea typeface="Inter"/>
                <a:cs typeface="Inter"/>
              </a:defRPr>
            </a:pPr>
            <a:r>
              <a:rPr sz="1350" b="0">
                <a:solidFill>
                  <a:srgbClr val="FFFFFF"/>
                </a:solidFill>
                <a:latin typeface="Inter"/>
                <a:ea typeface="Inter"/>
                <a:cs typeface="Inter"/>
              </a:rPr>
              <a:t>BYOK-ready architecture</a:t>
            </a:r>
          </a:p>
        </p:txBody>
      </p:sp>
      <p:sp>
        <p:nvSpPr>
          <p:cNvPr id="6" name="">
            <a:extLst xmlns:a="http://schemas.openxmlformats.org/drawingml/2006/main">
              <a:ext uri="{FF2B5EF4-FFF2-40B4-BE49-F238E27FC236}">
                <a16:creationId xmlns:a16="http://schemas.microsoft.com/office/drawing/2014/main" id="{B7B9229C-D709-4017-B210-8F93AA09BB35}"/>
              </a:ext>
            </a:extLst>
          </p:cNvPr>
          <p:cNvSpPr>
            <a:spLocks xmlns:a="http://schemas.openxmlformats.org/drawingml/2006/main" noGrp="1"/>
          </p:cNvSpPr>
          <p:nvPr/>
        </p:nvSpPr>
        <p:spPr>
          <a:xfrm xmlns:a="http://schemas.openxmlformats.org/drawingml/2006/main">
            <a:off x="704850" y="2638425"/>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C60872B4-6B46-44E1-A436-80D7042695BC}"/>
              </a:ext>
            </a:extLst>
          </p:cNvPr>
          <p:cNvSpPr>
            <a:spLocks xmlns:a="http://schemas.openxmlformats.org/drawingml/2006/main" noGrp="1"/>
          </p:cNvSpPr>
          <p:nvPr/>
        </p:nvSpPr>
        <p:spPr>
          <a:xfrm xmlns:a="http://schemas.openxmlformats.org/drawingml/2006/main">
            <a:off x="933450" y="2562225"/>
            <a:ext cx="3962400" cy="504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FFFFF"/>
                </a:solidFill>
                <a:latin typeface="Inter"/>
                <a:ea typeface="Inter"/>
                <a:cs typeface="Inter"/>
              </a:defRPr>
            </a:pPr>
            <a:r>
              <a:rPr sz="1350" b="0">
                <a:solidFill>
                  <a:srgbClr val="FFFFFF"/>
                </a:solidFill>
                <a:latin typeface="Inter"/>
                <a:ea typeface="Inter"/>
                <a:cs typeface="Inter"/>
              </a:rPr>
              <a:t>Provider choice</a:t>
            </a:r>
          </a:p>
        </p:txBody>
      </p:sp>
      <p:sp>
        <p:nvSpPr>
          <p:cNvPr id="8" name="">
            <a:extLst xmlns:a="http://schemas.openxmlformats.org/drawingml/2006/main">
              <a:ext uri="{FF2B5EF4-FFF2-40B4-BE49-F238E27FC236}">
                <a16:creationId xmlns:a16="http://schemas.microsoft.com/office/drawing/2014/main" id="{8ED373C2-720A-4C23-83DF-CC3DC0F1E97E}"/>
              </a:ext>
            </a:extLst>
          </p:cNvPr>
          <p:cNvSpPr>
            <a:spLocks xmlns:a="http://schemas.openxmlformats.org/drawingml/2006/main" noGrp="1"/>
          </p:cNvSpPr>
          <p:nvPr/>
        </p:nvSpPr>
        <p:spPr>
          <a:xfrm xmlns:a="http://schemas.openxmlformats.org/drawingml/2006/main">
            <a:off x="704850" y="31813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7295FD6B-C006-45B1-89EB-C51ED8CE3E59}"/>
              </a:ext>
            </a:extLst>
          </p:cNvPr>
          <p:cNvSpPr>
            <a:spLocks xmlns:a="http://schemas.openxmlformats.org/drawingml/2006/main" noGrp="1"/>
          </p:cNvSpPr>
          <p:nvPr/>
        </p:nvSpPr>
        <p:spPr>
          <a:xfrm xmlns:a="http://schemas.openxmlformats.org/drawingml/2006/main">
            <a:off x="933450" y="3105150"/>
            <a:ext cx="3962400" cy="504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FFFFF"/>
                </a:solidFill>
                <a:latin typeface="Inter"/>
                <a:ea typeface="Inter"/>
                <a:cs typeface="Inter"/>
              </a:defRPr>
            </a:pPr>
            <a:r>
              <a:rPr sz="1350" b="0">
                <a:solidFill>
                  <a:srgbClr val="FFFFFF"/>
                </a:solidFill>
                <a:latin typeface="Inter"/>
                <a:ea typeface="Inter"/>
                <a:cs typeface="Inter"/>
              </a:rPr>
              <a:t>Server-side secret boundary</a:t>
            </a:r>
          </a:p>
        </p:txBody>
      </p:sp>
      <p:sp>
        <p:nvSpPr>
          <p:cNvPr id="10" name="">
            <a:extLst xmlns:a="http://schemas.openxmlformats.org/drawingml/2006/main">
              <a:ext uri="{FF2B5EF4-FFF2-40B4-BE49-F238E27FC236}">
                <a16:creationId xmlns:a16="http://schemas.microsoft.com/office/drawing/2014/main" id="{AA474A8A-0967-4413-BAC5-BD6ED3C5B4E5}"/>
              </a:ext>
            </a:extLst>
          </p:cNvPr>
          <p:cNvSpPr>
            <a:spLocks xmlns:a="http://schemas.openxmlformats.org/drawingml/2006/main" noGrp="1"/>
          </p:cNvSpPr>
          <p:nvPr/>
        </p:nvSpPr>
        <p:spPr>
          <a:xfrm xmlns:a="http://schemas.openxmlformats.org/drawingml/2006/main">
            <a:off x="704850" y="3724275"/>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0E9E4BB6-6062-48F6-979A-3B51EB04834C}"/>
              </a:ext>
            </a:extLst>
          </p:cNvPr>
          <p:cNvSpPr>
            <a:spLocks xmlns:a="http://schemas.openxmlformats.org/drawingml/2006/main" noGrp="1"/>
          </p:cNvSpPr>
          <p:nvPr/>
        </p:nvSpPr>
        <p:spPr>
          <a:xfrm xmlns:a="http://schemas.openxmlformats.org/drawingml/2006/main">
            <a:off x="933450" y="3648075"/>
            <a:ext cx="3962400" cy="504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FFFFF"/>
                </a:solidFill>
                <a:latin typeface="Inter"/>
                <a:ea typeface="Inter"/>
                <a:cs typeface="Inter"/>
              </a:defRPr>
            </a:pPr>
            <a:r>
              <a:rPr sz="1350" b="0">
                <a:solidFill>
                  <a:srgbClr val="FFFFFF"/>
                </a:solidFill>
                <a:latin typeface="Inter"/>
                <a:ea typeface="Inter"/>
                <a:cs typeface="Inter"/>
              </a:rPr>
              <a:t>Human authority</a:t>
            </a:r>
          </a:p>
        </p:txBody>
      </p:sp>
      <p:sp>
        <p:nvSpPr>
          <p:cNvPr id="12" name="">
            <a:extLst xmlns:a="http://schemas.openxmlformats.org/drawingml/2006/main">
              <a:ext uri="{FF2B5EF4-FFF2-40B4-BE49-F238E27FC236}">
                <a16:creationId xmlns:a16="http://schemas.microsoft.com/office/drawing/2014/main" id="{F06B1905-C767-4E4C-906E-E5503C157017}"/>
              </a:ext>
            </a:extLst>
          </p:cNvPr>
          <p:cNvSpPr>
            <a:spLocks xmlns:a="http://schemas.openxmlformats.org/drawingml/2006/main" noGrp="1"/>
          </p:cNvSpPr>
          <p:nvPr/>
        </p:nvSpPr>
        <p:spPr>
          <a:xfrm xmlns:a="http://schemas.openxmlformats.org/drawingml/2006/main">
            <a:off x="704850" y="42672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DAC59030-74A0-407C-BC64-E98A750411C5}"/>
              </a:ext>
            </a:extLst>
          </p:cNvPr>
          <p:cNvSpPr>
            <a:spLocks xmlns:a="http://schemas.openxmlformats.org/drawingml/2006/main" noGrp="1"/>
          </p:cNvSpPr>
          <p:nvPr/>
        </p:nvSpPr>
        <p:spPr>
          <a:xfrm xmlns:a="http://schemas.openxmlformats.org/drawingml/2006/main">
            <a:off x="933450" y="4191000"/>
            <a:ext cx="3962400" cy="504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FFFFF"/>
                </a:solidFill>
                <a:latin typeface="Inter"/>
                <a:ea typeface="Inter"/>
                <a:cs typeface="Inter"/>
              </a:defRPr>
            </a:pPr>
            <a:r>
              <a:rPr sz="1350" b="0">
                <a:solidFill>
                  <a:srgbClr val="FFFFFF"/>
                </a:solidFill>
                <a:latin typeface="Inter"/>
                <a:ea typeface="Inter"/>
                <a:cs typeface="Inter"/>
              </a:rPr>
              <a:t>Evidence and audit</a:t>
            </a:r>
          </a:p>
        </p:txBody>
      </p:sp>
      <p:sp>
        <p:nvSpPr>
          <p:cNvPr id="14" name="">
            <a:extLst xmlns:a="http://schemas.openxmlformats.org/drawingml/2006/main">
              <a:ext uri="{FF2B5EF4-FFF2-40B4-BE49-F238E27FC236}">
                <a16:creationId xmlns:a16="http://schemas.microsoft.com/office/drawing/2014/main" id="{EDDC02BC-7600-4838-A5C7-6A977684AF3C}"/>
              </a:ext>
            </a:extLst>
          </p:cNvPr>
          <p:cNvSpPr>
            <a:spLocks xmlns:a="http://schemas.openxmlformats.org/drawingml/2006/main" noGrp="1"/>
          </p:cNvSpPr>
          <p:nvPr/>
        </p:nvSpPr>
        <p:spPr>
          <a:xfrm xmlns:a="http://schemas.openxmlformats.org/drawingml/2006/main">
            <a:off x="704850" y="4810125"/>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8A368641-1EC0-4B42-A1CD-E8C8809C931C}"/>
              </a:ext>
            </a:extLst>
          </p:cNvPr>
          <p:cNvSpPr>
            <a:spLocks xmlns:a="http://schemas.openxmlformats.org/drawingml/2006/main" noGrp="1"/>
          </p:cNvSpPr>
          <p:nvPr/>
        </p:nvSpPr>
        <p:spPr>
          <a:xfrm xmlns:a="http://schemas.openxmlformats.org/drawingml/2006/main">
            <a:off x="933450" y="4733925"/>
            <a:ext cx="3962400" cy="504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FFFFF"/>
                </a:solidFill>
                <a:latin typeface="Inter"/>
                <a:ea typeface="Inter"/>
                <a:cs typeface="Inter"/>
              </a:defRPr>
            </a:pPr>
            <a:r>
              <a:rPr sz="1350" b="0">
                <a:solidFill>
                  <a:srgbClr val="FFFFFF"/>
                </a:solidFill>
                <a:latin typeface="Inter"/>
                <a:ea typeface="Inter"/>
                <a:cs typeface="Inter"/>
              </a:rPr>
              <a:t>Fail-closed behavior</a:t>
            </a:r>
          </a:p>
        </p:txBody>
      </p:sp>
      <p:sp>
        <p:nvSpPr>
          <p:cNvPr id="16" name="">
            <a:extLst xmlns:a="http://schemas.openxmlformats.org/drawingml/2006/main">
              <a:ext uri="{FF2B5EF4-FFF2-40B4-BE49-F238E27FC236}">
                <a16:creationId xmlns:a16="http://schemas.microsoft.com/office/drawing/2014/main" id="{0E981D5C-1B0C-41D6-940C-A897ED741217}"/>
              </a:ext>
            </a:extLst>
          </p:cNvPr>
          <p:cNvSpPr>
            <a:spLocks xmlns:a="http://schemas.openxmlformats.org/drawingml/2006/main" noGrp="1"/>
          </p:cNvSpPr>
          <p:nvPr/>
        </p:nvSpPr>
        <p:spPr>
          <a:xfrm xmlns:a="http://schemas.openxmlformats.org/drawingml/2006/main">
            <a:off x="5276850" y="1562100"/>
            <a:ext cx="6362700" cy="4352925"/>
          </a:xfrm>
          <a:prstGeom xmlns:a="http://schemas.openxmlformats.org/drawingml/2006/main" prst="roundRect">
            <a:avLst>
              <a:gd name="adj" fmla="val 1751"/>
            </a:avLst>
          </a:prstGeom>
          <a:solidFill xmlns:a="http://schemas.openxmlformats.org/drawingml/2006/main">
            <a:srgbClr val="002C4B"/>
          </a:solidFill>
          <a:ln xmlns:a="http://schemas.openxmlformats.org/drawingml/2006/main" w="9525">
            <a:solidFill>
              <a:srgbClr val="0C3B5B"/>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174f4c10757f4de4"/>
          <a:srcRect xmlns:a="http://schemas.openxmlformats.org/drawingml/2006/main" l="0" t="5153" r="0" b="5153"/>
          <a:stretch xmlns:a="http://schemas.openxmlformats.org/drawingml/2006/main">
            <a:fillRect l="0" t="0" r="0" b="0"/>
          </a:stretch>
        </p:blipFill>
        <p:spPr>
          <a:xfrm xmlns:a="http://schemas.openxmlformats.org/drawingml/2006/main">
            <a:off x="5334000" y="1619250"/>
            <a:ext cx="6248400" cy="4238625"/>
          </a:xfrm>
          <a:prstGeom xmlns:a="http://schemas.openxmlformats.org/drawingml/2006/main" prst="roundRect">
            <a:avLst>
              <a:gd name="adj" fmla="val 2697"/>
            </a:avLst>
          </a:prstGeom>
        </p:spPr>
      </p:pic>
      <p:sp>
        <p:nvSpPr>
          <p:cNvPr id="18" name="">
            <a:extLst xmlns:a="http://schemas.openxmlformats.org/drawingml/2006/main">
              <a:ext uri="{FF2B5EF4-FFF2-40B4-BE49-F238E27FC236}">
                <a16:creationId xmlns:a16="http://schemas.microsoft.com/office/drawing/2014/main" id="{3F7EEFDE-946A-4789-A1EE-AE590EAD7D0A}"/>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B9C7D5"/>
                </a:solidFill>
                <a:latin typeface="Inter"/>
                <a:ea typeface="Inter"/>
                <a:cs typeface="Inter"/>
              </a:defRPr>
            </a:pPr>
            <a:r>
              <a:rPr sz="750" b="1">
                <a:solidFill>
                  <a:srgbClr val="B9C7D5"/>
                </a:solidFill>
                <a:latin typeface="Inter"/>
                <a:ea typeface="Inter"/>
                <a:cs typeface="Inter"/>
              </a:rPr>
              <a:t>Decision Before Execution • Automation, AI, transformation, process excellence, architecture, and consulting leaders</a:t>
            </a:r>
          </a:p>
        </p:txBody>
      </p:sp>
      <p:sp>
        <p:nvSpPr>
          <p:cNvPr id="19" name="">
            <a:extLst xmlns:a="http://schemas.openxmlformats.org/drawingml/2006/main">
              <a:ext uri="{FF2B5EF4-FFF2-40B4-BE49-F238E27FC236}">
                <a16:creationId xmlns:a16="http://schemas.microsoft.com/office/drawing/2014/main" id="{15CFA582-7D47-4E5C-8EEB-C41BA407422D}"/>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B9C7D5"/>
                </a:solidFill>
                <a:latin typeface="Inter"/>
                <a:ea typeface="Inter"/>
                <a:cs typeface="Inter"/>
              </a:defRPr>
            </a:pPr>
            <a:r>
              <a:rPr sz="750" b="0">
                <a:solidFill>
                  <a:srgbClr val="B9C7D5"/>
                </a:solidFill>
                <a:latin typeface="Inter"/>
                <a:ea typeface="Inter"/>
                <a:cs typeface="Inter"/>
              </a:rPr>
              <a:t>Provider availability is deployment-dependent. No security or compliance certification claim.</a:t>
            </a:r>
          </a:p>
        </p:txBody>
      </p:sp>
      <p:sp>
        <p:nvSpPr>
          <p:cNvPr id="20" name="">
            <a:extLst xmlns:a="http://schemas.openxmlformats.org/drawingml/2006/main">
              <a:ext uri="{FF2B5EF4-FFF2-40B4-BE49-F238E27FC236}">
                <a16:creationId xmlns:a16="http://schemas.microsoft.com/office/drawing/2014/main" id="{EBDFDBA1-078F-41A4-BECE-BAC05E6CAE63}"/>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B9C7D5"/>
                </a:solidFill>
                <a:latin typeface="Inter"/>
                <a:ea typeface="Inter"/>
                <a:cs typeface="Inter"/>
              </a:defRPr>
            </a:pPr>
            <a:r>
              <a:rPr sz="750" b="1">
                <a:solidFill>
                  <a:srgbClr val="B9C7D5"/>
                </a:solidFill>
                <a:latin typeface="Inter"/>
                <a:ea typeface="Inter"/>
                <a:cs typeface="Inter"/>
              </a:rPr>
              <a:t>08</a:t>
            </a:r>
          </a:p>
        </p:txBody>
      </p:sp>
    </p:spTree>
    <p:extLst>
      <p:ext uri="{BB962C8B-B14F-4D97-AF65-F5344CB8AC3E}">
        <p14:creationId xmlns:p14="http://schemas.microsoft.com/office/powerpoint/2010/main" val="1197525526"/>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886AD2A-C83F-49E8-8F5B-D049F81EB64F}"/>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E11F473-1F53-4FC7-9898-9310F7D753AD}"/>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FAMILIAR ENTERPRISE ROLES</a:t>
            </a:r>
          </a:p>
        </p:txBody>
      </p:sp>
      <p:sp>
        <p:nvSpPr>
          <p:cNvPr id="3" name="">
            <a:extLst xmlns:a="http://schemas.openxmlformats.org/drawingml/2006/main">
              <a:ext uri="{FF2B5EF4-FFF2-40B4-BE49-F238E27FC236}">
                <a16:creationId xmlns:a16="http://schemas.microsoft.com/office/drawing/2014/main" id="{01A6FC8D-0833-41B2-9FEC-A78990D69174}"/>
              </a:ext>
            </a:extLst>
          </p:cNvPr>
          <p:cNvSpPr>
            <a:spLocks xmlns:a="http://schemas.openxmlformats.org/drawingml/2006/main" noGrp="1"/>
          </p:cNvSpPr>
          <p:nvPr/>
        </p:nvSpPr>
        <p:spPr>
          <a:xfrm xmlns:a="http://schemas.openxmlformats.org/drawingml/2006/main">
            <a:off x="609600" y="666750"/>
            <a:ext cx="102870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Built for the teams making automation decisions.</a:t>
            </a:r>
          </a:p>
        </p:txBody>
      </p:sp>
      <p:sp>
        <p:nvSpPr>
          <p:cNvPr id="4" name="">
            <a:extLst xmlns:a="http://schemas.openxmlformats.org/drawingml/2006/main">
              <a:ext uri="{FF2B5EF4-FFF2-40B4-BE49-F238E27FC236}">
                <a16:creationId xmlns:a16="http://schemas.microsoft.com/office/drawing/2014/main" id="{5ED8EBD8-B664-4568-8848-5F0A3A04136E}"/>
              </a:ext>
            </a:extLst>
          </p:cNvPr>
          <p:cNvSpPr>
            <a:spLocks xmlns:a="http://schemas.openxmlformats.org/drawingml/2006/main" noGrp="1"/>
          </p:cNvSpPr>
          <p:nvPr/>
        </p:nvSpPr>
        <p:spPr>
          <a:xfrm xmlns:a="http://schemas.openxmlformats.org/drawingml/2006/main">
            <a:off x="1047750" y="188595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9FC4DF1-2E32-40D9-8BD9-418BDE88A8D7}"/>
              </a:ext>
            </a:extLst>
          </p:cNvPr>
          <p:cNvSpPr>
            <a:spLocks xmlns:a="http://schemas.openxmlformats.org/drawingml/2006/main" noGrp="1"/>
          </p:cNvSpPr>
          <p:nvPr/>
        </p:nvSpPr>
        <p:spPr>
          <a:xfrm xmlns:a="http://schemas.openxmlformats.org/drawingml/2006/main">
            <a:off x="1276350" y="1809750"/>
            <a:ext cx="38671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B1426"/>
                </a:solidFill>
                <a:latin typeface="Inter"/>
                <a:ea typeface="Inter"/>
                <a:cs typeface="Inter"/>
              </a:defRPr>
            </a:pPr>
            <a:r>
              <a:rPr sz="1575" b="1">
                <a:solidFill>
                  <a:srgbClr val="0B1426"/>
                </a:solidFill>
                <a:latin typeface="Inter"/>
                <a:ea typeface="Inter"/>
                <a:cs typeface="Inter"/>
              </a:rPr>
              <a:t>Automation / AI CoE</a:t>
            </a:r>
          </a:p>
        </p:txBody>
      </p:sp>
      <p:sp>
        <p:nvSpPr>
          <p:cNvPr id="6" name="">
            <a:extLst xmlns:a="http://schemas.openxmlformats.org/drawingml/2006/main">
              <a:ext uri="{FF2B5EF4-FFF2-40B4-BE49-F238E27FC236}">
                <a16:creationId xmlns:a16="http://schemas.microsoft.com/office/drawing/2014/main" id="{6CDD8DC0-AB30-4741-AB6D-3A7F567FAFDF}"/>
              </a:ext>
            </a:extLst>
          </p:cNvPr>
          <p:cNvSpPr>
            <a:spLocks xmlns:a="http://schemas.openxmlformats.org/drawingml/2006/main" noGrp="1"/>
          </p:cNvSpPr>
          <p:nvPr/>
        </p:nvSpPr>
        <p:spPr>
          <a:xfrm xmlns:a="http://schemas.openxmlformats.org/drawingml/2006/main">
            <a:off x="1047750" y="259080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0B410CA9-CF57-4C41-8178-45F9ED5DED1B}"/>
              </a:ext>
            </a:extLst>
          </p:cNvPr>
          <p:cNvSpPr>
            <a:spLocks xmlns:a="http://schemas.openxmlformats.org/drawingml/2006/main" noGrp="1"/>
          </p:cNvSpPr>
          <p:nvPr/>
        </p:nvSpPr>
        <p:spPr>
          <a:xfrm xmlns:a="http://schemas.openxmlformats.org/drawingml/2006/main">
            <a:off x="1276350" y="2514600"/>
            <a:ext cx="38671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B1426"/>
                </a:solidFill>
                <a:latin typeface="Inter"/>
                <a:ea typeface="Inter"/>
                <a:cs typeface="Inter"/>
              </a:defRPr>
            </a:pPr>
            <a:r>
              <a:rPr sz="1575" b="1">
                <a:solidFill>
                  <a:srgbClr val="0B1426"/>
                </a:solidFill>
                <a:latin typeface="Inter"/>
                <a:ea typeface="Inter"/>
                <a:cs typeface="Inter"/>
              </a:rPr>
              <a:t>Transformation Office</a:t>
            </a:r>
          </a:p>
        </p:txBody>
      </p:sp>
      <p:sp>
        <p:nvSpPr>
          <p:cNvPr id="8" name="">
            <a:extLst xmlns:a="http://schemas.openxmlformats.org/drawingml/2006/main">
              <a:ext uri="{FF2B5EF4-FFF2-40B4-BE49-F238E27FC236}">
                <a16:creationId xmlns:a16="http://schemas.microsoft.com/office/drawing/2014/main" id="{A9B38154-380A-4FF8-BEEA-B53008202729}"/>
              </a:ext>
            </a:extLst>
          </p:cNvPr>
          <p:cNvSpPr>
            <a:spLocks xmlns:a="http://schemas.openxmlformats.org/drawingml/2006/main" noGrp="1"/>
          </p:cNvSpPr>
          <p:nvPr/>
        </p:nvSpPr>
        <p:spPr>
          <a:xfrm xmlns:a="http://schemas.openxmlformats.org/drawingml/2006/main">
            <a:off x="1047750" y="329565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89565F54-77CD-436C-B91E-FA0604897489}"/>
              </a:ext>
            </a:extLst>
          </p:cNvPr>
          <p:cNvSpPr>
            <a:spLocks xmlns:a="http://schemas.openxmlformats.org/drawingml/2006/main" noGrp="1"/>
          </p:cNvSpPr>
          <p:nvPr/>
        </p:nvSpPr>
        <p:spPr>
          <a:xfrm xmlns:a="http://schemas.openxmlformats.org/drawingml/2006/main">
            <a:off x="1276350" y="3219450"/>
            <a:ext cx="38671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B1426"/>
                </a:solidFill>
                <a:latin typeface="Inter"/>
                <a:ea typeface="Inter"/>
                <a:cs typeface="Inter"/>
              </a:defRPr>
            </a:pPr>
            <a:r>
              <a:rPr sz="1575" b="1">
                <a:solidFill>
                  <a:srgbClr val="0B1426"/>
                </a:solidFill>
                <a:latin typeface="Inter"/>
                <a:ea typeface="Inter"/>
                <a:cs typeface="Inter"/>
              </a:rPr>
              <a:t>Process Excellence</a:t>
            </a:r>
          </a:p>
        </p:txBody>
      </p:sp>
      <p:sp>
        <p:nvSpPr>
          <p:cNvPr id="10" name="">
            <a:extLst xmlns:a="http://schemas.openxmlformats.org/drawingml/2006/main">
              <a:ext uri="{FF2B5EF4-FFF2-40B4-BE49-F238E27FC236}">
                <a16:creationId xmlns:a16="http://schemas.microsoft.com/office/drawing/2014/main" id="{8C3CD2F5-04E5-4828-804F-9E7020CCC903}"/>
              </a:ext>
            </a:extLst>
          </p:cNvPr>
          <p:cNvSpPr>
            <a:spLocks xmlns:a="http://schemas.openxmlformats.org/drawingml/2006/main" noGrp="1"/>
          </p:cNvSpPr>
          <p:nvPr/>
        </p:nvSpPr>
        <p:spPr>
          <a:xfrm xmlns:a="http://schemas.openxmlformats.org/drawingml/2006/main">
            <a:off x="1047750" y="400050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0B935658-F25C-446D-89A6-A4AE87B595FA}"/>
              </a:ext>
            </a:extLst>
          </p:cNvPr>
          <p:cNvSpPr>
            <a:spLocks xmlns:a="http://schemas.openxmlformats.org/drawingml/2006/main" noGrp="1"/>
          </p:cNvSpPr>
          <p:nvPr/>
        </p:nvSpPr>
        <p:spPr>
          <a:xfrm xmlns:a="http://schemas.openxmlformats.org/drawingml/2006/main">
            <a:off x="1276350" y="3924300"/>
            <a:ext cx="38671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B1426"/>
                </a:solidFill>
                <a:latin typeface="Inter"/>
                <a:ea typeface="Inter"/>
                <a:cs typeface="Inter"/>
              </a:defRPr>
            </a:pPr>
            <a:r>
              <a:rPr sz="1575" b="1">
                <a:solidFill>
                  <a:srgbClr val="0B1426"/>
                </a:solidFill>
                <a:latin typeface="Inter"/>
                <a:ea typeface="Inter"/>
                <a:cs typeface="Inter"/>
              </a:rPr>
              <a:t>Business Analysts</a:t>
            </a:r>
          </a:p>
        </p:txBody>
      </p:sp>
      <p:sp>
        <p:nvSpPr>
          <p:cNvPr id="12" name="">
            <a:extLst xmlns:a="http://schemas.openxmlformats.org/drawingml/2006/main">
              <a:ext uri="{FF2B5EF4-FFF2-40B4-BE49-F238E27FC236}">
                <a16:creationId xmlns:a16="http://schemas.microsoft.com/office/drawing/2014/main" id="{CF7FD4B8-5029-4B92-99F6-EBA60F2436D5}"/>
              </a:ext>
            </a:extLst>
          </p:cNvPr>
          <p:cNvSpPr>
            <a:spLocks xmlns:a="http://schemas.openxmlformats.org/drawingml/2006/main" noGrp="1"/>
          </p:cNvSpPr>
          <p:nvPr/>
        </p:nvSpPr>
        <p:spPr>
          <a:xfrm xmlns:a="http://schemas.openxmlformats.org/drawingml/2006/main">
            <a:off x="6096000" y="1762125"/>
            <a:ext cx="38100" cy="3714750"/>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D0CD23E0-8627-4D67-A992-A008CFEC65AF}"/>
              </a:ext>
            </a:extLst>
          </p:cNvPr>
          <p:cNvSpPr>
            <a:spLocks xmlns:a="http://schemas.openxmlformats.org/drawingml/2006/main" noGrp="1"/>
          </p:cNvSpPr>
          <p:nvPr/>
        </p:nvSpPr>
        <p:spPr>
          <a:xfrm xmlns:a="http://schemas.openxmlformats.org/drawingml/2006/main">
            <a:off x="6858000" y="18859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F6BE8E49-6893-43C7-A44F-3ED26A8E1C71}"/>
              </a:ext>
            </a:extLst>
          </p:cNvPr>
          <p:cNvSpPr>
            <a:spLocks xmlns:a="http://schemas.openxmlformats.org/drawingml/2006/main" noGrp="1"/>
          </p:cNvSpPr>
          <p:nvPr/>
        </p:nvSpPr>
        <p:spPr>
          <a:xfrm xmlns:a="http://schemas.openxmlformats.org/drawingml/2006/main">
            <a:off x="7086600" y="1809750"/>
            <a:ext cx="38671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B1426"/>
                </a:solidFill>
                <a:latin typeface="Inter"/>
                <a:ea typeface="Inter"/>
                <a:cs typeface="Inter"/>
              </a:defRPr>
            </a:pPr>
            <a:r>
              <a:rPr sz="1575" b="1">
                <a:solidFill>
                  <a:srgbClr val="0B1426"/>
                </a:solidFill>
                <a:latin typeface="Inter"/>
                <a:ea typeface="Inter"/>
                <a:cs typeface="Inter"/>
              </a:rPr>
              <a:t>Enterprise Architecture</a:t>
            </a:r>
          </a:p>
        </p:txBody>
      </p:sp>
      <p:sp>
        <p:nvSpPr>
          <p:cNvPr id="15" name="">
            <a:extLst xmlns:a="http://schemas.openxmlformats.org/drawingml/2006/main">
              <a:ext uri="{FF2B5EF4-FFF2-40B4-BE49-F238E27FC236}">
                <a16:creationId xmlns:a16="http://schemas.microsoft.com/office/drawing/2014/main" id="{D457B6E7-ECE2-468F-B27F-31B45844A66B}"/>
              </a:ext>
            </a:extLst>
          </p:cNvPr>
          <p:cNvSpPr>
            <a:spLocks xmlns:a="http://schemas.openxmlformats.org/drawingml/2006/main" noGrp="1"/>
          </p:cNvSpPr>
          <p:nvPr/>
        </p:nvSpPr>
        <p:spPr>
          <a:xfrm xmlns:a="http://schemas.openxmlformats.org/drawingml/2006/main">
            <a:off x="6858000" y="25908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9B975E56-6BDE-49CD-A361-03F1888D972E}"/>
              </a:ext>
            </a:extLst>
          </p:cNvPr>
          <p:cNvSpPr>
            <a:spLocks xmlns:a="http://schemas.openxmlformats.org/drawingml/2006/main" noGrp="1"/>
          </p:cNvSpPr>
          <p:nvPr/>
        </p:nvSpPr>
        <p:spPr>
          <a:xfrm xmlns:a="http://schemas.openxmlformats.org/drawingml/2006/main">
            <a:off x="7086600" y="2514600"/>
            <a:ext cx="38671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B1426"/>
                </a:solidFill>
                <a:latin typeface="Inter"/>
                <a:ea typeface="Inter"/>
                <a:cs typeface="Inter"/>
              </a:defRPr>
            </a:pPr>
            <a:r>
              <a:rPr sz="1575" b="1">
                <a:solidFill>
                  <a:srgbClr val="0B1426"/>
                </a:solidFill>
                <a:latin typeface="Inter"/>
                <a:ea typeface="Inter"/>
                <a:cs typeface="Inter"/>
              </a:rPr>
              <a:t>Risk and Control</a:t>
            </a:r>
          </a:p>
        </p:txBody>
      </p:sp>
      <p:sp>
        <p:nvSpPr>
          <p:cNvPr id="17" name="">
            <a:extLst xmlns:a="http://schemas.openxmlformats.org/drawingml/2006/main">
              <a:ext uri="{FF2B5EF4-FFF2-40B4-BE49-F238E27FC236}">
                <a16:creationId xmlns:a16="http://schemas.microsoft.com/office/drawing/2014/main" id="{E81E20B0-98FA-4187-8974-55CB04F1AD73}"/>
              </a:ext>
            </a:extLst>
          </p:cNvPr>
          <p:cNvSpPr>
            <a:spLocks xmlns:a="http://schemas.openxmlformats.org/drawingml/2006/main" noGrp="1"/>
          </p:cNvSpPr>
          <p:nvPr/>
        </p:nvSpPr>
        <p:spPr>
          <a:xfrm xmlns:a="http://schemas.openxmlformats.org/drawingml/2006/main">
            <a:off x="6858000" y="32956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5A25036D-C0F7-4689-8356-DC872BEFFAFB}"/>
              </a:ext>
            </a:extLst>
          </p:cNvPr>
          <p:cNvSpPr>
            <a:spLocks xmlns:a="http://schemas.openxmlformats.org/drawingml/2006/main" noGrp="1"/>
          </p:cNvSpPr>
          <p:nvPr/>
        </p:nvSpPr>
        <p:spPr>
          <a:xfrm xmlns:a="http://schemas.openxmlformats.org/drawingml/2006/main">
            <a:off x="7086600" y="3219450"/>
            <a:ext cx="38671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B1426"/>
                </a:solidFill>
                <a:latin typeface="Inter"/>
                <a:ea typeface="Inter"/>
                <a:cs typeface="Inter"/>
              </a:defRPr>
            </a:pPr>
            <a:r>
              <a:rPr sz="1575" b="1">
                <a:solidFill>
                  <a:srgbClr val="0B1426"/>
                </a:solidFill>
                <a:latin typeface="Inter"/>
                <a:ea typeface="Inter"/>
                <a:cs typeface="Inter"/>
              </a:rPr>
              <a:t>Delivery leadership</a:t>
            </a:r>
          </a:p>
        </p:txBody>
      </p:sp>
      <p:sp>
        <p:nvSpPr>
          <p:cNvPr id="19" name="">
            <a:extLst xmlns:a="http://schemas.openxmlformats.org/drawingml/2006/main">
              <a:ext uri="{FF2B5EF4-FFF2-40B4-BE49-F238E27FC236}">
                <a16:creationId xmlns:a16="http://schemas.microsoft.com/office/drawing/2014/main" id="{760DCB86-6666-4944-8032-CFE66063CAB8}"/>
              </a:ext>
            </a:extLst>
          </p:cNvPr>
          <p:cNvSpPr>
            <a:spLocks xmlns:a="http://schemas.openxmlformats.org/drawingml/2006/main" noGrp="1"/>
          </p:cNvSpPr>
          <p:nvPr/>
        </p:nvSpPr>
        <p:spPr>
          <a:xfrm xmlns:a="http://schemas.openxmlformats.org/drawingml/2006/main">
            <a:off x="6858000" y="40005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7A1F3090-BE70-4658-8AD2-E938D6091B34}"/>
              </a:ext>
            </a:extLst>
          </p:cNvPr>
          <p:cNvSpPr>
            <a:spLocks xmlns:a="http://schemas.openxmlformats.org/drawingml/2006/main" noGrp="1"/>
          </p:cNvSpPr>
          <p:nvPr/>
        </p:nvSpPr>
        <p:spPr>
          <a:xfrm xmlns:a="http://schemas.openxmlformats.org/drawingml/2006/main">
            <a:off x="7086600" y="3924300"/>
            <a:ext cx="38671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B1426"/>
                </a:solidFill>
                <a:latin typeface="Inter"/>
                <a:ea typeface="Inter"/>
                <a:cs typeface="Inter"/>
              </a:defRPr>
            </a:pPr>
            <a:r>
              <a:rPr sz="1575" b="1">
                <a:solidFill>
                  <a:srgbClr val="0B1426"/>
                </a:solidFill>
                <a:latin typeface="Inter"/>
                <a:ea typeface="Inter"/>
                <a:cs typeface="Inter"/>
              </a:rPr>
              <a:t>Consulting partners</a:t>
            </a:r>
          </a:p>
        </p:txBody>
      </p:sp>
      <p:sp>
        <p:nvSpPr>
          <p:cNvPr id="21" name="">
            <a:extLst xmlns:a="http://schemas.openxmlformats.org/drawingml/2006/main">
              <a:ext uri="{FF2B5EF4-FFF2-40B4-BE49-F238E27FC236}">
                <a16:creationId xmlns:a16="http://schemas.microsoft.com/office/drawing/2014/main" id="{FA8ABB66-EACB-4CAF-8390-8817C9AF25A6}"/>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Decision Before Execution • Automation, AI, transformation, process excellence, architecture, and consulting leaders</a:t>
            </a:r>
          </a:p>
        </p:txBody>
      </p:sp>
      <p:sp>
        <p:nvSpPr>
          <p:cNvPr id="22" name="">
            <a:extLst xmlns:a="http://schemas.openxmlformats.org/drawingml/2006/main">
              <a:ext uri="{FF2B5EF4-FFF2-40B4-BE49-F238E27FC236}">
                <a16:creationId xmlns:a16="http://schemas.microsoft.com/office/drawing/2014/main" id="{A4D103B9-65EA-49D4-B1C4-5FD3DEEB27C3}"/>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Designed to reduce adoption friction; no zero-training or instant-adoption claim.</a:t>
            </a:r>
          </a:p>
        </p:txBody>
      </p:sp>
      <p:sp>
        <p:nvSpPr>
          <p:cNvPr id="23" name="">
            <a:extLst xmlns:a="http://schemas.openxmlformats.org/drawingml/2006/main">
              <a:ext uri="{FF2B5EF4-FFF2-40B4-BE49-F238E27FC236}">
                <a16:creationId xmlns:a16="http://schemas.microsoft.com/office/drawing/2014/main" id="{CF054863-1AB9-4B52-90EB-6FF0E4C04923}"/>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09</a:t>
            </a:r>
          </a:p>
        </p:txBody>
      </p:sp>
    </p:spTree>
    <p:extLst>
      <p:ext uri="{BB962C8B-B14F-4D97-AF65-F5344CB8AC3E}">
        <p14:creationId xmlns:p14="http://schemas.microsoft.com/office/powerpoint/2010/main" val="1373512408"/>
      </p:ext>
    </p:extLst>
  </p:cSld>
</p:sld>
</file>

<file path=ppt/slides/slide10.xml><?xml version="1.0" encoding="utf-8"?>
<p:sld xmlns:p="http://schemas.openxmlformats.org/presentationml/2006/main">
  <p:cSld>
    <p:bg>
      <p:bgPr>
        <a:solidFill xmlns:a="http://schemas.openxmlformats.org/drawingml/2006/main">
          <a:srgbClr val="001B3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98FEF08-8A21-43DB-BA08-F221A1F1C81B}"/>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E2F73E9-1E52-41ED-935D-98E4F464808F}"/>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5D778"/>
                </a:solidFill>
                <a:latin typeface="Inter"/>
                <a:ea typeface="Inter"/>
                <a:cs typeface="Inter"/>
              </a:defRPr>
            </a:pPr>
            <a:r>
              <a:rPr sz="975" b="1">
                <a:solidFill>
                  <a:srgbClr val="F5D778"/>
                </a:solidFill>
                <a:latin typeface="Inter"/>
                <a:ea typeface="Inter"/>
                <a:cs typeface="Inter"/>
              </a:rPr>
              <a:t>NEXT STEP</a:t>
            </a:r>
          </a:p>
        </p:txBody>
      </p:sp>
      <p:sp>
        <p:nvSpPr>
          <p:cNvPr id="3" name="">
            <a:extLst xmlns:a="http://schemas.openxmlformats.org/drawingml/2006/main">
              <a:ext uri="{FF2B5EF4-FFF2-40B4-BE49-F238E27FC236}">
                <a16:creationId xmlns:a16="http://schemas.microsoft.com/office/drawing/2014/main" id="{06982AF9-6B04-430D-A4F7-8EBEF145BD23}"/>
              </a:ext>
            </a:extLst>
          </p:cNvPr>
          <p:cNvSpPr>
            <a:spLocks xmlns:a="http://schemas.openxmlformats.org/drawingml/2006/main" noGrp="1"/>
          </p:cNvSpPr>
          <p:nvPr/>
        </p:nvSpPr>
        <p:spPr>
          <a:xfrm xmlns:a="http://schemas.openxmlformats.org/drawingml/2006/main">
            <a:off x="762000" y="1143000"/>
            <a:ext cx="1066800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3450" b="1">
                <a:solidFill>
                  <a:srgbClr val="FFFFFF"/>
                </a:solidFill>
                <a:latin typeface="Outfit"/>
                <a:ea typeface="Outfit"/>
                <a:cs typeface="Outfit"/>
              </a:defRPr>
            </a:pPr>
            <a:r>
              <a:rPr sz="3450" b="1">
                <a:solidFill>
                  <a:srgbClr val="FFFFFF"/>
                </a:solidFill>
                <a:latin typeface="Outfit"/>
                <a:ea typeface="Outfit"/>
                <a:cs typeface="Outfit"/>
              </a:rPr>
              <a:t>Make one governed decision before committing to build.</a:t>
            </a:r>
          </a:p>
        </p:txBody>
      </p:sp>
      <p:sp>
        <p:nvSpPr>
          <p:cNvPr id="4" name="">
            <a:extLst xmlns:a="http://schemas.openxmlformats.org/drawingml/2006/main">
              <a:ext uri="{FF2B5EF4-FFF2-40B4-BE49-F238E27FC236}">
                <a16:creationId xmlns:a16="http://schemas.microsoft.com/office/drawing/2014/main" id="{783A3093-9F47-47FF-958E-6A10B7A607B4}"/>
              </a:ext>
            </a:extLst>
          </p:cNvPr>
          <p:cNvSpPr>
            <a:spLocks xmlns:a="http://schemas.openxmlformats.org/drawingml/2006/main" noGrp="1"/>
          </p:cNvSpPr>
          <p:nvPr/>
        </p:nvSpPr>
        <p:spPr>
          <a:xfrm xmlns:a="http://schemas.openxmlformats.org/drawingml/2006/main">
            <a:off x="1809750" y="2714625"/>
            <a:ext cx="8572500" cy="1000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0">
                <a:solidFill>
                  <a:srgbClr val="DCE6EF"/>
                </a:solidFill>
                <a:latin typeface="Inter"/>
                <a:ea typeface="Inter"/>
                <a:cs typeface="Inter"/>
              </a:defRPr>
            </a:pPr>
            <a:r>
              <a:rPr sz="1575" b="0">
                <a:solidFill>
                  <a:srgbClr val="DCE6EF"/>
                </a:solidFill>
                <a:latin typeface="Inter"/>
                <a:ea typeface="Inter"/>
                <a:cs typeface="Inter"/>
              </a:rPr>
              <a:t>Explore the synthetic product. Assess a real candidate process. Review the recommendation, evidence, and control conditions before committing automation budget.</a:t>
            </a:r>
          </a:p>
        </p:txBody>
      </p:sp>
      <p:sp>
        <p:nvSpPr>
          <p:cNvPr id="5" name="">
            <a:extLst xmlns:a="http://schemas.openxmlformats.org/drawingml/2006/main">
              <a:ext uri="{FF2B5EF4-FFF2-40B4-BE49-F238E27FC236}">
                <a16:creationId xmlns:a16="http://schemas.microsoft.com/office/drawing/2014/main" id="{25CF75B9-2DF9-41E7-85B2-9E44A60856AA}"/>
              </a:ext>
            </a:extLst>
          </p:cNvPr>
          <p:cNvSpPr>
            <a:spLocks xmlns:a="http://schemas.openxmlformats.org/drawingml/2006/main" noGrp="1"/>
          </p:cNvSpPr>
          <p:nvPr/>
        </p:nvSpPr>
        <p:spPr>
          <a:xfrm xmlns:a="http://schemas.openxmlformats.org/drawingml/2006/main">
            <a:off x="2619375" y="4238625"/>
            <a:ext cx="381000" cy="381000"/>
          </a:xfrm>
          <a:prstGeom xmlns:a="http://schemas.openxmlformats.org/drawingml/2006/main" prst="ellipse">
            <a:avLst/>
          </a:prstGeom>
          <a:solidFill xmlns:a="http://schemas.openxmlformats.org/drawingml/2006/main">
            <a:srgbClr val="0C3B5B"/>
          </a:solidFill>
          <a:ln xmlns:a="http://schemas.openxmlformats.org/drawingml/2006/main" w="9525">
            <a:solidFill>
              <a:srgbClr val="FFBC03"/>
            </a:solidFill>
            <a:prstDash val="solid"/>
          </a:ln>
        </p:spPr>
      </p:sp>
      <p:sp>
        <p:nvSpPr>
          <p:cNvPr id="6" name="">
            <a:extLst xmlns:a="http://schemas.openxmlformats.org/drawingml/2006/main">
              <a:ext uri="{FF2B5EF4-FFF2-40B4-BE49-F238E27FC236}">
                <a16:creationId xmlns:a16="http://schemas.microsoft.com/office/drawing/2014/main" id="{6E1CB030-87AE-408D-AE54-CE18C158A416}"/>
              </a:ext>
            </a:extLst>
          </p:cNvPr>
          <p:cNvSpPr>
            <a:spLocks xmlns:a="http://schemas.openxmlformats.org/drawingml/2006/main" noGrp="1"/>
          </p:cNvSpPr>
          <p:nvPr/>
        </p:nvSpPr>
        <p:spPr>
          <a:xfrm xmlns:a="http://schemas.openxmlformats.org/drawingml/2006/main">
            <a:off x="2619375" y="43243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FFFFF"/>
                </a:solidFill>
                <a:latin typeface="Inter"/>
                <a:ea typeface="Inter"/>
                <a:cs typeface="Inter"/>
              </a:defRPr>
            </a:pPr>
            <a:r>
              <a:rPr sz="1125" b="1">
                <a:solidFill>
                  <a:srgbClr val="FFFFFF"/>
                </a:solidFill>
                <a:latin typeface="Inter"/>
                <a:ea typeface="Inter"/>
                <a:cs typeface="Inter"/>
              </a:rPr>
              <a:t>1</a:t>
            </a:r>
          </a:p>
        </p:txBody>
      </p:sp>
      <p:sp>
        <p:nvSpPr>
          <p:cNvPr id="7" name="">
            <a:extLst xmlns:a="http://schemas.openxmlformats.org/drawingml/2006/main">
              <a:ext uri="{FF2B5EF4-FFF2-40B4-BE49-F238E27FC236}">
                <a16:creationId xmlns:a16="http://schemas.microsoft.com/office/drawing/2014/main" id="{237798A9-7F63-4A3E-BEDE-62E3CEF05460}"/>
              </a:ext>
            </a:extLst>
          </p:cNvPr>
          <p:cNvSpPr>
            <a:spLocks xmlns:a="http://schemas.openxmlformats.org/drawingml/2006/main" noGrp="1"/>
          </p:cNvSpPr>
          <p:nvPr/>
        </p:nvSpPr>
        <p:spPr>
          <a:xfrm xmlns:a="http://schemas.openxmlformats.org/drawingml/2006/main">
            <a:off x="1714500" y="4810125"/>
            <a:ext cx="21907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Select a process</a:t>
            </a:r>
          </a:p>
        </p:txBody>
      </p:sp>
      <p:sp>
        <p:nvSpPr>
          <p:cNvPr id="8" name="">
            <a:extLst xmlns:a="http://schemas.openxmlformats.org/drawingml/2006/main">
              <a:ext uri="{FF2B5EF4-FFF2-40B4-BE49-F238E27FC236}">
                <a16:creationId xmlns:a16="http://schemas.microsoft.com/office/drawing/2014/main" id="{DE795269-C07B-4968-B20F-6181058497E8}"/>
              </a:ext>
            </a:extLst>
          </p:cNvPr>
          <p:cNvSpPr>
            <a:spLocks xmlns:a="http://schemas.openxmlformats.org/drawingml/2006/main" noGrp="1"/>
          </p:cNvSpPr>
          <p:nvPr/>
        </p:nvSpPr>
        <p:spPr>
          <a:xfrm xmlns:a="http://schemas.openxmlformats.org/drawingml/2006/main">
            <a:off x="4810125" y="4238625"/>
            <a:ext cx="381000" cy="381000"/>
          </a:xfrm>
          <a:prstGeom xmlns:a="http://schemas.openxmlformats.org/drawingml/2006/main" prst="ellipse">
            <a:avLst/>
          </a:prstGeom>
          <a:solidFill xmlns:a="http://schemas.openxmlformats.org/drawingml/2006/main">
            <a:srgbClr val="0C3B5B"/>
          </a:solidFill>
          <a:ln xmlns:a="http://schemas.openxmlformats.org/drawingml/2006/main" w="9525">
            <a:solidFill>
              <a:srgbClr val="FFBC03"/>
            </a:solidFill>
            <a:prstDash val="solid"/>
          </a:ln>
        </p:spPr>
      </p:sp>
      <p:sp>
        <p:nvSpPr>
          <p:cNvPr id="9" name="">
            <a:extLst xmlns:a="http://schemas.openxmlformats.org/drawingml/2006/main">
              <a:ext uri="{FF2B5EF4-FFF2-40B4-BE49-F238E27FC236}">
                <a16:creationId xmlns:a16="http://schemas.microsoft.com/office/drawing/2014/main" id="{24482C56-BEB6-4CE7-A2B9-18084425B8E0}"/>
              </a:ext>
            </a:extLst>
          </p:cNvPr>
          <p:cNvSpPr>
            <a:spLocks xmlns:a="http://schemas.openxmlformats.org/drawingml/2006/main" noGrp="1"/>
          </p:cNvSpPr>
          <p:nvPr/>
        </p:nvSpPr>
        <p:spPr>
          <a:xfrm xmlns:a="http://schemas.openxmlformats.org/drawingml/2006/main">
            <a:off x="4810125" y="43243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FFFFF"/>
                </a:solidFill>
                <a:latin typeface="Inter"/>
                <a:ea typeface="Inter"/>
                <a:cs typeface="Inter"/>
              </a:defRPr>
            </a:pPr>
            <a:r>
              <a:rPr sz="1125" b="1">
                <a:solidFill>
                  <a:srgbClr val="FFFFFF"/>
                </a:solidFill>
                <a:latin typeface="Inter"/>
                <a:ea typeface="Inter"/>
                <a:cs typeface="Inter"/>
              </a:rPr>
              <a:t>2</a:t>
            </a:r>
          </a:p>
        </p:txBody>
      </p:sp>
      <p:sp>
        <p:nvSpPr>
          <p:cNvPr id="10" name="">
            <a:extLst xmlns:a="http://schemas.openxmlformats.org/drawingml/2006/main">
              <a:ext uri="{FF2B5EF4-FFF2-40B4-BE49-F238E27FC236}">
                <a16:creationId xmlns:a16="http://schemas.microsoft.com/office/drawing/2014/main" id="{C9A4D2FF-3D44-4705-9DCB-BF93B5B453E2}"/>
              </a:ext>
            </a:extLst>
          </p:cNvPr>
          <p:cNvSpPr>
            <a:spLocks xmlns:a="http://schemas.openxmlformats.org/drawingml/2006/main" noGrp="1"/>
          </p:cNvSpPr>
          <p:nvPr/>
        </p:nvSpPr>
        <p:spPr>
          <a:xfrm xmlns:a="http://schemas.openxmlformats.org/drawingml/2006/main">
            <a:off x="3905250" y="4810125"/>
            <a:ext cx="21907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Bring the evidence</a:t>
            </a:r>
          </a:p>
        </p:txBody>
      </p:sp>
      <p:sp>
        <p:nvSpPr>
          <p:cNvPr id="11" name="">
            <a:extLst xmlns:a="http://schemas.openxmlformats.org/drawingml/2006/main">
              <a:ext uri="{FF2B5EF4-FFF2-40B4-BE49-F238E27FC236}">
                <a16:creationId xmlns:a16="http://schemas.microsoft.com/office/drawing/2014/main" id="{7669EDCA-AA1D-4354-B9B7-212FB9F14CD2}"/>
              </a:ext>
            </a:extLst>
          </p:cNvPr>
          <p:cNvSpPr>
            <a:spLocks xmlns:a="http://schemas.openxmlformats.org/drawingml/2006/main" noGrp="1"/>
          </p:cNvSpPr>
          <p:nvPr/>
        </p:nvSpPr>
        <p:spPr>
          <a:xfrm xmlns:a="http://schemas.openxmlformats.org/drawingml/2006/main">
            <a:off x="7000875" y="4238625"/>
            <a:ext cx="381000" cy="381000"/>
          </a:xfrm>
          <a:prstGeom xmlns:a="http://schemas.openxmlformats.org/drawingml/2006/main" prst="ellipse">
            <a:avLst/>
          </a:prstGeom>
          <a:solidFill xmlns:a="http://schemas.openxmlformats.org/drawingml/2006/main">
            <a:srgbClr val="0C3B5B"/>
          </a:solidFill>
          <a:ln xmlns:a="http://schemas.openxmlformats.org/drawingml/2006/main" w="9525">
            <a:solidFill>
              <a:srgbClr val="FFBC03"/>
            </a:solidFill>
            <a:prstDash val="solid"/>
          </a:ln>
        </p:spPr>
      </p:sp>
      <p:sp>
        <p:nvSpPr>
          <p:cNvPr id="12" name="">
            <a:extLst xmlns:a="http://schemas.openxmlformats.org/drawingml/2006/main">
              <a:ext uri="{FF2B5EF4-FFF2-40B4-BE49-F238E27FC236}">
                <a16:creationId xmlns:a16="http://schemas.microsoft.com/office/drawing/2014/main" id="{E38A322C-335D-466A-89C4-1BDE8E0FA449}"/>
              </a:ext>
            </a:extLst>
          </p:cNvPr>
          <p:cNvSpPr>
            <a:spLocks xmlns:a="http://schemas.openxmlformats.org/drawingml/2006/main" noGrp="1"/>
          </p:cNvSpPr>
          <p:nvPr/>
        </p:nvSpPr>
        <p:spPr>
          <a:xfrm xmlns:a="http://schemas.openxmlformats.org/drawingml/2006/main">
            <a:off x="7000875" y="43243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FFFFF"/>
                </a:solidFill>
                <a:latin typeface="Inter"/>
                <a:ea typeface="Inter"/>
                <a:cs typeface="Inter"/>
              </a:defRPr>
            </a:pPr>
            <a:r>
              <a:rPr sz="1125" b="1">
                <a:solidFill>
                  <a:srgbClr val="FFFFFF"/>
                </a:solidFill>
                <a:latin typeface="Inter"/>
                <a:ea typeface="Inter"/>
                <a:cs typeface="Inter"/>
              </a:rPr>
              <a:t>3</a:t>
            </a:r>
          </a:p>
        </p:txBody>
      </p:sp>
      <p:sp>
        <p:nvSpPr>
          <p:cNvPr id="13" name="">
            <a:extLst xmlns:a="http://schemas.openxmlformats.org/drawingml/2006/main">
              <a:ext uri="{FF2B5EF4-FFF2-40B4-BE49-F238E27FC236}">
                <a16:creationId xmlns:a16="http://schemas.microsoft.com/office/drawing/2014/main" id="{3DA2D19A-1839-4EC0-A1BA-E6E658CD535F}"/>
              </a:ext>
            </a:extLst>
          </p:cNvPr>
          <p:cNvSpPr>
            <a:spLocks xmlns:a="http://schemas.openxmlformats.org/drawingml/2006/main" noGrp="1"/>
          </p:cNvSpPr>
          <p:nvPr/>
        </p:nvSpPr>
        <p:spPr>
          <a:xfrm xmlns:a="http://schemas.openxmlformats.org/drawingml/2006/main">
            <a:off x="6096000" y="4810125"/>
            <a:ext cx="21907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Review the recommendation</a:t>
            </a:r>
          </a:p>
        </p:txBody>
      </p:sp>
      <p:sp>
        <p:nvSpPr>
          <p:cNvPr id="14" name="">
            <a:extLst xmlns:a="http://schemas.openxmlformats.org/drawingml/2006/main">
              <a:ext uri="{FF2B5EF4-FFF2-40B4-BE49-F238E27FC236}">
                <a16:creationId xmlns:a16="http://schemas.microsoft.com/office/drawing/2014/main" id="{DAD8DA1A-98E4-43A7-BEA3-3F7F97C78BA0}"/>
              </a:ext>
            </a:extLst>
          </p:cNvPr>
          <p:cNvSpPr>
            <a:spLocks xmlns:a="http://schemas.openxmlformats.org/drawingml/2006/main" noGrp="1"/>
          </p:cNvSpPr>
          <p:nvPr/>
        </p:nvSpPr>
        <p:spPr>
          <a:xfrm xmlns:a="http://schemas.openxmlformats.org/drawingml/2006/main">
            <a:off x="9191625" y="4238625"/>
            <a:ext cx="381000" cy="381000"/>
          </a:xfrm>
          <a:prstGeom xmlns:a="http://schemas.openxmlformats.org/drawingml/2006/main" prst="ellipse">
            <a:avLst/>
          </a:prstGeom>
          <a:solidFill xmlns:a="http://schemas.openxmlformats.org/drawingml/2006/main">
            <a:srgbClr val="FFBC03"/>
          </a:solidFill>
          <a:ln xmlns:a="http://schemas.openxmlformats.org/drawingml/2006/main" w="9525">
            <a:solidFill>
              <a:srgbClr val="FFBC03"/>
            </a:solidFill>
            <a:prstDash val="solid"/>
          </a:ln>
        </p:spPr>
      </p:sp>
      <p:sp>
        <p:nvSpPr>
          <p:cNvPr id="15" name="">
            <a:extLst xmlns:a="http://schemas.openxmlformats.org/drawingml/2006/main">
              <a:ext uri="{FF2B5EF4-FFF2-40B4-BE49-F238E27FC236}">
                <a16:creationId xmlns:a16="http://schemas.microsoft.com/office/drawing/2014/main" id="{1293DFE2-CE68-4689-9386-66436FCAA254}"/>
              </a:ext>
            </a:extLst>
          </p:cNvPr>
          <p:cNvSpPr>
            <a:spLocks xmlns:a="http://schemas.openxmlformats.org/drawingml/2006/main" noGrp="1"/>
          </p:cNvSpPr>
          <p:nvPr/>
        </p:nvSpPr>
        <p:spPr>
          <a:xfrm xmlns:a="http://schemas.openxmlformats.org/drawingml/2006/main">
            <a:off x="9191625" y="43243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001B30"/>
                </a:solidFill>
                <a:latin typeface="Inter"/>
                <a:ea typeface="Inter"/>
                <a:cs typeface="Inter"/>
              </a:defRPr>
            </a:pPr>
            <a:r>
              <a:rPr sz="1125" b="1">
                <a:solidFill>
                  <a:srgbClr val="001B30"/>
                </a:solidFill>
                <a:latin typeface="Inter"/>
                <a:ea typeface="Inter"/>
                <a:cs typeface="Inter"/>
              </a:rPr>
              <a:t>4</a:t>
            </a:r>
          </a:p>
        </p:txBody>
      </p:sp>
      <p:sp>
        <p:nvSpPr>
          <p:cNvPr id="16" name="">
            <a:extLst xmlns:a="http://schemas.openxmlformats.org/drawingml/2006/main">
              <a:ext uri="{FF2B5EF4-FFF2-40B4-BE49-F238E27FC236}">
                <a16:creationId xmlns:a16="http://schemas.microsoft.com/office/drawing/2014/main" id="{E0E47869-7698-4DE4-8A81-9F514585D179}"/>
              </a:ext>
            </a:extLst>
          </p:cNvPr>
          <p:cNvSpPr>
            <a:spLocks xmlns:a="http://schemas.openxmlformats.org/drawingml/2006/main" noGrp="1"/>
          </p:cNvSpPr>
          <p:nvPr/>
        </p:nvSpPr>
        <p:spPr>
          <a:xfrm xmlns:a="http://schemas.openxmlformats.org/drawingml/2006/main">
            <a:off x="8286750" y="4810125"/>
            <a:ext cx="21907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Decide the governed next step</a:t>
            </a:r>
          </a:p>
        </p:txBody>
      </p:sp>
      <p:sp>
        <p:nvSpPr>
          <p:cNvPr id="17" name="">
            <a:extLst xmlns:a="http://schemas.openxmlformats.org/drawingml/2006/main">
              <a:ext uri="{FF2B5EF4-FFF2-40B4-BE49-F238E27FC236}">
                <a16:creationId xmlns:a16="http://schemas.microsoft.com/office/drawing/2014/main" id="{903DB864-82C4-4D3F-976B-938CE59AD74A}"/>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Decision Before Execution • Automation, AI, transformation, process excellence, architecture, and consulting leaders</a:t>
            </a:r>
          </a:p>
        </p:txBody>
      </p:sp>
      <p:sp>
        <p:nvSpPr>
          <p:cNvPr id="18" name="">
            <a:extLst xmlns:a="http://schemas.openxmlformats.org/drawingml/2006/main">
              <a:ext uri="{FF2B5EF4-FFF2-40B4-BE49-F238E27FC236}">
                <a16:creationId xmlns:a16="http://schemas.microsoft.com/office/drawing/2014/main" id="{B89D0E32-93C2-425E-8625-267BDEAF592C}"/>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Success is a defensible decision, not a deployed automation.</a:t>
            </a:r>
          </a:p>
        </p:txBody>
      </p:sp>
      <p:sp>
        <p:nvSpPr>
          <p:cNvPr id="19" name="">
            <a:extLst xmlns:a="http://schemas.openxmlformats.org/drawingml/2006/main">
              <a:ext uri="{FF2B5EF4-FFF2-40B4-BE49-F238E27FC236}">
                <a16:creationId xmlns:a16="http://schemas.microsoft.com/office/drawing/2014/main" id="{CCEA732C-AF67-441D-BAF4-98F3EBDF7AF4}"/>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10</a:t>
            </a:r>
          </a:p>
        </p:txBody>
      </p:sp>
    </p:spTree>
    <p:extLst>
      <p:ext uri="{BB962C8B-B14F-4D97-AF65-F5344CB8AC3E}">
        <p14:creationId xmlns:p14="http://schemas.microsoft.com/office/powerpoint/2010/main" val="16255766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2026-08-02T11:34:16.3730000Z</dcterms:created>
  <dcterms:modified xsi:type="dcterms:W3CDTF">2026-08-02T11:34:16.3730000Z</dcterms:modified>
</coreProperties>
</file>