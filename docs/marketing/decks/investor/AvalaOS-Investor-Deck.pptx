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17b5d8ed5643f4" /><Relationship Type="http://schemas.openxmlformats.org/officeDocument/2006/relationships/extended-properties" Target="/docProps/app.xml" Id="R19e0b3bf38564364" /><Relationship Type="http://schemas.openxmlformats.org/officeDocument/2006/relationships/officeDocument" Target="/ppt/presentation.xml" Id="R336f2d0dda304f9a" /></Relationships>
</file>

<file path=ppt/presentation.xml><?xml version="1.0" encoding="utf-8"?>
<p:presentation xmlns:p="http://schemas.openxmlformats.org/presentationml/2006/main">
  <p:sldMasterIdLst>
    <p:sldMasterId xmlns:r="http://schemas.openxmlformats.org/officeDocument/2006/relationships" id="2147483648" r:id="Rff3888bbc5d34685"/>
  </p:sldMasterIdLst>
  <p:notesMasterIdLst>
    <p:notesMasterId xmlns:r="http://schemas.openxmlformats.org/officeDocument/2006/relationships" r:id="R98f10134f950485b"/>
  </p:notesMasterIdLst>
  <p:sldIdLst>
    <p:sldId xmlns:r="http://schemas.openxmlformats.org/officeDocument/2006/relationships" id="256" r:id="Rf0ccc2fd7712477e"/>
    <p:sldId xmlns:r="http://schemas.openxmlformats.org/officeDocument/2006/relationships" id="257" r:id="R6e783be4167b4ee6"/>
    <p:sldId xmlns:r="http://schemas.openxmlformats.org/officeDocument/2006/relationships" id="258" r:id="Rc7c992b2173d4b21"/>
    <p:sldId xmlns:r="http://schemas.openxmlformats.org/officeDocument/2006/relationships" id="259" r:id="Re3523b74f2484a54"/>
    <p:sldId xmlns:r="http://schemas.openxmlformats.org/officeDocument/2006/relationships" id="260" r:id="R4f05c44c04ea44a5"/>
    <p:sldId xmlns:r="http://schemas.openxmlformats.org/officeDocument/2006/relationships" id="261" r:id="Re44dd5ef8bbc4451"/>
    <p:sldId xmlns:r="http://schemas.openxmlformats.org/officeDocument/2006/relationships" id="262" r:id="R73a1fd6d403f426a"/>
    <p:sldId xmlns:r="http://schemas.openxmlformats.org/officeDocument/2006/relationships" id="263" r:id="R4f4266f24ff045fc"/>
    <p:sldId xmlns:r="http://schemas.openxmlformats.org/officeDocument/2006/relationships" id="264" r:id="R23d8a8491f31438f"/>
    <p:sldId xmlns:r="http://schemas.openxmlformats.org/officeDocument/2006/relationships" id="265" r:id="R16ffe58635324c21"/>
    <p:sldId xmlns:r="http://schemas.openxmlformats.org/officeDocument/2006/relationships" id="266" r:id="R5ce7971785b5467c"/>
    <p:sldId xmlns:r="http://schemas.openxmlformats.org/officeDocument/2006/relationships" id="267" r:id="R1cf8bef33cd840fa"/>
    <p:sldId xmlns:r="http://schemas.openxmlformats.org/officeDocument/2006/relationships" id="268" r:id="Rcd902268da0343b0"/>
    <p:sldId xmlns:r="http://schemas.openxmlformats.org/officeDocument/2006/relationships" id="269" r:id="R9616c2cf719e4d78"/>
    <p:sldId xmlns:r="http://schemas.openxmlformats.org/officeDocument/2006/relationships" id="270" r:id="Rba2a679a4abc435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6e79d342104475" /><Relationship Type="http://schemas.openxmlformats.org/officeDocument/2006/relationships/slideMaster" Target="/ppt/slideMasters/slideMaster1.xml" Id="Rff3888bbc5d34685" /><Relationship Type="http://schemas.openxmlformats.org/officeDocument/2006/relationships/notesMaster" Target="/ppt/notesMasters/notesMaster1.xml" Id="R98f10134f950485b" /><Relationship Type="http://schemas.openxmlformats.org/officeDocument/2006/relationships/presProps" Target="/ppt/presProps.xml" Id="R0604ac718f034c3e" /><Relationship Type="http://schemas.openxmlformats.org/officeDocument/2006/relationships/tableStyles" Target="/ppt/tableStyles.xml" Id="Rb4a7f59f855c4052" /><Relationship Type="http://schemas.openxmlformats.org/officeDocument/2006/relationships/slide" Target="/ppt/slides/slide1.xml" Id="Rf0ccc2fd7712477e" /><Relationship Type="http://schemas.openxmlformats.org/officeDocument/2006/relationships/slide" Target="/ppt/slides/slide2.xml" Id="R6e783be4167b4ee6" /><Relationship Type="http://schemas.openxmlformats.org/officeDocument/2006/relationships/slide" Target="/ppt/slides/slide3.xml" Id="Rc7c992b2173d4b21" /><Relationship Type="http://schemas.openxmlformats.org/officeDocument/2006/relationships/slide" Target="/ppt/slides/slide4.xml" Id="Re3523b74f2484a54" /><Relationship Type="http://schemas.openxmlformats.org/officeDocument/2006/relationships/slide" Target="/ppt/slides/slide5.xml" Id="R4f05c44c04ea44a5" /><Relationship Type="http://schemas.openxmlformats.org/officeDocument/2006/relationships/slide" Target="/ppt/slides/slide6.xml" Id="Re44dd5ef8bbc4451" /><Relationship Type="http://schemas.openxmlformats.org/officeDocument/2006/relationships/slide" Target="/ppt/slides/slide7.xml" Id="R73a1fd6d403f426a" /><Relationship Type="http://schemas.openxmlformats.org/officeDocument/2006/relationships/slide" Target="/ppt/slides/slide8.xml" Id="R4f4266f24ff045fc" /><Relationship Type="http://schemas.openxmlformats.org/officeDocument/2006/relationships/slide" Target="/ppt/slides/slide9.xml" Id="R23d8a8491f31438f" /><Relationship Type="http://schemas.openxmlformats.org/officeDocument/2006/relationships/slide" Target="/ppt/slides/slide10.xml" Id="R16ffe58635324c21" /><Relationship Type="http://schemas.openxmlformats.org/officeDocument/2006/relationships/slide" Target="/ppt/slides/slide11.xml" Id="R5ce7971785b5467c" /><Relationship Type="http://schemas.openxmlformats.org/officeDocument/2006/relationships/slide" Target="/ppt/slides/slide12.xml" Id="R1cf8bef33cd840fa" /><Relationship Type="http://schemas.openxmlformats.org/officeDocument/2006/relationships/slide" Target="/ppt/slides/slide13.xml" Id="Rcd902268da0343b0" /><Relationship Type="http://schemas.openxmlformats.org/officeDocument/2006/relationships/slide" Target="/ppt/slides/slide14.xml" Id="R9616c2cf719e4d78" /><Relationship Type="http://schemas.openxmlformats.org/officeDocument/2006/relationships/slide" Target="/ppt/slides/slide15.xml" Id="Rba2a679a4abc435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f1e9d33b974bb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8a7c7eaec944389" /><Relationship Type="http://schemas.openxmlformats.org/officeDocument/2006/relationships/notesMaster" Target="/ppt/notesMasters/notesMaster1.xml" Id="Rce97b278f8884f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a8bd23f0174ff3" /><Relationship Type="http://schemas.openxmlformats.org/officeDocument/2006/relationships/notesMaster" Target="/ppt/notesMasters/notesMaster1.xml" Id="Reefab9e941e14a78"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9667e3fcd14d00" /><Relationship Type="http://schemas.openxmlformats.org/officeDocument/2006/relationships/notesMaster" Target="/ppt/notesMasters/notesMaster1.xml" Id="R1d02a477b8374f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f589e6a7fb421b" /><Relationship Type="http://schemas.openxmlformats.org/officeDocument/2006/relationships/notesMaster" Target="/ppt/notesMasters/notesMaster1.xml" Id="Rfcfd71c3b6ae4f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0eb5c192d04350" /><Relationship Type="http://schemas.openxmlformats.org/officeDocument/2006/relationships/notesMaster" Target="/ppt/notesMasters/notesMaster1.xml" Id="R2d0cd924eecd4e0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5c2e4f6a084796" /><Relationship Type="http://schemas.openxmlformats.org/officeDocument/2006/relationships/notesMaster" Target="/ppt/notesMasters/notesMaster1.xml" Id="R236c5453c3a444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3d484c12f2a4596" /><Relationship Type="http://schemas.openxmlformats.org/officeDocument/2006/relationships/notesMaster" Target="/ppt/notesMasters/notesMaster1.xml" Id="R5b8a868c4d334eae" /></Relationships>
</file>

<file path=ppt/notesSlides/_rels/notesSlide8.xml.rels>&#65279;<?xml version="1.0" encoding="utf-8"?><Relationships xmlns="http://schemas.openxmlformats.org/package/2006/relationships"><Relationship Type="http://schemas.openxmlformats.org/officeDocument/2006/relationships/slide" Target="/ppt/slides/slide8.xml" Id="R131e715bfe0f4339" /><Relationship Type="http://schemas.openxmlformats.org/officeDocument/2006/relationships/notesMaster" Target="/ppt/notesMasters/notesMaster1.xml" Id="R4c19f7977b8340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c01bbe46951a4a9d" /><Relationship Type="http://schemas.openxmlformats.org/officeDocument/2006/relationships/notesMaster" Target="/ppt/notesMasters/notesMaster1.xml" Id="R9a32d3ab251448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5fcca2dc81e43a7" /><Relationship Type="http://schemas.openxmlformats.org/officeDocument/2006/relationships/notesMaster" Target="/ppt/notesMasters/notesMaster1.xml" Id="R604e53fa5da0494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53afdd299442e9" /><Relationship Type="http://schemas.openxmlformats.org/officeDocument/2006/relationships/notesMaster" Target="/ppt/notesMasters/notesMaster1.xml" Id="R4a8f88b68e294c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401e1c3e04f4d14" /><Relationship Type="http://schemas.openxmlformats.org/officeDocument/2006/relationships/notesMaster" Target="/ppt/notesMasters/notesMaster1.xml" Id="R496703b09de0406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551405cd18a4b3d" /><Relationship Type="http://schemas.openxmlformats.org/officeDocument/2006/relationships/notesMaster" Target="/ppt/notesMasters/notesMaster1.xml" Id="R1c8ddb8087554f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60ceea6c7d0425f" /><Relationship Type="http://schemas.openxmlformats.org/officeDocument/2006/relationships/notesMaster" Target="/ppt/notesMasters/notesMaster1.xml" Id="R1fa20524ed584d4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0f9bb5c98c847e6" /><Relationship Type="http://schemas.openxmlformats.org/officeDocument/2006/relationships/notesMaster" Target="/ppt/notesMasters/notesMaster1.xml" Id="Rf11a3497dff741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the operating system for governed ai and automation decisions. Evaluate before you automate. Govern before you execute. The key distinction is that AvalaOS governs the decision and handoff while authorized systems execute. State the boundary plainly: Synthetic product preview. No live execution or commercial traction implied.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The operating system for governed AI and automation decisions.</a:t>
            </a:r>
          </a:p>
          <a:p xmlns:a="http://schemas.openxmlformats.org/drawingml/2006/main">
            <a:r>
              <a:t/>
            </a:r>
          </a:p>
          <a:p xmlns:a="http://schemas.openxmlformats.org/drawingml/2006/main">
            <a:r>
              <a:t>AUDIENCE-SPECIFIC EMPHASIS</a:t>
            </a:r>
          </a:p>
          <a:p xmlns:a="http://schemas.openxmlformats.org/drawingml/2006/main">
            <a:r>
              <a:t>Open with category ambition and immediate proof discipline.</a:t>
            </a:r>
          </a:p>
          <a:p xmlns:a="http://schemas.openxmlformats.org/drawingml/2006/main">
            <a:r>
              <a:t/>
            </a:r>
          </a:p>
          <a:p xmlns:a="http://schemas.openxmlformats.org/drawingml/2006/main">
            <a:r>
              <a:t>CLAIMS USED</a:t>
            </a:r>
          </a:p>
          <a:p xmlns:a="http://schemas.openxmlformats.org/drawingml/2006/main">
            <a:r>
              <a:t>CL-001, CL-002,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Founder, round, contact, and confidentiality inputs remain unsupplied.</a:t>
            </a:r>
          </a:p>
          <a:p xmlns:a="http://schemas.openxmlformats.org/drawingml/2006/main">
            <a:r>
              <a:t/>
            </a:r>
          </a:p>
          <a:p xmlns:a="http://schemas.openxmlformats.org/drawingml/2006/main">
            <a:r>
              <a:t>[Sources]</a:t>
            </a:r>
          </a:p>
          <a:p xmlns:a="http://schemas.openxmlformats.org/drawingml/2006/main">
            <a:r>
              <a:t>- CL-001: docs/00_SOURCE_OF_TRUTH.md — product identity; docs/01_PRODUCT_STRATEGY.md — Positioning</a:t>
            </a:r>
          </a:p>
          <a:p xmlns:a="http://schemas.openxmlformats.org/drawingml/2006/main">
            <a:r>
              <a:t>- CL-002: docs/00_SOURCE_OF_TRUTH.md — canonical tagline</a:t>
            </a:r>
          </a:p>
          <a:p xmlns:a="http://schemas.openxmlformats.org/drawingml/2006/main">
            <a:r>
              <a:t>- CL-024: docs/design/avalaos-enterprise-ui-rebaseline.md — Isolated marketing capture</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enterprises have automation tools. they lack one governed decision path. Walk through Tool-first selection, Fragmented assessment, Missing evidence, and Inconsistent governance. The remaining signals — Inconsistent governance and Handoff loss — matter because they keep authority and evidence visible. State the boundary plainly: Strategic thesis; no quantified market-size or failure-rate claim.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Enterprises have automation tools. They lack one governed decision path.</a:t>
            </a:r>
          </a:p>
          <a:p xmlns:a="http://schemas.openxmlformats.org/drawingml/2006/main">
            <a:r>
              <a:t/>
            </a:r>
          </a:p>
          <a:p xmlns:a="http://schemas.openxmlformats.org/drawingml/2006/main">
            <a:r>
              <a:t>AUDIENCE-SPECIFIC EMPHASIS</a:t>
            </a:r>
          </a:p>
          <a:p xmlns:a="http://schemas.openxmlformats.org/drawingml/2006/main">
            <a:r>
              <a:t>Define the missing layer without attacking named competitors.</a:t>
            </a:r>
          </a:p>
          <a:p xmlns:a="http://schemas.openxmlformats.org/drawingml/2006/main">
            <a:r>
              <a:t/>
            </a:r>
          </a:p>
          <a:p xmlns:a="http://schemas.openxmlformats.org/drawingml/2006/main">
            <a:r>
              <a:t>CLAIMS USED</a:t>
            </a:r>
          </a:p>
          <a:p xmlns:a="http://schemas.openxmlformats.org/drawingml/2006/main">
            <a:r>
              <a:t>CL-001, CL-003</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CL-001: docs/00_SOURCE_OF_TRUTH.md — product identity; docs/01_PRODUCT_STRATEGY.md — Positioning</a:t>
            </a:r>
          </a:p>
          <a:p xmlns:a="http://schemas.openxmlformats.org/drawingml/2006/main">
            <a:r>
              <a:t>- CL-003: docs/design/avalaos-enterprise-ui-rebaseline.md — Purpose</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one business process is a portfolio of different work types. Walk through Stable + structured: Rules / workflow: Deterministic controls, Repetitive UI work: RPA: Only where stronger interfaces are unavailable, Unstructured content: AI assistance: Extraction, classification, summarisation, and Context-heavy inquiry: Bounded agent assistance: Evidence synthesis with controls. The remaining signals — Context-heavy inquiry: Bounded agent assistance: Evidence synthesis with controls and Material-risk judgment: Human / HITL: Accountable approval — matter because they keep authority and evidence visible. State the boundary plainly: The right answer is usually a governed mix, not one technology winner.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One business process is a portfolio of different work types.</a:t>
            </a:r>
          </a:p>
          <a:p xmlns:a="http://schemas.openxmlformats.org/drawingml/2006/main">
            <a:r>
              <a:t/>
            </a:r>
          </a:p>
          <a:p xmlns:a="http://schemas.openxmlformats.org/drawingml/2006/main">
            <a:r>
              <a:t>AUDIENCE-SPECIFIC EMPHASIS</a:t>
            </a:r>
          </a:p>
          <a:p xmlns:a="http://schemas.openxmlformats.org/drawingml/2006/main">
            <a:r>
              <a:t>Make the decision model the core insight.</a:t>
            </a:r>
          </a:p>
          <a:p xmlns:a="http://schemas.openxmlformats.org/drawingml/2006/main">
            <a:r>
              <a:t/>
            </a:r>
          </a:p>
          <a:p xmlns:a="http://schemas.openxmlformats.org/drawingml/2006/main">
            <a:r>
              <a:t>CLAIMS USED</a:t>
            </a:r>
          </a:p>
          <a:p xmlns:a="http://schemas.openxmlformats.org/drawingml/2006/main">
            <a:r>
              <a:t>CL-006, CL-007, CL-008</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CL-006: docs/architecture/assess-v2-decision-intelligence-architecture.md — Purpose and Deterministic Decision Layers</a:t>
            </a:r>
          </a:p>
          <a:p xmlns:a="http://schemas.openxmlformats.org/drawingml/2006/main">
            <a:r>
              <a:t>- CL-007: docs/architecture/assess-v2-decision-intelligence-architecture.md — Canonical AP Invoice Exception Outcome</a:t>
            </a:r>
          </a:p>
          <a:p xmlns:a="http://schemas.openxmlformats.org/drawingml/2006/main">
            <a:r>
              <a:t>- CL-008: docs/00_SOURCE_OF_TRUTH.md — Product and Security Law</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the decision path crosses categories that stop at their own boundary. Walk through Process mining: Discovers work, Consulting: Assesses and recommends, AI governance: Frames controls, and Requirements: Documents the change. The remaining signals — Requirements: Documents the change and Delivery: Plans the build — matter because they keep authority and evidence visible. State the boundary plainly: AvalaOS governs the connective path; authorized systems execute.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The decision path crosses categories that stop at their own boundary.</a:t>
            </a:r>
          </a:p>
          <a:p xmlns:a="http://schemas.openxmlformats.org/drawingml/2006/main">
            <a:r>
              <a:t/>
            </a:r>
          </a:p>
          <a:p xmlns:a="http://schemas.openxmlformats.org/drawingml/2006/main">
            <a:r>
              <a:t>AUDIENCE-SPECIFIC EMPHASIS</a:t>
            </a:r>
          </a:p>
          <a:p xmlns:a="http://schemas.openxmlformats.org/drawingml/2006/main">
            <a:r>
              <a:t>Position between categories, not as a replacement for each.</a:t>
            </a:r>
          </a:p>
          <a:p xmlns:a="http://schemas.openxmlformats.org/drawingml/2006/main">
            <a:r>
              <a:t/>
            </a:r>
          </a:p>
          <a:p xmlns:a="http://schemas.openxmlformats.org/drawingml/2006/main">
            <a:r>
              <a:t>CLAIMS USED</a:t>
            </a:r>
          </a:p>
          <a:p xmlns:a="http://schemas.openxmlformats.org/drawingml/2006/main">
            <a:r>
              <a:t>CL-001, CL-003, CL-018</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CL-001: docs/00_SOURCE_OF_TRUTH.md — product identity; docs/01_PRODUCT_STRATEGY.md — Positioning</a:t>
            </a:r>
          </a:p>
          <a:p xmlns:a="http://schemas.openxmlformats.org/drawingml/2006/main">
            <a:r>
              <a:t>- CL-003: docs/design/avalaos-enterprise-ui-rebaseline.md — Purpose</a:t>
            </a:r>
          </a:p>
          <a:p xmlns:a="http://schemas.openxmlformats.org/drawingml/2006/main">
            <a:r>
              <a:t>- CL-018: docs/01_PRODUCT_STRATEGY.md — Product Boundaries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avalaos carries evidence into delivery without losing authority. Walk through 1: Evidence, 2: Deterministic decision, 3: Human governance, and 4: Governed artifact. The remaining signals — 4: Governed artifact and 5: Delivery handoff — matter because they keep authority and evidence visible. State the boundary plainly: Execution remains with systems and teams already authorized to perform it.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AvalaOS carries evidence into delivery without losing authority.</a:t>
            </a:r>
          </a:p>
          <a:p xmlns:a="http://schemas.openxmlformats.org/drawingml/2006/main">
            <a:r>
              <a:t/>
            </a:r>
          </a:p>
          <a:p xmlns:a="http://schemas.openxmlformats.org/drawingml/2006/main">
            <a:r>
              <a:t>AUDIENCE-SPECIFIC EMPHASIS</a:t>
            </a:r>
          </a:p>
          <a:p xmlns:a="http://schemas.openxmlformats.org/drawingml/2006/main">
            <a:r>
              <a:t>Show how authority survives the handoff.</a:t>
            </a:r>
          </a:p>
          <a:p xmlns:a="http://schemas.openxmlformats.org/drawingml/2006/main">
            <a:r>
              <a:t/>
            </a:r>
          </a:p>
          <a:p xmlns:a="http://schemas.openxmlformats.org/drawingml/2006/main">
            <a:r>
              <a:t>CLAIMS USED</a:t>
            </a:r>
          </a:p>
          <a:p xmlns:a="http://schemas.openxmlformats.org/drawingml/2006/main">
            <a:r>
              <a:t>CL-003, CL-008</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CL-003: docs/design/avalaos-enterprise-ui-rebaseline.md — Purpose</a:t>
            </a:r>
          </a:p>
          <a:p xmlns:a="http://schemas.openxmlformats.org/drawingml/2006/main">
            <a:r>
              <a:t>- CL-008: docs/00_SOURCE_OF_TRUTH.md — Product and Security Law</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the synthetic ap invoice exception journey proves the product model end to end. Walk through Assess: Evidence-qualified recommendation, Govern: Human-owned controls, Studio: Approved artifacts, and Delivery: Source-linked work. The remaining signals — Delivery: Source-linked work and Monitor: Outcome visibility — matter because they keep authority and evidence visible. State the boundary plainly: Synthetic reference journey • source and CI proof • no live execution or customer outcome.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The synthetic AP Invoice Exception journey proves the product model end to end.</a:t>
            </a:r>
          </a:p>
          <a:p xmlns:a="http://schemas.openxmlformats.org/drawingml/2006/main">
            <a:r>
              <a:t/>
            </a:r>
          </a:p>
          <a:p xmlns:a="http://schemas.openxmlformats.org/drawingml/2006/main">
            <a:r>
              <a:t>AUDIENCE-SPECIFIC EMPHASIS</a:t>
            </a:r>
          </a:p>
          <a:p xmlns:a="http://schemas.openxmlformats.org/drawingml/2006/main">
            <a:r>
              <a:t>Separate product proof from commercial proof.</a:t>
            </a:r>
          </a:p>
          <a:p xmlns:a="http://schemas.openxmlformats.org/drawingml/2006/main">
            <a:r>
              <a:t/>
            </a:r>
          </a:p>
          <a:p xmlns:a="http://schemas.openxmlformats.org/drawingml/2006/main">
            <a:r>
              <a:t>CLAIMS USED</a:t>
            </a:r>
          </a:p>
          <a:p xmlns:a="http://schemas.openxmlformats.org/drawingml/2006/main">
            <a:r>
              <a:t>CL-004, CL-005, CL-011, CL-013, CL-016, CL-019, CL-024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CL-004: docs/design/avalaos-enterprise-ui-rebaseline.md — Authenticated information architecture</a:t>
            </a:r>
          </a:p>
          <a:p xmlns:a="http://schemas.openxmlformats.org/drawingml/2006/main">
            <a:r>
              <a:t>- CL-005: docs/00_SOURCE_OF_TRUTH.md — Accepted Capabilities</a:t>
            </a:r>
          </a:p>
          <a:p xmlns:a="http://schemas.openxmlformats.org/drawingml/2006/main">
            <a:r>
              <a:t>- CL-011: docs/07_AVALA_GOVERN_FRAMEWORK.md — Current Scope</a:t>
            </a:r>
          </a:p>
          <a:p xmlns:a="http://schemas.openxmlformats.org/drawingml/2006/main">
            <a:r>
              <a:t>- CL-013: docs/architecture/studio-governed-artifact-authority.md — Scope and trust boundary</a:t>
            </a:r>
          </a:p>
          <a:p xmlns:a="http://schemas.openxmlformats.org/drawingml/2006/main">
            <a:r>
              <a:t>- CL-016: docs/02_PRODUCT_REQUIREMENTS.md — Avala Delivery</a:t>
            </a:r>
          </a:p>
          <a:p xmlns:a="http://schemas.openxmlformats.org/drawingml/2006/main">
            <a:r>
              <a:t>- CL-019: docs/design/avalaos-enterprise-ui-rebaseline.md — Delivery and Monitor</a:t>
            </a:r>
          </a:p>
          <a:p xmlns:a="http://schemas.openxmlformats.org/drawingml/2006/main">
            <a:r>
              <a:t>- CL-024: docs/design/avalaos-enterprise-ui-rebaseline.md — Isolated marketing capture</a:t>
            </a:r>
          </a:p>
          <a:p xmlns:a="http://schemas.openxmlformats.org/drawingml/2006/main">
            <a:r>
              <a:t>- Asset: public/marketing/screenshots/ (synthetic committed product captures)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start where recurring automation decisions already exist. Walk through Automation and transformation consultancies, Small and mid-sized enterprise AI / Automation CoEs, Process Excellence teams, and Enterprise Architecture teams. The remaining signals — Enterprise Architecture teams — matter because they keep authority and evidence visible. State the boundary plainly: Go-to-market hypothesis for AP confirmation; not evidence of customers, segment size, or willingness to pay.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Start where recurring automation decisions already exist.</a:t>
            </a:r>
          </a:p>
          <a:p xmlns:a="http://schemas.openxmlformats.org/drawingml/2006/main">
            <a:r>
              <a:t/>
            </a:r>
          </a:p>
          <a:p xmlns:a="http://schemas.openxmlformats.org/drawingml/2006/main">
            <a:r>
              <a:t>AUDIENCE-SPECIFIC EMPHASIS</a:t>
            </a:r>
          </a:p>
          <a:p xmlns:a="http://schemas.openxmlformats.org/drawingml/2006/main">
            <a:r>
              <a:t>Keep the beachhead focused and testable.</a:t>
            </a:r>
          </a:p>
          <a:p xmlns:a="http://schemas.openxmlformats.org/drawingml/2006/main">
            <a:r>
              <a:t/>
            </a:r>
          </a:p>
          <a:p xmlns:a="http://schemas.openxmlformats.org/drawingml/2006/main">
            <a:r>
              <a:t>CLAIMS USED</a:t>
            </a:r>
          </a:p>
          <a:p xmlns:a="http://schemas.openxmlformats.org/drawingml/2006/main">
            <a:r>
              <a:t>CL-029</a:t>
            </a:r>
          </a:p>
          <a:p xmlns:a="http://schemas.openxmlformats.org/drawingml/2006/main">
            <a:r>
              <a:t/>
            </a:r>
          </a:p>
          <a:p xmlns:a="http://schemas.openxmlformats.org/drawingml/2006/main">
            <a:r>
              <a:t>CURRENT VS ROADMAP</a:t>
            </a:r>
          </a:p>
          <a:p xmlns:a="http://schemas.openxmlformats.org/drawingml/2006/main">
            <a:r>
              <a:t>Proposed commercial wedge.</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ICP validation, buyer interviews, design partners, and pipeline evidence.</a:t>
            </a:r>
          </a:p>
          <a:p xmlns:a="http://schemas.openxmlformats.org/drawingml/2006/main">
            <a:r>
              <a:t/>
            </a:r>
          </a:p>
          <a:p xmlns:a="http://schemas.openxmlformats.org/drawingml/2006/main">
            <a:r>
              <a:t>[Sources]</a:t>
            </a:r>
          </a:p>
          <a:p xmlns:a="http://schemas.openxmlformats.org/drawingml/2006/main">
            <a:r>
              <a:t>- CL-029: docs/marketing/decks/source/deck-inputs.yaml — AP-confirmable discussion inputs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the wedge expands along the same governed context. Walk through Process assessment, Decision intelligence, Delivery lineage authority, and Monitor / Admin / Trust server models. The remaining signals — Monitor / Admin / Trust server models and Reusable solution patterns — matter because they keep authority and evidence visible. State the boundary plainly: Current, near-term, and vision status are deliberately separated.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The wedge expands along the same governed context.</a:t>
            </a:r>
          </a:p>
          <a:p xmlns:a="http://schemas.openxmlformats.org/drawingml/2006/main">
            <a:r>
              <a:t/>
            </a:r>
          </a:p>
          <a:p xmlns:a="http://schemas.openxmlformats.org/drawingml/2006/main">
            <a:r>
              <a:t>AUDIENCE-SPECIFIC EMPHASIS</a:t>
            </a:r>
          </a:p>
          <a:p xmlns:a="http://schemas.openxmlformats.org/drawingml/2006/main">
            <a:r>
              <a:t>Show expansion through retained context, not unrelated modules.</a:t>
            </a:r>
          </a:p>
          <a:p xmlns:a="http://schemas.openxmlformats.org/drawingml/2006/main">
            <a:r>
              <a:t/>
            </a:r>
          </a:p>
          <a:p xmlns:a="http://schemas.openxmlformats.org/drawingml/2006/main">
            <a:r>
              <a:t>CLAIMS USED</a:t>
            </a:r>
          </a:p>
          <a:p xmlns:a="http://schemas.openxmlformats.org/drawingml/2006/main">
            <a:r>
              <a:t>CL-005, CL-010, CL-013, CL-017, CL-021, CL-028</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CL-005: docs/00_SOURCE_OF_TRUTH.md — Accepted Capabilities</a:t>
            </a:r>
          </a:p>
          <a:p xmlns:a="http://schemas.openxmlformats.org/drawingml/2006/main">
            <a:r>
              <a:t>- CL-010: docs/architecture/application-portfolio-assessment-architecture.md — Dimensions and Dispositions</a:t>
            </a:r>
          </a:p>
          <a:p xmlns:a="http://schemas.openxmlformats.org/drawingml/2006/main">
            <a:r>
              <a:t>- CL-013: docs/architecture/studio-governed-artifact-authority.md — Scope and trust boundary</a:t>
            </a:r>
          </a:p>
          <a:p xmlns:a="http://schemas.openxmlformats.org/drawingml/2006/main">
            <a:r>
              <a:t>- CL-017: docs/design/avalaos-enterprise-ui-rebaseline.md — Delivery and Monitor</a:t>
            </a:r>
          </a:p>
          <a:p xmlns:a="http://schemas.openxmlformats.org/drawingml/2006/main">
            <a:r>
              <a:t>- CL-021: docs/design/avalaos-enterprise-ui-rebaseline.md — Product surfaces</a:t>
            </a:r>
          </a:p>
          <a:p xmlns:a="http://schemas.openxmlformats.org/drawingml/2006/main">
            <a:r>
              <a:t>- CL-028: components/shared/brand.tsx — AvalaLifecycleLockup; approved master brief — Avala Assemble vision</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defensibility grows from context that survives every stage. Walk through Versioned deterministic logic, Primitive-level operating models, Claim-linked evidence and assumptions, and Human authority for material risk. The remaining signals — Human authority for material risk and Immutable review and artifact ancestry — matter because they keep authority and evidence visible. State the boundary plainly: No patent, proprietary-algorithm, scientific-validation, calibrated-model, or uncopyable-moat claim.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Defensibility grows from context that survives every stage.</a:t>
            </a:r>
          </a:p>
          <a:p xmlns:a="http://schemas.openxmlformats.org/drawingml/2006/main">
            <a:r>
              <a:t/>
            </a:r>
          </a:p>
          <a:p xmlns:a="http://schemas.openxmlformats.org/drawingml/2006/main">
            <a:r>
              <a:t>AUDIENCE-SPECIFIC EMPHASIS</a:t>
            </a:r>
          </a:p>
          <a:p xmlns:a="http://schemas.openxmlformats.org/drawingml/2006/main">
            <a:r>
              <a:t>Present defensibility as accumulated governed context.</a:t>
            </a:r>
          </a:p>
          <a:p xmlns:a="http://schemas.openxmlformats.org/drawingml/2006/main">
            <a:r>
              <a:t/>
            </a:r>
          </a:p>
          <a:p xmlns:a="http://schemas.openxmlformats.org/drawingml/2006/main">
            <a:r>
              <a:t>CLAIMS USED</a:t>
            </a:r>
          </a:p>
          <a:p xmlns:a="http://schemas.openxmlformats.org/drawingml/2006/main">
            <a:r>
              <a:t>CL-006, CL-008, CL-009, CL-010, CL-013, CL-014</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CL-006: docs/architecture/assess-v2-decision-intelligence-architecture.md — Purpose and Deterministic Decision Layers</a:t>
            </a:r>
          </a:p>
          <a:p xmlns:a="http://schemas.openxmlformats.org/drawingml/2006/main">
            <a:r>
              <a:t>- CL-008: docs/00_SOURCE_OF_TRUTH.md — Product and Security Law</a:t>
            </a:r>
          </a:p>
          <a:p xmlns:a="http://schemas.openxmlformats.org/drawingml/2006/main">
            <a:r>
              <a:t>- CL-009: docs/architecture/assess-v2-economics-calibration-architecture.md — Formula Architecture and Calibration</a:t>
            </a:r>
          </a:p>
          <a:p xmlns:a="http://schemas.openxmlformats.org/drawingml/2006/main">
            <a:r>
              <a:t>- CL-010: docs/architecture/application-portfolio-assessment-architecture.md — Dimensions and Dispositions</a:t>
            </a:r>
          </a:p>
          <a:p xmlns:a="http://schemas.openxmlformats.org/drawingml/2006/main">
            <a:r>
              <a:t>- CL-013: docs/architecture/studio-governed-artifact-authority.md — Scope and trust boundary</a:t>
            </a:r>
          </a:p>
          <a:p xmlns:a="http://schemas.openxmlformats.org/drawingml/2006/main">
            <a:r>
              <a:t>- CL-014: docs/architecture/studio-governed-artifact-authority.md — Lifecycle and people</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a services-assisted license can land the platform before recurring hosting. Walk through Upfront enterprise or white-label license, Implementation and enablement, Paid customisation and enhancements, and Optional support and update agreement. The remaining signals — Optional support and update agreement and Hosted enterprise offering — matter because they keep authority and evidence visible. State the boundary plainly: Discussion strategy. Pricing, margins, customers, revenue, and contract terms are not supplied.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A services-assisted license can land the platform before recurring hosting.</a:t>
            </a:r>
          </a:p>
          <a:p xmlns:a="http://schemas.openxmlformats.org/drawingml/2006/main">
            <a:r>
              <a:t/>
            </a:r>
          </a:p>
          <a:p xmlns:a="http://schemas.openxmlformats.org/drawingml/2006/main">
            <a:r>
              <a:t>AUDIENCE-SPECIFIC EMPHASIS</a:t>
            </a:r>
          </a:p>
          <a:p xmlns:a="http://schemas.openxmlformats.org/drawingml/2006/main">
            <a:r>
              <a:t>Keep the monetization path plausible without inventing numbers.</a:t>
            </a:r>
          </a:p>
          <a:p xmlns:a="http://schemas.openxmlformats.org/drawingml/2006/main">
            <a:r>
              <a:t/>
            </a:r>
          </a:p>
          <a:p xmlns:a="http://schemas.openxmlformats.org/drawingml/2006/main">
            <a:r>
              <a:t>CLAIMS USED</a:t>
            </a:r>
          </a:p>
          <a:p xmlns:a="http://schemas.openxmlformats.org/drawingml/2006/main">
            <a:r>
              <a:t>CL-022, CL-029</a:t>
            </a:r>
          </a:p>
          <a:p xmlns:a="http://schemas.openxmlformats.org/drawingml/2006/main">
            <a:r>
              <a:t/>
            </a:r>
          </a:p>
          <a:p xmlns:a="http://schemas.openxmlformats.org/drawingml/2006/main">
            <a:r>
              <a:t>CURRENT VS ROADMAP</a:t>
            </a:r>
          </a:p>
          <a:p xmlns:a="http://schemas.openxmlformats.org/drawingml/2006/main">
            <a:r>
              <a:t>Proposed commercial strategy.</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License range, implementation range, support model, hosted pricing, and target gross margin.</a:t>
            </a:r>
          </a:p>
          <a:p xmlns:a="http://schemas.openxmlformats.org/drawingml/2006/main">
            <a:r>
              <a:t/>
            </a:r>
          </a:p>
          <a:p xmlns:a="http://schemas.openxmlformats.org/drawingml/2006/main">
            <a:r>
              <a:t>[Sources]</a:t>
            </a:r>
          </a:p>
          <a:p xmlns:a="http://schemas.openxmlformats.org/drawingml/2006/main">
            <a:r>
              <a:t>- CL-022: components/public/PublicWebsite.tsx — TrustPage BYOK direction</a:t>
            </a:r>
          </a:p>
          <a:p xmlns:a="http://schemas.openxmlformats.org/drawingml/2006/main">
            <a:r>
              <a:t>- CL-029: docs/marketing/decks/source/deck-inputs.yaml — AP-confirmable discussion inputs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founder-led assessments create the first route to repeatable distribution. Walk through 1: Targeted process assessment, 2: Synthetic reference journey, 3: Design-partner learning, and 4: Consulting / automation partners. The remaining signals — 4: Consulting / automation partners and 5: White-label licensing — matter because they keep authority and evidence visible. State the boundary plainly: Planned route only. No current partnership, pilot, customer, or pipeline claim.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Founder-led assessments create the first route to repeatable distribution.</a:t>
            </a:r>
          </a:p>
          <a:p xmlns:a="http://schemas.openxmlformats.org/drawingml/2006/main">
            <a:r>
              <a:t/>
            </a:r>
          </a:p>
          <a:p xmlns:a="http://schemas.openxmlformats.org/drawingml/2006/main">
            <a:r>
              <a:t>AUDIENCE-SPECIFIC EMPHASIS</a:t>
            </a:r>
          </a:p>
          <a:p xmlns:a="http://schemas.openxmlformats.org/drawingml/2006/main">
            <a:r>
              <a:t>Show a learning loop, not fictional traction.</a:t>
            </a:r>
          </a:p>
          <a:p xmlns:a="http://schemas.openxmlformats.org/drawingml/2006/main">
            <a:r>
              <a:t/>
            </a:r>
          </a:p>
          <a:p xmlns:a="http://schemas.openxmlformats.org/drawingml/2006/main">
            <a:r>
              <a:t>CLAIMS USED</a:t>
            </a:r>
          </a:p>
          <a:p xmlns:a="http://schemas.openxmlformats.org/drawingml/2006/main">
            <a:r>
              <a:t>CL-024, CL-029</a:t>
            </a:r>
          </a:p>
          <a:p xmlns:a="http://schemas.openxmlformats.org/drawingml/2006/main">
            <a:r>
              <a:t/>
            </a:r>
          </a:p>
          <a:p xmlns:a="http://schemas.openxmlformats.org/drawingml/2006/main">
            <a:r>
              <a:t>CURRENT VS ROADMAP</a:t>
            </a:r>
          </a:p>
          <a:p xmlns:a="http://schemas.openxmlformats.org/drawingml/2006/main">
            <a:r>
              <a:t>Proposed go-to-market strategy.</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Founder background, design-partner status, partner evidence, and pipeline.</a:t>
            </a:r>
          </a:p>
          <a:p xmlns:a="http://schemas.openxmlformats.org/drawingml/2006/main">
            <a:r>
              <a:t/>
            </a:r>
          </a:p>
          <a:p xmlns:a="http://schemas.openxmlformats.org/drawingml/2006/main">
            <a:r>
              <a:t>[Sources]</a:t>
            </a:r>
          </a:p>
          <a:p xmlns:a="http://schemas.openxmlformats.org/drawingml/2006/main">
            <a:r>
              <a:t>- CL-024: docs/design/avalaos-enterprise-ui-rebaseline.md — Isolated marketing capture</a:t>
            </a:r>
          </a:p>
          <a:p xmlns:a="http://schemas.openxmlformats.org/drawingml/2006/main">
            <a:r>
              <a:t>- CL-029: docs/marketing/decks/source/deck-inputs.yaml — AP-confirmable discussion inputs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product proof is ahead of commercial proof — and the boundary is explicit. Walk through Tenant authority + Assess, V2 review and Govern handoff, Delivery workbench, and Monitor overview. The remaining signals — Monitor overview and Studio private artifacts — matter because they keep authority and evidence visible. State the boundary plainly: Product verification is not customer adoption. Hosted and live validation remain unproven.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Product proof is ahead of commercial proof — and the boundary is explicit.</a:t>
            </a:r>
          </a:p>
          <a:p xmlns:a="http://schemas.openxmlformats.org/drawingml/2006/main">
            <a:r>
              <a:t/>
            </a:r>
          </a:p>
          <a:p xmlns:a="http://schemas.openxmlformats.org/drawingml/2006/main">
            <a:r>
              <a:t>AUDIENCE-SPECIFIC EMPHASIS</a:t>
            </a:r>
          </a:p>
          <a:p xmlns:a="http://schemas.openxmlformats.org/drawingml/2006/main">
            <a:r>
              <a:t>Make proof maturity a credibility signal.</a:t>
            </a:r>
          </a:p>
          <a:p xmlns:a="http://schemas.openxmlformats.org/drawingml/2006/main">
            <a:r>
              <a:t/>
            </a:r>
          </a:p>
          <a:p xmlns:a="http://schemas.openxmlformats.org/drawingml/2006/main">
            <a:r>
              <a:t>CLAIMS USED</a:t>
            </a:r>
          </a:p>
          <a:p xmlns:a="http://schemas.openxmlformats.org/drawingml/2006/main">
            <a:r>
              <a:t>CL-005, CL-009, CL-010, CL-011, CL-013, CL-015, CL-016, CL-019, CL-021, CL-025, CL-026</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CL-005: docs/00_SOURCE_OF_TRUTH.md — Accepted Capabilities</a:t>
            </a:r>
          </a:p>
          <a:p xmlns:a="http://schemas.openxmlformats.org/drawingml/2006/main">
            <a:r>
              <a:t>- CL-009: docs/architecture/assess-v2-economics-calibration-architecture.md — Formula Architecture and Calibration</a:t>
            </a:r>
          </a:p>
          <a:p xmlns:a="http://schemas.openxmlformats.org/drawingml/2006/main">
            <a:r>
              <a:t>- CL-010: docs/architecture/application-portfolio-assessment-architecture.md — Dimensions and Dispositions</a:t>
            </a:r>
          </a:p>
          <a:p xmlns:a="http://schemas.openxmlformats.org/drawingml/2006/main">
            <a:r>
              <a:t>- CL-011: docs/07_AVALA_GOVERN_FRAMEWORK.md — Current Scope</a:t>
            </a:r>
          </a:p>
          <a:p xmlns:a="http://schemas.openxmlformats.org/drawingml/2006/main">
            <a:r>
              <a:t>- CL-013: docs/architecture/studio-governed-artifact-authority.md — Scope and trust boundary</a:t>
            </a:r>
          </a:p>
          <a:p xmlns:a="http://schemas.openxmlformats.org/drawingml/2006/main">
            <a:r>
              <a:t>- CL-015: docs/architecture/studio-private-artifact-authority.md — Objective and boundary</a:t>
            </a:r>
          </a:p>
          <a:p xmlns:a="http://schemas.openxmlformats.org/drawingml/2006/main">
            <a:r>
              <a:t>- CL-016: docs/02_PRODUCT_REQUIREMENTS.md — Avala Delivery</a:t>
            </a:r>
          </a:p>
          <a:p xmlns:a="http://schemas.openxmlformats.org/drawingml/2006/main">
            <a:r>
              <a:t>- CL-019: docs/design/avalaos-enterprise-ui-rebaseline.md — Delivery and Monitor</a:t>
            </a:r>
          </a:p>
          <a:p xmlns:a="http://schemas.openxmlformats.org/drawingml/2006/main">
            <a:r>
              <a:t>- CL-021: docs/design/avalaos-enterprise-ui-rebaseline.md — Product surfaces</a:t>
            </a:r>
          </a:p>
          <a:p xmlns:a="http://schemas.openxmlformats.org/drawingml/2006/main">
            <a:r>
              <a:t>- CL-025: docs/design/avalaos-enterprise-ui-rebaseline.md — Executed verification</a:t>
            </a:r>
          </a:p>
          <a:p xmlns:a="http://schemas.openxmlformats.org/drawingml/2006/main">
            <a:r>
              <a:t>- CL-026: docs/00_SOURCE_OF_TRUTH.md — Maturity Verdict and Not Accepted Or Proven</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the roadmap converts source proof into controlled commercial proof. Walk through Assess + Govern, Application Portfolio, Accept Studio PR B, and Delivery / Monitor / Admin / Trust authority. The remaining signals — Delivery / Monitor / Admin / Trust authority and Reusable solution blocks — matter because they keep authority and evidence visible. State the boundary plainly: Commercial milestones require AP confirmation; product roadmap items require accepted evidence.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The roadmap converts source proof into controlled commercial proof.</a:t>
            </a:r>
          </a:p>
          <a:p xmlns:a="http://schemas.openxmlformats.org/drawingml/2006/main">
            <a:r>
              <a:t/>
            </a:r>
          </a:p>
          <a:p xmlns:a="http://schemas.openxmlformats.org/drawingml/2006/main">
            <a:r>
              <a:t>AUDIENCE-SPECIFIC EMPHASIS</a:t>
            </a:r>
          </a:p>
          <a:p xmlns:a="http://schemas.openxmlformats.org/drawingml/2006/main">
            <a:r>
              <a:t>Show the next de-risking sequence, not a calendar promise.</a:t>
            </a:r>
          </a:p>
          <a:p xmlns:a="http://schemas.openxmlformats.org/drawingml/2006/main">
            <a:r>
              <a:t/>
            </a:r>
          </a:p>
          <a:p xmlns:a="http://schemas.openxmlformats.org/drawingml/2006/main">
            <a:r>
              <a:t>CLAIMS USED</a:t>
            </a:r>
          </a:p>
          <a:p xmlns:a="http://schemas.openxmlformats.org/drawingml/2006/main">
            <a:r>
              <a:t>CL-013, CL-015, CL-017, CL-021, CL-022, CL-026, CL-028, CL-029</a:t>
            </a:r>
          </a:p>
          <a:p xmlns:a="http://schemas.openxmlformats.org/drawingml/2006/main">
            <a:r>
              <a:t/>
            </a:r>
          </a:p>
          <a:p xmlns:a="http://schemas.openxmlformats.org/drawingml/2006/main">
            <a:r>
              <a:t>CURRENT VS ROADMAP</a:t>
            </a:r>
          </a:p>
          <a:p xmlns:a="http://schemas.openxmlformats.org/drawingml/2006/main">
            <a:r>
              <a:t>Current unless otherwise labelled.</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CL-013: docs/architecture/studio-governed-artifact-authority.md — Scope and trust boundary</a:t>
            </a:r>
          </a:p>
          <a:p xmlns:a="http://schemas.openxmlformats.org/drawingml/2006/main">
            <a:r>
              <a:t>- CL-015: docs/architecture/studio-private-artifact-authority.md — Objective and boundary</a:t>
            </a:r>
          </a:p>
          <a:p xmlns:a="http://schemas.openxmlformats.org/drawingml/2006/main">
            <a:r>
              <a:t>- CL-017: docs/design/avalaos-enterprise-ui-rebaseline.md — Delivery and Monitor</a:t>
            </a:r>
          </a:p>
          <a:p xmlns:a="http://schemas.openxmlformats.org/drawingml/2006/main">
            <a:r>
              <a:t>- CL-021: docs/design/avalaos-enterprise-ui-rebaseline.md — Product surfaces</a:t>
            </a:r>
          </a:p>
          <a:p xmlns:a="http://schemas.openxmlformats.org/drawingml/2006/main">
            <a:r>
              <a:t>- CL-022: components/public/PublicWebsite.tsx — TrustPage BYOK direction</a:t>
            </a:r>
          </a:p>
          <a:p xmlns:a="http://schemas.openxmlformats.org/drawingml/2006/main">
            <a:r>
              <a:t>- CL-026: docs/00_SOURCE_OF_TRUTH.md — Maturity Verdict and Not Accepted Or Proven</a:t>
            </a:r>
          </a:p>
          <a:p xmlns:a="http://schemas.openxmlformats.org/drawingml/2006/main">
            <a:r>
              <a:t>- CL-028: components/shared/brand.tsx — AvalaLifecycleLockup; approved master brief — Avala Assemble vision</a:t>
            </a:r>
          </a:p>
          <a:p xmlns:a="http://schemas.openxmlformats.org/drawingml/2006/main">
            <a:r>
              <a:t>- CL-029: docs/marketing/decks/source/deck-inputs.yaml — AP-confirmable discussion inputs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from deciding what to build to governing how software is assembled. Walk through Forms, Workflows, Extraction, and Validations. The remaining signals — Validations and Approvals — matter because they keep authority and evidence visible. State the boundary plainly: ROADMAP VISION — not a current production-application generation or deployment capability.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From deciding what to build to governing how software is assembled.</a:t>
            </a:r>
          </a:p>
          <a:p xmlns:a="http://schemas.openxmlformats.org/drawingml/2006/main">
            <a:r>
              <a:t/>
            </a:r>
          </a:p>
          <a:p xmlns:a="http://schemas.openxmlformats.org/drawingml/2006/main">
            <a:r>
              <a:t>AUDIENCE-SPECIFIC EMPHASIS</a:t>
            </a:r>
          </a:p>
          <a:p xmlns:a="http://schemas.openxmlformats.org/drawingml/2006/main">
            <a:r>
              <a:t>Differentiate the future vision by its approved evidence and control ancestry.</a:t>
            </a:r>
          </a:p>
          <a:p xmlns:a="http://schemas.openxmlformats.org/drawingml/2006/main">
            <a:r>
              <a:t/>
            </a:r>
          </a:p>
          <a:p xmlns:a="http://schemas.openxmlformats.org/drawingml/2006/main">
            <a:r>
              <a:t>CLAIMS USED</a:t>
            </a:r>
          </a:p>
          <a:p xmlns:a="http://schemas.openxmlformats.org/drawingml/2006/main">
            <a:r>
              <a:t>CL-028</a:t>
            </a:r>
          </a:p>
          <a:p xmlns:a="http://schemas.openxmlformats.org/drawingml/2006/main">
            <a:r>
              <a:t/>
            </a:r>
          </a:p>
          <a:p xmlns:a="http://schemas.openxmlformats.org/drawingml/2006/main">
            <a:r>
              <a:t>CURRENT VS ROADMAP</a:t>
            </a:r>
          </a:p>
          <a:p xmlns:a="http://schemas.openxmlformats.org/drawingml/2006/main">
            <a:r>
              <a:t>Roadmap only.</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None.</a:t>
            </a:r>
          </a:p>
          <a:p xmlns:a="http://schemas.openxmlformats.org/drawingml/2006/main">
            <a:r>
              <a:t/>
            </a:r>
          </a:p>
          <a:p xmlns:a="http://schemas.openxmlformats.org/drawingml/2006/main">
            <a:r>
              <a:t>[Sources]</a:t>
            </a:r>
          </a:p>
          <a:p xmlns:a="http://schemas.openxmlformats.org/drawingml/2006/main">
            <a:r>
              <a:t>- CL-028: components/shared/brand.tsx — AvalaLifecycleLockup; approved master brief — Avala Assemble vision</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TALK TRACK (45–75 seconds)</a:t>
            </a:r>
          </a:p>
          <a:p xmlns:a="http://schemas.openxmlformats.org/drawingml/2006/main">
            <a:r>
              <a:t>Use this slide to establish that capital would convert product proof into controlled market proof. Walk through Deployment-backed BYOK, Operational and pilot controls, Delivery / Monitor / Admin / Trust engineering, and First design partners. The remaining signals — First design partners and Focused go-to-market — matter because they keep authority and evidence visible. State the boundary plainly: Round, amount, runway, founder credentials, traction, legal entity, and contact details are intentionally omitted until supplied. Pause on the consequence for this audience before advancing to the next stage of the story.</a:t>
            </a:r>
          </a:p>
          <a:p xmlns:a="http://schemas.openxmlformats.org/drawingml/2006/main">
            <a:r>
              <a:t/>
            </a:r>
          </a:p>
          <a:p xmlns:a="http://schemas.openxmlformats.org/drawingml/2006/main">
            <a:r>
              <a:t>KEY POINT</a:t>
            </a:r>
          </a:p>
          <a:p xmlns:a="http://schemas.openxmlformats.org/drawingml/2006/main">
            <a:r>
              <a:t>Capital would convert product proof into controlled market proof.</a:t>
            </a:r>
          </a:p>
          <a:p xmlns:a="http://schemas.openxmlformats.org/drawingml/2006/main">
            <a:r>
              <a:t/>
            </a:r>
          </a:p>
          <a:p xmlns:a="http://schemas.openxmlformats.org/drawingml/2006/main">
            <a:r>
              <a:t>AUDIENCE-SPECIFIC EMPHASIS</a:t>
            </a:r>
          </a:p>
          <a:p xmlns:a="http://schemas.openxmlformats.org/drawingml/2006/main">
            <a:r>
              <a:t>Close on the de-risking objective rather than missing numbers.</a:t>
            </a:r>
          </a:p>
          <a:p xmlns:a="http://schemas.openxmlformats.org/drawingml/2006/main">
            <a:r>
              <a:t/>
            </a:r>
          </a:p>
          <a:p xmlns:a="http://schemas.openxmlformats.org/drawingml/2006/main">
            <a:r>
              <a:t>CLAIMS USED</a:t>
            </a:r>
          </a:p>
          <a:p xmlns:a="http://schemas.openxmlformats.org/drawingml/2006/main">
            <a:r>
              <a:t>CL-022, CL-026, CL-029</a:t>
            </a:r>
          </a:p>
          <a:p xmlns:a="http://schemas.openxmlformats.org/drawingml/2006/main">
            <a:r>
              <a:t/>
            </a:r>
          </a:p>
          <a:p xmlns:a="http://schemas.openxmlformats.org/drawingml/2006/main">
            <a:r>
              <a:t>CURRENT VS ROADMAP</a:t>
            </a:r>
          </a:p>
          <a:p xmlns:a="http://schemas.openxmlformats.org/drawingml/2006/main">
            <a:r>
              <a:t>Proposed use-of-funds direction.</a:t>
            </a:r>
          </a:p>
          <a:p xmlns:a="http://schemas.openxmlformats.org/drawingml/2006/main">
            <a:r>
              <a:t/>
            </a:r>
          </a:p>
          <a:p xmlns:a="http://schemas.openxmlformats.org/drawingml/2006/main">
            <a:r>
              <a:t>LIKELY OBJECTION</a:t>
            </a:r>
          </a:p>
          <a:p xmlns:a="http://schemas.openxmlformats.org/drawingml/2006/main">
            <a:r>
              <a:t>How does this change the next decision?</a:t>
            </a:r>
          </a:p>
          <a:p xmlns:a="http://schemas.openxmlformats.org/drawingml/2006/main">
            <a:r>
              <a:t/>
            </a:r>
          </a:p>
          <a:p xmlns:a="http://schemas.openxmlformats.org/drawingml/2006/main">
            <a:r>
              <a:t>SUGGESTED RESPONSE</a:t>
            </a:r>
          </a:p>
          <a:p xmlns:a="http://schemas.openxmlformats.org/drawingml/2006/main">
            <a:r>
              <a:t>It makes the evidence, authority, and handoff condition visible before execution begins.</a:t>
            </a:r>
          </a:p>
          <a:p xmlns:a="http://schemas.openxmlformats.org/drawingml/2006/main">
            <a:r>
              <a:t/>
            </a:r>
          </a:p>
          <a:p xmlns:a="http://schemas.openxmlformats.org/drawingml/2006/main">
            <a:r>
              <a:t>AP INPUT REQUIRED</a:t>
            </a:r>
          </a:p>
          <a:p xmlns:a="http://schemas.openxmlformats.org/drawingml/2006/main">
            <a:r>
              <a:t>Founder, team, legal entity, round, raise amount, runway, use of funds, traction, and contact details.</a:t>
            </a:r>
          </a:p>
          <a:p xmlns:a="http://schemas.openxmlformats.org/drawingml/2006/main">
            <a:r>
              <a:t/>
            </a:r>
          </a:p>
          <a:p xmlns:a="http://schemas.openxmlformats.org/drawingml/2006/main">
            <a:r>
              <a:t>[Sources]</a:t>
            </a:r>
          </a:p>
          <a:p xmlns:a="http://schemas.openxmlformats.org/drawingml/2006/main">
            <a:r>
              <a:t>- CL-022: components/public/PublicWebsite.tsx — TrustPage BYOK direction</a:t>
            </a:r>
          </a:p>
          <a:p xmlns:a="http://schemas.openxmlformats.org/drawingml/2006/main">
            <a:r>
              <a:t>- CL-026: docs/00_SOURCE_OF_TRUTH.md — Maturity Verdict and Not Accepted Or Proven</a:t>
            </a:r>
          </a:p>
          <a:p xmlns:a="http://schemas.openxmlformats.org/drawingml/2006/main">
            <a:r>
              <a:t>- CL-029: docs/marketing/decks/source/deck-inputs.yaml — AP-confirmable discussion inputs</a:t>
            </a:r>
          </a:p>
          <a:p xmlns:a="http://schemas.openxmlformats.org/drawingml/2006/main">
            <a:r>
              <a:t>- Fonts: Outfit and Inter, SIL Open Font License 1.1; bundled under docs/marketing/decks/assets/fonts/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bfcf4796a4456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61f4bd0d3f4cd7" /><Relationship Type="http://schemas.openxmlformats.org/officeDocument/2006/relationships/slideLayout" Target="/ppt/slideLayouts/slideLayout1.xml" Id="Rfbb2c9f7a78647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bb2c9f7a78647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12f244841104ba7" /><Relationship Type="http://schemas.openxmlformats.org/officeDocument/2006/relationships/image" Target="/ppt/media/image.png" Id="Re3521cda85fc4550" /><Relationship Type="http://schemas.openxmlformats.org/officeDocument/2006/relationships/notesSlide" Target="/ppt/notesSlides/notesSlide1.xml" Id="R645c5b87629c4d9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0de4edb93d34365" /><Relationship Type="http://schemas.openxmlformats.org/officeDocument/2006/relationships/notesSlide" Target="/ppt/notesSlides/notesSlide2.xml" Id="R918c6c423ff2461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b3774a9dbfb41de" /><Relationship Type="http://schemas.openxmlformats.org/officeDocument/2006/relationships/notesSlide" Target="/ppt/notesSlides/notesSlide3.xml" Id="R7a857247aea04a2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a8736c725e64213" /><Relationship Type="http://schemas.openxmlformats.org/officeDocument/2006/relationships/notesSlide" Target="/ppt/notesSlides/notesSlide4.xml" Id="Rb43fa225f266454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19bf4dc95e24642" /><Relationship Type="http://schemas.openxmlformats.org/officeDocument/2006/relationships/notesSlide" Target="/ppt/notesSlides/notesSlide5.xml" Id="R6c926c39b5da4e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852b8ef7af4ed6" /><Relationship Type="http://schemas.openxmlformats.org/officeDocument/2006/relationships/image" Target="/ppt/media/image2.png" Id="Rbc7c2beac7de44c5" /><Relationship Type="http://schemas.openxmlformats.org/officeDocument/2006/relationships/image" Target="/ppt/media/image3.png" Id="Rf186fdefee294b22" /><Relationship Type="http://schemas.openxmlformats.org/officeDocument/2006/relationships/image" Target="/ppt/media/image4.png" Id="R6478b3257cb648e3" /><Relationship Type="http://schemas.openxmlformats.org/officeDocument/2006/relationships/image" Target="/ppt/media/image5.png" Id="Ra55b766d90a84667" /><Relationship Type="http://schemas.openxmlformats.org/officeDocument/2006/relationships/image" Target="/ppt/media/image6.png" Id="R9a43cffc8fd64ede" /><Relationship Type="http://schemas.openxmlformats.org/officeDocument/2006/relationships/notesSlide" Target="/ppt/notesSlides/notesSlide6.xml" Id="Rca5b7a1e7c5142c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50e4e6bd0f74af7" /><Relationship Type="http://schemas.openxmlformats.org/officeDocument/2006/relationships/notesSlide" Target="/ppt/notesSlides/notesSlide7.xml" Id="R7819bb9efe284d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ec43cda65f74c9e" /><Relationship Type="http://schemas.openxmlformats.org/officeDocument/2006/relationships/notesSlide" Target="/ppt/notesSlides/notesSlide8.xml" Id="Rd234e7dc479c47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adaec969c0f4eb1" /><Relationship Type="http://schemas.openxmlformats.org/officeDocument/2006/relationships/notesSlide" Target="/ppt/notesSlides/notesSlide9.xml" Id="R8016bc7a5cad4a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15ad916e4554184" /><Relationship Type="http://schemas.openxmlformats.org/officeDocument/2006/relationships/notesSlide" Target="/ppt/notesSlides/notesSlide10.xml" Id="Rdd3dfadd6f604ef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2c0506a506445fe" /><Relationship Type="http://schemas.openxmlformats.org/officeDocument/2006/relationships/notesSlide" Target="/ppt/notesSlides/notesSlide11.xml" Id="R6b9c479c5f2b496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d04c571f9154be8" /><Relationship Type="http://schemas.openxmlformats.org/officeDocument/2006/relationships/notesSlide" Target="/ppt/notesSlides/notesSlide12.xml" Id="R29c696b84971472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89023803ca942a7" /><Relationship Type="http://schemas.openxmlformats.org/officeDocument/2006/relationships/notesSlide" Target="/ppt/notesSlides/notesSlide13.xml" Id="Re19184c00eb24f2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0f37c01e0b04673" /><Relationship Type="http://schemas.openxmlformats.org/officeDocument/2006/relationships/notesSlide" Target="/ppt/notesSlides/notesSlide14.xml" Id="Rd8538952c99d4db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746afb68213444f" /><Relationship Type="http://schemas.openxmlformats.org/officeDocument/2006/relationships/notesSlide" Target="/ppt/notesSlides/notesSlide15.xml" Id="R6620c23ca8f94fd0" /></Relationships>
</file>

<file path=ppt/slides/slide1.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AEDB9CB-73F2-45D3-B05A-B86D4174442C}"/>
              </a:ext>
            </a:extLst>
          </p:cNvPr>
          <p:cNvSpPr>
            <a:spLocks xmlns:a="http://schemas.openxmlformats.org/drawingml/2006/main" noGrp="1"/>
          </p:cNvSpPr>
          <p:nvPr/>
        </p:nvSpPr>
        <p:spPr>
          <a:xfrm xmlns:a="http://schemas.openxmlformats.org/drawingml/2006/main">
            <a:off x="609600" y="514350"/>
            <a:ext cx="800100" cy="57150"/>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3F49D1D-E932-4B3A-940C-532ECDE28E48}"/>
              </a:ext>
            </a:extLst>
          </p:cNvPr>
          <p:cNvSpPr>
            <a:spLocks xmlns:a="http://schemas.openxmlformats.org/drawingml/2006/main" noGrp="1"/>
          </p:cNvSpPr>
          <p:nvPr/>
        </p:nvSpPr>
        <p:spPr>
          <a:xfrm xmlns:a="http://schemas.openxmlformats.org/drawingml/2006/main">
            <a:off x="609600" y="742950"/>
            <a:ext cx="5238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AVALAOS • INVESTOR DISCUSSION DRAFT</a:t>
            </a:r>
          </a:p>
        </p:txBody>
      </p:sp>
      <p:sp>
        <p:nvSpPr>
          <p:cNvPr id="3" name="">
            <a:extLst xmlns:a="http://schemas.openxmlformats.org/drawingml/2006/main">
              <a:ext uri="{FF2B5EF4-FFF2-40B4-BE49-F238E27FC236}">
                <a16:creationId xmlns:a16="http://schemas.microsoft.com/office/drawing/2014/main" id="{3D462250-B2FF-4D56-807E-F0199B1ED2F2}"/>
              </a:ext>
            </a:extLst>
          </p:cNvPr>
          <p:cNvSpPr>
            <a:spLocks xmlns:a="http://schemas.openxmlformats.org/drawingml/2006/main" noGrp="1"/>
          </p:cNvSpPr>
          <p:nvPr/>
        </p:nvSpPr>
        <p:spPr>
          <a:xfrm xmlns:a="http://schemas.openxmlformats.org/drawingml/2006/main">
            <a:off x="609600" y="1285875"/>
            <a:ext cx="5143500" cy="2190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600" b="1">
                <a:solidFill>
                  <a:srgbClr val="FFFFFF"/>
                </a:solidFill>
                <a:latin typeface="Outfit"/>
                <a:ea typeface="Outfit"/>
                <a:cs typeface="Outfit"/>
              </a:defRPr>
            </a:pPr>
            <a:r>
              <a:rPr sz="3600" b="1">
                <a:solidFill>
                  <a:srgbClr val="FFFFFF"/>
                </a:solidFill>
                <a:latin typeface="Outfit"/>
                <a:ea typeface="Outfit"/>
                <a:cs typeface="Outfit"/>
              </a:rPr>
              <a:t>The operating system for governed AI and automation decisions.</a:t>
            </a:r>
          </a:p>
        </p:txBody>
      </p:sp>
      <p:sp>
        <p:nvSpPr>
          <p:cNvPr id="4" name="">
            <a:extLst xmlns:a="http://schemas.openxmlformats.org/drawingml/2006/main">
              <a:ext uri="{FF2B5EF4-FFF2-40B4-BE49-F238E27FC236}">
                <a16:creationId xmlns:a16="http://schemas.microsoft.com/office/drawing/2014/main" id="{9A326FAF-4565-4B04-A96E-BCAFFCEB7E4E}"/>
              </a:ext>
            </a:extLst>
          </p:cNvPr>
          <p:cNvSpPr>
            <a:spLocks xmlns:a="http://schemas.openxmlformats.org/drawingml/2006/main" noGrp="1"/>
          </p:cNvSpPr>
          <p:nvPr/>
        </p:nvSpPr>
        <p:spPr>
          <a:xfrm xmlns:a="http://schemas.openxmlformats.org/drawingml/2006/main">
            <a:off x="609600" y="3714750"/>
            <a:ext cx="4762500" cy="1047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75" b="0">
                <a:solidFill>
                  <a:srgbClr val="DCE6EF"/>
                </a:solidFill>
                <a:latin typeface="Inter"/>
                <a:ea typeface="Inter"/>
                <a:cs typeface="Inter"/>
              </a:defRPr>
            </a:pPr>
            <a:r>
              <a:rPr sz="1575" b="0">
                <a:solidFill>
                  <a:srgbClr val="DCE6EF"/>
                </a:solidFill>
                <a:latin typeface="Inter"/>
                <a:ea typeface="Inter"/>
                <a:cs typeface="Inter"/>
              </a:rPr>
              <a:t>Evaluate before you automate. Govern before you execute.</a:t>
            </a:r>
          </a:p>
        </p:txBody>
      </p:sp>
      <p:sp>
        <p:nvSpPr>
          <p:cNvPr id="5" name="">
            <a:extLst xmlns:a="http://schemas.openxmlformats.org/drawingml/2006/main">
              <a:ext uri="{FF2B5EF4-FFF2-40B4-BE49-F238E27FC236}">
                <a16:creationId xmlns:a16="http://schemas.microsoft.com/office/drawing/2014/main" id="{70DEF068-983E-4CF4-8408-F266BAFA6CED}"/>
              </a:ext>
            </a:extLst>
          </p:cNvPr>
          <p:cNvSpPr>
            <a:spLocks xmlns:a="http://schemas.openxmlformats.org/drawingml/2006/main" noGrp="1"/>
          </p:cNvSpPr>
          <p:nvPr/>
        </p:nvSpPr>
        <p:spPr>
          <a:xfrm xmlns:a="http://schemas.openxmlformats.org/drawingml/2006/main">
            <a:off x="6134100" y="990600"/>
            <a:ext cx="5505450" cy="4257675"/>
          </a:xfrm>
          <a:prstGeom xmlns:a="http://schemas.openxmlformats.org/drawingml/2006/main" prst="roundRect">
            <a:avLst>
              <a:gd name="adj" fmla="val 1790"/>
            </a:avLst>
          </a:prstGeom>
          <a:solidFill xmlns:a="http://schemas.openxmlformats.org/drawingml/2006/main">
            <a:srgbClr val="002C4B"/>
          </a:solidFill>
          <a:ln xmlns:a="http://schemas.openxmlformats.org/drawingml/2006/main" w="9525">
            <a:solidFill>
              <a:srgbClr val="0C3B5B"/>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3521cda85fc4550"/>
          <a:srcRect xmlns:a="http://schemas.openxmlformats.org/drawingml/2006/main" l="797" t="0" r="797" b="0"/>
          <a:stretch xmlns:a="http://schemas.openxmlformats.org/drawingml/2006/main">
            <a:fillRect l="0" t="0" r="0" b="0"/>
          </a:stretch>
        </p:blipFill>
        <p:spPr>
          <a:xfrm xmlns:a="http://schemas.openxmlformats.org/drawingml/2006/main">
            <a:off x="6191250" y="1047750"/>
            <a:ext cx="5391150" cy="4143375"/>
          </a:xfrm>
          <a:prstGeom xmlns:a="http://schemas.openxmlformats.org/drawingml/2006/main" prst="roundRect">
            <a:avLst>
              <a:gd name="adj" fmla="val 2759"/>
            </a:avLst>
          </a:prstGeom>
        </p:spPr>
      </p:pic>
      <p:sp>
        <p:nvSpPr>
          <p:cNvPr id="7" name="">
            <a:extLst xmlns:a="http://schemas.openxmlformats.org/drawingml/2006/main">
              <a:ext uri="{FF2B5EF4-FFF2-40B4-BE49-F238E27FC236}">
                <a16:creationId xmlns:a16="http://schemas.microsoft.com/office/drawing/2014/main" id="{328C2F59-001F-4B3B-BA4C-27736C41E345}"/>
              </a:ext>
            </a:extLst>
          </p:cNvPr>
          <p:cNvSpPr>
            <a:spLocks xmlns:a="http://schemas.openxmlformats.org/drawingml/2006/main" noGrp="1"/>
          </p:cNvSpPr>
          <p:nvPr/>
        </p:nvSpPr>
        <p:spPr>
          <a:xfrm xmlns:a="http://schemas.openxmlformats.org/drawingml/2006/main">
            <a:off x="609600" y="5381625"/>
            <a:ext cx="4476750" cy="285750"/>
          </a:xfrm>
          <a:prstGeom xmlns:a="http://schemas.openxmlformats.org/drawingml/2006/main" prst="roundRect">
            <a:avLst>
              <a:gd name="adj" fmla="val 26667"/>
            </a:avLst>
          </a:prstGeom>
          <a:solidFill xmlns:a="http://schemas.openxmlformats.org/drawingml/2006/main">
            <a:srgbClr val="002C4B"/>
          </a:solidFill>
          <a:ln xmlns:a="http://schemas.openxmlformats.org/drawingml/2006/main" w="9525">
            <a:solidFill>
              <a:srgbClr val="0C3B5B"/>
            </a:solidFill>
            <a:prstDash val="solid"/>
          </a:ln>
        </p:spPr>
      </p:sp>
      <p:sp>
        <p:nvSpPr>
          <p:cNvPr id="8" name="">
            <a:extLst xmlns:a="http://schemas.openxmlformats.org/drawingml/2006/main">
              <a:ext uri="{FF2B5EF4-FFF2-40B4-BE49-F238E27FC236}">
                <a16:creationId xmlns:a16="http://schemas.microsoft.com/office/drawing/2014/main" id="{6F01F9D0-0034-4593-BDD6-D8A74DE710EE}"/>
              </a:ext>
            </a:extLst>
          </p:cNvPr>
          <p:cNvSpPr>
            <a:spLocks xmlns:a="http://schemas.openxmlformats.org/drawingml/2006/main" noGrp="1"/>
          </p:cNvSpPr>
          <p:nvPr/>
        </p:nvSpPr>
        <p:spPr>
          <a:xfrm xmlns:a="http://schemas.openxmlformats.org/drawingml/2006/main">
            <a:off x="704850" y="5438775"/>
            <a:ext cx="428625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Inter"/>
                <a:ea typeface="Inter"/>
                <a:cs typeface="Inter"/>
              </a:defRPr>
            </a:pPr>
            <a:r>
              <a:rPr sz="900" b="1">
                <a:solidFill>
                  <a:srgbClr val="FFFFFF"/>
                </a:solidFill>
                <a:latin typeface="Inter"/>
                <a:ea typeface="Inter"/>
                <a:cs typeface="Inter"/>
              </a:rPr>
              <a:t>EVIDENCE • HUMAN AUTHORITY • TRACEABLE HANDOFF</a:t>
            </a:r>
          </a:p>
        </p:txBody>
      </p:sp>
      <p:sp>
        <p:nvSpPr>
          <p:cNvPr id="9" name="">
            <a:extLst xmlns:a="http://schemas.openxmlformats.org/drawingml/2006/main">
              <a:ext uri="{FF2B5EF4-FFF2-40B4-BE49-F238E27FC236}">
                <a16:creationId xmlns:a16="http://schemas.microsoft.com/office/drawing/2014/main" id="{98CD003C-433E-491C-900B-21E03446F99A}"/>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The Operating System for Governed AI and Automation Decisions • Pre-seed enterprise software, automation, workflow, and AI-governance investors</a:t>
            </a:r>
          </a:p>
        </p:txBody>
      </p:sp>
      <p:sp>
        <p:nvSpPr>
          <p:cNvPr id="10" name="">
            <a:extLst xmlns:a="http://schemas.openxmlformats.org/drawingml/2006/main">
              <a:ext uri="{FF2B5EF4-FFF2-40B4-BE49-F238E27FC236}">
                <a16:creationId xmlns:a16="http://schemas.microsoft.com/office/drawing/2014/main" id="{75DA4BF6-E69D-4827-AA41-227FA6E25CC9}"/>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Synthetic product preview. No live execution or commercial traction implied.</a:t>
            </a:r>
          </a:p>
        </p:txBody>
      </p:sp>
      <p:sp>
        <p:nvSpPr>
          <p:cNvPr id="11" name="">
            <a:extLst xmlns:a="http://schemas.openxmlformats.org/drawingml/2006/main">
              <a:ext uri="{FF2B5EF4-FFF2-40B4-BE49-F238E27FC236}">
                <a16:creationId xmlns:a16="http://schemas.microsoft.com/office/drawing/2014/main" id="{A9ABBE72-29FF-430F-A65A-A2BD1D048446}"/>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01</a:t>
            </a:r>
          </a:p>
        </p:txBody>
      </p:sp>
    </p:spTree>
    <p:extLst>
      <p:ext uri="{BB962C8B-B14F-4D97-AF65-F5344CB8AC3E}">
        <p14:creationId xmlns:p14="http://schemas.microsoft.com/office/powerpoint/2010/main" val="1660140700"/>
      </p:ext>
    </p:extLst>
  </p:cSld>
</p:sld>
</file>

<file path=ppt/slides/slide2.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256320D-5D01-4A4B-BC44-1051C55C0345}"/>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8CB4639-0178-4B60-8AE6-D3595DE10F03}"/>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THE PROBLEM</a:t>
            </a:r>
          </a:p>
        </p:txBody>
      </p:sp>
      <p:sp>
        <p:nvSpPr>
          <p:cNvPr id="3" name="">
            <a:extLst xmlns:a="http://schemas.openxmlformats.org/drawingml/2006/main">
              <a:ext uri="{FF2B5EF4-FFF2-40B4-BE49-F238E27FC236}">
                <a16:creationId xmlns:a16="http://schemas.microsoft.com/office/drawing/2014/main" id="{F50B79B0-25E4-463C-8117-E3FCBB943223}"/>
              </a:ext>
            </a:extLst>
          </p:cNvPr>
          <p:cNvSpPr>
            <a:spLocks xmlns:a="http://schemas.openxmlformats.org/drawingml/2006/main" noGrp="1"/>
          </p:cNvSpPr>
          <p:nvPr/>
        </p:nvSpPr>
        <p:spPr>
          <a:xfrm xmlns:a="http://schemas.openxmlformats.org/drawingml/2006/main">
            <a:off x="609600" y="1000125"/>
            <a:ext cx="5429250" cy="2095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3375" b="1">
                <a:solidFill>
                  <a:srgbClr val="FFFFFF"/>
                </a:solidFill>
                <a:latin typeface="Outfit"/>
                <a:ea typeface="Outfit"/>
                <a:cs typeface="Outfit"/>
              </a:defRPr>
            </a:pPr>
            <a:r>
              <a:rPr sz="3375" b="1">
                <a:solidFill>
                  <a:srgbClr val="FFFFFF"/>
                </a:solidFill>
                <a:latin typeface="Outfit"/>
                <a:ea typeface="Outfit"/>
                <a:cs typeface="Outfit"/>
              </a:rPr>
              <a:t>Enterprises have automation tools. They lack one governed decision path.</a:t>
            </a:r>
          </a:p>
        </p:txBody>
      </p:sp>
      <p:sp>
        <p:nvSpPr>
          <p:cNvPr id="4" name="">
            <a:extLst xmlns:a="http://schemas.openxmlformats.org/drawingml/2006/main">
              <a:ext uri="{FF2B5EF4-FFF2-40B4-BE49-F238E27FC236}">
                <a16:creationId xmlns:a16="http://schemas.microsoft.com/office/drawing/2014/main" id="{E49EE8EF-76DE-4021-9089-BD27EFF61A7D}"/>
              </a:ext>
            </a:extLst>
          </p:cNvPr>
          <p:cNvSpPr>
            <a:spLocks xmlns:a="http://schemas.openxmlformats.org/drawingml/2006/main" noGrp="1"/>
          </p:cNvSpPr>
          <p:nvPr/>
        </p:nvSpPr>
        <p:spPr>
          <a:xfrm xmlns:a="http://schemas.openxmlformats.org/drawingml/2006/main">
            <a:off x="609600" y="3333750"/>
            <a:ext cx="4000500" cy="4762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1CF1A13-7CDE-4405-9B4E-967175E916D9}"/>
              </a:ext>
            </a:extLst>
          </p:cNvPr>
          <p:cNvSpPr>
            <a:spLocks xmlns:a="http://schemas.openxmlformats.org/drawingml/2006/main" noGrp="1"/>
          </p:cNvSpPr>
          <p:nvPr/>
        </p:nvSpPr>
        <p:spPr>
          <a:xfrm xmlns:a="http://schemas.openxmlformats.org/drawingml/2006/main">
            <a:off x="6858000" y="12954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427ED1AC-B31A-4CD8-B349-2EFDA7D9A67D}"/>
              </a:ext>
            </a:extLst>
          </p:cNvPr>
          <p:cNvSpPr>
            <a:spLocks xmlns:a="http://schemas.openxmlformats.org/drawingml/2006/main" noGrp="1"/>
          </p:cNvSpPr>
          <p:nvPr/>
        </p:nvSpPr>
        <p:spPr>
          <a:xfrm xmlns:a="http://schemas.openxmlformats.org/drawingml/2006/main">
            <a:off x="7086600" y="12192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Tool-first selection</a:t>
            </a:r>
          </a:p>
        </p:txBody>
      </p:sp>
      <p:sp>
        <p:nvSpPr>
          <p:cNvPr id="7" name="">
            <a:extLst xmlns:a="http://schemas.openxmlformats.org/drawingml/2006/main">
              <a:ext uri="{FF2B5EF4-FFF2-40B4-BE49-F238E27FC236}">
                <a16:creationId xmlns:a16="http://schemas.microsoft.com/office/drawing/2014/main" id="{DC07C7B7-5BB8-4BBE-982D-B0FDE7CA09F9}"/>
              </a:ext>
            </a:extLst>
          </p:cNvPr>
          <p:cNvSpPr>
            <a:spLocks xmlns:a="http://schemas.openxmlformats.org/drawingml/2006/main" noGrp="1"/>
          </p:cNvSpPr>
          <p:nvPr/>
        </p:nvSpPr>
        <p:spPr>
          <a:xfrm xmlns:a="http://schemas.openxmlformats.org/drawingml/2006/main">
            <a:off x="6858000" y="20193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0C3D0F30-0901-46EB-AE6A-0C12DEACA215}"/>
              </a:ext>
            </a:extLst>
          </p:cNvPr>
          <p:cNvSpPr>
            <a:spLocks xmlns:a="http://schemas.openxmlformats.org/drawingml/2006/main" noGrp="1"/>
          </p:cNvSpPr>
          <p:nvPr/>
        </p:nvSpPr>
        <p:spPr>
          <a:xfrm xmlns:a="http://schemas.openxmlformats.org/drawingml/2006/main">
            <a:off x="7086600" y="19431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Fragmented assessment</a:t>
            </a:r>
          </a:p>
        </p:txBody>
      </p:sp>
      <p:sp>
        <p:nvSpPr>
          <p:cNvPr id="9" name="">
            <a:extLst xmlns:a="http://schemas.openxmlformats.org/drawingml/2006/main">
              <a:ext uri="{FF2B5EF4-FFF2-40B4-BE49-F238E27FC236}">
                <a16:creationId xmlns:a16="http://schemas.microsoft.com/office/drawing/2014/main" id="{B89A9DD0-BF46-4AC3-8F10-129DF0930B8A}"/>
              </a:ext>
            </a:extLst>
          </p:cNvPr>
          <p:cNvSpPr>
            <a:spLocks xmlns:a="http://schemas.openxmlformats.org/drawingml/2006/main" noGrp="1"/>
          </p:cNvSpPr>
          <p:nvPr/>
        </p:nvSpPr>
        <p:spPr>
          <a:xfrm xmlns:a="http://schemas.openxmlformats.org/drawingml/2006/main">
            <a:off x="6858000" y="27432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100CE3D7-F2FA-4296-A725-DA1EE1351ACE}"/>
              </a:ext>
            </a:extLst>
          </p:cNvPr>
          <p:cNvSpPr>
            <a:spLocks xmlns:a="http://schemas.openxmlformats.org/drawingml/2006/main" noGrp="1"/>
          </p:cNvSpPr>
          <p:nvPr/>
        </p:nvSpPr>
        <p:spPr>
          <a:xfrm xmlns:a="http://schemas.openxmlformats.org/drawingml/2006/main">
            <a:off x="7086600" y="26670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Missing evidence</a:t>
            </a:r>
          </a:p>
        </p:txBody>
      </p:sp>
      <p:sp>
        <p:nvSpPr>
          <p:cNvPr id="11" name="">
            <a:extLst xmlns:a="http://schemas.openxmlformats.org/drawingml/2006/main">
              <a:ext uri="{FF2B5EF4-FFF2-40B4-BE49-F238E27FC236}">
                <a16:creationId xmlns:a16="http://schemas.microsoft.com/office/drawing/2014/main" id="{49EFCDD4-96F8-415E-BD64-1E06850DC3DF}"/>
              </a:ext>
            </a:extLst>
          </p:cNvPr>
          <p:cNvSpPr>
            <a:spLocks xmlns:a="http://schemas.openxmlformats.org/drawingml/2006/main" noGrp="1"/>
          </p:cNvSpPr>
          <p:nvPr/>
        </p:nvSpPr>
        <p:spPr>
          <a:xfrm xmlns:a="http://schemas.openxmlformats.org/drawingml/2006/main">
            <a:off x="6858000" y="34671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7005696C-8354-474B-A88B-08019CA3CD6B}"/>
              </a:ext>
            </a:extLst>
          </p:cNvPr>
          <p:cNvSpPr>
            <a:spLocks xmlns:a="http://schemas.openxmlformats.org/drawingml/2006/main" noGrp="1"/>
          </p:cNvSpPr>
          <p:nvPr/>
        </p:nvSpPr>
        <p:spPr>
          <a:xfrm xmlns:a="http://schemas.openxmlformats.org/drawingml/2006/main">
            <a:off x="7086600" y="33909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Inconsistent governance</a:t>
            </a:r>
          </a:p>
        </p:txBody>
      </p:sp>
      <p:sp>
        <p:nvSpPr>
          <p:cNvPr id="13" name="">
            <a:extLst xmlns:a="http://schemas.openxmlformats.org/drawingml/2006/main">
              <a:ext uri="{FF2B5EF4-FFF2-40B4-BE49-F238E27FC236}">
                <a16:creationId xmlns:a16="http://schemas.microsoft.com/office/drawing/2014/main" id="{A70BEEBE-1122-4353-9628-84E287DC5558}"/>
              </a:ext>
            </a:extLst>
          </p:cNvPr>
          <p:cNvSpPr>
            <a:spLocks xmlns:a="http://schemas.openxmlformats.org/drawingml/2006/main" noGrp="1"/>
          </p:cNvSpPr>
          <p:nvPr/>
        </p:nvSpPr>
        <p:spPr>
          <a:xfrm xmlns:a="http://schemas.openxmlformats.org/drawingml/2006/main">
            <a:off x="6858000" y="41910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CD60851A-CAC9-455D-A12E-7B94CD11B6C5}"/>
              </a:ext>
            </a:extLst>
          </p:cNvPr>
          <p:cNvSpPr>
            <a:spLocks xmlns:a="http://schemas.openxmlformats.org/drawingml/2006/main" noGrp="1"/>
          </p:cNvSpPr>
          <p:nvPr/>
        </p:nvSpPr>
        <p:spPr>
          <a:xfrm xmlns:a="http://schemas.openxmlformats.org/drawingml/2006/main">
            <a:off x="7086600" y="41148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Handoff loss</a:t>
            </a:r>
          </a:p>
        </p:txBody>
      </p:sp>
      <p:sp>
        <p:nvSpPr>
          <p:cNvPr id="15" name="">
            <a:extLst xmlns:a="http://schemas.openxmlformats.org/drawingml/2006/main">
              <a:ext uri="{FF2B5EF4-FFF2-40B4-BE49-F238E27FC236}">
                <a16:creationId xmlns:a16="http://schemas.microsoft.com/office/drawing/2014/main" id="{DE73B74C-FA63-4B76-8228-06EC60367B66}"/>
              </a:ext>
            </a:extLst>
          </p:cNvPr>
          <p:cNvSpPr>
            <a:spLocks xmlns:a="http://schemas.openxmlformats.org/drawingml/2006/main" noGrp="1"/>
          </p:cNvSpPr>
          <p:nvPr/>
        </p:nvSpPr>
        <p:spPr>
          <a:xfrm xmlns:a="http://schemas.openxmlformats.org/drawingml/2006/main">
            <a:off x="6858000" y="49149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DD0CFFF3-647C-4E33-870D-CB266DE707CF}"/>
              </a:ext>
            </a:extLst>
          </p:cNvPr>
          <p:cNvSpPr>
            <a:spLocks xmlns:a="http://schemas.openxmlformats.org/drawingml/2006/main" noGrp="1"/>
          </p:cNvSpPr>
          <p:nvPr/>
        </p:nvSpPr>
        <p:spPr>
          <a:xfrm xmlns:a="http://schemas.openxmlformats.org/drawingml/2006/main">
            <a:off x="7086600" y="4838700"/>
            <a:ext cx="41529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EDF3F8"/>
                </a:solidFill>
                <a:latin typeface="Inter"/>
                <a:ea typeface="Inter"/>
                <a:cs typeface="Inter"/>
              </a:defRPr>
            </a:pPr>
            <a:r>
              <a:rPr sz="1425" b="0">
                <a:solidFill>
                  <a:srgbClr val="EDF3F8"/>
                </a:solidFill>
                <a:latin typeface="Inter"/>
                <a:ea typeface="Inter"/>
                <a:cs typeface="Inter"/>
              </a:rPr>
              <a:t>Weak outcome visibility</a:t>
            </a:r>
          </a:p>
        </p:txBody>
      </p:sp>
      <p:sp>
        <p:nvSpPr>
          <p:cNvPr id="17" name="">
            <a:extLst xmlns:a="http://schemas.openxmlformats.org/drawingml/2006/main">
              <a:ext uri="{FF2B5EF4-FFF2-40B4-BE49-F238E27FC236}">
                <a16:creationId xmlns:a16="http://schemas.microsoft.com/office/drawing/2014/main" id="{3500371D-A486-4F28-B739-A76A182EB457}"/>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The Operating System for Governed AI and Automation Decisions • Pre-seed enterprise software, automation, workflow, and AI-governance investors</a:t>
            </a:r>
          </a:p>
        </p:txBody>
      </p:sp>
      <p:sp>
        <p:nvSpPr>
          <p:cNvPr id="18" name="">
            <a:extLst xmlns:a="http://schemas.openxmlformats.org/drawingml/2006/main">
              <a:ext uri="{FF2B5EF4-FFF2-40B4-BE49-F238E27FC236}">
                <a16:creationId xmlns:a16="http://schemas.microsoft.com/office/drawing/2014/main" id="{8C662945-C6F4-4F93-84C5-2F8B5F0FF2BB}"/>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Strategic thesis; no quantified market-size or failure-rate claim.</a:t>
            </a:r>
          </a:p>
        </p:txBody>
      </p:sp>
      <p:sp>
        <p:nvSpPr>
          <p:cNvPr id="19" name="">
            <a:extLst xmlns:a="http://schemas.openxmlformats.org/drawingml/2006/main">
              <a:ext uri="{FF2B5EF4-FFF2-40B4-BE49-F238E27FC236}">
                <a16:creationId xmlns:a16="http://schemas.microsoft.com/office/drawing/2014/main" id="{DFE4D114-5826-482D-BF95-512B68656BE2}"/>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02</a:t>
            </a:r>
          </a:p>
        </p:txBody>
      </p:sp>
    </p:spTree>
    <p:extLst>
      <p:ext uri="{BB962C8B-B14F-4D97-AF65-F5344CB8AC3E}">
        <p14:creationId xmlns:p14="http://schemas.microsoft.com/office/powerpoint/2010/main" val="1858494058"/>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CD9BD1CD-4F73-434B-B273-568FE23A8D63}"/>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8AADC46D-9893-4031-ADA5-91DCAFE7A46A}"/>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THE KEY INSIGHT</a:t>
            </a:r>
          </a:p>
        </p:txBody>
      </p:sp>
      <p:sp>
        <p:nvSpPr>
          <p:cNvPr id="3" name="">
            <a:extLst xmlns:a="http://schemas.openxmlformats.org/drawingml/2006/main">
              <a:ext uri="{FF2B5EF4-FFF2-40B4-BE49-F238E27FC236}">
                <a16:creationId xmlns:a16="http://schemas.microsoft.com/office/drawing/2014/main" id="{F658E739-2068-463C-AAFF-DB5E7E07ED6C}"/>
              </a:ext>
            </a:extLst>
          </p:cNvPr>
          <p:cNvSpPr>
            <a:spLocks xmlns:a="http://schemas.openxmlformats.org/drawingml/2006/main" noGrp="1"/>
          </p:cNvSpPr>
          <p:nvPr/>
        </p:nvSpPr>
        <p:spPr>
          <a:xfrm xmlns:a="http://schemas.openxmlformats.org/drawingml/2006/main">
            <a:off x="609600" y="666750"/>
            <a:ext cx="102870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One business process is a portfolio of different work types.</a:t>
            </a:r>
          </a:p>
        </p:txBody>
      </p:sp>
      <p:sp>
        <p:nvSpPr>
          <p:cNvPr id="4" name="">
            <a:extLst xmlns:a="http://schemas.openxmlformats.org/drawingml/2006/main">
              <a:ext uri="{FF2B5EF4-FFF2-40B4-BE49-F238E27FC236}">
                <a16:creationId xmlns:a16="http://schemas.microsoft.com/office/drawing/2014/main" id="{240CA4F3-6384-4DF9-ADF8-168F907AAF98}"/>
              </a:ext>
            </a:extLst>
          </p:cNvPr>
          <p:cNvSpPr>
            <a:spLocks xmlns:a="http://schemas.openxmlformats.org/drawingml/2006/main" noGrp="1"/>
          </p:cNvSpPr>
          <p:nvPr/>
        </p:nvSpPr>
        <p:spPr>
          <a:xfrm xmlns:a="http://schemas.openxmlformats.org/drawingml/2006/main">
            <a:off x="723900" y="163830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Stable + structured</a:t>
            </a:r>
          </a:p>
        </p:txBody>
      </p:sp>
      <p:sp>
        <p:nvSpPr>
          <p:cNvPr id="5" name="">
            <a:extLst xmlns:a="http://schemas.openxmlformats.org/drawingml/2006/main">
              <a:ext uri="{FF2B5EF4-FFF2-40B4-BE49-F238E27FC236}">
                <a16:creationId xmlns:a16="http://schemas.microsoft.com/office/drawing/2014/main" id="{E7D9DDEC-A1E4-40AA-97B9-DFFB39DF76F4}"/>
              </a:ext>
            </a:extLst>
          </p:cNvPr>
          <p:cNvSpPr>
            <a:spLocks xmlns:a="http://schemas.openxmlformats.org/drawingml/2006/main" noGrp="1"/>
          </p:cNvSpPr>
          <p:nvPr/>
        </p:nvSpPr>
        <p:spPr>
          <a:xfrm xmlns:a="http://schemas.openxmlformats.org/drawingml/2006/main">
            <a:off x="3667125" y="1714500"/>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2E340618-FA70-4374-9200-8FB822EDC9B6}"/>
              </a:ext>
            </a:extLst>
          </p:cNvPr>
          <p:cNvSpPr>
            <a:spLocks xmlns:a="http://schemas.openxmlformats.org/drawingml/2006/main" noGrp="1"/>
          </p:cNvSpPr>
          <p:nvPr/>
        </p:nvSpPr>
        <p:spPr>
          <a:xfrm xmlns:a="http://schemas.openxmlformats.org/drawingml/2006/main">
            <a:off x="4572000" y="1638300"/>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Rules / workflow</a:t>
            </a:r>
          </a:p>
        </p:txBody>
      </p:sp>
      <p:sp>
        <p:nvSpPr>
          <p:cNvPr id="7" name="">
            <a:extLst xmlns:a="http://schemas.openxmlformats.org/drawingml/2006/main">
              <a:ext uri="{FF2B5EF4-FFF2-40B4-BE49-F238E27FC236}">
                <a16:creationId xmlns:a16="http://schemas.microsoft.com/office/drawing/2014/main" id="{39EC21AB-0498-42AD-A40E-B17389F15D43}"/>
              </a:ext>
            </a:extLst>
          </p:cNvPr>
          <p:cNvSpPr>
            <a:spLocks xmlns:a="http://schemas.openxmlformats.org/drawingml/2006/main" noGrp="1"/>
          </p:cNvSpPr>
          <p:nvPr/>
        </p:nvSpPr>
        <p:spPr>
          <a:xfrm xmlns:a="http://schemas.openxmlformats.org/drawingml/2006/main">
            <a:off x="7524750" y="1638300"/>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Deterministic controls</a:t>
            </a:r>
          </a:p>
        </p:txBody>
      </p:sp>
      <p:sp>
        <p:nvSpPr>
          <p:cNvPr id="8" name="">
            <a:extLst xmlns:a="http://schemas.openxmlformats.org/drawingml/2006/main">
              <a:ext uri="{FF2B5EF4-FFF2-40B4-BE49-F238E27FC236}">
                <a16:creationId xmlns:a16="http://schemas.microsoft.com/office/drawing/2014/main" id="{416759C3-161B-4BA8-A09C-6FAC9C36D6EA}"/>
              </a:ext>
            </a:extLst>
          </p:cNvPr>
          <p:cNvSpPr>
            <a:spLocks xmlns:a="http://schemas.openxmlformats.org/drawingml/2006/main" noGrp="1"/>
          </p:cNvSpPr>
          <p:nvPr/>
        </p:nvSpPr>
        <p:spPr>
          <a:xfrm xmlns:a="http://schemas.openxmlformats.org/drawingml/2006/main">
            <a:off x="723900" y="2228850"/>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DC206716-A260-4EDF-93E8-0AB3B5E98905}"/>
              </a:ext>
            </a:extLst>
          </p:cNvPr>
          <p:cNvSpPr>
            <a:spLocks xmlns:a="http://schemas.openxmlformats.org/drawingml/2006/main" noGrp="1"/>
          </p:cNvSpPr>
          <p:nvPr/>
        </p:nvSpPr>
        <p:spPr>
          <a:xfrm xmlns:a="http://schemas.openxmlformats.org/drawingml/2006/main">
            <a:off x="723900" y="2333625"/>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Repetitive UI work</a:t>
            </a:r>
          </a:p>
        </p:txBody>
      </p:sp>
      <p:sp>
        <p:nvSpPr>
          <p:cNvPr id="10" name="">
            <a:extLst xmlns:a="http://schemas.openxmlformats.org/drawingml/2006/main">
              <a:ext uri="{FF2B5EF4-FFF2-40B4-BE49-F238E27FC236}">
                <a16:creationId xmlns:a16="http://schemas.microsoft.com/office/drawing/2014/main" id="{092AC4F7-7989-49D2-B202-66D6C1E4483A}"/>
              </a:ext>
            </a:extLst>
          </p:cNvPr>
          <p:cNvSpPr>
            <a:spLocks xmlns:a="http://schemas.openxmlformats.org/drawingml/2006/main" noGrp="1"/>
          </p:cNvSpPr>
          <p:nvPr/>
        </p:nvSpPr>
        <p:spPr>
          <a:xfrm xmlns:a="http://schemas.openxmlformats.org/drawingml/2006/main">
            <a:off x="3667125" y="2409825"/>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C7FB467D-235F-4589-998F-64B9A5C1BF98}"/>
              </a:ext>
            </a:extLst>
          </p:cNvPr>
          <p:cNvSpPr>
            <a:spLocks xmlns:a="http://schemas.openxmlformats.org/drawingml/2006/main" noGrp="1"/>
          </p:cNvSpPr>
          <p:nvPr/>
        </p:nvSpPr>
        <p:spPr>
          <a:xfrm xmlns:a="http://schemas.openxmlformats.org/drawingml/2006/main">
            <a:off x="4572000" y="2333625"/>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RPA</a:t>
            </a:r>
          </a:p>
        </p:txBody>
      </p:sp>
      <p:sp>
        <p:nvSpPr>
          <p:cNvPr id="12" name="">
            <a:extLst xmlns:a="http://schemas.openxmlformats.org/drawingml/2006/main">
              <a:ext uri="{FF2B5EF4-FFF2-40B4-BE49-F238E27FC236}">
                <a16:creationId xmlns:a16="http://schemas.microsoft.com/office/drawing/2014/main" id="{DC776C1A-5CE0-447F-ACFA-74BD84CBCED1}"/>
              </a:ext>
            </a:extLst>
          </p:cNvPr>
          <p:cNvSpPr>
            <a:spLocks xmlns:a="http://schemas.openxmlformats.org/drawingml/2006/main" noGrp="1"/>
          </p:cNvSpPr>
          <p:nvPr/>
        </p:nvSpPr>
        <p:spPr>
          <a:xfrm xmlns:a="http://schemas.openxmlformats.org/drawingml/2006/main">
            <a:off x="7524750" y="2333625"/>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Only where stronger interfaces are unavailable</a:t>
            </a:r>
          </a:p>
        </p:txBody>
      </p:sp>
      <p:sp>
        <p:nvSpPr>
          <p:cNvPr id="13" name="">
            <a:extLst xmlns:a="http://schemas.openxmlformats.org/drawingml/2006/main">
              <a:ext uri="{FF2B5EF4-FFF2-40B4-BE49-F238E27FC236}">
                <a16:creationId xmlns:a16="http://schemas.microsoft.com/office/drawing/2014/main" id="{B050D387-5CC3-4CC5-BD9C-424D2756010E}"/>
              </a:ext>
            </a:extLst>
          </p:cNvPr>
          <p:cNvSpPr>
            <a:spLocks xmlns:a="http://schemas.openxmlformats.org/drawingml/2006/main" noGrp="1"/>
          </p:cNvSpPr>
          <p:nvPr/>
        </p:nvSpPr>
        <p:spPr>
          <a:xfrm xmlns:a="http://schemas.openxmlformats.org/drawingml/2006/main">
            <a:off x="723900" y="2924175"/>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E7628E6C-C5F4-4DD6-A9EC-9306A64ADACE}"/>
              </a:ext>
            </a:extLst>
          </p:cNvPr>
          <p:cNvSpPr>
            <a:spLocks xmlns:a="http://schemas.openxmlformats.org/drawingml/2006/main" noGrp="1"/>
          </p:cNvSpPr>
          <p:nvPr/>
        </p:nvSpPr>
        <p:spPr>
          <a:xfrm xmlns:a="http://schemas.openxmlformats.org/drawingml/2006/main">
            <a:off x="723900" y="302895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Unstructured content</a:t>
            </a:r>
          </a:p>
        </p:txBody>
      </p:sp>
      <p:sp>
        <p:nvSpPr>
          <p:cNvPr id="15" name="">
            <a:extLst xmlns:a="http://schemas.openxmlformats.org/drawingml/2006/main">
              <a:ext uri="{FF2B5EF4-FFF2-40B4-BE49-F238E27FC236}">
                <a16:creationId xmlns:a16="http://schemas.microsoft.com/office/drawing/2014/main" id="{1D9AA44D-0707-4E60-BB5F-6C3F3D5F9EDD}"/>
              </a:ext>
            </a:extLst>
          </p:cNvPr>
          <p:cNvSpPr>
            <a:spLocks xmlns:a="http://schemas.openxmlformats.org/drawingml/2006/main" noGrp="1"/>
          </p:cNvSpPr>
          <p:nvPr/>
        </p:nvSpPr>
        <p:spPr>
          <a:xfrm xmlns:a="http://schemas.openxmlformats.org/drawingml/2006/main">
            <a:off x="3667125" y="3105150"/>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C3046A7C-B472-4EE3-ADE0-FDD06C514684}"/>
              </a:ext>
            </a:extLst>
          </p:cNvPr>
          <p:cNvSpPr>
            <a:spLocks xmlns:a="http://schemas.openxmlformats.org/drawingml/2006/main" noGrp="1"/>
          </p:cNvSpPr>
          <p:nvPr/>
        </p:nvSpPr>
        <p:spPr>
          <a:xfrm xmlns:a="http://schemas.openxmlformats.org/drawingml/2006/main">
            <a:off x="4572000" y="3028950"/>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AI assistance</a:t>
            </a:r>
          </a:p>
        </p:txBody>
      </p:sp>
      <p:sp>
        <p:nvSpPr>
          <p:cNvPr id="17" name="">
            <a:extLst xmlns:a="http://schemas.openxmlformats.org/drawingml/2006/main">
              <a:ext uri="{FF2B5EF4-FFF2-40B4-BE49-F238E27FC236}">
                <a16:creationId xmlns:a16="http://schemas.microsoft.com/office/drawing/2014/main" id="{ECA1738C-78A2-4547-BB75-CD7F0B0344EF}"/>
              </a:ext>
            </a:extLst>
          </p:cNvPr>
          <p:cNvSpPr>
            <a:spLocks xmlns:a="http://schemas.openxmlformats.org/drawingml/2006/main" noGrp="1"/>
          </p:cNvSpPr>
          <p:nvPr/>
        </p:nvSpPr>
        <p:spPr>
          <a:xfrm xmlns:a="http://schemas.openxmlformats.org/drawingml/2006/main">
            <a:off x="7524750" y="3028950"/>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Extraction, classification, summarisation</a:t>
            </a:r>
          </a:p>
        </p:txBody>
      </p:sp>
      <p:sp>
        <p:nvSpPr>
          <p:cNvPr id="18" name="">
            <a:extLst xmlns:a="http://schemas.openxmlformats.org/drawingml/2006/main">
              <a:ext uri="{FF2B5EF4-FFF2-40B4-BE49-F238E27FC236}">
                <a16:creationId xmlns:a16="http://schemas.microsoft.com/office/drawing/2014/main" id="{4F7A42AA-8968-4FE4-8ABD-5868D8A24009}"/>
              </a:ext>
            </a:extLst>
          </p:cNvPr>
          <p:cNvSpPr>
            <a:spLocks xmlns:a="http://schemas.openxmlformats.org/drawingml/2006/main" noGrp="1"/>
          </p:cNvSpPr>
          <p:nvPr/>
        </p:nvSpPr>
        <p:spPr>
          <a:xfrm xmlns:a="http://schemas.openxmlformats.org/drawingml/2006/main">
            <a:off x="723900" y="3619500"/>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7FEBB9B1-5D6D-434C-81FE-05314E8F252C}"/>
              </a:ext>
            </a:extLst>
          </p:cNvPr>
          <p:cNvSpPr>
            <a:spLocks xmlns:a="http://schemas.openxmlformats.org/drawingml/2006/main" noGrp="1"/>
          </p:cNvSpPr>
          <p:nvPr/>
        </p:nvSpPr>
        <p:spPr>
          <a:xfrm xmlns:a="http://schemas.openxmlformats.org/drawingml/2006/main">
            <a:off x="723900" y="3724275"/>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Context-heavy inquiry</a:t>
            </a:r>
          </a:p>
        </p:txBody>
      </p:sp>
      <p:sp>
        <p:nvSpPr>
          <p:cNvPr id="20" name="">
            <a:extLst xmlns:a="http://schemas.openxmlformats.org/drawingml/2006/main">
              <a:ext uri="{FF2B5EF4-FFF2-40B4-BE49-F238E27FC236}">
                <a16:creationId xmlns:a16="http://schemas.microsoft.com/office/drawing/2014/main" id="{F71FC630-CB16-4939-BB7A-FC6799610F85}"/>
              </a:ext>
            </a:extLst>
          </p:cNvPr>
          <p:cNvSpPr>
            <a:spLocks xmlns:a="http://schemas.openxmlformats.org/drawingml/2006/main" noGrp="1"/>
          </p:cNvSpPr>
          <p:nvPr/>
        </p:nvSpPr>
        <p:spPr>
          <a:xfrm xmlns:a="http://schemas.openxmlformats.org/drawingml/2006/main">
            <a:off x="3667125" y="3800475"/>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ECC2D9BD-913C-4D58-AA3E-7FF4C715A5C7}"/>
              </a:ext>
            </a:extLst>
          </p:cNvPr>
          <p:cNvSpPr>
            <a:spLocks xmlns:a="http://schemas.openxmlformats.org/drawingml/2006/main" noGrp="1"/>
          </p:cNvSpPr>
          <p:nvPr/>
        </p:nvSpPr>
        <p:spPr>
          <a:xfrm xmlns:a="http://schemas.openxmlformats.org/drawingml/2006/main">
            <a:off x="4572000" y="3724275"/>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Bounded agent assistance</a:t>
            </a:r>
          </a:p>
        </p:txBody>
      </p:sp>
      <p:sp>
        <p:nvSpPr>
          <p:cNvPr id="22" name="">
            <a:extLst xmlns:a="http://schemas.openxmlformats.org/drawingml/2006/main">
              <a:ext uri="{FF2B5EF4-FFF2-40B4-BE49-F238E27FC236}">
                <a16:creationId xmlns:a16="http://schemas.microsoft.com/office/drawing/2014/main" id="{8EDF47E0-EE1C-42CC-9AE7-AAFC93DC34FB}"/>
              </a:ext>
            </a:extLst>
          </p:cNvPr>
          <p:cNvSpPr>
            <a:spLocks xmlns:a="http://schemas.openxmlformats.org/drawingml/2006/main" noGrp="1"/>
          </p:cNvSpPr>
          <p:nvPr/>
        </p:nvSpPr>
        <p:spPr>
          <a:xfrm xmlns:a="http://schemas.openxmlformats.org/drawingml/2006/main">
            <a:off x="7524750" y="3724275"/>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Evidence synthesis with controls</a:t>
            </a:r>
          </a:p>
        </p:txBody>
      </p:sp>
      <p:sp>
        <p:nvSpPr>
          <p:cNvPr id="23" name="">
            <a:extLst xmlns:a="http://schemas.openxmlformats.org/drawingml/2006/main">
              <a:ext uri="{FF2B5EF4-FFF2-40B4-BE49-F238E27FC236}">
                <a16:creationId xmlns:a16="http://schemas.microsoft.com/office/drawing/2014/main" id="{C97431A6-4AA1-4A2C-B28A-D05BF5B128BB}"/>
              </a:ext>
            </a:extLst>
          </p:cNvPr>
          <p:cNvSpPr>
            <a:spLocks xmlns:a="http://schemas.openxmlformats.org/drawingml/2006/main" noGrp="1"/>
          </p:cNvSpPr>
          <p:nvPr/>
        </p:nvSpPr>
        <p:spPr>
          <a:xfrm xmlns:a="http://schemas.openxmlformats.org/drawingml/2006/main">
            <a:off x="723900" y="4314825"/>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A493D5CA-C73C-43BA-AA3D-42A4B5853346}"/>
              </a:ext>
            </a:extLst>
          </p:cNvPr>
          <p:cNvSpPr>
            <a:spLocks xmlns:a="http://schemas.openxmlformats.org/drawingml/2006/main" noGrp="1"/>
          </p:cNvSpPr>
          <p:nvPr/>
        </p:nvSpPr>
        <p:spPr>
          <a:xfrm xmlns:a="http://schemas.openxmlformats.org/drawingml/2006/main">
            <a:off x="723900" y="4419600"/>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Material-risk judgment</a:t>
            </a:r>
          </a:p>
        </p:txBody>
      </p:sp>
      <p:sp>
        <p:nvSpPr>
          <p:cNvPr id="25" name="">
            <a:extLst xmlns:a="http://schemas.openxmlformats.org/drawingml/2006/main">
              <a:ext uri="{FF2B5EF4-FFF2-40B4-BE49-F238E27FC236}">
                <a16:creationId xmlns:a16="http://schemas.microsoft.com/office/drawing/2014/main" id="{33AE3338-14E8-405C-9D04-7D849D6DBFCB}"/>
              </a:ext>
            </a:extLst>
          </p:cNvPr>
          <p:cNvSpPr>
            <a:spLocks xmlns:a="http://schemas.openxmlformats.org/drawingml/2006/main" noGrp="1"/>
          </p:cNvSpPr>
          <p:nvPr/>
        </p:nvSpPr>
        <p:spPr>
          <a:xfrm xmlns:a="http://schemas.openxmlformats.org/drawingml/2006/main">
            <a:off x="3667125" y="4495800"/>
            <a:ext cx="666750" cy="361950"/>
          </a:xfrm>
          <a:prstGeom xmlns:a="http://schemas.openxmlformats.org/drawingml/2006/main" prst="rightArrow">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6B504B87-4877-4B9B-A4ED-7C47F280EC32}"/>
              </a:ext>
            </a:extLst>
          </p:cNvPr>
          <p:cNvSpPr>
            <a:spLocks xmlns:a="http://schemas.openxmlformats.org/drawingml/2006/main" noGrp="1"/>
          </p:cNvSpPr>
          <p:nvPr/>
        </p:nvSpPr>
        <p:spPr>
          <a:xfrm xmlns:a="http://schemas.openxmlformats.org/drawingml/2006/main">
            <a:off x="4572000" y="4419600"/>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Human / HITL</a:t>
            </a:r>
          </a:p>
        </p:txBody>
      </p:sp>
      <p:sp>
        <p:nvSpPr>
          <p:cNvPr id="27" name="">
            <a:extLst xmlns:a="http://schemas.openxmlformats.org/drawingml/2006/main">
              <a:ext uri="{FF2B5EF4-FFF2-40B4-BE49-F238E27FC236}">
                <a16:creationId xmlns:a16="http://schemas.microsoft.com/office/drawing/2014/main" id="{01B89D17-EB1C-4C06-B340-52265299965B}"/>
              </a:ext>
            </a:extLst>
          </p:cNvPr>
          <p:cNvSpPr>
            <a:spLocks xmlns:a="http://schemas.openxmlformats.org/drawingml/2006/main" noGrp="1"/>
          </p:cNvSpPr>
          <p:nvPr/>
        </p:nvSpPr>
        <p:spPr>
          <a:xfrm xmlns:a="http://schemas.openxmlformats.org/drawingml/2006/main">
            <a:off x="7524750" y="4419600"/>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Accountable approval</a:t>
            </a:r>
          </a:p>
        </p:txBody>
      </p:sp>
      <p:sp>
        <p:nvSpPr>
          <p:cNvPr id="28" name="">
            <a:extLst xmlns:a="http://schemas.openxmlformats.org/drawingml/2006/main">
              <a:ext uri="{FF2B5EF4-FFF2-40B4-BE49-F238E27FC236}">
                <a16:creationId xmlns:a16="http://schemas.microsoft.com/office/drawing/2014/main" id="{6265269F-0CCF-48CC-B3D2-149E98D4E5FD}"/>
              </a:ext>
            </a:extLst>
          </p:cNvPr>
          <p:cNvSpPr>
            <a:spLocks xmlns:a="http://schemas.openxmlformats.org/drawingml/2006/main" noGrp="1"/>
          </p:cNvSpPr>
          <p:nvPr/>
        </p:nvSpPr>
        <p:spPr>
          <a:xfrm xmlns:a="http://schemas.openxmlformats.org/drawingml/2006/main">
            <a:off x="723900" y="5010150"/>
            <a:ext cx="10706100" cy="9525"/>
          </a:xfrm>
          <a:prstGeom xmlns:a="http://schemas.openxmlformats.org/drawingml/2006/main" prst="rect">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0F066859-7426-4796-A6A7-5F734BE0955E}"/>
              </a:ext>
            </a:extLst>
          </p:cNvPr>
          <p:cNvSpPr>
            <a:spLocks xmlns:a="http://schemas.openxmlformats.org/drawingml/2006/main" noGrp="1"/>
          </p:cNvSpPr>
          <p:nvPr/>
        </p:nvSpPr>
        <p:spPr>
          <a:xfrm xmlns:a="http://schemas.openxmlformats.org/drawingml/2006/main">
            <a:off x="723900" y="5114925"/>
            <a:ext cx="2857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1">
                <a:solidFill>
                  <a:srgbClr val="0B1426"/>
                </a:solidFill>
                <a:latin typeface="Inter"/>
                <a:ea typeface="Inter"/>
                <a:cs typeface="Inter"/>
              </a:defRPr>
            </a:pPr>
            <a:r>
              <a:rPr sz="1350" b="1">
                <a:solidFill>
                  <a:srgbClr val="0B1426"/>
                </a:solidFill>
                <a:latin typeface="Inter"/>
                <a:ea typeface="Inter"/>
                <a:cs typeface="Inter"/>
              </a:rPr>
              <a:t>Mixed end-to-end work</a:t>
            </a:r>
          </a:p>
        </p:txBody>
      </p:sp>
      <p:sp>
        <p:nvSpPr>
          <p:cNvPr id="30" name="">
            <a:extLst xmlns:a="http://schemas.openxmlformats.org/drawingml/2006/main">
              <a:ext uri="{FF2B5EF4-FFF2-40B4-BE49-F238E27FC236}">
                <a16:creationId xmlns:a16="http://schemas.microsoft.com/office/drawing/2014/main" id="{B2EAE870-17D4-4286-BCFD-65247233C78E}"/>
              </a:ext>
            </a:extLst>
          </p:cNvPr>
          <p:cNvSpPr>
            <a:spLocks xmlns:a="http://schemas.openxmlformats.org/drawingml/2006/main" noGrp="1"/>
          </p:cNvSpPr>
          <p:nvPr/>
        </p:nvSpPr>
        <p:spPr>
          <a:xfrm xmlns:a="http://schemas.openxmlformats.org/drawingml/2006/main">
            <a:off x="3667125" y="5191125"/>
            <a:ext cx="666750" cy="361950"/>
          </a:xfrm>
          <a:prstGeom xmlns:a="http://schemas.openxmlformats.org/drawingml/2006/main" prst="rightArrow">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FE3C60EF-D82F-46F9-A6D1-8ED25EAD047E}"/>
              </a:ext>
            </a:extLst>
          </p:cNvPr>
          <p:cNvSpPr>
            <a:spLocks xmlns:a="http://schemas.openxmlformats.org/drawingml/2006/main" noGrp="1"/>
          </p:cNvSpPr>
          <p:nvPr/>
        </p:nvSpPr>
        <p:spPr>
          <a:xfrm xmlns:a="http://schemas.openxmlformats.org/drawingml/2006/main">
            <a:off x="4572000" y="5114925"/>
            <a:ext cx="26670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Inter"/>
                <a:ea typeface="Inter"/>
                <a:cs typeface="Inter"/>
              </a:defRPr>
            </a:pPr>
            <a:r>
              <a:rPr sz="1500" b="1">
                <a:solidFill>
                  <a:srgbClr val="001B30"/>
                </a:solidFill>
                <a:latin typeface="Inter"/>
                <a:ea typeface="Inter"/>
                <a:cs typeface="Inter"/>
              </a:rPr>
              <a:t>Hybrid model</a:t>
            </a:r>
          </a:p>
        </p:txBody>
      </p:sp>
      <p:sp>
        <p:nvSpPr>
          <p:cNvPr id="32" name="">
            <a:extLst xmlns:a="http://schemas.openxmlformats.org/drawingml/2006/main">
              <a:ext uri="{FF2B5EF4-FFF2-40B4-BE49-F238E27FC236}">
                <a16:creationId xmlns:a16="http://schemas.microsoft.com/office/drawing/2014/main" id="{2C2BFF73-CDFD-4BA6-9F4C-50A0FF6ACB27}"/>
              </a:ext>
            </a:extLst>
          </p:cNvPr>
          <p:cNvSpPr>
            <a:spLocks xmlns:a="http://schemas.openxmlformats.org/drawingml/2006/main" noGrp="1"/>
          </p:cNvSpPr>
          <p:nvPr/>
        </p:nvSpPr>
        <p:spPr>
          <a:xfrm xmlns:a="http://schemas.openxmlformats.org/drawingml/2006/main">
            <a:off x="7524750" y="5114925"/>
            <a:ext cx="39052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52627A"/>
                </a:solidFill>
                <a:latin typeface="Inter"/>
                <a:ea typeface="Inter"/>
                <a:cs typeface="Inter"/>
              </a:defRPr>
            </a:pPr>
            <a:r>
              <a:rPr sz="1200" b="0">
                <a:solidFill>
                  <a:srgbClr val="52627A"/>
                </a:solidFill>
                <a:latin typeface="Inter"/>
                <a:ea typeface="Inter"/>
                <a:cs typeface="Inter"/>
              </a:rPr>
              <a:t>A governed combination</a:t>
            </a:r>
          </a:p>
        </p:txBody>
      </p:sp>
      <p:sp>
        <p:nvSpPr>
          <p:cNvPr id="33" name="">
            <a:extLst xmlns:a="http://schemas.openxmlformats.org/drawingml/2006/main">
              <a:ext uri="{FF2B5EF4-FFF2-40B4-BE49-F238E27FC236}">
                <a16:creationId xmlns:a16="http://schemas.microsoft.com/office/drawing/2014/main" id="{18117594-1BD3-42EF-AABB-1DA0295996BB}"/>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The Operating System for Governed AI and Automation Decisions • Pre-seed enterprise software, automation, workflow, and AI-governance investors</a:t>
            </a:r>
          </a:p>
        </p:txBody>
      </p:sp>
      <p:sp>
        <p:nvSpPr>
          <p:cNvPr id="34" name="">
            <a:extLst xmlns:a="http://schemas.openxmlformats.org/drawingml/2006/main">
              <a:ext uri="{FF2B5EF4-FFF2-40B4-BE49-F238E27FC236}">
                <a16:creationId xmlns:a16="http://schemas.microsoft.com/office/drawing/2014/main" id="{665EDA80-AA63-4E46-B90F-1AE9D827BDDB}"/>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The right answer is usually a governed mix, not one technology winner.</a:t>
            </a:r>
          </a:p>
        </p:txBody>
      </p:sp>
      <p:sp>
        <p:nvSpPr>
          <p:cNvPr id="35" name="">
            <a:extLst xmlns:a="http://schemas.openxmlformats.org/drawingml/2006/main">
              <a:ext uri="{FF2B5EF4-FFF2-40B4-BE49-F238E27FC236}">
                <a16:creationId xmlns:a16="http://schemas.microsoft.com/office/drawing/2014/main" id="{9B995D5B-39B7-409C-9ACB-7137F2333C02}"/>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03</a:t>
            </a:r>
          </a:p>
        </p:txBody>
      </p:sp>
    </p:spTree>
    <p:extLst>
      <p:ext uri="{BB962C8B-B14F-4D97-AF65-F5344CB8AC3E}">
        <p14:creationId xmlns:p14="http://schemas.microsoft.com/office/powerpoint/2010/main" val="422337066"/>
      </p:ext>
    </p:extLst>
  </p:cSld>
</p:sld>
</file>

<file path=ppt/slides/slide4.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23CA14C3-28E2-44AC-A54C-D84582664BBE}"/>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11C7DBC-DCBF-440A-B6F2-69DEFC7E9673}"/>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WHY CURRENT APPROACHES BREAK</a:t>
            </a:r>
          </a:p>
        </p:txBody>
      </p:sp>
      <p:sp>
        <p:nvSpPr>
          <p:cNvPr id="3" name="">
            <a:extLst xmlns:a="http://schemas.openxmlformats.org/drawingml/2006/main">
              <a:ext uri="{FF2B5EF4-FFF2-40B4-BE49-F238E27FC236}">
                <a16:creationId xmlns:a16="http://schemas.microsoft.com/office/drawing/2014/main" id="{AB931D57-6E4A-41DD-9FE8-4DB0896AE621}"/>
              </a:ext>
            </a:extLst>
          </p:cNvPr>
          <p:cNvSpPr>
            <a:spLocks xmlns:a="http://schemas.openxmlformats.org/drawingml/2006/main" noGrp="1"/>
          </p:cNvSpPr>
          <p:nvPr/>
        </p:nvSpPr>
        <p:spPr>
          <a:xfrm xmlns:a="http://schemas.openxmlformats.org/drawingml/2006/main">
            <a:off x="609600" y="638175"/>
            <a:ext cx="102870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850" b="1">
                <a:solidFill>
                  <a:srgbClr val="FFFFFF"/>
                </a:solidFill>
                <a:latin typeface="Outfit"/>
                <a:ea typeface="Outfit"/>
                <a:cs typeface="Outfit"/>
              </a:defRPr>
            </a:pPr>
            <a:r>
              <a:rPr sz="2850" b="1">
                <a:solidFill>
                  <a:srgbClr val="FFFFFF"/>
                </a:solidFill>
                <a:latin typeface="Outfit"/>
                <a:ea typeface="Outfit"/>
                <a:cs typeface="Outfit"/>
              </a:rPr>
              <a:t>The decision path crosses categories that stop at their own boundary.</a:t>
            </a:r>
          </a:p>
        </p:txBody>
      </p:sp>
      <p:sp>
        <p:nvSpPr>
          <p:cNvPr id="4" name="">
            <a:extLst xmlns:a="http://schemas.openxmlformats.org/drawingml/2006/main">
              <a:ext uri="{FF2B5EF4-FFF2-40B4-BE49-F238E27FC236}">
                <a16:creationId xmlns:a16="http://schemas.microsoft.com/office/drawing/2014/main" id="{A3AD0CAE-CFC7-49B5-8449-77DFBDE34841}"/>
              </a:ext>
            </a:extLst>
          </p:cNvPr>
          <p:cNvSpPr>
            <a:spLocks xmlns:a="http://schemas.openxmlformats.org/drawingml/2006/main" noGrp="1"/>
          </p:cNvSpPr>
          <p:nvPr/>
        </p:nvSpPr>
        <p:spPr>
          <a:xfrm xmlns:a="http://schemas.openxmlformats.org/drawingml/2006/main">
            <a:off x="685800" y="1952625"/>
            <a:ext cx="381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BC03"/>
                </a:solidFill>
                <a:latin typeface="Inter"/>
                <a:ea typeface="Inter"/>
                <a:cs typeface="Inter"/>
              </a:defRPr>
            </a:pPr>
            <a:r>
              <a:rPr sz="1050" b="1">
                <a:solidFill>
                  <a:srgbClr val="FFBC03"/>
                </a:solidFill>
                <a:latin typeface="Inter"/>
                <a:ea typeface="Inter"/>
                <a:cs typeface="Inter"/>
              </a:rPr>
              <a:t>01</a:t>
            </a:r>
          </a:p>
        </p:txBody>
      </p:sp>
      <p:sp>
        <p:nvSpPr>
          <p:cNvPr id="5" name="">
            <a:extLst xmlns:a="http://schemas.openxmlformats.org/drawingml/2006/main">
              <a:ext uri="{FF2B5EF4-FFF2-40B4-BE49-F238E27FC236}">
                <a16:creationId xmlns:a16="http://schemas.microsoft.com/office/drawing/2014/main" id="{76CD0A57-27E5-4EA0-BEDD-81702A4B60F1}"/>
              </a:ext>
            </a:extLst>
          </p:cNvPr>
          <p:cNvSpPr>
            <a:spLocks xmlns:a="http://schemas.openxmlformats.org/drawingml/2006/main" noGrp="1"/>
          </p:cNvSpPr>
          <p:nvPr/>
        </p:nvSpPr>
        <p:spPr>
          <a:xfrm xmlns:a="http://schemas.openxmlformats.org/drawingml/2006/main">
            <a:off x="685800" y="2381250"/>
            <a:ext cx="16383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FFFFF"/>
                </a:solidFill>
                <a:latin typeface="Outfit"/>
                <a:ea typeface="Outfit"/>
                <a:cs typeface="Outfit"/>
              </a:defRPr>
            </a:pPr>
            <a:r>
              <a:rPr sz="1725" b="1">
                <a:solidFill>
                  <a:srgbClr val="FFFFFF"/>
                </a:solidFill>
                <a:latin typeface="Outfit"/>
                <a:ea typeface="Outfit"/>
                <a:cs typeface="Outfit"/>
              </a:rPr>
              <a:t>Process mining</a:t>
            </a:r>
          </a:p>
        </p:txBody>
      </p:sp>
      <p:sp>
        <p:nvSpPr>
          <p:cNvPr id="6" name="">
            <a:extLst xmlns:a="http://schemas.openxmlformats.org/drawingml/2006/main">
              <a:ext uri="{FF2B5EF4-FFF2-40B4-BE49-F238E27FC236}">
                <a16:creationId xmlns:a16="http://schemas.microsoft.com/office/drawing/2014/main" id="{82A74D13-B540-4EB7-8CA8-759D4A36799A}"/>
              </a:ext>
            </a:extLst>
          </p:cNvPr>
          <p:cNvSpPr>
            <a:spLocks xmlns:a="http://schemas.openxmlformats.org/drawingml/2006/main" noGrp="1"/>
          </p:cNvSpPr>
          <p:nvPr/>
        </p:nvSpPr>
        <p:spPr>
          <a:xfrm xmlns:a="http://schemas.openxmlformats.org/drawingml/2006/main">
            <a:off x="685800" y="3286125"/>
            <a:ext cx="1638300" cy="38100"/>
          </a:xfrm>
          <a:prstGeom xmlns:a="http://schemas.openxmlformats.org/drawingml/2006/main" prst="rect">
            <a:avLst/>
          </a:prstGeom>
          <a:solidFill xmlns:a="http://schemas.openxmlformats.org/drawingml/2006/main">
            <a:srgbClr val="0C3B5B"/>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80EA6C16-4D0A-4E14-B868-1AD119D009BE}"/>
              </a:ext>
            </a:extLst>
          </p:cNvPr>
          <p:cNvSpPr>
            <a:spLocks xmlns:a="http://schemas.openxmlformats.org/drawingml/2006/main" noGrp="1"/>
          </p:cNvSpPr>
          <p:nvPr/>
        </p:nvSpPr>
        <p:spPr>
          <a:xfrm xmlns:a="http://schemas.openxmlformats.org/drawingml/2006/main">
            <a:off x="685800" y="3571875"/>
            <a:ext cx="16383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C9D6E1"/>
                </a:solidFill>
                <a:latin typeface="Inter"/>
                <a:ea typeface="Inter"/>
                <a:cs typeface="Inter"/>
              </a:defRPr>
            </a:pPr>
            <a:r>
              <a:rPr sz="1200" b="0">
                <a:solidFill>
                  <a:srgbClr val="C9D6E1"/>
                </a:solidFill>
                <a:latin typeface="Inter"/>
                <a:ea typeface="Inter"/>
                <a:cs typeface="Inter"/>
              </a:rPr>
              <a:t>Discovers work</a:t>
            </a:r>
          </a:p>
        </p:txBody>
      </p:sp>
      <p:sp>
        <p:nvSpPr>
          <p:cNvPr id="8" name="">
            <a:extLst xmlns:a="http://schemas.openxmlformats.org/drawingml/2006/main">
              <a:ext uri="{FF2B5EF4-FFF2-40B4-BE49-F238E27FC236}">
                <a16:creationId xmlns:a16="http://schemas.microsoft.com/office/drawing/2014/main" id="{440FD0B0-CF4B-4D8F-A970-F3A0231FA82E}"/>
              </a:ext>
            </a:extLst>
          </p:cNvPr>
          <p:cNvSpPr>
            <a:spLocks xmlns:a="http://schemas.openxmlformats.org/drawingml/2006/main" noGrp="1"/>
          </p:cNvSpPr>
          <p:nvPr/>
        </p:nvSpPr>
        <p:spPr>
          <a:xfrm xmlns:a="http://schemas.openxmlformats.org/drawingml/2006/main">
            <a:off x="2514600" y="1952625"/>
            <a:ext cx="381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BC03"/>
                </a:solidFill>
                <a:latin typeface="Inter"/>
                <a:ea typeface="Inter"/>
                <a:cs typeface="Inter"/>
              </a:defRPr>
            </a:pPr>
            <a:r>
              <a:rPr sz="1050" b="1">
                <a:solidFill>
                  <a:srgbClr val="FFBC03"/>
                </a:solidFill>
                <a:latin typeface="Inter"/>
                <a:ea typeface="Inter"/>
                <a:cs typeface="Inter"/>
              </a:rPr>
              <a:t>02</a:t>
            </a:r>
          </a:p>
        </p:txBody>
      </p:sp>
      <p:sp>
        <p:nvSpPr>
          <p:cNvPr id="9" name="">
            <a:extLst xmlns:a="http://schemas.openxmlformats.org/drawingml/2006/main">
              <a:ext uri="{FF2B5EF4-FFF2-40B4-BE49-F238E27FC236}">
                <a16:creationId xmlns:a16="http://schemas.microsoft.com/office/drawing/2014/main" id="{53014C37-430D-482E-8691-1984FC902F10}"/>
              </a:ext>
            </a:extLst>
          </p:cNvPr>
          <p:cNvSpPr>
            <a:spLocks xmlns:a="http://schemas.openxmlformats.org/drawingml/2006/main" noGrp="1"/>
          </p:cNvSpPr>
          <p:nvPr/>
        </p:nvSpPr>
        <p:spPr>
          <a:xfrm xmlns:a="http://schemas.openxmlformats.org/drawingml/2006/main">
            <a:off x="2514600" y="2381250"/>
            <a:ext cx="16383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FFFFF"/>
                </a:solidFill>
                <a:latin typeface="Outfit"/>
                <a:ea typeface="Outfit"/>
                <a:cs typeface="Outfit"/>
              </a:defRPr>
            </a:pPr>
            <a:r>
              <a:rPr sz="1725" b="1">
                <a:solidFill>
                  <a:srgbClr val="FFFFFF"/>
                </a:solidFill>
                <a:latin typeface="Outfit"/>
                <a:ea typeface="Outfit"/>
                <a:cs typeface="Outfit"/>
              </a:rPr>
              <a:t>Consulting</a:t>
            </a:r>
          </a:p>
        </p:txBody>
      </p:sp>
      <p:sp>
        <p:nvSpPr>
          <p:cNvPr id="10" name="">
            <a:extLst xmlns:a="http://schemas.openxmlformats.org/drawingml/2006/main">
              <a:ext uri="{FF2B5EF4-FFF2-40B4-BE49-F238E27FC236}">
                <a16:creationId xmlns:a16="http://schemas.microsoft.com/office/drawing/2014/main" id="{546D9F77-7615-481D-BCD5-7E8EA112B72F}"/>
              </a:ext>
            </a:extLst>
          </p:cNvPr>
          <p:cNvSpPr>
            <a:spLocks xmlns:a="http://schemas.openxmlformats.org/drawingml/2006/main" noGrp="1"/>
          </p:cNvSpPr>
          <p:nvPr/>
        </p:nvSpPr>
        <p:spPr>
          <a:xfrm xmlns:a="http://schemas.openxmlformats.org/drawingml/2006/main">
            <a:off x="2514600" y="3286125"/>
            <a:ext cx="1638300" cy="38100"/>
          </a:xfrm>
          <a:prstGeom xmlns:a="http://schemas.openxmlformats.org/drawingml/2006/main" prst="rect">
            <a:avLst/>
          </a:prstGeom>
          <a:solidFill xmlns:a="http://schemas.openxmlformats.org/drawingml/2006/main">
            <a:srgbClr val="0C3B5B"/>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B0E63609-EB20-4A9B-BE9C-1667451E128A}"/>
              </a:ext>
            </a:extLst>
          </p:cNvPr>
          <p:cNvSpPr>
            <a:spLocks xmlns:a="http://schemas.openxmlformats.org/drawingml/2006/main" noGrp="1"/>
          </p:cNvSpPr>
          <p:nvPr/>
        </p:nvSpPr>
        <p:spPr>
          <a:xfrm xmlns:a="http://schemas.openxmlformats.org/drawingml/2006/main">
            <a:off x="2514600" y="3571875"/>
            <a:ext cx="16383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C9D6E1"/>
                </a:solidFill>
                <a:latin typeface="Inter"/>
                <a:ea typeface="Inter"/>
                <a:cs typeface="Inter"/>
              </a:defRPr>
            </a:pPr>
            <a:r>
              <a:rPr sz="1200" b="0">
                <a:solidFill>
                  <a:srgbClr val="C9D6E1"/>
                </a:solidFill>
                <a:latin typeface="Inter"/>
                <a:ea typeface="Inter"/>
                <a:cs typeface="Inter"/>
              </a:rPr>
              <a:t>Assesses and recommends</a:t>
            </a:r>
          </a:p>
        </p:txBody>
      </p:sp>
      <p:sp>
        <p:nvSpPr>
          <p:cNvPr id="12" name="">
            <a:extLst xmlns:a="http://schemas.openxmlformats.org/drawingml/2006/main">
              <a:ext uri="{FF2B5EF4-FFF2-40B4-BE49-F238E27FC236}">
                <a16:creationId xmlns:a16="http://schemas.microsoft.com/office/drawing/2014/main" id="{4BF0A50D-F3FA-48BA-82A0-8A6B1AD83CD4}"/>
              </a:ext>
            </a:extLst>
          </p:cNvPr>
          <p:cNvSpPr>
            <a:spLocks xmlns:a="http://schemas.openxmlformats.org/drawingml/2006/main" noGrp="1"/>
          </p:cNvSpPr>
          <p:nvPr/>
        </p:nvSpPr>
        <p:spPr>
          <a:xfrm xmlns:a="http://schemas.openxmlformats.org/drawingml/2006/main">
            <a:off x="4343400" y="1952625"/>
            <a:ext cx="381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BC03"/>
                </a:solidFill>
                <a:latin typeface="Inter"/>
                <a:ea typeface="Inter"/>
                <a:cs typeface="Inter"/>
              </a:defRPr>
            </a:pPr>
            <a:r>
              <a:rPr sz="1050" b="1">
                <a:solidFill>
                  <a:srgbClr val="FFBC03"/>
                </a:solidFill>
                <a:latin typeface="Inter"/>
                <a:ea typeface="Inter"/>
                <a:cs typeface="Inter"/>
              </a:rPr>
              <a:t>03</a:t>
            </a:r>
          </a:p>
        </p:txBody>
      </p:sp>
      <p:sp>
        <p:nvSpPr>
          <p:cNvPr id="13" name="">
            <a:extLst xmlns:a="http://schemas.openxmlformats.org/drawingml/2006/main">
              <a:ext uri="{FF2B5EF4-FFF2-40B4-BE49-F238E27FC236}">
                <a16:creationId xmlns:a16="http://schemas.microsoft.com/office/drawing/2014/main" id="{B5800BC7-5F04-4F4C-A1F3-B23720847A3E}"/>
              </a:ext>
            </a:extLst>
          </p:cNvPr>
          <p:cNvSpPr>
            <a:spLocks xmlns:a="http://schemas.openxmlformats.org/drawingml/2006/main" noGrp="1"/>
          </p:cNvSpPr>
          <p:nvPr/>
        </p:nvSpPr>
        <p:spPr>
          <a:xfrm xmlns:a="http://schemas.openxmlformats.org/drawingml/2006/main">
            <a:off x="4343400" y="2381250"/>
            <a:ext cx="16383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FFFFF"/>
                </a:solidFill>
                <a:latin typeface="Outfit"/>
                <a:ea typeface="Outfit"/>
                <a:cs typeface="Outfit"/>
              </a:defRPr>
            </a:pPr>
            <a:r>
              <a:rPr sz="1725" b="1">
                <a:solidFill>
                  <a:srgbClr val="FFFFFF"/>
                </a:solidFill>
                <a:latin typeface="Outfit"/>
                <a:ea typeface="Outfit"/>
                <a:cs typeface="Outfit"/>
              </a:rPr>
              <a:t>AI governance</a:t>
            </a:r>
          </a:p>
        </p:txBody>
      </p:sp>
      <p:sp>
        <p:nvSpPr>
          <p:cNvPr id="14" name="">
            <a:extLst xmlns:a="http://schemas.openxmlformats.org/drawingml/2006/main">
              <a:ext uri="{FF2B5EF4-FFF2-40B4-BE49-F238E27FC236}">
                <a16:creationId xmlns:a16="http://schemas.microsoft.com/office/drawing/2014/main" id="{D5212B2F-435F-422D-9CB4-FE4D0526171C}"/>
              </a:ext>
            </a:extLst>
          </p:cNvPr>
          <p:cNvSpPr>
            <a:spLocks xmlns:a="http://schemas.openxmlformats.org/drawingml/2006/main" noGrp="1"/>
          </p:cNvSpPr>
          <p:nvPr/>
        </p:nvSpPr>
        <p:spPr>
          <a:xfrm xmlns:a="http://schemas.openxmlformats.org/drawingml/2006/main">
            <a:off x="4343400" y="3286125"/>
            <a:ext cx="1638300" cy="38100"/>
          </a:xfrm>
          <a:prstGeom xmlns:a="http://schemas.openxmlformats.org/drawingml/2006/main" prst="rect">
            <a:avLst/>
          </a:prstGeom>
          <a:solidFill xmlns:a="http://schemas.openxmlformats.org/drawingml/2006/main">
            <a:srgbClr val="0C3B5B"/>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B9B24CDA-3E44-4AEB-BAB9-44DFF3F863A3}"/>
              </a:ext>
            </a:extLst>
          </p:cNvPr>
          <p:cNvSpPr>
            <a:spLocks xmlns:a="http://schemas.openxmlformats.org/drawingml/2006/main" noGrp="1"/>
          </p:cNvSpPr>
          <p:nvPr/>
        </p:nvSpPr>
        <p:spPr>
          <a:xfrm xmlns:a="http://schemas.openxmlformats.org/drawingml/2006/main">
            <a:off x="4343400" y="3571875"/>
            <a:ext cx="16383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C9D6E1"/>
                </a:solidFill>
                <a:latin typeface="Inter"/>
                <a:ea typeface="Inter"/>
                <a:cs typeface="Inter"/>
              </a:defRPr>
            </a:pPr>
            <a:r>
              <a:rPr sz="1200" b="0">
                <a:solidFill>
                  <a:srgbClr val="C9D6E1"/>
                </a:solidFill>
                <a:latin typeface="Inter"/>
                <a:ea typeface="Inter"/>
                <a:cs typeface="Inter"/>
              </a:rPr>
              <a:t>Frames controls</a:t>
            </a:r>
          </a:p>
        </p:txBody>
      </p:sp>
      <p:sp>
        <p:nvSpPr>
          <p:cNvPr id="16" name="">
            <a:extLst xmlns:a="http://schemas.openxmlformats.org/drawingml/2006/main">
              <a:ext uri="{FF2B5EF4-FFF2-40B4-BE49-F238E27FC236}">
                <a16:creationId xmlns:a16="http://schemas.microsoft.com/office/drawing/2014/main" id="{DFF4740C-5EFA-495C-9CEE-56A5B221A500}"/>
              </a:ext>
            </a:extLst>
          </p:cNvPr>
          <p:cNvSpPr>
            <a:spLocks xmlns:a="http://schemas.openxmlformats.org/drawingml/2006/main" noGrp="1"/>
          </p:cNvSpPr>
          <p:nvPr/>
        </p:nvSpPr>
        <p:spPr>
          <a:xfrm xmlns:a="http://schemas.openxmlformats.org/drawingml/2006/main">
            <a:off x="6172200" y="1952625"/>
            <a:ext cx="381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BC03"/>
                </a:solidFill>
                <a:latin typeface="Inter"/>
                <a:ea typeface="Inter"/>
                <a:cs typeface="Inter"/>
              </a:defRPr>
            </a:pPr>
            <a:r>
              <a:rPr sz="1050" b="1">
                <a:solidFill>
                  <a:srgbClr val="FFBC03"/>
                </a:solidFill>
                <a:latin typeface="Inter"/>
                <a:ea typeface="Inter"/>
                <a:cs typeface="Inter"/>
              </a:rPr>
              <a:t>04</a:t>
            </a:r>
          </a:p>
        </p:txBody>
      </p:sp>
      <p:sp>
        <p:nvSpPr>
          <p:cNvPr id="17" name="">
            <a:extLst xmlns:a="http://schemas.openxmlformats.org/drawingml/2006/main">
              <a:ext uri="{FF2B5EF4-FFF2-40B4-BE49-F238E27FC236}">
                <a16:creationId xmlns:a16="http://schemas.microsoft.com/office/drawing/2014/main" id="{77E56753-4F3A-4947-99F3-463E38FD14A8}"/>
              </a:ext>
            </a:extLst>
          </p:cNvPr>
          <p:cNvSpPr>
            <a:spLocks xmlns:a="http://schemas.openxmlformats.org/drawingml/2006/main" noGrp="1"/>
          </p:cNvSpPr>
          <p:nvPr/>
        </p:nvSpPr>
        <p:spPr>
          <a:xfrm xmlns:a="http://schemas.openxmlformats.org/drawingml/2006/main">
            <a:off x="6172200" y="2381250"/>
            <a:ext cx="16383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FFFFF"/>
                </a:solidFill>
                <a:latin typeface="Outfit"/>
                <a:ea typeface="Outfit"/>
                <a:cs typeface="Outfit"/>
              </a:defRPr>
            </a:pPr>
            <a:r>
              <a:rPr sz="1725" b="1">
                <a:solidFill>
                  <a:srgbClr val="FFFFFF"/>
                </a:solidFill>
                <a:latin typeface="Outfit"/>
                <a:ea typeface="Outfit"/>
                <a:cs typeface="Outfit"/>
              </a:rPr>
              <a:t>Requirements</a:t>
            </a:r>
          </a:p>
        </p:txBody>
      </p:sp>
      <p:sp>
        <p:nvSpPr>
          <p:cNvPr id="18" name="">
            <a:extLst xmlns:a="http://schemas.openxmlformats.org/drawingml/2006/main">
              <a:ext uri="{FF2B5EF4-FFF2-40B4-BE49-F238E27FC236}">
                <a16:creationId xmlns:a16="http://schemas.microsoft.com/office/drawing/2014/main" id="{9DA64375-FB56-4185-ACC7-89D4CF682150}"/>
              </a:ext>
            </a:extLst>
          </p:cNvPr>
          <p:cNvSpPr>
            <a:spLocks xmlns:a="http://schemas.openxmlformats.org/drawingml/2006/main" noGrp="1"/>
          </p:cNvSpPr>
          <p:nvPr/>
        </p:nvSpPr>
        <p:spPr>
          <a:xfrm xmlns:a="http://schemas.openxmlformats.org/drawingml/2006/main">
            <a:off x="6172200" y="3286125"/>
            <a:ext cx="1638300" cy="38100"/>
          </a:xfrm>
          <a:prstGeom xmlns:a="http://schemas.openxmlformats.org/drawingml/2006/main" prst="rect">
            <a:avLst/>
          </a:prstGeom>
          <a:solidFill xmlns:a="http://schemas.openxmlformats.org/drawingml/2006/main">
            <a:srgbClr val="0C3B5B"/>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FB451D61-A365-4AFD-AE44-A01E37C36613}"/>
              </a:ext>
            </a:extLst>
          </p:cNvPr>
          <p:cNvSpPr>
            <a:spLocks xmlns:a="http://schemas.openxmlformats.org/drawingml/2006/main" noGrp="1"/>
          </p:cNvSpPr>
          <p:nvPr/>
        </p:nvSpPr>
        <p:spPr>
          <a:xfrm xmlns:a="http://schemas.openxmlformats.org/drawingml/2006/main">
            <a:off x="6172200" y="3571875"/>
            <a:ext cx="16383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C9D6E1"/>
                </a:solidFill>
                <a:latin typeface="Inter"/>
                <a:ea typeface="Inter"/>
                <a:cs typeface="Inter"/>
              </a:defRPr>
            </a:pPr>
            <a:r>
              <a:rPr sz="1200" b="0">
                <a:solidFill>
                  <a:srgbClr val="C9D6E1"/>
                </a:solidFill>
                <a:latin typeface="Inter"/>
                <a:ea typeface="Inter"/>
                <a:cs typeface="Inter"/>
              </a:rPr>
              <a:t>Documents the change</a:t>
            </a:r>
          </a:p>
        </p:txBody>
      </p:sp>
      <p:sp>
        <p:nvSpPr>
          <p:cNvPr id="20" name="">
            <a:extLst xmlns:a="http://schemas.openxmlformats.org/drawingml/2006/main">
              <a:ext uri="{FF2B5EF4-FFF2-40B4-BE49-F238E27FC236}">
                <a16:creationId xmlns:a16="http://schemas.microsoft.com/office/drawing/2014/main" id="{549C0B49-B59A-47DC-833F-722E565F8AD4}"/>
              </a:ext>
            </a:extLst>
          </p:cNvPr>
          <p:cNvSpPr>
            <a:spLocks xmlns:a="http://schemas.openxmlformats.org/drawingml/2006/main" noGrp="1"/>
          </p:cNvSpPr>
          <p:nvPr/>
        </p:nvSpPr>
        <p:spPr>
          <a:xfrm xmlns:a="http://schemas.openxmlformats.org/drawingml/2006/main">
            <a:off x="8001000" y="1952625"/>
            <a:ext cx="381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BC03"/>
                </a:solidFill>
                <a:latin typeface="Inter"/>
                <a:ea typeface="Inter"/>
                <a:cs typeface="Inter"/>
              </a:defRPr>
            </a:pPr>
            <a:r>
              <a:rPr sz="1050" b="1">
                <a:solidFill>
                  <a:srgbClr val="FFBC03"/>
                </a:solidFill>
                <a:latin typeface="Inter"/>
                <a:ea typeface="Inter"/>
                <a:cs typeface="Inter"/>
              </a:rPr>
              <a:t>05</a:t>
            </a:r>
          </a:p>
        </p:txBody>
      </p:sp>
      <p:sp>
        <p:nvSpPr>
          <p:cNvPr id="21" name="">
            <a:extLst xmlns:a="http://schemas.openxmlformats.org/drawingml/2006/main">
              <a:ext uri="{FF2B5EF4-FFF2-40B4-BE49-F238E27FC236}">
                <a16:creationId xmlns:a16="http://schemas.microsoft.com/office/drawing/2014/main" id="{259AE2F9-859C-4C46-A326-334A0D14EA44}"/>
              </a:ext>
            </a:extLst>
          </p:cNvPr>
          <p:cNvSpPr>
            <a:spLocks xmlns:a="http://schemas.openxmlformats.org/drawingml/2006/main" noGrp="1"/>
          </p:cNvSpPr>
          <p:nvPr/>
        </p:nvSpPr>
        <p:spPr>
          <a:xfrm xmlns:a="http://schemas.openxmlformats.org/drawingml/2006/main">
            <a:off x="8001000" y="2381250"/>
            <a:ext cx="16383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FFFFF"/>
                </a:solidFill>
                <a:latin typeface="Outfit"/>
                <a:ea typeface="Outfit"/>
                <a:cs typeface="Outfit"/>
              </a:defRPr>
            </a:pPr>
            <a:r>
              <a:rPr sz="1725" b="1">
                <a:solidFill>
                  <a:srgbClr val="FFFFFF"/>
                </a:solidFill>
                <a:latin typeface="Outfit"/>
                <a:ea typeface="Outfit"/>
                <a:cs typeface="Outfit"/>
              </a:rPr>
              <a:t>Delivery</a:t>
            </a:r>
          </a:p>
        </p:txBody>
      </p:sp>
      <p:sp>
        <p:nvSpPr>
          <p:cNvPr id="22" name="">
            <a:extLst xmlns:a="http://schemas.openxmlformats.org/drawingml/2006/main">
              <a:ext uri="{FF2B5EF4-FFF2-40B4-BE49-F238E27FC236}">
                <a16:creationId xmlns:a16="http://schemas.microsoft.com/office/drawing/2014/main" id="{39DC992A-BCF0-44A0-95BE-E82EE2E066D1}"/>
              </a:ext>
            </a:extLst>
          </p:cNvPr>
          <p:cNvSpPr>
            <a:spLocks xmlns:a="http://schemas.openxmlformats.org/drawingml/2006/main" noGrp="1"/>
          </p:cNvSpPr>
          <p:nvPr/>
        </p:nvSpPr>
        <p:spPr>
          <a:xfrm xmlns:a="http://schemas.openxmlformats.org/drawingml/2006/main">
            <a:off x="8001000" y="3286125"/>
            <a:ext cx="1638300" cy="38100"/>
          </a:xfrm>
          <a:prstGeom xmlns:a="http://schemas.openxmlformats.org/drawingml/2006/main" prst="rect">
            <a:avLst/>
          </a:prstGeom>
          <a:solidFill xmlns:a="http://schemas.openxmlformats.org/drawingml/2006/main">
            <a:srgbClr val="0C3B5B"/>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1C20D05B-F9C7-4903-B8AC-929B6D974E76}"/>
              </a:ext>
            </a:extLst>
          </p:cNvPr>
          <p:cNvSpPr>
            <a:spLocks xmlns:a="http://schemas.openxmlformats.org/drawingml/2006/main" noGrp="1"/>
          </p:cNvSpPr>
          <p:nvPr/>
        </p:nvSpPr>
        <p:spPr>
          <a:xfrm xmlns:a="http://schemas.openxmlformats.org/drawingml/2006/main">
            <a:off x="8001000" y="3571875"/>
            <a:ext cx="16383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C9D6E1"/>
                </a:solidFill>
                <a:latin typeface="Inter"/>
                <a:ea typeface="Inter"/>
                <a:cs typeface="Inter"/>
              </a:defRPr>
            </a:pPr>
            <a:r>
              <a:rPr sz="1200" b="0">
                <a:solidFill>
                  <a:srgbClr val="C9D6E1"/>
                </a:solidFill>
                <a:latin typeface="Inter"/>
                <a:ea typeface="Inter"/>
                <a:cs typeface="Inter"/>
              </a:rPr>
              <a:t>Plans the build</a:t>
            </a:r>
          </a:p>
        </p:txBody>
      </p:sp>
      <p:sp>
        <p:nvSpPr>
          <p:cNvPr id="24" name="">
            <a:extLst xmlns:a="http://schemas.openxmlformats.org/drawingml/2006/main">
              <a:ext uri="{FF2B5EF4-FFF2-40B4-BE49-F238E27FC236}">
                <a16:creationId xmlns:a16="http://schemas.microsoft.com/office/drawing/2014/main" id="{F8D5D46E-DAC9-4FF9-A2AC-4E84445B9119}"/>
              </a:ext>
            </a:extLst>
          </p:cNvPr>
          <p:cNvSpPr>
            <a:spLocks xmlns:a="http://schemas.openxmlformats.org/drawingml/2006/main" noGrp="1"/>
          </p:cNvSpPr>
          <p:nvPr/>
        </p:nvSpPr>
        <p:spPr>
          <a:xfrm xmlns:a="http://schemas.openxmlformats.org/drawingml/2006/main">
            <a:off x="9829800" y="1952625"/>
            <a:ext cx="381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BC03"/>
                </a:solidFill>
                <a:latin typeface="Inter"/>
                <a:ea typeface="Inter"/>
                <a:cs typeface="Inter"/>
              </a:defRPr>
            </a:pPr>
            <a:r>
              <a:rPr sz="1050" b="1">
                <a:solidFill>
                  <a:srgbClr val="FFBC03"/>
                </a:solidFill>
                <a:latin typeface="Inter"/>
                <a:ea typeface="Inter"/>
                <a:cs typeface="Inter"/>
              </a:rPr>
              <a:t>06</a:t>
            </a:r>
          </a:p>
        </p:txBody>
      </p:sp>
      <p:sp>
        <p:nvSpPr>
          <p:cNvPr id="25" name="">
            <a:extLst xmlns:a="http://schemas.openxmlformats.org/drawingml/2006/main">
              <a:ext uri="{FF2B5EF4-FFF2-40B4-BE49-F238E27FC236}">
                <a16:creationId xmlns:a16="http://schemas.microsoft.com/office/drawing/2014/main" id="{E4C0FC7C-FA07-4289-99C8-48D56373F04F}"/>
              </a:ext>
            </a:extLst>
          </p:cNvPr>
          <p:cNvSpPr>
            <a:spLocks xmlns:a="http://schemas.openxmlformats.org/drawingml/2006/main" noGrp="1"/>
          </p:cNvSpPr>
          <p:nvPr/>
        </p:nvSpPr>
        <p:spPr>
          <a:xfrm xmlns:a="http://schemas.openxmlformats.org/drawingml/2006/main">
            <a:off x="9829800" y="2381250"/>
            <a:ext cx="1638300" cy="762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725" b="1">
                <a:solidFill>
                  <a:srgbClr val="FFFFFF"/>
                </a:solidFill>
                <a:latin typeface="Outfit"/>
                <a:ea typeface="Outfit"/>
                <a:cs typeface="Outfit"/>
              </a:defRPr>
            </a:pPr>
            <a:r>
              <a:rPr sz="1725" b="1">
                <a:solidFill>
                  <a:srgbClr val="FFFFFF"/>
                </a:solidFill>
                <a:latin typeface="Outfit"/>
                <a:ea typeface="Outfit"/>
                <a:cs typeface="Outfit"/>
              </a:rPr>
              <a:t>Runtime</a:t>
            </a:r>
          </a:p>
        </p:txBody>
      </p:sp>
      <p:sp>
        <p:nvSpPr>
          <p:cNvPr id="26" name="">
            <a:extLst xmlns:a="http://schemas.openxmlformats.org/drawingml/2006/main">
              <a:ext uri="{FF2B5EF4-FFF2-40B4-BE49-F238E27FC236}">
                <a16:creationId xmlns:a16="http://schemas.microsoft.com/office/drawing/2014/main" id="{0B8548EA-CE8A-42D4-AF15-079F97C2A7E9}"/>
              </a:ext>
            </a:extLst>
          </p:cNvPr>
          <p:cNvSpPr>
            <a:spLocks xmlns:a="http://schemas.openxmlformats.org/drawingml/2006/main" noGrp="1"/>
          </p:cNvSpPr>
          <p:nvPr/>
        </p:nvSpPr>
        <p:spPr>
          <a:xfrm xmlns:a="http://schemas.openxmlformats.org/drawingml/2006/main">
            <a:off x="9829800" y="3286125"/>
            <a:ext cx="1638300" cy="38100"/>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607C32B2-E930-4CBE-A4C4-3679BC7CD02D}"/>
              </a:ext>
            </a:extLst>
          </p:cNvPr>
          <p:cNvSpPr>
            <a:spLocks xmlns:a="http://schemas.openxmlformats.org/drawingml/2006/main" noGrp="1"/>
          </p:cNvSpPr>
          <p:nvPr/>
        </p:nvSpPr>
        <p:spPr>
          <a:xfrm xmlns:a="http://schemas.openxmlformats.org/drawingml/2006/main">
            <a:off x="9829800" y="3571875"/>
            <a:ext cx="16383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0">
                <a:solidFill>
                  <a:srgbClr val="C9D6E1"/>
                </a:solidFill>
                <a:latin typeface="Inter"/>
                <a:ea typeface="Inter"/>
                <a:cs typeface="Inter"/>
              </a:defRPr>
            </a:pPr>
            <a:r>
              <a:rPr sz="1200" b="0">
                <a:solidFill>
                  <a:srgbClr val="C9D6E1"/>
                </a:solidFill>
                <a:latin typeface="Inter"/>
                <a:ea typeface="Inter"/>
                <a:cs typeface="Inter"/>
              </a:rPr>
              <a:t>Executes the work</a:t>
            </a:r>
          </a:p>
        </p:txBody>
      </p:sp>
      <p:sp>
        <p:nvSpPr>
          <p:cNvPr id="28" name="">
            <a:extLst xmlns:a="http://schemas.openxmlformats.org/drawingml/2006/main">
              <a:ext uri="{FF2B5EF4-FFF2-40B4-BE49-F238E27FC236}">
                <a16:creationId xmlns:a16="http://schemas.microsoft.com/office/drawing/2014/main" id="{2B13777C-E8CE-4A4F-998B-73AD15F7F6A2}"/>
              </a:ext>
            </a:extLst>
          </p:cNvPr>
          <p:cNvSpPr>
            <a:spLocks xmlns:a="http://schemas.openxmlformats.org/drawingml/2006/main" noGrp="1"/>
          </p:cNvSpPr>
          <p:nvPr/>
        </p:nvSpPr>
        <p:spPr>
          <a:xfrm xmlns:a="http://schemas.openxmlformats.org/drawingml/2006/main">
            <a:off x="1619250" y="5191125"/>
            <a:ext cx="8953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FFFFFF"/>
                </a:solidFill>
                <a:latin typeface="Inter"/>
                <a:ea typeface="Inter"/>
                <a:cs typeface="Inter"/>
              </a:defRPr>
            </a:pPr>
            <a:r>
              <a:rPr sz="1425" b="1">
                <a:solidFill>
                  <a:srgbClr val="FFFFFF"/>
                </a:solidFill>
                <a:latin typeface="Inter"/>
                <a:ea typeface="Inter"/>
                <a:cs typeface="Inter"/>
              </a:rPr>
              <a:t>AvalaOS governs the connective path; authorized systems execute.</a:t>
            </a:r>
          </a:p>
        </p:txBody>
      </p:sp>
      <p:sp>
        <p:nvSpPr>
          <p:cNvPr id="29" name="">
            <a:extLst xmlns:a="http://schemas.openxmlformats.org/drawingml/2006/main">
              <a:ext uri="{FF2B5EF4-FFF2-40B4-BE49-F238E27FC236}">
                <a16:creationId xmlns:a16="http://schemas.microsoft.com/office/drawing/2014/main" id="{B7A827AD-7363-4277-BAFC-FCA7E4935AA8}"/>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The Operating System for Governed AI and Automation Decisions • Pre-seed enterprise software, automation, workflow, and AI-governance investors</a:t>
            </a:r>
          </a:p>
        </p:txBody>
      </p:sp>
      <p:sp>
        <p:nvSpPr>
          <p:cNvPr id="30" name="">
            <a:extLst xmlns:a="http://schemas.openxmlformats.org/drawingml/2006/main">
              <a:ext uri="{FF2B5EF4-FFF2-40B4-BE49-F238E27FC236}">
                <a16:creationId xmlns:a16="http://schemas.microsoft.com/office/drawing/2014/main" id="{1A4E19CB-1776-4DFD-9895-28FED49448D3}"/>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AvalaOS governs the connective path; authorized systems execute.</a:t>
            </a:r>
          </a:p>
        </p:txBody>
      </p:sp>
      <p:sp>
        <p:nvSpPr>
          <p:cNvPr id="31" name="">
            <a:extLst xmlns:a="http://schemas.openxmlformats.org/drawingml/2006/main">
              <a:ext uri="{FF2B5EF4-FFF2-40B4-BE49-F238E27FC236}">
                <a16:creationId xmlns:a16="http://schemas.microsoft.com/office/drawing/2014/main" id="{22D294C7-704F-4BBD-B044-AE95D649E278}"/>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04</a:t>
            </a:r>
          </a:p>
        </p:txBody>
      </p:sp>
    </p:spTree>
    <p:extLst>
      <p:ext uri="{BB962C8B-B14F-4D97-AF65-F5344CB8AC3E}">
        <p14:creationId xmlns:p14="http://schemas.microsoft.com/office/powerpoint/2010/main" val="1818136630"/>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BAF97D29-63AB-4D06-958B-800629C08E15}"/>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63E7D62-CDBF-4FAF-B3B6-C3C3331A97F7}"/>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THE SOLUTION</a:t>
            </a:r>
          </a:p>
        </p:txBody>
      </p:sp>
      <p:sp>
        <p:nvSpPr>
          <p:cNvPr id="3" name="">
            <a:extLst xmlns:a="http://schemas.openxmlformats.org/drawingml/2006/main">
              <a:ext uri="{FF2B5EF4-FFF2-40B4-BE49-F238E27FC236}">
                <a16:creationId xmlns:a16="http://schemas.microsoft.com/office/drawing/2014/main" id="{6957AD67-06AB-4EFF-BD9C-2A57CBA0EC31}"/>
              </a:ext>
            </a:extLst>
          </p:cNvPr>
          <p:cNvSpPr>
            <a:spLocks xmlns:a="http://schemas.openxmlformats.org/drawingml/2006/main" noGrp="1"/>
          </p:cNvSpPr>
          <p:nvPr/>
        </p:nvSpPr>
        <p:spPr>
          <a:xfrm xmlns:a="http://schemas.openxmlformats.org/drawingml/2006/main">
            <a:off x="609600" y="638175"/>
            <a:ext cx="10287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AvalaOS carries evidence into delivery without losing authority.</a:t>
            </a:r>
          </a:p>
        </p:txBody>
      </p:sp>
      <p:sp>
        <p:nvSpPr>
          <p:cNvPr id="4" name="">
            <a:extLst xmlns:a="http://schemas.openxmlformats.org/drawingml/2006/main">
              <a:ext uri="{FF2B5EF4-FFF2-40B4-BE49-F238E27FC236}">
                <a16:creationId xmlns:a16="http://schemas.microsoft.com/office/drawing/2014/main" id="{4F600838-9AA3-41E0-96B0-789BE49B7515}"/>
              </a:ext>
            </a:extLst>
          </p:cNvPr>
          <p:cNvSpPr>
            <a:spLocks xmlns:a="http://schemas.openxmlformats.org/drawingml/2006/main" noGrp="1"/>
          </p:cNvSpPr>
          <p:nvPr/>
        </p:nvSpPr>
        <p:spPr>
          <a:xfrm xmlns:a="http://schemas.openxmlformats.org/drawingml/2006/main">
            <a:off x="857250" y="2190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0297678A-4549-4E6F-94C4-0D5B0FB1F4FE}"/>
              </a:ext>
            </a:extLst>
          </p:cNvPr>
          <p:cNvSpPr>
            <a:spLocks xmlns:a="http://schemas.openxmlformats.org/drawingml/2006/main" noGrp="1"/>
          </p:cNvSpPr>
          <p:nvPr/>
        </p:nvSpPr>
        <p:spPr>
          <a:xfrm xmlns:a="http://schemas.openxmlformats.org/drawingml/2006/main">
            <a:off x="857250" y="2343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1</a:t>
            </a:r>
          </a:p>
        </p:txBody>
      </p:sp>
      <p:sp>
        <p:nvSpPr>
          <p:cNvPr id="6" name="">
            <a:extLst xmlns:a="http://schemas.openxmlformats.org/drawingml/2006/main">
              <a:ext uri="{FF2B5EF4-FFF2-40B4-BE49-F238E27FC236}">
                <a16:creationId xmlns:a16="http://schemas.microsoft.com/office/drawing/2014/main" id="{E1E7AFCC-9BC3-4AD1-B741-8CBCB3DFB42D}"/>
              </a:ext>
            </a:extLst>
          </p:cNvPr>
          <p:cNvSpPr>
            <a:spLocks xmlns:a="http://schemas.openxmlformats.org/drawingml/2006/main" noGrp="1"/>
          </p:cNvSpPr>
          <p:nvPr/>
        </p:nvSpPr>
        <p:spPr>
          <a:xfrm xmlns:a="http://schemas.openxmlformats.org/drawingml/2006/main">
            <a:off x="1600200" y="2162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Evidence</a:t>
            </a:r>
          </a:p>
        </p:txBody>
      </p:sp>
      <p:sp>
        <p:nvSpPr>
          <p:cNvPr id="7" name="">
            <a:extLst xmlns:a="http://schemas.openxmlformats.org/drawingml/2006/main">
              <a:ext uri="{FF2B5EF4-FFF2-40B4-BE49-F238E27FC236}">
                <a16:creationId xmlns:a16="http://schemas.microsoft.com/office/drawing/2014/main" id="{89AE925F-B786-498A-A9A2-06D00833EFB0}"/>
              </a:ext>
            </a:extLst>
          </p:cNvPr>
          <p:cNvSpPr>
            <a:spLocks xmlns:a="http://schemas.openxmlformats.org/drawingml/2006/main" noGrp="1"/>
          </p:cNvSpPr>
          <p:nvPr/>
        </p:nvSpPr>
        <p:spPr>
          <a:xfrm xmlns:a="http://schemas.openxmlformats.org/drawingml/2006/main">
            <a:off x="3952875" y="2333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351E5C5-259F-4BF0-A759-F8983E3E8FFF}"/>
              </a:ext>
            </a:extLst>
          </p:cNvPr>
          <p:cNvSpPr>
            <a:spLocks xmlns:a="http://schemas.openxmlformats.org/drawingml/2006/main" noGrp="1"/>
          </p:cNvSpPr>
          <p:nvPr/>
        </p:nvSpPr>
        <p:spPr>
          <a:xfrm xmlns:a="http://schemas.openxmlformats.org/drawingml/2006/main">
            <a:off x="4572000" y="2190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18D81B0B-89B3-479A-8F4F-955AA61811F8}"/>
              </a:ext>
            </a:extLst>
          </p:cNvPr>
          <p:cNvSpPr>
            <a:spLocks xmlns:a="http://schemas.openxmlformats.org/drawingml/2006/main" noGrp="1"/>
          </p:cNvSpPr>
          <p:nvPr/>
        </p:nvSpPr>
        <p:spPr>
          <a:xfrm xmlns:a="http://schemas.openxmlformats.org/drawingml/2006/main">
            <a:off x="4572000" y="2343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2</a:t>
            </a:r>
          </a:p>
        </p:txBody>
      </p:sp>
      <p:sp>
        <p:nvSpPr>
          <p:cNvPr id="10" name="">
            <a:extLst xmlns:a="http://schemas.openxmlformats.org/drawingml/2006/main">
              <a:ext uri="{FF2B5EF4-FFF2-40B4-BE49-F238E27FC236}">
                <a16:creationId xmlns:a16="http://schemas.microsoft.com/office/drawing/2014/main" id="{19AC396D-DC33-4F0D-95E5-9B02B12FE347}"/>
              </a:ext>
            </a:extLst>
          </p:cNvPr>
          <p:cNvSpPr>
            <a:spLocks xmlns:a="http://schemas.openxmlformats.org/drawingml/2006/main" noGrp="1"/>
          </p:cNvSpPr>
          <p:nvPr/>
        </p:nvSpPr>
        <p:spPr>
          <a:xfrm xmlns:a="http://schemas.openxmlformats.org/drawingml/2006/main">
            <a:off x="5314950" y="2162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Deterministic decision</a:t>
            </a:r>
          </a:p>
        </p:txBody>
      </p:sp>
      <p:sp>
        <p:nvSpPr>
          <p:cNvPr id="11" name="">
            <a:extLst xmlns:a="http://schemas.openxmlformats.org/drawingml/2006/main">
              <a:ext uri="{FF2B5EF4-FFF2-40B4-BE49-F238E27FC236}">
                <a16:creationId xmlns:a16="http://schemas.microsoft.com/office/drawing/2014/main" id="{E3205C19-D065-4AD0-928C-F17D6C4E28EA}"/>
              </a:ext>
            </a:extLst>
          </p:cNvPr>
          <p:cNvSpPr>
            <a:spLocks xmlns:a="http://schemas.openxmlformats.org/drawingml/2006/main" noGrp="1"/>
          </p:cNvSpPr>
          <p:nvPr/>
        </p:nvSpPr>
        <p:spPr>
          <a:xfrm xmlns:a="http://schemas.openxmlformats.org/drawingml/2006/main">
            <a:off x="7667625" y="2333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FAD31B3E-3CD3-48E0-AAFE-0C91E807731A}"/>
              </a:ext>
            </a:extLst>
          </p:cNvPr>
          <p:cNvSpPr>
            <a:spLocks xmlns:a="http://schemas.openxmlformats.org/drawingml/2006/main" noGrp="1"/>
          </p:cNvSpPr>
          <p:nvPr/>
        </p:nvSpPr>
        <p:spPr>
          <a:xfrm xmlns:a="http://schemas.openxmlformats.org/drawingml/2006/main">
            <a:off x="8286750" y="2190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BC681E05-A4B5-4839-8DF3-9A7FB1BC1453}"/>
              </a:ext>
            </a:extLst>
          </p:cNvPr>
          <p:cNvSpPr>
            <a:spLocks xmlns:a="http://schemas.openxmlformats.org/drawingml/2006/main" noGrp="1"/>
          </p:cNvSpPr>
          <p:nvPr/>
        </p:nvSpPr>
        <p:spPr>
          <a:xfrm xmlns:a="http://schemas.openxmlformats.org/drawingml/2006/main">
            <a:off x="8286750" y="2343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3</a:t>
            </a:r>
          </a:p>
        </p:txBody>
      </p:sp>
      <p:sp>
        <p:nvSpPr>
          <p:cNvPr id="14" name="">
            <a:extLst xmlns:a="http://schemas.openxmlformats.org/drawingml/2006/main">
              <a:ext uri="{FF2B5EF4-FFF2-40B4-BE49-F238E27FC236}">
                <a16:creationId xmlns:a16="http://schemas.microsoft.com/office/drawing/2014/main" id="{F7AB0C8A-820D-4786-B06E-59AD1BED15B0}"/>
              </a:ext>
            </a:extLst>
          </p:cNvPr>
          <p:cNvSpPr>
            <a:spLocks xmlns:a="http://schemas.openxmlformats.org/drawingml/2006/main" noGrp="1"/>
          </p:cNvSpPr>
          <p:nvPr/>
        </p:nvSpPr>
        <p:spPr>
          <a:xfrm xmlns:a="http://schemas.openxmlformats.org/drawingml/2006/main">
            <a:off x="9029700" y="2162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Human governance</a:t>
            </a:r>
          </a:p>
        </p:txBody>
      </p:sp>
      <p:sp>
        <p:nvSpPr>
          <p:cNvPr id="15" name="">
            <a:extLst xmlns:a="http://schemas.openxmlformats.org/drawingml/2006/main">
              <a:ext uri="{FF2B5EF4-FFF2-40B4-BE49-F238E27FC236}">
                <a16:creationId xmlns:a16="http://schemas.microsoft.com/office/drawing/2014/main" id="{B4252DB6-01D7-41E4-BEFA-57FFA25A7148}"/>
              </a:ext>
            </a:extLst>
          </p:cNvPr>
          <p:cNvSpPr>
            <a:spLocks xmlns:a="http://schemas.openxmlformats.org/drawingml/2006/main" noGrp="1"/>
          </p:cNvSpPr>
          <p:nvPr/>
        </p:nvSpPr>
        <p:spPr>
          <a:xfrm xmlns:a="http://schemas.openxmlformats.org/drawingml/2006/main">
            <a:off x="857250" y="4095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1BF1F8D-7203-4968-A2A6-57A3E618837B}"/>
              </a:ext>
            </a:extLst>
          </p:cNvPr>
          <p:cNvSpPr>
            <a:spLocks xmlns:a="http://schemas.openxmlformats.org/drawingml/2006/main" noGrp="1"/>
          </p:cNvSpPr>
          <p:nvPr/>
        </p:nvSpPr>
        <p:spPr>
          <a:xfrm xmlns:a="http://schemas.openxmlformats.org/drawingml/2006/main">
            <a:off x="857250" y="4248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4</a:t>
            </a:r>
          </a:p>
        </p:txBody>
      </p:sp>
      <p:sp>
        <p:nvSpPr>
          <p:cNvPr id="17" name="">
            <a:extLst xmlns:a="http://schemas.openxmlformats.org/drawingml/2006/main">
              <a:ext uri="{FF2B5EF4-FFF2-40B4-BE49-F238E27FC236}">
                <a16:creationId xmlns:a16="http://schemas.microsoft.com/office/drawing/2014/main" id="{10ACDCBF-5541-4600-90E9-A013AA544E0C}"/>
              </a:ext>
            </a:extLst>
          </p:cNvPr>
          <p:cNvSpPr>
            <a:spLocks xmlns:a="http://schemas.openxmlformats.org/drawingml/2006/main" noGrp="1"/>
          </p:cNvSpPr>
          <p:nvPr/>
        </p:nvSpPr>
        <p:spPr>
          <a:xfrm xmlns:a="http://schemas.openxmlformats.org/drawingml/2006/main">
            <a:off x="1600200" y="4067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Governed artifact</a:t>
            </a:r>
          </a:p>
        </p:txBody>
      </p:sp>
      <p:sp>
        <p:nvSpPr>
          <p:cNvPr id="18" name="">
            <a:extLst xmlns:a="http://schemas.openxmlformats.org/drawingml/2006/main">
              <a:ext uri="{FF2B5EF4-FFF2-40B4-BE49-F238E27FC236}">
                <a16:creationId xmlns:a16="http://schemas.microsoft.com/office/drawing/2014/main" id="{375ED6A1-2667-49D7-8B59-BD02F5861F26}"/>
              </a:ext>
            </a:extLst>
          </p:cNvPr>
          <p:cNvSpPr>
            <a:spLocks xmlns:a="http://schemas.openxmlformats.org/drawingml/2006/main" noGrp="1"/>
          </p:cNvSpPr>
          <p:nvPr/>
        </p:nvSpPr>
        <p:spPr>
          <a:xfrm xmlns:a="http://schemas.openxmlformats.org/drawingml/2006/main">
            <a:off x="3952875" y="4238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F1FED938-1108-4057-8D35-314BBD6C2F2E}"/>
              </a:ext>
            </a:extLst>
          </p:cNvPr>
          <p:cNvSpPr>
            <a:spLocks xmlns:a="http://schemas.openxmlformats.org/drawingml/2006/main" noGrp="1"/>
          </p:cNvSpPr>
          <p:nvPr/>
        </p:nvSpPr>
        <p:spPr>
          <a:xfrm xmlns:a="http://schemas.openxmlformats.org/drawingml/2006/main">
            <a:off x="4572000" y="4095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381DB694-0BBE-44A9-9214-62B0DF0CD932}"/>
              </a:ext>
            </a:extLst>
          </p:cNvPr>
          <p:cNvSpPr>
            <a:spLocks xmlns:a="http://schemas.openxmlformats.org/drawingml/2006/main" noGrp="1"/>
          </p:cNvSpPr>
          <p:nvPr/>
        </p:nvSpPr>
        <p:spPr>
          <a:xfrm xmlns:a="http://schemas.openxmlformats.org/drawingml/2006/main">
            <a:off x="4572000" y="4248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5</a:t>
            </a:r>
          </a:p>
        </p:txBody>
      </p:sp>
      <p:sp>
        <p:nvSpPr>
          <p:cNvPr id="21" name="">
            <a:extLst xmlns:a="http://schemas.openxmlformats.org/drawingml/2006/main">
              <a:ext uri="{FF2B5EF4-FFF2-40B4-BE49-F238E27FC236}">
                <a16:creationId xmlns:a16="http://schemas.microsoft.com/office/drawing/2014/main" id="{9DA01E70-73A2-432D-B05D-9F5FBC4364CF}"/>
              </a:ext>
            </a:extLst>
          </p:cNvPr>
          <p:cNvSpPr>
            <a:spLocks xmlns:a="http://schemas.openxmlformats.org/drawingml/2006/main" noGrp="1"/>
          </p:cNvSpPr>
          <p:nvPr/>
        </p:nvSpPr>
        <p:spPr>
          <a:xfrm xmlns:a="http://schemas.openxmlformats.org/drawingml/2006/main">
            <a:off x="5314950" y="4067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Delivery handoff</a:t>
            </a:r>
          </a:p>
        </p:txBody>
      </p:sp>
      <p:sp>
        <p:nvSpPr>
          <p:cNvPr id="22" name="">
            <a:extLst xmlns:a="http://schemas.openxmlformats.org/drawingml/2006/main">
              <a:ext uri="{FF2B5EF4-FFF2-40B4-BE49-F238E27FC236}">
                <a16:creationId xmlns:a16="http://schemas.microsoft.com/office/drawing/2014/main" id="{7E313D52-D58D-4083-B6C1-E43697BD9FE6}"/>
              </a:ext>
            </a:extLst>
          </p:cNvPr>
          <p:cNvSpPr>
            <a:spLocks xmlns:a="http://schemas.openxmlformats.org/drawingml/2006/main" noGrp="1"/>
          </p:cNvSpPr>
          <p:nvPr/>
        </p:nvSpPr>
        <p:spPr>
          <a:xfrm xmlns:a="http://schemas.openxmlformats.org/drawingml/2006/main">
            <a:off x="7667625" y="4238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4543EE33-57A9-4677-8B8E-181A36694B63}"/>
              </a:ext>
            </a:extLst>
          </p:cNvPr>
          <p:cNvSpPr>
            <a:spLocks xmlns:a="http://schemas.openxmlformats.org/drawingml/2006/main" noGrp="1"/>
          </p:cNvSpPr>
          <p:nvPr/>
        </p:nvSpPr>
        <p:spPr>
          <a:xfrm xmlns:a="http://schemas.openxmlformats.org/drawingml/2006/main">
            <a:off x="8286750" y="4095750"/>
            <a:ext cx="552450" cy="552450"/>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EAB9B981-DD52-46A2-AD9B-1041805BFA4C}"/>
              </a:ext>
            </a:extLst>
          </p:cNvPr>
          <p:cNvSpPr>
            <a:spLocks xmlns:a="http://schemas.openxmlformats.org/drawingml/2006/main" noGrp="1"/>
          </p:cNvSpPr>
          <p:nvPr/>
        </p:nvSpPr>
        <p:spPr>
          <a:xfrm xmlns:a="http://schemas.openxmlformats.org/drawingml/2006/main">
            <a:off x="8286750" y="4248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001B30"/>
                </a:solidFill>
                <a:latin typeface="Inter"/>
                <a:ea typeface="Inter"/>
                <a:cs typeface="Inter"/>
              </a:defRPr>
            </a:pPr>
            <a:r>
              <a:rPr sz="1275" b="1">
                <a:solidFill>
                  <a:srgbClr val="001B30"/>
                </a:solidFill>
                <a:latin typeface="Inter"/>
                <a:ea typeface="Inter"/>
                <a:cs typeface="Inter"/>
              </a:rPr>
              <a:t>6</a:t>
            </a:r>
          </a:p>
        </p:txBody>
      </p:sp>
      <p:sp>
        <p:nvSpPr>
          <p:cNvPr id="25" name="">
            <a:extLst xmlns:a="http://schemas.openxmlformats.org/drawingml/2006/main">
              <a:ext uri="{FF2B5EF4-FFF2-40B4-BE49-F238E27FC236}">
                <a16:creationId xmlns:a16="http://schemas.microsoft.com/office/drawing/2014/main" id="{50C715D6-4DD1-47BC-ACF4-7125D8020921}"/>
              </a:ext>
            </a:extLst>
          </p:cNvPr>
          <p:cNvSpPr>
            <a:spLocks xmlns:a="http://schemas.openxmlformats.org/drawingml/2006/main" noGrp="1"/>
          </p:cNvSpPr>
          <p:nvPr/>
        </p:nvSpPr>
        <p:spPr>
          <a:xfrm xmlns:a="http://schemas.openxmlformats.org/drawingml/2006/main">
            <a:off x="9029700" y="4067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Outcome visibility</a:t>
            </a:r>
          </a:p>
        </p:txBody>
      </p:sp>
      <p:sp>
        <p:nvSpPr>
          <p:cNvPr id="26" name="">
            <a:extLst xmlns:a="http://schemas.openxmlformats.org/drawingml/2006/main">
              <a:ext uri="{FF2B5EF4-FFF2-40B4-BE49-F238E27FC236}">
                <a16:creationId xmlns:a16="http://schemas.microsoft.com/office/drawing/2014/main" id="{827A4CED-0128-4C4F-9312-9E091DE71A27}"/>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The Operating System for Governed AI and Automation Decisions • Pre-seed enterprise software, automation, workflow, and AI-governance investors</a:t>
            </a:r>
          </a:p>
        </p:txBody>
      </p:sp>
      <p:sp>
        <p:nvSpPr>
          <p:cNvPr id="27" name="">
            <a:extLst xmlns:a="http://schemas.openxmlformats.org/drawingml/2006/main">
              <a:ext uri="{FF2B5EF4-FFF2-40B4-BE49-F238E27FC236}">
                <a16:creationId xmlns:a16="http://schemas.microsoft.com/office/drawing/2014/main" id="{D829B78C-CD9A-4585-BCF7-C756ACB28211}"/>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Execution remains with systems and teams already authorized to perform it.</a:t>
            </a:r>
          </a:p>
        </p:txBody>
      </p:sp>
      <p:sp>
        <p:nvSpPr>
          <p:cNvPr id="28" name="">
            <a:extLst xmlns:a="http://schemas.openxmlformats.org/drawingml/2006/main">
              <a:ext uri="{FF2B5EF4-FFF2-40B4-BE49-F238E27FC236}">
                <a16:creationId xmlns:a16="http://schemas.microsoft.com/office/drawing/2014/main" id="{2532F31D-3EC2-482B-A575-AA564538067D}"/>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05</a:t>
            </a:r>
          </a:p>
        </p:txBody>
      </p:sp>
    </p:spTree>
    <p:extLst>
      <p:ext uri="{BB962C8B-B14F-4D97-AF65-F5344CB8AC3E}">
        <p14:creationId xmlns:p14="http://schemas.microsoft.com/office/powerpoint/2010/main" val="1665858603"/>
      </p:ext>
    </p:extLst>
  </p:cSld>
</p:sld>
</file>

<file path=ppt/slides/slide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72C986D-C362-4DF4-8DE5-AC229109F590}"/>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ABEFEF5E-19BB-4206-BD88-6680D40100D1}"/>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PRODUCT PROOF</a:t>
            </a:r>
          </a:p>
        </p:txBody>
      </p:sp>
      <p:sp>
        <p:nvSpPr>
          <p:cNvPr id="3" name="">
            <a:extLst xmlns:a="http://schemas.openxmlformats.org/drawingml/2006/main">
              <a:ext uri="{FF2B5EF4-FFF2-40B4-BE49-F238E27FC236}">
                <a16:creationId xmlns:a16="http://schemas.microsoft.com/office/drawing/2014/main" id="{8A486391-B8D3-4C09-89DB-77A420DAB548}"/>
              </a:ext>
            </a:extLst>
          </p:cNvPr>
          <p:cNvSpPr>
            <a:spLocks xmlns:a="http://schemas.openxmlformats.org/drawingml/2006/main" noGrp="1"/>
          </p:cNvSpPr>
          <p:nvPr/>
        </p:nvSpPr>
        <p:spPr>
          <a:xfrm xmlns:a="http://schemas.openxmlformats.org/drawingml/2006/main">
            <a:off x="609600" y="628650"/>
            <a:ext cx="10287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The synthetic AP Invoice Exception journey proves the product model end to end.</a:t>
            </a:r>
          </a:p>
        </p:txBody>
      </p:sp>
      <p:sp>
        <p:nvSpPr>
          <p:cNvPr id="4" name="">
            <a:extLst xmlns:a="http://schemas.openxmlformats.org/drawingml/2006/main">
              <a:ext uri="{FF2B5EF4-FFF2-40B4-BE49-F238E27FC236}">
                <a16:creationId xmlns:a16="http://schemas.microsoft.com/office/drawing/2014/main" id="{16AD3C70-81D2-4F52-9191-F626E0EB2129}"/>
              </a:ext>
            </a:extLst>
          </p:cNvPr>
          <p:cNvSpPr>
            <a:spLocks xmlns:a="http://schemas.openxmlformats.org/drawingml/2006/main" noGrp="1"/>
          </p:cNvSpPr>
          <p:nvPr/>
        </p:nvSpPr>
        <p:spPr>
          <a:xfrm xmlns:a="http://schemas.openxmlformats.org/drawingml/2006/main">
            <a:off x="55245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bc7c2beac7de44c5"/>
          <a:srcRect xmlns:a="http://schemas.openxmlformats.org/drawingml/2006/main" l="12322" t="0" r="12322" b="0"/>
          <a:stretch xmlns:a="http://schemas.openxmlformats.org/drawingml/2006/main">
            <a:fillRect l="0" t="0" r="0" b="0"/>
          </a:stretch>
        </p:blipFill>
        <p:spPr>
          <a:xfrm xmlns:a="http://schemas.openxmlformats.org/drawingml/2006/main">
            <a:off x="609600" y="1666875"/>
            <a:ext cx="2087880" cy="2095500"/>
          </a:xfrm>
          <a:prstGeom xmlns:a="http://schemas.openxmlformats.org/drawingml/2006/main" prst="roundRect">
            <a:avLst>
              <a:gd name="adj" fmla="val 5474"/>
            </a:avLst>
          </a:prstGeom>
        </p:spPr>
      </p:pic>
      <p:sp>
        <p:nvSpPr>
          <p:cNvPr id="6" name="">
            <a:extLst xmlns:a="http://schemas.openxmlformats.org/drawingml/2006/main">
              <a:ext uri="{FF2B5EF4-FFF2-40B4-BE49-F238E27FC236}">
                <a16:creationId xmlns:a16="http://schemas.microsoft.com/office/drawing/2014/main" id="{993FAF32-0C00-47B7-9620-B55C2AB73520}"/>
              </a:ext>
            </a:extLst>
          </p:cNvPr>
          <p:cNvSpPr>
            <a:spLocks xmlns:a="http://schemas.openxmlformats.org/drawingml/2006/main" noGrp="1"/>
          </p:cNvSpPr>
          <p:nvPr/>
        </p:nvSpPr>
        <p:spPr>
          <a:xfrm xmlns:a="http://schemas.openxmlformats.org/drawingml/2006/main">
            <a:off x="60960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01</a:t>
            </a:r>
          </a:p>
        </p:txBody>
      </p:sp>
      <p:sp>
        <p:nvSpPr>
          <p:cNvPr id="7" name="">
            <a:extLst xmlns:a="http://schemas.openxmlformats.org/drawingml/2006/main">
              <a:ext uri="{FF2B5EF4-FFF2-40B4-BE49-F238E27FC236}">
                <a16:creationId xmlns:a16="http://schemas.microsoft.com/office/drawing/2014/main" id="{A47F5446-488D-4AF0-9F8F-43C0202F54FC}"/>
              </a:ext>
            </a:extLst>
          </p:cNvPr>
          <p:cNvSpPr>
            <a:spLocks xmlns:a="http://schemas.openxmlformats.org/drawingml/2006/main" noGrp="1"/>
          </p:cNvSpPr>
          <p:nvPr/>
        </p:nvSpPr>
        <p:spPr>
          <a:xfrm xmlns:a="http://schemas.openxmlformats.org/drawingml/2006/main">
            <a:off x="93345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Assess</a:t>
            </a:r>
          </a:p>
        </p:txBody>
      </p:sp>
      <p:sp>
        <p:nvSpPr>
          <p:cNvPr id="8" name="">
            <a:extLst xmlns:a="http://schemas.openxmlformats.org/drawingml/2006/main">
              <a:ext uri="{FF2B5EF4-FFF2-40B4-BE49-F238E27FC236}">
                <a16:creationId xmlns:a16="http://schemas.microsoft.com/office/drawing/2014/main" id="{82D5806E-FD6E-458F-A843-0F7D862EC7E5}"/>
              </a:ext>
            </a:extLst>
          </p:cNvPr>
          <p:cNvSpPr>
            <a:spLocks xmlns:a="http://schemas.openxmlformats.org/drawingml/2006/main" noGrp="1"/>
          </p:cNvSpPr>
          <p:nvPr/>
        </p:nvSpPr>
        <p:spPr>
          <a:xfrm xmlns:a="http://schemas.openxmlformats.org/drawingml/2006/main">
            <a:off x="60960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Evidence-qualified recommendation</a:t>
            </a:r>
          </a:p>
        </p:txBody>
      </p:sp>
      <p:sp>
        <p:nvSpPr>
          <p:cNvPr id="9" name="">
            <a:extLst xmlns:a="http://schemas.openxmlformats.org/drawingml/2006/main">
              <a:ext uri="{FF2B5EF4-FFF2-40B4-BE49-F238E27FC236}">
                <a16:creationId xmlns:a16="http://schemas.microsoft.com/office/drawing/2014/main" id="{F87FA7A2-EEC1-4D55-8B97-3E46CA05B96D}"/>
              </a:ext>
            </a:extLst>
          </p:cNvPr>
          <p:cNvSpPr>
            <a:spLocks xmlns:a="http://schemas.openxmlformats.org/drawingml/2006/main" noGrp="1"/>
          </p:cNvSpPr>
          <p:nvPr/>
        </p:nvSpPr>
        <p:spPr>
          <a:xfrm xmlns:a="http://schemas.openxmlformats.org/drawingml/2006/main">
            <a:off x="277368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186fdefee294b22"/>
          <a:srcRect xmlns:a="http://schemas.openxmlformats.org/drawingml/2006/main" l="12322" t="0" r="12322" b="0"/>
          <a:stretch xmlns:a="http://schemas.openxmlformats.org/drawingml/2006/main">
            <a:fillRect l="0" t="0" r="0" b="0"/>
          </a:stretch>
        </p:blipFill>
        <p:spPr>
          <a:xfrm xmlns:a="http://schemas.openxmlformats.org/drawingml/2006/main">
            <a:off x="2830830" y="1666875"/>
            <a:ext cx="2087880" cy="2095500"/>
          </a:xfrm>
          <a:prstGeom xmlns:a="http://schemas.openxmlformats.org/drawingml/2006/main" prst="roundRect">
            <a:avLst>
              <a:gd name="adj" fmla="val 5474"/>
            </a:avLst>
          </a:prstGeom>
        </p:spPr>
      </p:pic>
      <p:sp>
        <p:nvSpPr>
          <p:cNvPr id="11" name="">
            <a:extLst xmlns:a="http://schemas.openxmlformats.org/drawingml/2006/main">
              <a:ext uri="{FF2B5EF4-FFF2-40B4-BE49-F238E27FC236}">
                <a16:creationId xmlns:a16="http://schemas.microsoft.com/office/drawing/2014/main" id="{31BB9D87-7F8C-470F-9844-591B91933287}"/>
              </a:ext>
            </a:extLst>
          </p:cNvPr>
          <p:cNvSpPr>
            <a:spLocks xmlns:a="http://schemas.openxmlformats.org/drawingml/2006/main" noGrp="1"/>
          </p:cNvSpPr>
          <p:nvPr/>
        </p:nvSpPr>
        <p:spPr>
          <a:xfrm xmlns:a="http://schemas.openxmlformats.org/drawingml/2006/main">
            <a:off x="283083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02</a:t>
            </a:r>
          </a:p>
        </p:txBody>
      </p:sp>
      <p:sp>
        <p:nvSpPr>
          <p:cNvPr id="12" name="">
            <a:extLst xmlns:a="http://schemas.openxmlformats.org/drawingml/2006/main">
              <a:ext uri="{FF2B5EF4-FFF2-40B4-BE49-F238E27FC236}">
                <a16:creationId xmlns:a16="http://schemas.microsoft.com/office/drawing/2014/main" id="{92D3408C-0BFA-4948-A092-3CF879249F56}"/>
              </a:ext>
            </a:extLst>
          </p:cNvPr>
          <p:cNvSpPr>
            <a:spLocks xmlns:a="http://schemas.openxmlformats.org/drawingml/2006/main" noGrp="1"/>
          </p:cNvSpPr>
          <p:nvPr/>
        </p:nvSpPr>
        <p:spPr>
          <a:xfrm xmlns:a="http://schemas.openxmlformats.org/drawingml/2006/main">
            <a:off x="315468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Govern</a:t>
            </a:r>
          </a:p>
        </p:txBody>
      </p:sp>
      <p:sp>
        <p:nvSpPr>
          <p:cNvPr id="13" name="">
            <a:extLst xmlns:a="http://schemas.openxmlformats.org/drawingml/2006/main">
              <a:ext uri="{FF2B5EF4-FFF2-40B4-BE49-F238E27FC236}">
                <a16:creationId xmlns:a16="http://schemas.microsoft.com/office/drawing/2014/main" id="{3D0EFE07-3FA1-4903-B069-9A9900EFB4C1}"/>
              </a:ext>
            </a:extLst>
          </p:cNvPr>
          <p:cNvSpPr>
            <a:spLocks xmlns:a="http://schemas.openxmlformats.org/drawingml/2006/main" noGrp="1"/>
          </p:cNvSpPr>
          <p:nvPr/>
        </p:nvSpPr>
        <p:spPr>
          <a:xfrm xmlns:a="http://schemas.openxmlformats.org/drawingml/2006/main">
            <a:off x="283083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Human-owned controls</a:t>
            </a:r>
          </a:p>
        </p:txBody>
      </p:sp>
      <p:sp>
        <p:nvSpPr>
          <p:cNvPr id="14" name="">
            <a:extLst xmlns:a="http://schemas.openxmlformats.org/drawingml/2006/main">
              <a:ext uri="{FF2B5EF4-FFF2-40B4-BE49-F238E27FC236}">
                <a16:creationId xmlns:a16="http://schemas.microsoft.com/office/drawing/2014/main" id="{70A06B0A-1D82-4EF3-8B92-58E493608356}"/>
              </a:ext>
            </a:extLst>
          </p:cNvPr>
          <p:cNvSpPr>
            <a:spLocks xmlns:a="http://schemas.openxmlformats.org/drawingml/2006/main" noGrp="1"/>
          </p:cNvSpPr>
          <p:nvPr/>
        </p:nvSpPr>
        <p:spPr>
          <a:xfrm xmlns:a="http://schemas.openxmlformats.org/drawingml/2006/main">
            <a:off x="499491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6478b3257cb648e3"/>
          <a:srcRect xmlns:a="http://schemas.openxmlformats.org/drawingml/2006/main" l="12322" t="0" r="12322" b="0"/>
          <a:stretch xmlns:a="http://schemas.openxmlformats.org/drawingml/2006/main">
            <a:fillRect l="0" t="0" r="0" b="0"/>
          </a:stretch>
        </p:blipFill>
        <p:spPr>
          <a:xfrm xmlns:a="http://schemas.openxmlformats.org/drawingml/2006/main">
            <a:off x="5052060" y="1666875"/>
            <a:ext cx="2087880" cy="2095500"/>
          </a:xfrm>
          <a:prstGeom xmlns:a="http://schemas.openxmlformats.org/drawingml/2006/main" prst="roundRect">
            <a:avLst>
              <a:gd name="adj" fmla="val 5474"/>
            </a:avLst>
          </a:prstGeom>
        </p:spPr>
      </p:pic>
      <p:sp>
        <p:nvSpPr>
          <p:cNvPr id="16" name="">
            <a:extLst xmlns:a="http://schemas.openxmlformats.org/drawingml/2006/main">
              <a:ext uri="{FF2B5EF4-FFF2-40B4-BE49-F238E27FC236}">
                <a16:creationId xmlns:a16="http://schemas.microsoft.com/office/drawing/2014/main" id="{EB1EA8B5-23FF-4671-A6AA-62700DC0C121}"/>
              </a:ext>
            </a:extLst>
          </p:cNvPr>
          <p:cNvSpPr>
            <a:spLocks xmlns:a="http://schemas.openxmlformats.org/drawingml/2006/main" noGrp="1"/>
          </p:cNvSpPr>
          <p:nvPr/>
        </p:nvSpPr>
        <p:spPr>
          <a:xfrm xmlns:a="http://schemas.openxmlformats.org/drawingml/2006/main">
            <a:off x="505206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03</a:t>
            </a:r>
          </a:p>
        </p:txBody>
      </p:sp>
      <p:sp>
        <p:nvSpPr>
          <p:cNvPr id="17" name="">
            <a:extLst xmlns:a="http://schemas.openxmlformats.org/drawingml/2006/main">
              <a:ext uri="{FF2B5EF4-FFF2-40B4-BE49-F238E27FC236}">
                <a16:creationId xmlns:a16="http://schemas.microsoft.com/office/drawing/2014/main" id="{74324671-0CE9-4B00-9EDE-2C60EDEE66E6}"/>
              </a:ext>
            </a:extLst>
          </p:cNvPr>
          <p:cNvSpPr>
            <a:spLocks xmlns:a="http://schemas.openxmlformats.org/drawingml/2006/main" noGrp="1"/>
          </p:cNvSpPr>
          <p:nvPr/>
        </p:nvSpPr>
        <p:spPr>
          <a:xfrm xmlns:a="http://schemas.openxmlformats.org/drawingml/2006/main">
            <a:off x="537591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Studio</a:t>
            </a:r>
          </a:p>
        </p:txBody>
      </p:sp>
      <p:sp>
        <p:nvSpPr>
          <p:cNvPr id="18" name="">
            <a:extLst xmlns:a="http://schemas.openxmlformats.org/drawingml/2006/main">
              <a:ext uri="{FF2B5EF4-FFF2-40B4-BE49-F238E27FC236}">
                <a16:creationId xmlns:a16="http://schemas.microsoft.com/office/drawing/2014/main" id="{3F62206D-D57D-4058-A1EE-3E876D5F76AA}"/>
              </a:ext>
            </a:extLst>
          </p:cNvPr>
          <p:cNvSpPr>
            <a:spLocks xmlns:a="http://schemas.openxmlformats.org/drawingml/2006/main" noGrp="1"/>
          </p:cNvSpPr>
          <p:nvPr/>
        </p:nvSpPr>
        <p:spPr>
          <a:xfrm xmlns:a="http://schemas.openxmlformats.org/drawingml/2006/main">
            <a:off x="505206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Approved artifacts</a:t>
            </a:r>
          </a:p>
        </p:txBody>
      </p:sp>
      <p:sp>
        <p:nvSpPr>
          <p:cNvPr id="19" name="">
            <a:extLst xmlns:a="http://schemas.openxmlformats.org/drawingml/2006/main">
              <a:ext uri="{FF2B5EF4-FFF2-40B4-BE49-F238E27FC236}">
                <a16:creationId xmlns:a16="http://schemas.microsoft.com/office/drawing/2014/main" id="{21842B59-8791-4B59-9BBF-679C7DCBE8C8}"/>
              </a:ext>
            </a:extLst>
          </p:cNvPr>
          <p:cNvSpPr>
            <a:spLocks xmlns:a="http://schemas.openxmlformats.org/drawingml/2006/main" noGrp="1"/>
          </p:cNvSpPr>
          <p:nvPr/>
        </p:nvSpPr>
        <p:spPr>
          <a:xfrm xmlns:a="http://schemas.openxmlformats.org/drawingml/2006/main">
            <a:off x="721614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52" name=""/>
          <p:cNvPicPr>
            <a:picLocks xmlns:a="http://schemas.openxmlformats.org/drawingml/2006/main" noChangeAspect="1"/>
          </p:cNvPicPr>
          <p:nvPr/>
        </p:nvPicPr>
        <p:blipFill>
          <a:blip xmlns:r="http://schemas.openxmlformats.org/officeDocument/2006/relationships" xmlns:a="http://schemas.openxmlformats.org/drawingml/2006/main" r:embed="Ra55b766d90a84667"/>
          <a:srcRect xmlns:a="http://schemas.openxmlformats.org/drawingml/2006/main" l="12322" t="0" r="12322" b="0"/>
          <a:stretch xmlns:a="http://schemas.openxmlformats.org/drawingml/2006/main">
            <a:fillRect l="0" t="0" r="0" b="0"/>
          </a:stretch>
        </p:blipFill>
        <p:spPr>
          <a:xfrm xmlns:a="http://schemas.openxmlformats.org/drawingml/2006/main">
            <a:off x="7273290" y="1666875"/>
            <a:ext cx="2087880" cy="2095500"/>
          </a:xfrm>
          <a:prstGeom xmlns:a="http://schemas.openxmlformats.org/drawingml/2006/main" prst="roundRect">
            <a:avLst>
              <a:gd name="adj" fmla="val 5474"/>
            </a:avLst>
          </a:prstGeom>
        </p:spPr>
      </p:pic>
      <p:sp>
        <p:nvSpPr>
          <p:cNvPr id="21" name="">
            <a:extLst xmlns:a="http://schemas.openxmlformats.org/drawingml/2006/main">
              <a:ext uri="{FF2B5EF4-FFF2-40B4-BE49-F238E27FC236}">
                <a16:creationId xmlns:a16="http://schemas.microsoft.com/office/drawing/2014/main" id="{87F01332-B90B-4E31-BDCE-F91C0E1F800D}"/>
              </a:ext>
            </a:extLst>
          </p:cNvPr>
          <p:cNvSpPr>
            <a:spLocks xmlns:a="http://schemas.openxmlformats.org/drawingml/2006/main" noGrp="1"/>
          </p:cNvSpPr>
          <p:nvPr/>
        </p:nvSpPr>
        <p:spPr>
          <a:xfrm xmlns:a="http://schemas.openxmlformats.org/drawingml/2006/main">
            <a:off x="727329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04</a:t>
            </a:r>
          </a:p>
        </p:txBody>
      </p:sp>
      <p:sp>
        <p:nvSpPr>
          <p:cNvPr id="22" name="">
            <a:extLst xmlns:a="http://schemas.openxmlformats.org/drawingml/2006/main">
              <a:ext uri="{FF2B5EF4-FFF2-40B4-BE49-F238E27FC236}">
                <a16:creationId xmlns:a16="http://schemas.microsoft.com/office/drawing/2014/main" id="{9FB48D07-D2BC-4C06-A3AC-9E02260CBA86}"/>
              </a:ext>
            </a:extLst>
          </p:cNvPr>
          <p:cNvSpPr>
            <a:spLocks xmlns:a="http://schemas.openxmlformats.org/drawingml/2006/main" noGrp="1"/>
          </p:cNvSpPr>
          <p:nvPr/>
        </p:nvSpPr>
        <p:spPr>
          <a:xfrm xmlns:a="http://schemas.openxmlformats.org/drawingml/2006/main">
            <a:off x="759714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Delivery</a:t>
            </a:r>
          </a:p>
        </p:txBody>
      </p:sp>
      <p:sp>
        <p:nvSpPr>
          <p:cNvPr id="23" name="">
            <a:extLst xmlns:a="http://schemas.openxmlformats.org/drawingml/2006/main">
              <a:ext uri="{FF2B5EF4-FFF2-40B4-BE49-F238E27FC236}">
                <a16:creationId xmlns:a16="http://schemas.microsoft.com/office/drawing/2014/main" id="{690F4B1F-7097-4180-9812-DEF310740053}"/>
              </a:ext>
            </a:extLst>
          </p:cNvPr>
          <p:cNvSpPr>
            <a:spLocks xmlns:a="http://schemas.openxmlformats.org/drawingml/2006/main" noGrp="1"/>
          </p:cNvSpPr>
          <p:nvPr/>
        </p:nvSpPr>
        <p:spPr>
          <a:xfrm xmlns:a="http://schemas.openxmlformats.org/drawingml/2006/main">
            <a:off x="727329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Source-linked work</a:t>
            </a:r>
          </a:p>
        </p:txBody>
      </p:sp>
      <p:sp>
        <p:nvSpPr>
          <p:cNvPr id="24" name="">
            <a:extLst xmlns:a="http://schemas.openxmlformats.org/drawingml/2006/main">
              <a:ext uri="{FF2B5EF4-FFF2-40B4-BE49-F238E27FC236}">
                <a16:creationId xmlns:a16="http://schemas.microsoft.com/office/drawing/2014/main" id="{54612B51-DB01-43E0-99D0-9344974FA76D}"/>
              </a:ext>
            </a:extLst>
          </p:cNvPr>
          <p:cNvSpPr>
            <a:spLocks xmlns:a="http://schemas.openxmlformats.org/drawingml/2006/main" noGrp="1"/>
          </p:cNvSpPr>
          <p:nvPr/>
        </p:nvSpPr>
        <p:spPr>
          <a:xfrm xmlns:a="http://schemas.openxmlformats.org/drawingml/2006/main">
            <a:off x="9437370" y="1609725"/>
            <a:ext cx="2202180" cy="2209800"/>
          </a:xfrm>
          <a:prstGeom xmlns:a="http://schemas.openxmlformats.org/drawingml/2006/main" prst="roundRect">
            <a:avLst>
              <a:gd name="adj" fmla="val 3460"/>
            </a:avLst>
          </a:prstGeom>
          <a:solidFill xmlns:a="http://schemas.openxmlformats.org/drawingml/2006/main">
            <a:srgbClr val="FFFFFF"/>
          </a:solidFill>
          <a:ln xmlns:a="http://schemas.openxmlformats.org/drawingml/2006/main" w="9525">
            <a:solidFill>
              <a:srgbClr val="D7E0E8"/>
            </a:solidFill>
            <a:prstDash val="solid"/>
          </a:ln>
        </p:spPr>
      </p:sp>
      <p:pic>
        <p:nvPicPr>
          <p:cNvPr id="57" name=""/>
          <p:cNvPicPr>
            <a:picLocks xmlns:a="http://schemas.openxmlformats.org/drawingml/2006/main" noChangeAspect="1"/>
          </p:cNvPicPr>
          <p:nvPr/>
        </p:nvPicPr>
        <p:blipFill>
          <a:blip xmlns:r="http://schemas.openxmlformats.org/officeDocument/2006/relationships" xmlns:a="http://schemas.openxmlformats.org/drawingml/2006/main" r:embed="R9a43cffc8fd64ede"/>
          <a:srcRect xmlns:a="http://schemas.openxmlformats.org/drawingml/2006/main" l="12322" t="0" r="12322" b="0"/>
          <a:stretch xmlns:a="http://schemas.openxmlformats.org/drawingml/2006/main">
            <a:fillRect l="0" t="0" r="0" b="0"/>
          </a:stretch>
        </p:blipFill>
        <p:spPr>
          <a:xfrm xmlns:a="http://schemas.openxmlformats.org/drawingml/2006/main">
            <a:off x="9494520" y="1666875"/>
            <a:ext cx="2087880" cy="2095500"/>
          </a:xfrm>
          <a:prstGeom xmlns:a="http://schemas.openxmlformats.org/drawingml/2006/main" prst="roundRect">
            <a:avLst>
              <a:gd name="adj" fmla="val 5474"/>
            </a:avLst>
          </a:prstGeom>
        </p:spPr>
      </p:pic>
      <p:sp>
        <p:nvSpPr>
          <p:cNvPr id="26" name="">
            <a:extLst xmlns:a="http://schemas.openxmlformats.org/drawingml/2006/main">
              <a:ext uri="{FF2B5EF4-FFF2-40B4-BE49-F238E27FC236}">
                <a16:creationId xmlns:a16="http://schemas.microsoft.com/office/drawing/2014/main" id="{29D4BCFE-E8FC-45D6-946E-8AA4B8A958E5}"/>
              </a:ext>
            </a:extLst>
          </p:cNvPr>
          <p:cNvSpPr>
            <a:spLocks xmlns:a="http://schemas.openxmlformats.org/drawingml/2006/main" noGrp="1"/>
          </p:cNvSpPr>
          <p:nvPr/>
        </p:nvSpPr>
        <p:spPr>
          <a:xfrm xmlns:a="http://schemas.openxmlformats.org/drawingml/2006/main">
            <a:off x="9494520" y="4019550"/>
            <a:ext cx="285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1">
                <a:solidFill>
                  <a:srgbClr val="FFBC03"/>
                </a:solidFill>
                <a:latin typeface="Inter"/>
                <a:ea typeface="Inter"/>
                <a:cs typeface="Inter"/>
              </a:defRPr>
            </a:pPr>
            <a:r>
              <a:rPr sz="900" b="1">
                <a:solidFill>
                  <a:srgbClr val="FFBC03"/>
                </a:solidFill>
                <a:latin typeface="Inter"/>
                <a:ea typeface="Inter"/>
                <a:cs typeface="Inter"/>
              </a:rPr>
              <a:t>05</a:t>
            </a:r>
          </a:p>
        </p:txBody>
      </p:sp>
      <p:sp>
        <p:nvSpPr>
          <p:cNvPr id="27" name="">
            <a:extLst xmlns:a="http://schemas.openxmlformats.org/drawingml/2006/main">
              <a:ext uri="{FF2B5EF4-FFF2-40B4-BE49-F238E27FC236}">
                <a16:creationId xmlns:a16="http://schemas.microsoft.com/office/drawing/2014/main" id="{1E60FE31-38A4-48F6-BDB8-E0C11B38983C}"/>
              </a:ext>
            </a:extLst>
          </p:cNvPr>
          <p:cNvSpPr>
            <a:spLocks xmlns:a="http://schemas.openxmlformats.org/drawingml/2006/main" noGrp="1"/>
          </p:cNvSpPr>
          <p:nvPr/>
        </p:nvSpPr>
        <p:spPr>
          <a:xfrm xmlns:a="http://schemas.openxmlformats.org/drawingml/2006/main">
            <a:off x="9818370" y="3943350"/>
            <a:ext cx="176403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01B30"/>
                </a:solidFill>
                <a:latin typeface="Outfit"/>
                <a:ea typeface="Outfit"/>
                <a:cs typeface="Outfit"/>
              </a:defRPr>
            </a:pPr>
            <a:r>
              <a:rPr sz="1500" b="1">
                <a:solidFill>
                  <a:srgbClr val="001B30"/>
                </a:solidFill>
                <a:latin typeface="Outfit"/>
                <a:ea typeface="Outfit"/>
                <a:cs typeface="Outfit"/>
              </a:rPr>
              <a:t>Monitor</a:t>
            </a:r>
          </a:p>
        </p:txBody>
      </p:sp>
      <p:sp>
        <p:nvSpPr>
          <p:cNvPr id="28" name="">
            <a:extLst xmlns:a="http://schemas.openxmlformats.org/drawingml/2006/main">
              <a:ext uri="{FF2B5EF4-FFF2-40B4-BE49-F238E27FC236}">
                <a16:creationId xmlns:a16="http://schemas.microsoft.com/office/drawing/2014/main" id="{D1DE0ED3-CA46-4ED7-922B-2DB7FDE91F81}"/>
              </a:ext>
            </a:extLst>
          </p:cNvPr>
          <p:cNvSpPr>
            <a:spLocks xmlns:a="http://schemas.openxmlformats.org/drawingml/2006/main" noGrp="1"/>
          </p:cNvSpPr>
          <p:nvPr/>
        </p:nvSpPr>
        <p:spPr>
          <a:xfrm xmlns:a="http://schemas.openxmlformats.org/drawingml/2006/main">
            <a:off x="9494520" y="4343400"/>
            <a:ext cx="208788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0">
                <a:solidFill>
                  <a:srgbClr val="52627A"/>
                </a:solidFill>
                <a:latin typeface="Inter"/>
                <a:ea typeface="Inter"/>
                <a:cs typeface="Inter"/>
              </a:defRPr>
            </a:pPr>
            <a:r>
              <a:rPr sz="1125" b="0">
                <a:solidFill>
                  <a:srgbClr val="52627A"/>
                </a:solidFill>
                <a:latin typeface="Inter"/>
                <a:ea typeface="Inter"/>
                <a:cs typeface="Inter"/>
              </a:rPr>
              <a:t>Outcome visibility</a:t>
            </a:r>
          </a:p>
        </p:txBody>
      </p:sp>
      <p:sp>
        <p:nvSpPr>
          <p:cNvPr id="29" name="">
            <a:extLst xmlns:a="http://schemas.openxmlformats.org/drawingml/2006/main">
              <a:ext uri="{FF2B5EF4-FFF2-40B4-BE49-F238E27FC236}">
                <a16:creationId xmlns:a16="http://schemas.microsoft.com/office/drawing/2014/main" id="{F1C1FFEE-E1F1-45E9-98CA-5DAEBF01FEF3}"/>
              </a:ext>
            </a:extLst>
          </p:cNvPr>
          <p:cNvSpPr>
            <a:spLocks xmlns:a="http://schemas.openxmlformats.org/drawingml/2006/main" noGrp="1"/>
          </p:cNvSpPr>
          <p:nvPr/>
        </p:nvSpPr>
        <p:spPr>
          <a:xfrm xmlns:a="http://schemas.openxmlformats.org/drawingml/2006/main">
            <a:off x="609600" y="5219700"/>
            <a:ext cx="10972800" cy="38100"/>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30" name="">
            <a:extLst xmlns:a="http://schemas.openxmlformats.org/drawingml/2006/main">
              <a:ext uri="{FF2B5EF4-FFF2-40B4-BE49-F238E27FC236}">
                <a16:creationId xmlns:a16="http://schemas.microsoft.com/office/drawing/2014/main" id="{A9855C03-68ED-4930-A4E4-7026AD2A9F4A}"/>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The Operating System for Governed AI and Automation Decisions • Pre-seed enterprise software, automation, workflow, and AI-governance investors</a:t>
            </a:r>
          </a:p>
        </p:txBody>
      </p:sp>
      <p:sp>
        <p:nvSpPr>
          <p:cNvPr id="31" name="">
            <a:extLst xmlns:a="http://schemas.openxmlformats.org/drawingml/2006/main">
              <a:ext uri="{FF2B5EF4-FFF2-40B4-BE49-F238E27FC236}">
                <a16:creationId xmlns:a16="http://schemas.microsoft.com/office/drawing/2014/main" id="{F43F016C-3EEF-4EF4-B29E-8B262CF5EB7C}"/>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Synthetic reference journey • source and CI proof • no live execution or customer outcome.</a:t>
            </a:r>
          </a:p>
        </p:txBody>
      </p:sp>
      <p:sp>
        <p:nvSpPr>
          <p:cNvPr id="32" name="">
            <a:extLst xmlns:a="http://schemas.openxmlformats.org/drawingml/2006/main">
              <a:ext uri="{FF2B5EF4-FFF2-40B4-BE49-F238E27FC236}">
                <a16:creationId xmlns:a16="http://schemas.microsoft.com/office/drawing/2014/main" id="{0FFB437C-1356-49B3-9C5E-85EA10AC0AC0}"/>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06</a:t>
            </a:r>
          </a:p>
        </p:txBody>
      </p:sp>
    </p:spTree>
    <p:extLst>
      <p:ext uri="{BB962C8B-B14F-4D97-AF65-F5344CB8AC3E}">
        <p14:creationId xmlns:p14="http://schemas.microsoft.com/office/powerpoint/2010/main" val="1032566116"/>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50F0AE7-B08F-4EF8-A740-C759A2479652}"/>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97C067AC-6161-43AA-8F8B-FFB88902C258}"/>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INITIAL CUSTOMER WEDGE</a:t>
            </a:r>
          </a:p>
        </p:txBody>
      </p:sp>
      <p:sp>
        <p:nvSpPr>
          <p:cNvPr id="3" name="">
            <a:extLst xmlns:a="http://schemas.openxmlformats.org/drawingml/2006/main">
              <a:ext uri="{FF2B5EF4-FFF2-40B4-BE49-F238E27FC236}">
                <a16:creationId xmlns:a16="http://schemas.microsoft.com/office/drawing/2014/main" id="{02C2CDDB-53CC-4F39-917E-E043A5FBCB6C}"/>
              </a:ext>
            </a:extLst>
          </p:cNvPr>
          <p:cNvSpPr>
            <a:spLocks xmlns:a="http://schemas.openxmlformats.org/drawingml/2006/main" noGrp="1"/>
          </p:cNvSpPr>
          <p:nvPr/>
        </p:nvSpPr>
        <p:spPr>
          <a:xfrm xmlns:a="http://schemas.openxmlformats.org/drawingml/2006/main">
            <a:off x="609600" y="638175"/>
            <a:ext cx="1047750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Start where recurring automation decisions already exist.</a:t>
            </a:r>
          </a:p>
        </p:txBody>
      </p:sp>
      <p:sp>
        <p:nvSpPr>
          <p:cNvPr id="4" name="">
            <a:extLst xmlns:a="http://schemas.openxmlformats.org/drawingml/2006/main">
              <a:ext uri="{FF2B5EF4-FFF2-40B4-BE49-F238E27FC236}">
                <a16:creationId xmlns:a16="http://schemas.microsoft.com/office/drawing/2014/main" id="{FF1C6381-0BC5-447A-BE9E-92F2044F0ED7}"/>
              </a:ext>
            </a:extLst>
          </p:cNvPr>
          <p:cNvSpPr>
            <a:spLocks xmlns:a="http://schemas.openxmlformats.org/drawingml/2006/main" noGrp="1"/>
          </p:cNvSpPr>
          <p:nvPr/>
        </p:nvSpPr>
        <p:spPr>
          <a:xfrm xmlns:a="http://schemas.openxmlformats.org/drawingml/2006/main">
            <a:off x="609600" y="1619250"/>
            <a:ext cx="10972800" cy="4762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9CE7EB4C-69D3-4675-A7DA-AE608CFB74FD}"/>
              </a:ext>
            </a:extLst>
          </p:cNvPr>
          <p:cNvSpPr>
            <a:spLocks xmlns:a="http://schemas.openxmlformats.org/drawingml/2006/main" noGrp="1"/>
          </p:cNvSpPr>
          <p:nvPr/>
        </p:nvSpPr>
        <p:spPr>
          <a:xfrm xmlns:a="http://schemas.openxmlformats.org/drawingml/2006/main">
            <a:off x="952500" y="21717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9337837F-C117-4376-BD98-CE8185CED75F}"/>
              </a:ext>
            </a:extLst>
          </p:cNvPr>
          <p:cNvSpPr>
            <a:spLocks xmlns:a="http://schemas.openxmlformats.org/drawingml/2006/main" noGrp="1"/>
          </p:cNvSpPr>
          <p:nvPr/>
        </p:nvSpPr>
        <p:spPr>
          <a:xfrm xmlns:a="http://schemas.openxmlformats.org/drawingml/2006/main">
            <a:off x="1181100" y="209550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Automation and transformation consultancies</a:t>
            </a:r>
          </a:p>
        </p:txBody>
      </p:sp>
      <p:sp>
        <p:nvSpPr>
          <p:cNvPr id="7" name="">
            <a:extLst xmlns:a="http://schemas.openxmlformats.org/drawingml/2006/main">
              <a:ext uri="{FF2B5EF4-FFF2-40B4-BE49-F238E27FC236}">
                <a16:creationId xmlns:a16="http://schemas.microsoft.com/office/drawing/2014/main" id="{76676E60-CEA2-4D26-AA0A-330B9FB892F9}"/>
              </a:ext>
            </a:extLst>
          </p:cNvPr>
          <p:cNvSpPr>
            <a:spLocks xmlns:a="http://schemas.openxmlformats.org/drawingml/2006/main" noGrp="1"/>
          </p:cNvSpPr>
          <p:nvPr/>
        </p:nvSpPr>
        <p:spPr>
          <a:xfrm xmlns:a="http://schemas.openxmlformats.org/drawingml/2006/main">
            <a:off x="952500" y="27241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E8844D91-4352-4147-90C2-DE9CBA37212E}"/>
              </a:ext>
            </a:extLst>
          </p:cNvPr>
          <p:cNvSpPr>
            <a:spLocks xmlns:a="http://schemas.openxmlformats.org/drawingml/2006/main" noGrp="1"/>
          </p:cNvSpPr>
          <p:nvPr/>
        </p:nvSpPr>
        <p:spPr>
          <a:xfrm xmlns:a="http://schemas.openxmlformats.org/drawingml/2006/main">
            <a:off x="1181100" y="264795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Small and mid-sized enterprise AI / Automation CoEs</a:t>
            </a:r>
          </a:p>
        </p:txBody>
      </p:sp>
      <p:sp>
        <p:nvSpPr>
          <p:cNvPr id="9" name="">
            <a:extLst xmlns:a="http://schemas.openxmlformats.org/drawingml/2006/main">
              <a:ext uri="{FF2B5EF4-FFF2-40B4-BE49-F238E27FC236}">
                <a16:creationId xmlns:a16="http://schemas.microsoft.com/office/drawing/2014/main" id="{95E8191B-E855-44A5-804C-3D92F4A688B1}"/>
              </a:ext>
            </a:extLst>
          </p:cNvPr>
          <p:cNvSpPr>
            <a:spLocks xmlns:a="http://schemas.openxmlformats.org/drawingml/2006/main" noGrp="1"/>
          </p:cNvSpPr>
          <p:nvPr/>
        </p:nvSpPr>
        <p:spPr>
          <a:xfrm xmlns:a="http://schemas.openxmlformats.org/drawingml/2006/main">
            <a:off x="952500" y="32766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23F99B62-B034-492D-B7EA-11538875CFA5}"/>
              </a:ext>
            </a:extLst>
          </p:cNvPr>
          <p:cNvSpPr>
            <a:spLocks xmlns:a="http://schemas.openxmlformats.org/drawingml/2006/main" noGrp="1"/>
          </p:cNvSpPr>
          <p:nvPr/>
        </p:nvSpPr>
        <p:spPr>
          <a:xfrm xmlns:a="http://schemas.openxmlformats.org/drawingml/2006/main">
            <a:off x="1181100" y="320040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Process Excellence teams</a:t>
            </a:r>
          </a:p>
        </p:txBody>
      </p:sp>
      <p:sp>
        <p:nvSpPr>
          <p:cNvPr id="11" name="">
            <a:extLst xmlns:a="http://schemas.openxmlformats.org/drawingml/2006/main">
              <a:ext uri="{FF2B5EF4-FFF2-40B4-BE49-F238E27FC236}">
                <a16:creationId xmlns:a16="http://schemas.microsoft.com/office/drawing/2014/main" id="{1D66AA3E-01EB-4898-BC54-2D4D292E720E}"/>
              </a:ext>
            </a:extLst>
          </p:cNvPr>
          <p:cNvSpPr>
            <a:spLocks xmlns:a="http://schemas.openxmlformats.org/drawingml/2006/main" noGrp="1"/>
          </p:cNvSpPr>
          <p:nvPr/>
        </p:nvSpPr>
        <p:spPr>
          <a:xfrm xmlns:a="http://schemas.openxmlformats.org/drawingml/2006/main">
            <a:off x="952500" y="38290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AD8ED91A-1A98-4197-9A8E-20B1DC28DACE}"/>
              </a:ext>
            </a:extLst>
          </p:cNvPr>
          <p:cNvSpPr>
            <a:spLocks xmlns:a="http://schemas.openxmlformats.org/drawingml/2006/main" noGrp="1"/>
          </p:cNvSpPr>
          <p:nvPr/>
        </p:nvSpPr>
        <p:spPr>
          <a:xfrm xmlns:a="http://schemas.openxmlformats.org/drawingml/2006/main">
            <a:off x="1181100" y="3752850"/>
            <a:ext cx="59626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0">
                <a:solidFill>
                  <a:srgbClr val="0B1426"/>
                </a:solidFill>
                <a:latin typeface="Inter"/>
                <a:ea typeface="Inter"/>
                <a:cs typeface="Inter"/>
              </a:defRPr>
            </a:pPr>
            <a:r>
              <a:rPr sz="1500" b="0">
                <a:solidFill>
                  <a:srgbClr val="0B1426"/>
                </a:solidFill>
                <a:latin typeface="Inter"/>
                <a:ea typeface="Inter"/>
                <a:cs typeface="Inter"/>
              </a:rPr>
              <a:t>Enterprise Architecture teams</a:t>
            </a:r>
          </a:p>
        </p:txBody>
      </p:sp>
      <p:sp>
        <p:nvSpPr>
          <p:cNvPr id="13" name="">
            <a:extLst xmlns:a="http://schemas.openxmlformats.org/drawingml/2006/main">
              <a:ext uri="{FF2B5EF4-FFF2-40B4-BE49-F238E27FC236}">
                <a16:creationId xmlns:a16="http://schemas.microsoft.com/office/drawing/2014/main" id="{D7AFE7EA-FF7C-4FD9-ADA9-A716C4BF0452}"/>
              </a:ext>
            </a:extLst>
          </p:cNvPr>
          <p:cNvSpPr>
            <a:spLocks xmlns:a="http://schemas.openxmlformats.org/drawingml/2006/main" noGrp="1"/>
          </p:cNvSpPr>
          <p:nvPr/>
        </p:nvSpPr>
        <p:spPr>
          <a:xfrm xmlns:a="http://schemas.openxmlformats.org/drawingml/2006/main">
            <a:off x="7810500" y="2286000"/>
            <a:ext cx="2857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1">
                <a:solidFill>
                  <a:srgbClr val="C45500"/>
                </a:solidFill>
                <a:latin typeface="Inter"/>
                <a:ea typeface="Inter"/>
                <a:cs typeface="Inter"/>
              </a:defRPr>
            </a:pPr>
            <a:r>
              <a:rPr sz="1200" b="1">
                <a:solidFill>
                  <a:srgbClr val="C45500"/>
                </a:solidFill>
                <a:latin typeface="Inter"/>
                <a:ea typeface="Inter"/>
                <a:cs typeface="Inter"/>
              </a:rPr>
              <a:t>LAND + EXPAND</a:t>
            </a:r>
          </a:p>
        </p:txBody>
      </p:sp>
      <p:sp>
        <p:nvSpPr>
          <p:cNvPr id="14" name="">
            <a:extLst xmlns:a="http://schemas.openxmlformats.org/drawingml/2006/main">
              <a:ext uri="{FF2B5EF4-FFF2-40B4-BE49-F238E27FC236}">
                <a16:creationId xmlns:a16="http://schemas.microsoft.com/office/drawing/2014/main" id="{96785421-8FEE-46DB-B71D-0AE9455AE412}"/>
              </a:ext>
            </a:extLst>
          </p:cNvPr>
          <p:cNvSpPr>
            <a:spLocks xmlns:a="http://schemas.openxmlformats.org/drawingml/2006/main" noGrp="1"/>
          </p:cNvSpPr>
          <p:nvPr/>
        </p:nvSpPr>
        <p:spPr>
          <a:xfrm xmlns:a="http://schemas.openxmlformats.org/drawingml/2006/main">
            <a:off x="7810500" y="29337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E57B3D4E-3B59-4C17-88B8-195EA26BA3BE}"/>
              </a:ext>
            </a:extLst>
          </p:cNvPr>
          <p:cNvSpPr>
            <a:spLocks xmlns:a="http://schemas.openxmlformats.org/drawingml/2006/main" noGrp="1"/>
          </p:cNvSpPr>
          <p:nvPr/>
        </p:nvSpPr>
        <p:spPr>
          <a:xfrm xmlns:a="http://schemas.openxmlformats.org/drawingml/2006/main">
            <a:off x="8039100" y="2857500"/>
            <a:ext cx="29146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Land with one high-value process</a:t>
            </a:r>
          </a:p>
        </p:txBody>
      </p:sp>
      <p:sp>
        <p:nvSpPr>
          <p:cNvPr id="16" name="">
            <a:extLst xmlns:a="http://schemas.openxmlformats.org/drawingml/2006/main">
              <a:ext uri="{FF2B5EF4-FFF2-40B4-BE49-F238E27FC236}">
                <a16:creationId xmlns:a16="http://schemas.microsoft.com/office/drawing/2014/main" id="{6D2F26CC-D734-49DF-8ACD-85A0AF5E54AC}"/>
              </a:ext>
            </a:extLst>
          </p:cNvPr>
          <p:cNvSpPr>
            <a:spLocks xmlns:a="http://schemas.openxmlformats.org/drawingml/2006/main" noGrp="1"/>
          </p:cNvSpPr>
          <p:nvPr/>
        </p:nvSpPr>
        <p:spPr>
          <a:xfrm xmlns:a="http://schemas.openxmlformats.org/drawingml/2006/main">
            <a:off x="7810500" y="363855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7FBD6A0E-F245-4254-BC98-0AA526F823DF}"/>
              </a:ext>
            </a:extLst>
          </p:cNvPr>
          <p:cNvSpPr>
            <a:spLocks xmlns:a="http://schemas.openxmlformats.org/drawingml/2006/main" noGrp="1"/>
          </p:cNvSpPr>
          <p:nvPr/>
        </p:nvSpPr>
        <p:spPr>
          <a:xfrm xmlns:a="http://schemas.openxmlformats.org/drawingml/2006/main">
            <a:off x="8039100" y="3562350"/>
            <a:ext cx="29146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Expand to multiple processes</a:t>
            </a:r>
          </a:p>
        </p:txBody>
      </p:sp>
      <p:sp>
        <p:nvSpPr>
          <p:cNvPr id="18" name="">
            <a:extLst xmlns:a="http://schemas.openxmlformats.org/drawingml/2006/main">
              <a:ext uri="{FF2B5EF4-FFF2-40B4-BE49-F238E27FC236}">
                <a16:creationId xmlns:a16="http://schemas.microsoft.com/office/drawing/2014/main" id="{C566302A-C221-4242-801C-7B155FFA5E5A}"/>
              </a:ext>
            </a:extLst>
          </p:cNvPr>
          <p:cNvSpPr>
            <a:spLocks xmlns:a="http://schemas.openxmlformats.org/drawingml/2006/main" noGrp="1"/>
          </p:cNvSpPr>
          <p:nvPr/>
        </p:nvSpPr>
        <p:spPr>
          <a:xfrm xmlns:a="http://schemas.openxmlformats.org/drawingml/2006/main">
            <a:off x="7810500" y="43434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9DA1E2DA-9580-47CB-AF89-A42F1D441F54}"/>
              </a:ext>
            </a:extLst>
          </p:cNvPr>
          <p:cNvSpPr>
            <a:spLocks xmlns:a="http://schemas.openxmlformats.org/drawingml/2006/main" noGrp="1"/>
          </p:cNvSpPr>
          <p:nvPr/>
        </p:nvSpPr>
        <p:spPr>
          <a:xfrm xmlns:a="http://schemas.openxmlformats.org/drawingml/2006/main">
            <a:off x="8039100" y="4267200"/>
            <a:ext cx="291465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Add portfolio and application context</a:t>
            </a:r>
          </a:p>
        </p:txBody>
      </p:sp>
      <p:sp>
        <p:nvSpPr>
          <p:cNvPr id="20" name="">
            <a:extLst xmlns:a="http://schemas.openxmlformats.org/drawingml/2006/main">
              <a:ext uri="{FF2B5EF4-FFF2-40B4-BE49-F238E27FC236}">
                <a16:creationId xmlns:a16="http://schemas.microsoft.com/office/drawing/2014/main" id="{31F440D4-66E0-48C2-A446-B2B3038AC895}"/>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The Operating System for Governed AI and Automation Decisions • Pre-seed enterprise software, automation, workflow, and AI-governance investors</a:t>
            </a:r>
          </a:p>
        </p:txBody>
      </p:sp>
      <p:sp>
        <p:nvSpPr>
          <p:cNvPr id="21" name="">
            <a:extLst xmlns:a="http://schemas.openxmlformats.org/drawingml/2006/main">
              <a:ext uri="{FF2B5EF4-FFF2-40B4-BE49-F238E27FC236}">
                <a16:creationId xmlns:a16="http://schemas.microsoft.com/office/drawing/2014/main" id="{19D5696E-1FB5-444D-8990-B1B669DBB180}"/>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Go-to-market hypothesis for AP confirmation; not evidence of customers, segment size, or willingness to pay.</a:t>
            </a:r>
          </a:p>
        </p:txBody>
      </p:sp>
      <p:sp>
        <p:nvSpPr>
          <p:cNvPr id="22" name="">
            <a:extLst xmlns:a="http://schemas.openxmlformats.org/drawingml/2006/main">
              <a:ext uri="{FF2B5EF4-FFF2-40B4-BE49-F238E27FC236}">
                <a16:creationId xmlns:a16="http://schemas.microsoft.com/office/drawing/2014/main" id="{072ED1A5-EC22-4F9F-8F43-F31C970D4EB5}"/>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07</a:t>
            </a:r>
          </a:p>
        </p:txBody>
      </p:sp>
    </p:spTree>
    <p:extLst>
      <p:ext uri="{BB962C8B-B14F-4D97-AF65-F5344CB8AC3E}">
        <p14:creationId xmlns:p14="http://schemas.microsoft.com/office/powerpoint/2010/main" val="2010434385"/>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B554DA9-3855-4225-9761-BB51EE3130B4}"/>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D8C4FD1-683E-4321-BAD0-2BCCB6592A99}"/>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BEACHHEAD + EXPANSION</a:t>
            </a:r>
          </a:p>
        </p:txBody>
      </p:sp>
      <p:sp>
        <p:nvSpPr>
          <p:cNvPr id="3" name="">
            <a:extLst xmlns:a="http://schemas.openxmlformats.org/drawingml/2006/main">
              <a:ext uri="{FF2B5EF4-FFF2-40B4-BE49-F238E27FC236}">
                <a16:creationId xmlns:a16="http://schemas.microsoft.com/office/drawing/2014/main" id="{83210F3C-4190-458B-B832-41DD7B2E8D19}"/>
              </a:ext>
            </a:extLst>
          </p:cNvPr>
          <p:cNvSpPr>
            <a:spLocks xmlns:a="http://schemas.openxmlformats.org/drawingml/2006/main" noGrp="1"/>
          </p:cNvSpPr>
          <p:nvPr/>
        </p:nvSpPr>
        <p:spPr>
          <a:xfrm xmlns:a="http://schemas.openxmlformats.org/drawingml/2006/main">
            <a:off x="609600" y="619125"/>
            <a:ext cx="102870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The wedge expands along the same governed context.</a:t>
            </a:r>
          </a:p>
        </p:txBody>
      </p:sp>
      <p:sp>
        <p:nvSpPr>
          <p:cNvPr id="4" name="">
            <a:extLst xmlns:a="http://schemas.openxmlformats.org/drawingml/2006/main">
              <a:ext uri="{FF2B5EF4-FFF2-40B4-BE49-F238E27FC236}">
                <a16:creationId xmlns:a16="http://schemas.microsoft.com/office/drawing/2014/main" id="{5115FD5E-FDF1-4EFF-980A-A5B8A978D014}"/>
              </a:ext>
            </a:extLst>
          </p:cNvPr>
          <p:cNvSpPr>
            <a:spLocks xmlns:a="http://schemas.openxmlformats.org/drawingml/2006/main" noGrp="1"/>
          </p:cNvSpPr>
          <p:nvPr/>
        </p:nvSpPr>
        <p:spPr>
          <a:xfrm xmlns:a="http://schemas.openxmlformats.org/drawingml/2006/main">
            <a:off x="609600" y="1762125"/>
            <a:ext cx="3333750" cy="66675"/>
          </a:xfrm>
          <a:prstGeom xmlns:a="http://schemas.openxmlformats.org/drawingml/2006/main" prst="rect">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AA9CE6BC-D65E-4DA5-82E7-16107D304C4A}"/>
              </a:ext>
            </a:extLst>
          </p:cNvPr>
          <p:cNvSpPr>
            <a:spLocks xmlns:a="http://schemas.openxmlformats.org/drawingml/2006/main" noGrp="1"/>
          </p:cNvSpPr>
          <p:nvPr/>
        </p:nvSpPr>
        <p:spPr>
          <a:xfrm xmlns:a="http://schemas.openxmlformats.org/drawingml/2006/main">
            <a:off x="609600" y="2000250"/>
            <a:ext cx="333375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7A65"/>
                </a:solidFill>
                <a:latin typeface="Inter"/>
                <a:ea typeface="Inter"/>
                <a:cs typeface="Inter"/>
              </a:defRPr>
            </a:pPr>
            <a:r>
              <a:rPr sz="1275" b="1">
                <a:solidFill>
                  <a:srgbClr val="117A65"/>
                </a:solidFill>
                <a:latin typeface="Inter"/>
                <a:ea typeface="Inter"/>
                <a:cs typeface="Inter"/>
              </a:rPr>
              <a:t>CURRENT</a:t>
            </a:r>
          </a:p>
        </p:txBody>
      </p:sp>
      <p:sp>
        <p:nvSpPr>
          <p:cNvPr id="6" name="">
            <a:extLst xmlns:a="http://schemas.openxmlformats.org/drawingml/2006/main">
              <a:ext uri="{FF2B5EF4-FFF2-40B4-BE49-F238E27FC236}">
                <a16:creationId xmlns:a16="http://schemas.microsoft.com/office/drawing/2014/main" id="{79318A16-8284-4833-9FC2-C34A911237D9}"/>
              </a:ext>
            </a:extLst>
          </p:cNvPr>
          <p:cNvSpPr>
            <a:spLocks xmlns:a="http://schemas.openxmlformats.org/drawingml/2006/main" noGrp="1"/>
          </p:cNvSpPr>
          <p:nvPr/>
        </p:nvSpPr>
        <p:spPr>
          <a:xfrm xmlns:a="http://schemas.openxmlformats.org/drawingml/2006/main">
            <a:off x="609600" y="2647950"/>
            <a:ext cx="85725" cy="8572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E0526C11-32BE-409E-A876-ED8620C56E4E}"/>
              </a:ext>
            </a:extLst>
          </p:cNvPr>
          <p:cNvSpPr>
            <a:spLocks xmlns:a="http://schemas.openxmlformats.org/drawingml/2006/main" noGrp="1"/>
          </p:cNvSpPr>
          <p:nvPr/>
        </p:nvSpPr>
        <p:spPr>
          <a:xfrm xmlns:a="http://schemas.openxmlformats.org/drawingml/2006/main">
            <a:off x="838200" y="25717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Process assessment</a:t>
            </a:r>
          </a:p>
        </p:txBody>
      </p:sp>
      <p:sp>
        <p:nvSpPr>
          <p:cNvPr id="8" name="">
            <a:extLst xmlns:a="http://schemas.openxmlformats.org/drawingml/2006/main">
              <a:ext uri="{FF2B5EF4-FFF2-40B4-BE49-F238E27FC236}">
                <a16:creationId xmlns:a16="http://schemas.microsoft.com/office/drawing/2014/main" id="{36A65844-D43D-4675-B0BD-FE20EC21C3E8}"/>
              </a:ext>
            </a:extLst>
          </p:cNvPr>
          <p:cNvSpPr>
            <a:spLocks xmlns:a="http://schemas.openxmlformats.org/drawingml/2006/main" noGrp="1"/>
          </p:cNvSpPr>
          <p:nvPr/>
        </p:nvSpPr>
        <p:spPr>
          <a:xfrm xmlns:a="http://schemas.openxmlformats.org/drawingml/2006/main">
            <a:off x="609600" y="3200400"/>
            <a:ext cx="85725" cy="8572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8E3873A-66F8-407C-B4BB-F7A9E60867A5}"/>
              </a:ext>
            </a:extLst>
          </p:cNvPr>
          <p:cNvSpPr>
            <a:spLocks xmlns:a="http://schemas.openxmlformats.org/drawingml/2006/main" noGrp="1"/>
          </p:cNvSpPr>
          <p:nvPr/>
        </p:nvSpPr>
        <p:spPr>
          <a:xfrm xmlns:a="http://schemas.openxmlformats.org/drawingml/2006/main">
            <a:off x="838200" y="31242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Decision intelligence</a:t>
            </a:r>
          </a:p>
        </p:txBody>
      </p:sp>
      <p:sp>
        <p:nvSpPr>
          <p:cNvPr id="10" name="">
            <a:extLst xmlns:a="http://schemas.openxmlformats.org/drawingml/2006/main">
              <a:ext uri="{FF2B5EF4-FFF2-40B4-BE49-F238E27FC236}">
                <a16:creationId xmlns:a16="http://schemas.microsoft.com/office/drawing/2014/main" id="{15672D68-2E61-4538-8607-982402833E8F}"/>
              </a:ext>
            </a:extLst>
          </p:cNvPr>
          <p:cNvSpPr>
            <a:spLocks xmlns:a="http://schemas.openxmlformats.org/drawingml/2006/main" noGrp="1"/>
          </p:cNvSpPr>
          <p:nvPr/>
        </p:nvSpPr>
        <p:spPr>
          <a:xfrm xmlns:a="http://schemas.openxmlformats.org/drawingml/2006/main">
            <a:off x="609600" y="3752850"/>
            <a:ext cx="85725" cy="8572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6AC49E7D-2D6D-4B3A-BD92-0F0A2011FF2F}"/>
              </a:ext>
            </a:extLst>
          </p:cNvPr>
          <p:cNvSpPr>
            <a:spLocks xmlns:a="http://schemas.openxmlformats.org/drawingml/2006/main" noGrp="1"/>
          </p:cNvSpPr>
          <p:nvPr/>
        </p:nvSpPr>
        <p:spPr>
          <a:xfrm xmlns:a="http://schemas.openxmlformats.org/drawingml/2006/main">
            <a:off x="838200" y="36766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Governed review</a:t>
            </a:r>
          </a:p>
        </p:txBody>
      </p:sp>
      <p:sp>
        <p:nvSpPr>
          <p:cNvPr id="12" name="">
            <a:extLst xmlns:a="http://schemas.openxmlformats.org/drawingml/2006/main">
              <a:ext uri="{FF2B5EF4-FFF2-40B4-BE49-F238E27FC236}">
                <a16:creationId xmlns:a16="http://schemas.microsoft.com/office/drawing/2014/main" id="{5F64A2A0-C690-4B3B-A565-7212F9FB0108}"/>
              </a:ext>
            </a:extLst>
          </p:cNvPr>
          <p:cNvSpPr>
            <a:spLocks xmlns:a="http://schemas.openxmlformats.org/drawingml/2006/main" noGrp="1"/>
          </p:cNvSpPr>
          <p:nvPr/>
        </p:nvSpPr>
        <p:spPr>
          <a:xfrm xmlns:a="http://schemas.openxmlformats.org/drawingml/2006/main">
            <a:off x="609600" y="4305300"/>
            <a:ext cx="85725" cy="8572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E7727D99-49C1-4A6B-A760-1EB9379B2909}"/>
              </a:ext>
            </a:extLst>
          </p:cNvPr>
          <p:cNvSpPr>
            <a:spLocks xmlns:a="http://schemas.openxmlformats.org/drawingml/2006/main" noGrp="1"/>
          </p:cNvSpPr>
          <p:nvPr/>
        </p:nvSpPr>
        <p:spPr>
          <a:xfrm xmlns:a="http://schemas.openxmlformats.org/drawingml/2006/main">
            <a:off x="838200" y="42291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BRD / FRD / PDD</a:t>
            </a:r>
          </a:p>
        </p:txBody>
      </p:sp>
      <p:sp>
        <p:nvSpPr>
          <p:cNvPr id="14" name="">
            <a:extLst xmlns:a="http://schemas.openxmlformats.org/drawingml/2006/main">
              <a:ext uri="{FF2B5EF4-FFF2-40B4-BE49-F238E27FC236}">
                <a16:creationId xmlns:a16="http://schemas.microsoft.com/office/drawing/2014/main" id="{56F92B85-BF0A-4138-B4C4-8E88B06BA621}"/>
              </a:ext>
            </a:extLst>
          </p:cNvPr>
          <p:cNvSpPr>
            <a:spLocks xmlns:a="http://schemas.openxmlformats.org/drawingml/2006/main" noGrp="1"/>
          </p:cNvSpPr>
          <p:nvPr/>
        </p:nvSpPr>
        <p:spPr>
          <a:xfrm xmlns:a="http://schemas.openxmlformats.org/drawingml/2006/main">
            <a:off x="609600" y="4857750"/>
            <a:ext cx="85725" cy="8572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86DAE073-C0BA-49BA-A3C1-785166B8B9C1}"/>
              </a:ext>
            </a:extLst>
          </p:cNvPr>
          <p:cNvSpPr>
            <a:spLocks xmlns:a="http://schemas.openxmlformats.org/drawingml/2006/main" noGrp="1"/>
          </p:cNvSpPr>
          <p:nvPr/>
        </p:nvSpPr>
        <p:spPr>
          <a:xfrm xmlns:a="http://schemas.openxmlformats.org/drawingml/2006/main">
            <a:off x="838200" y="47815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Application modernization assessment</a:t>
            </a:r>
          </a:p>
        </p:txBody>
      </p:sp>
      <p:sp>
        <p:nvSpPr>
          <p:cNvPr id="16" name="">
            <a:extLst xmlns:a="http://schemas.openxmlformats.org/drawingml/2006/main">
              <a:ext uri="{FF2B5EF4-FFF2-40B4-BE49-F238E27FC236}">
                <a16:creationId xmlns:a16="http://schemas.microsoft.com/office/drawing/2014/main" id="{E50CCA04-EAA0-4F1D-802E-4E5E9ED2CF76}"/>
              </a:ext>
            </a:extLst>
          </p:cNvPr>
          <p:cNvSpPr>
            <a:spLocks xmlns:a="http://schemas.openxmlformats.org/drawingml/2006/main" noGrp="1"/>
          </p:cNvSpPr>
          <p:nvPr/>
        </p:nvSpPr>
        <p:spPr>
          <a:xfrm xmlns:a="http://schemas.openxmlformats.org/drawingml/2006/main">
            <a:off x="4429125" y="1762125"/>
            <a:ext cx="3333750" cy="66675"/>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79873D55-9A26-439E-953D-C572386EF0A3}"/>
              </a:ext>
            </a:extLst>
          </p:cNvPr>
          <p:cNvSpPr>
            <a:spLocks xmlns:a="http://schemas.openxmlformats.org/drawingml/2006/main" noGrp="1"/>
          </p:cNvSpPr>
          <p:nvPr/>
        </p:nvSpPr>
        <p:spPr>
          <a:xfrm xmlns:a="http://schemas.openxmlformats.org/drawingml/2006/main">
            <a:off x="4429125" y="2000250"/>
            <a:ext cx="333375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C45500"/>
                </a:solidFill>
                <a:latin typeface="Inter"/>
                <a:ea typeface="Inter"/>
                <a:cs typeface="Inter"/>
              </a:defRPr>
            </a:pPr>
            <a:r>
              <a:rPr sz="1275" b="1">
                <a:solidFill>
                  <a:srgbClr val="C45500"/>
                </a:solidFill>
                <a:latin typeface="Inter"/>
                <a:ea typeface="Inter"/>
                <a:cs typeface="Inter"/>
              </a:rPr>
              <a:t>NEAR TERM</a:t>
            </a:r>
          </a:p>
        </p:txBody>
      </p:sp>
      <p:sp>
        <p:nvSpPr>
          <p:cNvPr id="18" name="">
            <a:extLst xmlns:a="http://schemas.openxmlformats.org/drawingml/2006/main">
              <a:ext uri="{FF2B5EF4-FFF2-40B4-BE49-F238E27FC236}">
                <a16:creationId xmlns:a16="http://schemas.microsoft.com/office/drawing/2014/main" id="{FEB9971C-BCD2-489C-9802-7F4A168502A5}"/>
              </a:ext>
            </a:extLst>
          </p:cNvPr>
          <p:cNvSpPr>
            <a:spLocks xmlns:a="http://schemas.openxmlformats.org/drawingml/2006/main" noGrp="1"/>
          </p:cNvSpPr>
          <p:nvPr/>
        </p:nvSpPr>
        <p:spPr>
          <a:xfrm xmlns:a="http://schemas.openxmlformats.org/drawingml/2006/main">
            <a:off x="4429125" y="2647950"/>
            <a:ext cx="85725" cy="8572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7845BCE6-D846-484C-8808-C4A01623E8AD}"/>
              </a:ext>
            </a:extLst>
          </p:cNvPr>
          <p:cNvSpPr>
            <a:spLocks xmlns:a="http://schemas.openxmlformats.org/drawingml/2006/main" noGrp="1"/>
          </p:cNvSpPr>
          <p:nvPr/>
        </p:nvSpPr>
        <p:spPr>
          <a:xfrm xmlns:a="http://schemas.openxmlformats.org/drawingml/2006/main">
            <a:off x="4657725" y="25717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Delivery lineage authority</a:t>
            </a:r>
          </a:p>
        </p:txBody>
      </p:sp>
      <p:sp>
        <p:nvSpPr>
          <p:cNvPr id="20" name="">
            <a:extLst xmlns:a="http://schemas.openxmlformats.org/drawingml/2006/main">
              <a:ext uri="{FF2B5EF4-FFF2-40B4-BE49-F238E27FC236}">
                <a16:creationId xmlns:a16="http://schemas.microsoft.com/office/drawing/2014/main" id="{E67EF0E6-E14E-49A7-895F-D2BB51353CBF}"/>
              </a:ext>
            </a:extLst>
          </p:cNvPr>
          <p:cNvSpPr>
            <a:spLocks xmlns:a="http://schemas.openxmlformats.org/drawingml/2006/main" noGrp="1"/>
          </p:cNvSpPr>
          <p:nvPr/>
        </p:nvSpPr>
        <p:spPr>
          <a:xfrm xmlns:a="http://schemas.openxmlformats.org/drawingml/2006/main">
            <a:off x="4429125" y="3200400"/>
            <a:ext cx="85725" cy="8572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C4B21585-0632-4BF1-BB8E-47711760E92D}"/>
              </a:ext>
            </a:extLst>
          </p:cNvPr>
          <p:cNvSpPr>
            <a:spLocks xmlns:a="http://schemas.openxmlformats.org/drawingml/2006/main" noGrp="1"/>
          </p:cNvSpPr>
          <p:nvPr/>
        </p:nvSpPr>
        <p:spPr>
          <a:xfrm xmlns:a="http://schemas.openxmlformats.org/drawingml/2006/main">
            <a:off x="4657725" y="31242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Monitor / Admin / Trust server models</a:t>
            </a:r>
          </a:p>
        </p:txBody>
      </p:sp>
      <p:sp>
        <p:nvSpPr>
          <p:cNvPr id="22" name="">
            <a:extLst xmlns:a="http://schemas.openxmlformats.org/drawingml/2006/main">
              <a:ext uri="{FF2B5EF4-FFF2-40B4-BE49-F238E27FC236}">
                <a16:creationId xmlns:a16="http://schemas.microsoft.com/office/drawing/2014/main" id="{C7D2EAA8-A3EE-49F6-BEF7-B05E3F24DDCA}"/>
              </a:ext>
            </a:extLst>
          </p:cNvPr>
          <p:cNvSpPr>
            <a:spLocks xmlns:a="http://schemas.openxmlformats.org/drawingml/2006/main" noGrp="1"/>
          </p:cNvSpPr>
          <p:nvPr/>
        </p:nvSpPr>
        <p:spPr>
          <a:xfrm xmlns:a="http://schemas.openxmlformats.org/drawingml/2006/main">
            <a:off x="4429125" y="3752850"/>
            <a:ext cx="85725" cy="8572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97CA1CD7-CD28-45CC-99C8-93694E5946A6}"/>
              </a:ext>
            </a:extLst>
          </p:cNvPr>
          <p:cNvSpPr>
            <a:spLocks xmlns:a="http://schemas.openxmlformats.org/drawingml/2006/main" noGrp="1"/>
          </p:cNvSpPr>
          <p:nvPr/>
        </p:nvSpPr>
        <p:spPr>
          <a:xfrm xmlns:a="http://schemas.openxmlformats.org/drawingml/2006/main">
            <a:off x="4657725" y="36766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Controlled deployment</a:t>
            </a:r>
          </a:p>
        </p:txBody>
      </p:sp>
      <p:sp>
        <p:nvSpPr>
          <p:cNvPr id="24" name="">
            <a:extLst xmlns:a="http://schemas.openxmlformats.org/drawingml/2006/main">
              <a:ext uri="{FF2B5EF4-FFF2-40B4-BE49-F238E27FC236}">
                <a16:creationId xmlns:a16="http://schemas.microsoft.com/office/drawing/2014/main" id="{D979D9CF-FA33-4137-B750-A5C60B08EB3F}"/>
              </a:ext>
            </a:extLst>
          </p:cNvPr>
          <p:cNvSpPr>
            <a:spLocks xmlns:a="http://schemas.openxmlformats.org/drawingml/2006/main" noGrp="1"/>
          </p:cNvSpPr>
          <p:nvPr/>
        </p:nvSpPr>
        <p:spPr>
          <a:xfrm xmlns:a="http://schemas.openxmlformats.org/drawingml/2006/main">
            <a:off x="4429125" y="4305300"/>
            <a:ext cx="85725" cy="8572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94FFA648-6ABE-447D-A543-6A932232DA8C}"/>
              </a:ext>
            </a:extLst>
          </p:cNvPr>
          <p:cNvSpPr>
            <a:spLocks xmlns:a="http://schemas.openxmlformats.org/drawingml/2006/main" noGrp="1"/>
          </p:cNvSpPr>
          <p:nvPr/>
        </p:nvSpPr>
        <p:spPr>
          <a:xfrm xmlns:a="http://schemas.openxmlformats.org/drawingml/2006/main">
            <a:off x="4657725" y="42291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Design-partner pilot</a:t>
            </a:r>
          </a:p>
        </p:txBody>
      </p:sp>
      <p:sp>
        <p:nvSpPr>
          <p:cNvPr id="26" name="">
            <a:extLst xmlns:a="http://schemas.openxmlformats.org/drawingml/2006/main">
              <a:ext uri="{FF2B5EF4-FFF2-40B4-BE49-F238E27FC236}">
                <a16:creationId xmlns:a16="http://schemas.microsoft.com/office/drawing/2014/main" id="{522C8A46-D46A-4B62-B2DB-61DB86C47CC4}"/>
              </a:ext>
            </a:extLst>
          </p:cNvPr>
          <p:cNvSpPr>
            <a:spLocks xmlns:a="http://schemas.openxmlformats.org/drawingml/2006/main" noGrp="1"/>
          </p:cNvSpPr>
          <p:nvPr/>
        </p:nvSpPr>
        <p:spPr>
          <a:xfrm xmlns:a="http://schemas.openxmlformats.org/drawingml/2006/main">
            <a:off x="8248650" y="1762125"/>
            <a:ext cx="3333750" cy="66675"/>
          </a:xfrm>
          <a:prstGeom xmlns:a="http://schemas.openxmlformats.org/drawingml/2006/main" prst="rect">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977941FF-65F2-4B15-A71D-F68E0B943481}"/>
              </a:ext>
            </a:extLst>
          </p:cNvPr>
          <p:cNvSpPr>
            <a:spLocks xmlns:a="http://schemas.openxmlformats.org/drawingml/2006/main" noGrp="1"/>
          </p:cNvSpPr>
          <p:nvPr/>
        </p:nvSpPr>
        <p:spPr>
          <a:xfrm xmlns:a="http://schemas.openxmlformats.org/drawingml/2006/main">
            <a:off x="8248650" y="2000250"/>
            <a:ext cx="333375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02C4B"/>
                </a:solidFill>
                <a:latin typeface="Inter"/>
                <a:ea typeface="Inter"/>
                <a:cs typeface="Inter"/>
              </a:defRPr>
            </a:pPr>
            <a:r>
              <a:rPr sz="1275" b="1">
                <a:solidFill>
                  <a:srgbClr val="002C4B"/>
                </a:solidFill>
                <a:latin typeface="Inter"/>
                <a:ea typeface="Inter"/>
                <a:cs typeface="Inter"/>
              </a:rPr>
              <a:t>VISION</a:t>
            </a:r>
          </a:p>
        </p:txBody>
      </p:sp>
      <p:sp>
        <p:nvSpPr>
          <p:cNvPr id="28" name="">
            <a:extLst xmlns:a="http://schemas.openxmlformats.org/drawingml/2006/main">
              <a:ext uri="{FF2B5EF4-FFF2-40B4-BE49-F238E27FC236}">
                <a16:creationId xmlns:a16="http://schemas.microsoft.com/office/drawing/2014/main" id="{ACE9B526-03C1-42CB-B524-F1A857FEA76C}"/>
              </a:ext>
            </a:extLst>
          </p:cNvPr>
          <p:cNvSpPr>
            <a:spLocks xmlns:a="http://schemas.openxmlformats.org/drawingml/2006/main" noGrp="1"/>
          </p:cNvSpPr>
          <p:nvPr/>
        </p:nvSpPr>
        <p:spPr>
          <a:xfrm xmlns:a="http://schemas.openxmlformats.org/drawingml/2006/main">
            <a:off x="8248650" y="26479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8727195F-AF21-4690-BD38-DF153BC9DA0A}"/>
              </a:ext>
            </a:extLst>
          </p:cNvPr>
          <p:cNvSpPr>
            <a:spLocks xmlns:a="http://schemas.openxmlformats.org/drawingml/2006/main" noGrp="1"/>
          </p:cNvSpPr>
          <p:nvPr/>
        </p:nvSpPr>
        <p:spPr>
          <a:xfrm xmlns:a="http://schemas.openxmlformats.org/drawingml/2006/main">
            <a:off x="8477250" y="25717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Reusable solution patterns</a:t>
            </a:r>
          </a:p>
        </p:txBody>
      </p:sp>
      <p:sp>
        <p:nvSpPr>
          <p:cNvPr id="30" name="">
            <a:extLst xmlns:a="http://schemas.openxmlformats.org/drawingml/2006/main">
              <a:ext uri="{FF2B5EF4-FFF2-40B4-BE49-F238E27FC236}">
                <a16:creationId xmlns:a16="http://schemas.microsoft.com/office/drawing/2014/main" id="{7365FF23-2AD8-4072-A780-62158E1843CA}"/>
              </a:ext>
            </a:extLst>
          </p:cNvPr>
          <p:cNvSpPr>
            <a:spLocks xmlns:a="http://schemas.openxmlformats.org/drawingml/2006/main" noGrp="1"/>
          </p:cNvSpPr>
          <p:nvPr/>
        </p:nvSpPr>
        <p:spPr>
          <a:xfrm xmlns:a="http://schemas.openxmlformats.org/drawingml/2006/main">
            <a:off x="8248650" y="32004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3AC230FB-D5A2-4F27-9DA7-162B5DA80EA4}"/>
              </a:ext>
            </a:extLst>
          </p:cNvPr>
          <p:cNvSpPr>
            <a:spLocks xmlns:a="http://schemas.openxmlformats.org/drawingml/2006/main" noGrp="1"/>
          </p:cNvSpPr>
          <p:nvPr/>
        </p:nvSpPr>
        <p:spPr>
          <a:xfrm xmlns:a="http://schemas.openxmlformats.org/drawingml/2006/main">
            <a:off x="8477250" y="31242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Governed software assembly</a:t>
            </a:r>
          </a:p>
        </p:txBody>
      </p:sp>
      <p:sp>
        <p:nvSpPr>
          <p:cNvPr id="32" name="">
            <a:extLst xmlns:a="http://schemas.openxmlformats.org/drawingml/2006/main">
              <a:ext uri="{FF2B5EF4-FFF2-40B4-BE49-F238E27FC236}">
                <a16:creationId xmlns:a16="http://schemas.microsoft.com/office/drawing/2014/main" id="{B28B2679-E8AB-4B00-BC4F-5AF00127D157}"/>
              </a:ext>
            </a:extLst>
          </p:cNvPr>
          <p:cNvSpPr>
            <a:spLocks xmlns:a="http://schemas.openxmlformats.org/drawingml/2006/main" noGrp="1"/>
          </p:cNvSpPr>
          <p:nvPr/>
        </p:nvSpPr>
        <p:spPr>
          <a:xfrm xmlns:a="http://schemas.openxmlformats.org/drawingml/2006/main">
            <a:off x="8248650" y="37528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34B1D282-6AD8-4D1C-A772-CAB2EC7CF930}"/>
              </a:ext>
            </a:extLst>
          </p:cNvPr>
          <p:cNvSpPr>
            <a:spLocks xmlns:a="http://schemas.openxmlformats.org/drawingml/2006/main" noGrp="1"/>
          </p:cNvSpPr>
          <p:nvPr/>
        </p:nvSpPr>
        <p:spPr>
          <a:xfrm xmlns:a="http://schemas.openxmlformats.org/drawingml/2006/main">
            <a:off x="8477250" y="36766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Company-owned applications</a:t>
            </a:r>
          </a:p>
        </p:txBody>
      </p:sp>
      <p:sp>
        <p:nvSpPr>
          <p:cNvPr id="34" name="">
            <a:extLst xmlns:a="http://schemas.openxmlformats.org/drawingml/2006/main">
              <a:ext uri="{FF2B5EF4-FFF2-40B4-BE49-F238E27FC236}">
                <a16:creationId xmlns:a16="http://schemas.microsoft.com/office/drawing/2014/main" id="{55A6239E-1048-433F-A4F3-21F1DE3B6EF8}"/>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The Operating System for Governed AI and Automation Decisions • Pre-seed enterprise software, automation, workflow, and AI-governance investors</a:t>
            </a:r>
          </a:p>
        </p:txBody>
      </p:sp>
      <p:sp>
        <p:nvSpPr>
          <p:cNvPr id="35" name="">
            <a:extLst xmlns:a="http://schemas.openxmlformats.org/drawingml/2006/main">
              <a:ext uri="{FF2B5EF4-FFF2-40B4-BE49-F238E27FC236}">
                <a16:creationId xmlns:a16="http://schemas.microsoft.com/office/drawing/2014/main" id="{72A96901-5A5D-4BE9-9A99-BECB702C0582}"/>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Current, near-term, and vision status are deliberately separated.</a:t>
            </a:r>
          </a:p>
        </p:txBody>
      </p:sp>
      <p:sp>
        <p:nvSpPr>
          <p:cNvPr id="36" name="">
            <a:extLst xmlns:a="http://schemas.openxmlformats.org/drawingml/2006/main">
              <a:ext uri="{FF2B5EF4-FFF2-40B4-BE49-F238E27FC236}">
                <a16:creationId xmlns:a16="http://schemas.microsoft.com/office/drawing/2014/main" id="{6ADFEDDC-6952-4B84-87F0-B0FCAA629DF6}"/>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08</a:t>
            </a:r>
          </a:p>
        </p:txBody>
      </p:sp>
    </p:spTree>
    <p:extLst>
      <p:ext uri="{BB962C8B-B14F-4D97-AF65-F5344CB8AC3E}">
        <p14:creationId xmlns:p14="http://schemas.microsoft.com/office/powerpoint/2010/main" val="409694372"/>
      </p:ext>
    </p:extLst>
  </p:cSld>
</p:sld>
</file>

<file path=ppt/slides/slide9.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8CD54AE-A08F-4C43-BF6C-867DECD41591}"/>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6D51A96C-D131-4047-AE96-703DDB36225D}"/>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PRODUCT + DATA MOAT</a:t>
            </a:r>
          </a:p>
        </p:txBody>
      </p:sp>
      <p:sp>
        <p:nvSpPr>
          <p:cNvPr id="3" name="">
            <a:extLst xmlns:a="http://schemas.openxmlformats.org/drawingml/2006/main">
              <a:ext uri="{FF2B5EF4-FFF2-40B4-BE49-F238E27FC236}">
                <a16:creationId xmlns:a16="http://schemas.microsoft.com/office/drawing/2014/main" id="{1E79DA70-541E-48BA-AA8C-12F279609239}"/>
              </a:ext>
            </a:extLst>
          </p:cNvPr>
          <p:cNvSpPr>
            <a:spLocks xmlns:a="http://schemas.openxmlformats.org/drawingml/2006/main" noGrp="1"/>
          </p:cNvSpPr>
          <p:nvPr/>
        </p:nvSpPr>
        <p:spPr>
          <a:xfrm xmlns:a="http://schemas.openxmlformats.org/drawingml/2006/main">
            <a:off x="609600" y="638175"/>
            <a:ext cx="10287000" cy="809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FFFFFF"/>
                </a:solidFill>
                <a:latin typeface="Outfit"/>
                <a:ea typeface="Outfit"/>
                <a:cs typeface="Outfit"/>
              </a:defRPr>
            </a:pPr>
            <a:r>
              <a:rPr sz="2925" b="1">
                <a:solidFill>
                  <a:srgbClr val="FFFFFF"/>
                </a:solidFill>
                <a:latin typeface="Outfit"/>
                <a:ea typeface="Outfit"/>
                <a:cs typeface="Outfit"/>
              </a:rPr>
              <a:t>Defensibility grows from context that survives every stage.</a:t>
            </a:r>
          </a:p>
        </p:txBody>
      </p:sp>
      <p:sp>
        <p:nvSpPr>
          <p:cNvPr id="4" name="">
            <a:extLst xmlns:a="http://schemas.openxmlformats.org/drawingml/2006/main">
              <a:ext uri="{FF2B5EF4-FFF2-40B4-BE49-F238E27FC236}">
                <a16:creationId xmlns:a16="http://schemas.microsoft.com/office/drawing/2014/main" id="{60EBD31E-80F5-4FF9-94FB-0649DF7380E2}"/>
              </a:ext>
            </a:extLst>
          </p:cNvPr>
          <p:cNvSpPr>
            <a:spLocks xmlns:a="http://schemas.openxmlformats.org/drawingml/2006/main" noGrp="1"/>
          </p:cNvSpPr>
          <p:nvPr/>
        </p:nvSpPr>
        <p:spPr>
          <a:xfrm xmlns:a="http://schemas.openxmlformats.org/drawingml/2006/main">
            <a:off x="762000" y="21717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425383A-E1C8-4D25-BF60-275EF4E5629F}"/>
              </a:ext>
            </a:extLst>
          </p:cNvPr>
          <p:cNvSpPr>
            <a:spLocks xmlns:a="http://schemas.openxmlformats.org/drawingml/2006/main" noGrp="1"/>
          </p:cNvSpPr>
          <p:nvPr/>
        </p:nvSpPr>
        <p:spPr>
          <a:xfrm xmlns:a="http://schemas.openxmlformats.org/drawingml/2006/main">
            <a:off x="990600" y="2095500"/>
            <a:ext cx="38671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FFFFFF"/>
                </a:solidFill>
                <a:latin typeface="Inter"/>
                <a:ea typeface="Inter"/>
                <a:cs typeface="Inter"/>
              </a:defRPr>
            </a:pPr>
            <a:r>
              <a:rPr sz="1425" b="0">
                <a:solidFill>
                  <a:srgbClr val="FFFFFF"/>
                </a:solidFill>
                <a:latin typeface="Inter"/>
                <a:ea typeface="Inter"/>
                <a:cs typeface="Inter"/>
              </a:rPr>
              <a:t>Versioned deterministic logic</a:t>
            </a:r>
          </a:p>
        </p:txBody>
      </p:sp>
      <p:sp>
        <p:nvSpPr>
          <p:cNvPr id="6" name="">
            <a:extLst xmlns:a="http://schemas.openxmlformats.org/drawingml/2006/main">
              <a:ext uri="{FF2B5EF4-FFF2-40B4-BE49-F238E27FC236}">
                <a16:creationId xmlns:a16="http://schemas.microsoft.com/office/drawing/2014/main" id="{38842C07-F1E7-4254-AF63-A12E3FA491A2}"/>
              </a:ext>
            </a:extLst>
          </p:cNvPr>
          <p:cNvSpPr>
            <a:spLocks xmlns:a="http://schemas.openxmlformats.org/drawingml/2006/main" noGrp="1"/>
          </p:cNvSpPr>
          <p:nvPr/>
        </p:nvSpPr>
        <p:spPr>
          <a:xfrm xmlns:a="http://schemas.openxmlformats.org/drawingml/2006/main">
            <a:off x="762000" y="30480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6AFB8D26-778B-4461-ADB9-89D624FE9D01}"/>
              </a:ext>
            </a:extLst>
          </p:cNvPr>
          <p:cNvSpPr>
            <a:spLocks xmlns:a="http://schemas.openxmlformats.org/drawingml/2006/main" noGrp="1"/>
          </p:cNvSpPr>
          <p:nvPr/>
        </p:nvSpPr>
        <p:spPr>
          <a:xfrm xmlns:a="http://schemas.openxmlformats.org/drawingml/2006/main">
            <a:off x="990600" y="2971800"/>
            <a:ext cx="38671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FFFFFF"/>
                </a:solidFill>
                <a:latin typeface="Inter"/>
                <a:ea typeface="Inter"/>
                <a:cs typeface="Inter"/>
              </a:defRPr>
            </a:pPr>
            <a:r>
              <a:rPr sz="1425" b="0">
                <a:solidFill>
                  <a:srgbClr val="FFFFFF"/>
                </a:solidFill>
                <a:latin typeface="Inter"/>
                <a:ea typeface="Inter"/>
                <a:cs typeface="Inter"/>
              </a:rPr>
              <a:t>Primitive-level operating models</a:t>
            </a:r>
          </a:p>
        </p:txBody>
      </p:sp>
      <p:sp>
        <p:nvSpPr>
          <p:cNvPr id="8" name="">
            <a:extLst xmlns:a="http://schemas.openxmlformats.org/drawingml/2006/main">
              <a:ext uri="{FF2B5EF4-FFF2-40B4-BE49-F238E27FC236}">
                <a16:creationId xmlns:a16="http://schemas.microsoft.com/office/drawing/2014/main" id="{F9931A46-6D93-4FCF-8F3F-8AE1CFF6A4B9}"/>
              </a:ext>
            </a:extLst>
          </p:cNvPr>
          <p:cNvSpPr>
            <a:spLocks xmlns:a="http://schemas.openxmlformats.org/drawingml/2006/main" noGrp="1"/>
          </p:cNvSpPr>
          <p:nvPr/>
        </p:nvSpPr>
        <p:spPr>
          <a:xfrm xmlns:a="http://schemas.openxmlformats.org/drawingml/2006/main">
            <a:off x="762000" y="39243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905811B6-6B0C-4704-8A02-2E348A845485}"/>
              </a:ext>
            </a:extLst>
          </p:cNvPr>
          <p:cNvSpPr>
            <a:spLocks xmlns:a="http://schemas.openxmlformats.org/drawingml/2006/main" noGrp="1"/>
          </p:cNvSpPr>
          <p:nvPr/>
        </p:nvSpPr>
        <p:spPr>
          <a:xfrm xmlns:a="http://schemas.openxmlformats.org/drawingml/2006/main">
            <a:off x="990600" y="3848100"/>
            <a:ext cx="38671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FFFFFF"/>
                </a:solidFill>
                <a:latin typeface="Inter"/>
                <a:ea typeface="Inter"/>
                <a:cs typeface="Inter"/>
              </a:defRPr>
            </a:pPr>
            <a:r>
              <a:rPr sz="1425" b="0">
                <a:solidFill>
                  <a:srgbClr val="FFFFFF"/>
                </a:solidFill>
                <a:latin typeface="Inter"/>
                <a:ea typeface="Inter"/>
                <a:cs typeface="Inter"/>
              </a:rPr>
              <a:t>Claim-linked evidence and assumptions</a:t>
            </a:r>
          </a:p>
        </p:txBody>
      </p:sp>
      <p:sp>
        <p:nvSpPr>
          <p:cNvPr id="10" name="">
            <a:extLst xmlns:a="http://schemas.openxmlformats.org/drawingml/2006/main">
              <a:ext uri="{FF2B5EF4-FFF2-40B4-BE49-F238E27FC236}">
                <a16:creationId xmlns:a16="http://schemas.microsoft.com/office/drawing/2014/main" id="{029051F9-2B75-448C-A3DA-16F68FF62573}"/>
              </a:ext>
            </a:extLst>
          </p:cNvPr>
          <p:cNvSpPr>
            <a:spLocks xmlns:a="http://schemas.openxmlformats.org/drawingml/2006/main" noGrp="1"/>
          </p:cNvSpPr>
          <p:nvPr/>
        </p:nvSpPr>
        <p:spPr>
          <a:xfrm xmlns:a="http://schemas.openxmlformats.org/drawingml/2006/main">
            <a:off x="5143500" y="2476500"/>
            <a:ext cx="1905000" cy="1905000"/>
          </a:xfrm>
          <a:prstGeom xmlns:a="http://schemas.openxmlformats.org/drawingml/2006/main" prst="ellipse">
            <a:avLst/>
          </a:prstGeom>
          <a:solidFill xmlns:a="http://schemas.openxmlformats.org/drawingml/2006/main">
            <a:srgbClr val="002C4B"/>
          </a:solidFill>
          <a:ln xmlns:a="http://schemas.openxmlformats.org/drawingml/2006/main" w="47625">
            <a:solidFill>
              <a:srgbClr val="FFBC03"/>
            </a:solidFill>
            <a:prstDash val="solid"/>
          </a:ln>
        </p:spPr>
      </p:sp>
      <p:sp>
        <p:nvSpPr>
          <p:cNvPr id="11" name="">
            <a:extLst xmlns:a="http://schemas.openxmlformats.org/drawingml/2006/main">
              <a:ext uri="{FF2B5EF4-FFF2-40B4-BE49-F238E27FC236}">
                <a16:creationId xmlns:a16="http://schemas.microsoft.com/office/drawing/2014/main" id="{EA66EA87-827C-48A0-8803-A59F4524E329}"/>
              </a:ext>
            </a:extLst>
          </p:cNvPr>
          <p:cNvSpPr>
            <a:spLocks xmlns:a="http://schemas.openxmlformats.org/drawingml/2006/main" noGrp="1"/>
          </p:cNvSpPr>
          <p:nvPr/>
        </p:nvSpPr>
        <p:spPr>
          <a:xfrm xmlns:a="http://schemas.openxmlformats.org/drawingml/2006/main">
            <a:off x="5381625" y="3048000"/>
            <a:ext cx="1428750" cy="819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75" b="1">
                <a:solidFill>
                  <a:srgbClr val="FFFFFF"/>
                </a:solidFill>
                <a:latin typeface="Outfit"/>
                <a:ea typeface="Outfit"/>
                <a:cs typeface="Outfit"/>
              </a:defRPr>
            </a:pPr>
            <a:r>
              <a:rPr sz="1875" b="1">
                <a:solidFill>
                  <a:srgbClr val="FFFFFF"/>
                </a:solidFill>
                <a:latin typeface="Outfit"/>
                <a:ea typeface="Outfit"/>
                <a:cs typeface="Outfit"/>
              </a:rPr>
              <a:t>GOVERNED</a:t>
            </a:r>
          </a:p>
          <a:p xmlns:a="http://schemas.openxmlformats.org/drawingml/2006/main">
            <a:pPr algn="ctr">
              <a:defRPr sz="1875" b="1">
                <a:solidFill>
                  <a:srgbClr val="FFFFFF"/>
                </a:solidFill>
                <a:latin typeface="Outfit"/>
                <a:ea typeface="Outfit"/>
                <a:cs typeface="Outfit"/>
              </a:defRPr>
            </a:pPr>
            <a:r>
              <a:rPr sz="1875" b="1">
                <a:solidFill>
                  <a:srgbClr val="FFFFFF"/>
                </a:solidFill>
                <a:latin typeface="Outfit"/>
                <a:ea typeface="Outfit"/>
                <a:cs typeface="Outfit"/>
              </a:rPr>
              <a:t>CONTEXT</a:t>
            </a:r>
          </a:p>
        </p:txBody>
      </p:sp>
      <p:sp>
        <p:nvSpPr>
          <p:cNvPr id="12" name="">
            <a:extLst xmlns:a="http://schemas.openxmlformats.org/drawingml/2006/main">
              <a:ext uri="{FF2B5EF4-FFF2-40B4-BE49-F238E27FC236}">
                <a16:creationId xmlns:a16="http://schemas.microsoft.com/office/drawing/2014/main" id="{1DA95147-4178-4BC4-9A76-84EB44A8B775}"/>
              </a:ext>
            </a:extLst>
          </p:cNvPr>
          <p:cNvSpPr>
            <a:spLocks xmlns:a="http://schemas.openxmlformats.org/drawingml/2006/main" noGrp="1"/>
          </p:cNvSpPr>
          <p:nvPr/>
        </p:nvSpPr>
        <p:spPr>
          <a:xfrm xmlns:a="http://schemas.openxmlformats.org/drawingml/2006/main">
            <a:off x="7524750" y="21717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8D5FD5C8-7B3C-442E-BD3D-BEED44DB8A0D}"/>
              </a:ext>
            </a:extLst>
          </p:cNvPr>
          <p:cNvSpPr>
            <a:spLocks xmlns:a="http://schemas.openxmlformats.org/drawingml/2006/main" noGrp="1"/>
          </p:cNvSpPr>
          <p:nvPr/>
        </p:nvSpPr>
        <p:spPr>
          <a:xfrm xmlns:a="http://schemas.openxmlformats.org/drawingml/2006/main">
            <a:off x="7753350" y="2095500"/>
            <a:ext cx="36766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FFFFFF"/>
                </a:solidFill>
                <a:latin typeface="Inter"/>
                <a:ea typeface="Inter"/>
                <a:cs typeface="Inter"/>
              </a:defRPr>
            </a:pPr>
            <a:r>
              <a:rPr sz="1425" b="0">
                <a:solidFill>
                  <a:srgbClr val="FFFFFF"/>
                </a:solidFill>
                <a:latin typeface="Inter"/>
                <a:ea typeface="Inter"/>
                <a:cs typeface="Inter"/>
              </a:rPr>
              <a:t>Human authority for material risk</a:t>
            </a:r>
          </a:p>
        </p:txBody>
      </p:sp>
      <p:sp>
        <p:nvSpPr>
          <p:cNvPr id="14" name="">
            <a:extLst xmlns:a="http://schemas.openxmlformats.org/drawingml/2006/main">
              <a:ext uri="{FF2B5EF4-FFF2-40B4-BE49-F238E27FC236}">
                <a16:creationId xmlns:a16="http://schemas.microsoft.com/office/drawing/2014/main" id="{E93F0AE5-FECE-4EE2-978D-367AE8679E5D}"/>
              </a:ext>
            </a:extLst>
          </p:cNvPr>
          <p:cNvSpPr>
            <a:spLocks xmlns:a="http://schemas.openxmlformats.org/drawingml/2006/main" noGrp="1"/>
          </p:cNvSpPr>
          <p:nvPr/>
        </p:nvSpPr>
        <p:spPr>
          <a:xfrm xmlns:a="http://schemas.openxmlformats.org/drawingml/2006/main">
            <a:off x="7524750" y="30480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E1A3AF4C-8ED2-4362-8A69-9B7F9C60F8CD}"/>
              </a:ext>
            </a:extLst>
          </p:cNvPr>
          <p:cNvSpPr>
            <a:spLocks xmlns:a="http://schemas.openxmlformats.org/drawingml/2006/main" noGrp="1"/>
          </p:cNvSpPr>
          <p:nvPr/>
        </p:nvSpPr>
        <p:spPr>
          <a:xfrm xmlns:a="http://schemas.openxmlformats.org/drawingml/2006/main">
            <a:off x="7753350" y="2971800"/>
            <a:ext cx="36766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FFFFFF"/>
                </a:solidFill>
                <a:latin typeface="Inter"/>
                <a:ea typeface="Inter"/>
                <a:cs typeface="Inter"/>
              </a:defRPr>
            </a:pPr>
            <a:r>
              <a:rPr sz="1425" b="0">
                <a:solidFill>
                  <a:srgbClr val="FFFFFF"/>
                </a:solidFill>
                <a:latin typeface="Inter"/>
                <a:ea typeface="Inter"/>
                <a:cs typeface="Inter"/>
              </a:rPr>
              <a:t>Immutable review and artifact ancestry</a:t>
            </a:r>
          </a:p>
        </p:txBody>
      </p:sp>
      <p:sp>
        <p:nvSpPr>
          <p:cNvPr id="16" name="">
            <a:extLst xmlns:a="http://schemas.openxmlformats.org/drawingml/2006/main">
              <a:ext uri="{FF2B5EF4-FFF2-40B4-BE49-F238E27FC236}">
                <a16:creationId xmlns:a16="http://schemas.microsoft.com/office/drawing/2014/main" id="{37B90E80-D8D3-40EE-A00A-1540CC1FD62E}"/>
              </a:ext>
            </a:extLst>
          </p:cNvPr>
          <p:cNvSpPr>
            <a:spLocks xmlns:a="http://schemas.openxmlformats.org/drawingml/2006/main" noGrp="1"/>
          </p:cNvSpPr>
          <p:nvPr/>
        </p:nvSpPr>
        <p:spPr>
          <a:xfrm xmlns:a="http://schemas.openxmlformats.org/drawingml/2006/main">
            <a:off x="7524750" y="3924300"/>
            <a:ext cx="85725" cy="85725"/>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BBE78E4A-A3CE-4BD9-805A-C60D6841CF5C}"/>
              </a:ext>
            </a:extLst>
          </p:cNvPr>
          <p:cNvSpPr>
            <a:spLocks xmlns:a="http://schemas.openxmlformats.org/drawingml/2006/main" noGrp="1"/>
          </p:cNvSpPr>
          <p:nvPr/>
        </p:nvSpPr>
        <p:spPr>
          <a:xfrm xmlns:a="http://schemas.openxmlformats.org/drawingml/2006/main">
            <a:off x="7753350" y="3848100"/>
            <a:ext cx="367665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425" b="0">
                <a:solidFill>
                  <a:srgbClr val="FFFFFF"/>
                </a:solidFill>
                <a:latin typeface="Inter"/>
                <a:ea typeface="Inter"/>
                <a:cs typeface="Inter"/>
              </a:defRPr>
            </a:pPr>
            <a:r>
              <a:rPr sz="1425" b="0">
                <a:solidFill>
                  <a:srgbClr val="FFFFFF"/>
                </a:solidFill>
                <a:latin typeface="Inter"/>
                <a:ea typeface="Inter"/>
                <a:cs typeface="Inter"/>
              </a:rPr>
              <a:t>Cross-module application and economics context</a:t>
            </a:r>
          </a:p>
        </p:txBody>
      </p:sp>
      <p:sp>
        <p:nvSpPr>
          <p:cNvPr id="18" name="">
            <a:extLst xmlns:a="http://schemas.openxmlformats.org/drawingml/2006/main">
              <a:ext uri="{FF2B5EF4-FFF2-40B4-BE49-F238E27FC236}">
                <a16:creationId xmlns:a16="http://schemas.microsoft.com/office/drawing/2014/main" id="{EEE80E88-55A0-4667-B893-09DCB0CFE2C6}"/>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The Operating System for Governed AI and Automation Decisions • Pre-seed enterprise software, automation, workflow, and AI-governance investors</a:t>
            </a:r>
          </a:p>
        </p:txBody>
      </p:sp>
      <p:sp>
        <p:nvSpPr>
          <p:cNvPr id="19" name="">
            <a:extLst xmlns:a="http://schemas.openxmlformats.org/drawingml/2006/main">
              <a:ext uri="{FF2B5EF4-FFF2-40B4-BE49-F238E27FC236}">
                <a16:creationId xmlns:a16="http://schemas.microsoft.com/office/drawing/2014/main" id="{2321D2AA-52AE-4753-A572-0FD246F718DE}"/>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No patent, proprietary-algorithm, scientific-validation, calibrated-model, or uncopyable-moat claim.</a:t>
            </a:r>
          </a:p>
        </p:txBody>
      </p:sp>
      <p:sp>
        <p:nvSpPr>
          <p:cNvPr id="20" name="">
            <a:extLst xmlns:a="http://schemas.openxmlformats.org/drawingml/2006/main">
              <a:ext uri="{FF2B5EF4-FFF2-40B4-BE49-F238E27FC236}">
                <a16:creationId xmlns:a16="http://schemas.microsoft.com/office/drawing/2014/main" id="{D3F41D0F-3E14-43F8-9450-BA27B811373A}"/>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09</a:t>
            </a:r>
          </a:p>
        </p:txBody>
      </p:sp>
    </p:spTree>
    <p:extLst>
      <p:ext uri="{BB962C8B-B14F-4D97-AF65-F5344CB8AC3E}">
        <p14:creationId xmlns:p14="http://schemas.microsoft.com/office/powerpoint/2010/main" val="1795600136"/>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E2FFD10A-95A1-46D9-A0C9-444105E7B68B}"/>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2353139C-5D04-4A06-AC51-E50D1848B8AE}"/>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COMMERCIAL MODEL • AP CONFIRMATION REQUIRED</a:t>
            </a:r>
          </a:p>
        </p:txBody>
      </p:sp>
      <p:sp>
        <p:nvSpPr>
          <p:cNvPr id="3" name="">
            <a:extLst xmlns:a="http://schemas.openxmlformats.org/drawingml/2006/main">
              <a:ext uri="{FF2B5EF4-FFF2-40B4-BE49-F238E27FC236}">
                <a16:creationId xmlns:a16="http://schemas.microsoft.com/office/drawing/2014/main" id="{6ADC5FE7-D370-4275-9112-E01CB6BA23F6}"/>
              </a:ext>
            </a:extLst>
          </p:cNvPr>
          <p:cNvSpPr>
            <a:spLocks xmlns:a="http://schemas.openxmlformats.org/drawingml/2006/main" noGrp="1"/>
          </p:cNvSpPr>
          <p:nvPr/>
        </p:nvSpPr>
        <p:spPr>
          <a:xfrm xmlns:a="http://schemas.openxmlformats.org/drawingml/2006/main">
            <a:off x="609600" y="647700"/>
            <a:ext cx="10287000" cy="723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A services-assisted license can land the platform before recurring hosting.</a:t>
            </a:r>
          </a:p>
        </p:txBody>
      </p:sp>
      <p:sp>
        <p:nvSpPr>
          <p:cNvPr id="4" name="">
            <a:extLst xmlns:a="http://schemas.openxmlformats.org/drawingml/2006/main">
              <a:ext uri="{FF2B5EF4-FFF2-40B4-BE49-F238E27FC236}">
                <a16:creationId xmlns:a16="http://schemas.microsoft.com/office/drawing/2014/main" id="{B67C3411-6CEA-4B2F-8661-46807CE01011}"/>
              </a:ext>
            </a:extLst>
          </p:cNvPr>
          <p:cNvSpPr>
            <a:spLocks xmlns:a="http://schemas.openxmlformats.org/drawingml/2006/main" noGrp="1"/>
          </p:cNvSpPr>
          <p:nvPr/>
        </p:nvSpPr>
        <p:spPr>
          <a:xfrm xmlns:a="http://schemas.openxmlformats.org/drawingml/2006/main">
            <a:off x="609600" y="1571625"/>
            <a:ext cx="5143500" cy="4429125"/>
          </a:xfrm>
          <a:prstGeom xmlns:a="http://schemas.openxmlformats.org/drawingml/2006/main" prst="roundRect">
            <a:avLst>
              <a:gd name="adj" fmla="val 1720"/>
            </a:avLst>
          </a:prstGeom>
          <a:solidFill xmlns:a="http://schemas.openxmlformats.org/drawingml/2006/main">
            <a:srgbClr val="FFFFFF"/>
          </a:solidFill>
          <a:ln xmlns:a="http://schemas.openxmlformats.org/drawingml/2006/main" w="9525">
            <a:solidFill>
              <a:srgbClr val="D7E0E8"/>
            </a:solidFill>
            <a:prstDash val="solid"/>
          </a:ln>
        </p:spPr>
      </p:sp>
      <p:sp>
        <p:nvSpPr>
          <p:cNvPr id="5" name="">
            <a:extLst xmlns:a="http://schemas.openxmlformats.org/drawingml/2006/main">
              <a:ext uri="{FF2B5EF4-FFF2-40B4-BE49-F238E27FC236}">
                <a16:creationId xmlns:a16="http://schemas.microsoft.com/office/drawing/2014/main" id="{FA871F12-384A-42FA-BEFE-27AFE608245D}"/>
              </a:ext>
            </a:extLst>
          </p:cNvPr>
          <p:cNvSpPr>
            <a:spLocks xmlns:a="http://schemas.openxmlformats.org/drawingml/2006/main" noGrp="1"/>
          </p:cNvSpPr>
          <p:nvPr/>
        </p:nvSpPr>
        <p:spPr>
          <a:xfrm xmlns:a="http://schemas.openxmlformats.org/drawingml/2006/main">
            <a:off x="6438900" y="1571625"/>
            <a:ext cx="5143500" cy="4429125"/>
          </a:xfrm>
          <a:prstGeom xmlns:a="http://schemas.openxmlformats.org/drawingml/2006/main" prst="roundRect">
            <a:avLst>
              <a:gd name="adj" fmla="val 1720"/>
            </a:avLst>
          </a:prstGeom>
          <a:solidFill xmlns:a="http://schemas.openxmlformats.org/drawingml/2006/main">
            <a:srgbClr val="FFFFFF"/>
          </a:solidFill>
          <a:ln xmlns:a="http://schemas.openxmlformats.org/drawingml/2006/main" w="9525">
            <a:solidFill>
              <a:srgbClr val="D7E0E8"/>
            </a:solidFill>
            <a:prstDash val="solid"/>
          </a:ln>
        </p:spPr>
      </p:sp>
      <p:sp>
        <p:nvSpPr>
          <p:cNvPr id="6" name="">
            <a:extLst xmlns:a="http://schemas.openxmlformats.org/drawingml/2006/main">
              <a:ext uri="{FF2B5EF4-FFF2-40B4-BE49-F238E27FC236}">
                <a16:creationId xmlns:a16="http://schemas.microsoft.com/office/drawing/2014/main" id="{29BA052E-F0B0-47BB-868D-9DC53EF0F71D}"/>
              </a:ext>
            </a:extLst>
          </p:cNvPr>
          <p:cNvSpPr>
            <a:spLocks xmlns:a="http://schemas.openxmlformats.org/drawingml/2006/main" noGrp="1"/>
          </p:cNvSpPr>
          <p:nvPr/>
        </p:nvSpPr>
        <p:spPr>
          <a:xfrm xmlns:a="http://schemas.openxmlformats.org/drawingml/2006/main">
            <a:off x="876300" y="1752600"/>
            <a:ext cx="4762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C45500"/>
                </a:solidFill>
                <a:latin typeface="Outfit"/>
                <a:ea typeface="Outfit"/>
                <a:cs typeface="Outfit"/>
              </a:defRPr>
            </a:pPr>
            <a:r>
              <a:rPr sz="1800" b="1">
                <a:solidFill>
                  <a:srgbClr val="C45500"/>
                </a:solidFill>
                <a:latin typeface="Outfit"/>
                <a:ea typeface="Outfit"/>
                <a:cs typeface="Outfit"/>
              </a:rPr>
              <a:t>Initial strategy</a:t>
            </a:r>
          </a:p>
        </p:txBody>
      </p:sp>
      <p:sp>
        <p:nvSpPr>
          <p:cNvPr id="7" name="">
            <a:extLst xmlns:a="http://schemas.openxmlformats.org/drawingml/2006/main">
              <a:ext uri="{FF2B5EF4-FFF2-40B4-BE49-F238E27FC236}">
                <a16:creationId xmlns:a16="http://schemas.microsoft.com/office/drawing/2014/main" id="{12BD95A6-5AD9-48EC-9EAE-D4320E840FB0}"/>
              </a:ext>
            </a:extLst>
          </p:cNvPr>
          <p:cNvSpPr>
            <a:spLocks xmlns:a="http://schemas.openxmlformats.org/drawingml/2006/main" noGrp="1"/>
          </p:cNvSpPr>
          <p:nvPr/>
        </p:nvSpPr>
        <p:spPr>
          <a:xfrm xmlns:a="http://schemas.openxmlformats.org/drawingml/2006/main">
            <a:off x="876300" y="24955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84397AE9-A7BF-4B92-BB68-5B3D2FCE029B}"/>
              </a:ext>
            </a:extLst>
          </p:cNvPr>
          <p:cNvSpPr>
            <a:spLocks xmlns:a="http://schemas.openxmlformats.org/drawingml/2006/main" noGrp="1"/>
          </p:cNvSpPr>
          <p:nvPr/>
        </p:nvSpPr>
        <p:spPr>
          <a:xfrm xmlns:a="http://schemas.openxmlformats.org/drawingml/2006/main">
            <a:off x="1143000" y="24384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Upfront enterprise or white-label license</a:t>
            </a:r>
          </a:p>
        </p:txBody>
      </p:sp>
      <p:sp>
        <p:nvSpPr>
          <p:cNvPr id="9" name="">
            <a:extLst xmlns:a="http://schemas.openxmlformats.org/drawingml/2006/main">
              <a:ext uri="{FF2B5EF4-FFF2-40B4-BE49-F238E27FC236}">
                <a16:creationId xmlns:a16="http://schemas.microsoft.com/office/drawing/2014/main" id="{F51CD476-6A21-4C4C-B9E0-55F016674749}"/>
              </a:ext>
            </a:extLst>
          </p:cNvPr>
          <p:cNvSpPr>
            <a:spLocks xmlns:a="http://schemas.openxmlformats.org/drawingml/2006/main" noGrp="1"/>
          </p:cNvSpPr>
          <p:nvPr/>
        </p:nvSpPr>
        <p:spPr>
          <a:xfrm xmlns:a="http://schemas.openxmlformats.org/drawingml/2006/main">
            <a:off x="923925" y="2686050"/>
            <a:ext cx="19050" cy="228600"/>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0" name="">
            <a:extLst xmlns:a="http://schemas.openxmlformats.org/drawingml/2006/main">
              <a:ext uri="{FF2B5EF4-FFF2-40B4-BE49-F238E27FC236}">
                <a16:creationId xmlns:a16="http://schemas.microsoft.com/office/drawing/2014/main" id="{F57B8D30-27FC-4391-9642-222BB981714A}"/>
              </a:ext>
            </a:extLst>
          </p:cNvPr>
          <p:cNvSpPr>
            <a:spLocks xmlns:a="http://schemas.openxmlformats.org/drawingml/2006/main" noGrp="1"/>
          </p:cNvSpPr>
          <p:nvPr/>
        </p:nvSpPr>
        <p:spPr>
          <a:xfrm xmlns:a="http://schemas.openxmlformats.org/drawingml/2006/main">
            <a:off x="876300" y="29527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40939048-3FEC-49FF-A4E9-2BE3F276807D}"/>
              </a:ext>
            </a:extLst>
          </p:cNvPr>
          <p:cNvSpPr>
            <a:spLocks xmlns:a="http://schemas.openxmlformats.org/drawingml/2006/main" noGrp="1"/>
          </p:cNvSpPr>
          <p:nvPr/>
        </p:nvSpPr>
        <p:spPr>
          <a:xfrm xmlns:a="http://schemas.openxmlformats.org/drawingml/2006/main">
            <a:off x="1143000" y="28956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Implementation and enablement</a:t>
            </a:r>
          </a:p>
        </p:txBody>
      </p:sp>
      <p:sp>
        <p:nvSpPr>
          <p:cNvPr id="12" name="">
            <a:extLst xmlns:a="http://schemas.openxmlformats.org/drawingml/2006/main">
              <a:ext uri="{FF2B5EF4-FFF2-40B4-BE49-F238E27FC236}">
                <a16:creationId xmlns:a16="http://schemas.microsoft.com/office/drawing/2014/main" id="{0C7C31D4-4A0B-44A6-8198-9B43E830E942}"/>
              </a:ext>
            </a:extLst>
          </p:cNvPr>
          <p:cNvSpPr>
            <a:spLocks xmlns:a="http://schemas.openxmlformats.org/drawingml/2006/main" noGrp="1"/>
          </p:cNvSpPr>
          <p:nvPr/>
        </p:nvSpPr>
        <p:spPr>
          <a:xfrm xmlns:a="http://schemas.openxmlformats.org/drawingml/2006/main">
            <a:off x="923925" y="3143250"/>
            <a:ext cx="19050" cy="228600"/>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FD5DFFBD-97A2-439D-B5C3-B8EA4B0E3E8A}"/>
              </a:ext>
            </a:extLst>
          </p:cNvPr>
          <p:cNvSpPr>
            <a:spLocks xmlns:a="http://schemas.openxmlformats.org/drawingml/2006/main" noGrp="1"/>
          </p:cNvSpPr>
          <p:nvPr/>
        </p:nvSpPr>
        <p:spPr>
          <a:xfrm xmlns:a="http://schemas.openxmlformats.org/drawingml/2006/main">
            <a:off x="876300" y="34099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4" name="">
            <a:extLst xmlns:a="http://schemas.openxmlformats.org/drawingml/2006/main">
              <a:ext uri="{FF2B5EF4-FFF2-40B4-BE49-F238E27FC236}">
                <a16:creationId xmlns:a16="http://schemas.microsoft.com/office/drawing/2014/main" id="{2B202448-576A-49DE-9610-DB0ABEFD7907}"/>
              </a:ext>
            </a:extLst>
          </p:cNvPr>
          <p:cNvSpPr>
            <a:spLocks xmlns:a="http://schemas.openxmlformats.org/drawingml/2006/main" noGrp="1"/>
          </p:cNvSpPr>
          <p:nvPr/>
        </p:nvSpPr>
        <p:spPr>
          <a:xfrm xmlns:a="http://schemas.openxmlformats.org/drawingml/2006/main">
            <a:off x="1143000" y="33528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Paid customisation and enhancements</a:t>
            </a:r>
          </a:p>
        </p:txBody>
      </p:sp>
      <p:sp>
        <p:nvSpPr>
          <p:cNvPr id="15" name="">
            <a:extLst xmlns:a="http://schemas.openxmlformats.org/drawingml/2006/main">
              <a:ext uri="{FF2B5EF4-FFF2-40B4-BE49-F238E27FC236}">
                <a16:creationId xmlns:a16="http://schemas.microsoft.com/office/drawing/2014/main" id="{B785AE2E-8641-41E7-879C-ED1E1279F9C8}"/>
              </a:ext>
            </a:extLst>
          </p:cNvPr>
          <p:cNvSpPr>
            <a:spLocks xmlns:a="http://schemas.openxmlformats.org/drawingml/2006/main" noGrp="1"/>
          </p:cNvSpPr>
          <p:nvPr/>
        </p:nvSpPr>
        <p:spPr>
          <a:xfrm xmlns:a="http://schemas.openxmlformats.org/drawingml/2006/main">
            <a:off x="923925" y="3600450"/>
            <a:ext cx="19050" cy="228600"/>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17A256B2-E81A-455B-955A-503617DEA84F}"/>
              </a:ext>
            </a:extLst>
          </p:cNvPr>
          <p:cNvSpPr>
            <a:spLocks xmlns:a="http://schemas.openxmlformats.org/drawingml/2006/main" noGrp="1"/>
          </p:cNvSpPr>
          <p:nvPr/>
        </p:nvSpPr>
        <p:spPr>
          <a:xfrm xmlns:a="http://schemas.openxmlformats.org/drawingml/2006/main">
            <a:off x="876300" y="3867150"/>
            <a:ext cx="104775" cy="10477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28ABC5E4-2C33-4C64-B8D7-B590893A461D}"/>
              </a:ext>
            </a:extLst>
          </p:cNvPr>
          <p:cNvSpPr>
            <a:spLocks xmlns:a="http://schemas.openxmlformats.org/drawingml/2006/main" noGrp="1"/>
          </p:cNvSpPr>
          <p:nvPr/>
        </p:nvSpPr>
        <p:spPr>
          <a:xfrm xmlns:a="http://schemas.openxmlformats.org/drawingml/2006/main">
            <a:off x="1143000" y="38100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Optional support and update agreement</a:t>
            </a:r>
          </a:p>
        </p:txBody>
      </p:sp>
      <p:sp>
        <p:nvSpPr>
          <p:cNvPr id="18" name="">
            <a:extLst xmlns:a="http://schemas.openxmlformats.org/drawingml/2006/main">
              <a:ext uri="{FF2B5EF4-FFF2-40B4-BE49-F238E27FC236}">
                <a16:creationId xmlns:a16="http://schemas.microsoft.com/office/drawing/2014/main" id="{3280F2F4-34F9-4555-A6A5-8E11CF606D63}"/>
              </a:ext>
            </a:extLst>
          </p:cNvPr>
          <p:cNvSpPr>
            <a:spLocks xmlns:a="http://schemas.openxmlformats.org/drawingml/2006/main" noGrp="1"/>
          </p:cNvSpPr>
          <p:nvPr/>
        </p:nvSpPr>
        <p:spPr>
          <a:xfrm xmlns:a="http://schemas.openxmlformats.org/drawingml/2006/main">
            <a:off x="6705600" y="1752600"/>
            <a:ext cx="47625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800" b="1">
                <a:solidFill>
                  <a:srgbClr val="001B30"/>
                </a:solidFill>
                <a:latin typeface="Outfit"/>
                <a:ea typeface="Outfit"/>
                <a:cs typeface="Outfit"/>
              </a:defRPr>
            </a:pPr>
            <a:r>
              <a:rPr sz="1800" b="1">
                <a:solidFill>
                  <a:srgbClr val="001B30"/>
                </a:solidFill>
                <a:latin typeface="Outfit"/>
                <a:ea typeface="Outfit"/>
                <a:cs typeface="Outfit"/>
              </a:rPr>
              <a:t>Future strategy</a:t>
            </a:r>
          </a:p>
        </p:txBody>
      </p:sp>
      <p:sp>
        <p:nvSpPr>
          <p:cNvPr id="19" name="">
            <a:extLst xmlns:a="http://schemas.openxmlformats.org/drawingml/2006/main">
              <a:ext uri="{FF2B5EF4-FFF2-40B4-BE49-F238E27FC236}">
                <a16:creationId xmlns:a16="http://schemas.microsoft.com/office/drawing/2014/main" id="{AD1D2F65-2F61-4B37-BD4F-ABC8B933239B}"/>
              </a:ext>
            </a:extLst>
          </p:cNvPr>
          <p:cNvSpPr>
            <a:spLocks xmlns:a="http://schemas.openxmlformats.org/drawingml/2006/main" noGrp="1"/>
          </p:cNvSpPr>
          <p:nvPr/>
        </p:nvSpPr>
        <p:spPr>
          <a:xfrm xmlns:a="http://schemas.openxmlformats.org/drawingml/2006/main">
            <a:off x="6705600" y="2495550"/>
            <a:ext cx="104775" cy="10477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8D28DA9B-29F4-4F03-8BAD-E2D82243A718}"/>
              </a:ext>
            </a:extLst>
          </p:cNvPr>
          <p:cNvSpPr>
            <a:spLocks xmlns:a="http://schemas.openxmlformats.org/drawingml/2006/main" noGrp="1"/>
          </p:cNvSpPr>
          <p:nvPr/>
        </p:nvSpPr>
        <p:spPr>
          <a:xfrm xmlns:a="http://schemas.openxmlformats.org/drawingml/2006/main">
            <a:off x="6972300" y="24384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Hosted enterprise offering</a:t>
            </a:r>
          </a:p>
        </p:txBody>
      </p:sp>
      <p:sp>
        <p:nvSpPr>
          <p:cNvPr id="21" name="">
            <a:extLst xmlns:a="http://schemas.openxmlformats.org/drawingml/2006/main">
              <a:ext uri="{FF2B5EF4-FFF2-40B4-BE49-F238E27FC236}">
                <a16:creationId xmlns:a16="http://schemas.microsoft.com/office/drawing/2014/main" id="{0B9985F9-6E4D-49C3-B249-44AEF92336D4}"/>
              </a:ext>
            </a:extLst>
          </p:cNvPr>
          <p:cNvSpPr>
            <a:spLocks xmlns:a="http://schemas.openxmlformats.org/drawingml/2006/main" noGrp="1"/>
          </p:cNvSpPr>
          <p:nvPr/>
        </p:nvSpPr>
        <p:spPr>
          <a:xfrm xmlns:a="http://schemas.openxmlformats.org/drawingml/2006/main">
            <a:off x="6753225" y="2686050"/>
            <a:ext cx="19050" cy="228600"/>
          </a:xfrm>
          <a:prstGeom xmlns:a="http://schemas.openxmlformats.org/drawingml/2006/main" prst="rect">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22" name="">
            <a:extLst xmlns:a="http://schemas.openxmlformats.org/drawingml/2006/main">
              <a:ext uri="{FF2B5EF4-FFF2-40B4-BE49-F238E27FC236}">
                <a16:creationId xmlns:a16="http://schemas.microsoft.com/office/drawing/2014/main" id="{897D4CDD-5E91-423B-A92D-0614C965706C}"/>
              </a:ext>
            </a:extLst>
          </p:cNvPr>
          <p:cNvSpPr>
            <a:spLocks xmlns:a="http://schemas.openxmlformats.org/drawingml/2006/main" noGrp="1"/>
          </p:cNvSpPr>
          <p:nvPr/>
        </p:nvSpPr>
        <p:spPr>
          <a:xfrm xmlns:a="http://schemas.openxmlformats.org/drawingml/2006/main">
            <a:off x="6705600" y="2952750"/>
            <a:ext cx="104775" cy="10477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C5E08A9-C97B-4230-8A2D-83160BC56334}"/>
              </a:ext>
            </a:extLst>
          </p:cNvPr>
          <p:cNvSpPr>
            <a:spLocks xmlns:a="http://schemas.openxmlformats.org/drawingml/2006/main" noGrp="1"/>
          </p:cNvSpPr>
          <p:nvPr/>
        </p:nvSpPr>
        <p:spPr>
          <a:xfrm xmlns:a="http://schemas.openxmlformats.org/drawingml/2006/main">
            <a:off x="6972300" y="28956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BYOK and provider controls</a:t>
            </a:r>
          </a:p>
        </p:txBody>
      </p:sp>
      <p:sp>
        <p:nvSpPr>
          <p:cNvPr id="24" name="">
            <a:extLst xmlns:a="http://schemas.openxmlformats.org/drawingml/2006/main">
              <a:ext uri="{FF2B5EF4-FFF2-40B4-BE49-F238E27FC236}">
                <a16:creationId xmlns:a16="http://schemas.microsoft.com/office/drawing/2014/main" id="{5AFB718D-915F-4654-935B-D6D7682C61A0}"/>
              </a:ext>
            </a:extLst>
          </p:cNvPr>
          <p:cNvSpPr>
            <a:spLocks xmlns:a="http://schemas.openxmlformats.org/drawingml/2006/main" noGrp="1"/>
          </p:cNvSpPr>
          <p:nvPr/>
        </p:nvSpPr>
        <p:spPr>
          <a:xfrm xmlns:a="http://schemas.openxmlformats.org/drawingml/2006/main">
            <a:off x="6753225" y="3143250"/>
            <a:ext cx="19050" cy="228600"/>
          </a:xfrm>
          <a:prstGeom xmlns:a="http://schemas.openxmlformats.org/drawingml/2006/main" prst="rect">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3B5EAD15-A1E3-491B-A40E-88AE51C4D3C8}"/>
              </a:ext>
            </a:extLst>
          </p:cNvPr>
          <p:cNvSpPr>
            <a:spLocks xmlns:a="http://schemas.openxmlformats.org/drawingml/2006/main" noGrp="1"/>
          </p:cNvSpPr>
          <p:nvPr/>
        </p:nvSpPr>
        <p:spPr>
          <a:xfrm xmlns:a="http://schemas.openxmlformats.org/drawingml/2006/main">
            <a:off x="6705600" y="3409950"/>
            <a:ext cx="104775" cy="10477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26" name="">
            <a:extLst xmlns:a="http://schemas.openxmlformats.org/drawingml/2006/main">
              <a:ext uri="{FF2B5EF4-FFF2-40B4-BE49-F238E27FC236}">
                <a16:creationId xmlns:a16="http://schemas.microsoft.com/office/drawing/2014/main" id="{1EC82A0A-68E3-40BA-A388-2727EDD7E8FF}"/>
              </a:ext>
            </a:extLst>
          </p:cNvPr>
          <p:cNvSpPr>
            <a:spLocks xmlns:a="http://schemas.openxmlformats.org/drawingml/2006/main" noGrp="1"/>
          </p:cNvSpPr>
          <p:nvPr/>
        </p:nvSpPr>
        <p:spPr>
          <a:xfrm xmlns:a="http://schemas.openxmlformats.org/drawingml/2006/main">
            <a:off x="6972300" y="3352800"/>
            <a:ext cx="42862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350" b="0">
                <a:solidFill>
                  <a:srgbClr val="0B1426"/>
                </a:solidFill>
                <a:latin typeface="Inter"/>
                <a:ea typeface="Inter"/>
                <a:cs typeface="Inter"/>
              </a:defRPr>
            </a:pPr>
            <a:r>
              <a:rPr sz="1350" b="0">
                <a:solidFill>
                  <a:srgbClr val="0B1426"/>
                </a:solidFill>
                <a:latin typeface="Inter"/>
                <a:ea typeface="Inter"/>
                <a:cs typeface="Inter"/>
              </a:rPr>
              <a:t>Recurring tiers after deployment and pilot readiness</a:t>
            </a:r>
          </a:p>
        </p:txBody>
      </p:sp>
      <p:sp>
        <p:nvSpPr>
          <p:cNvPr id="27" name="">
            <a:extLst xmlns:a="http://schemas.openxmlformats.org/drawingml/2006/main">
              <a:ext uri="{FF2B5EF4-FFF2-40B4-BE49-F238E27FC236}">
                <a16:creationId xmlns:a16="http://schemas.microsoft.com/office/drawing/2014/main" id="{DA99D493-365D-458D-96E1-751F12FD8298}"/>
              </a:ext>
            </a:extLst>
          </p:cNvPr>
          <p:cNvSpPr>
            <a:spLocks xmlns:a="http://schemas.openxmlformats.org/drawingml/2006/main" noGrp="1"/>
          </p:cNvSpPr>
          <p:nvPr/>
        </p:nvSpPr>
        <p:spPr>
          <a:xfrm xmlns:a="http://schemas.openxmlformats.org/drawingml/2006/main">
            <a:off x="5810250" y="3476625"/>
            <a:ext cx="571500" cy="428625"/>
          </a:xfrm>
          <a:prstGeom xmlns:a="http://schemas.openxmlformats.org/drawingml/2006/main" prst="rightArrow">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8" name="">
            <a:extLst xmlns:a="http://schemas.openxmlformats.org/drawingml/2006/main">
              <a:ext uri="{FF2B5EF4-FFF2-40B4-BE49-F238E27FC236}">
                <a16:creationId xmlns:a16="http://schemas.microsoft.com/office/drawing/2014/main" id="{56C9495E-2AF8-4AC4-8ED4-D544449351D2}"/>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The Operating System for Governed AI and Automation Decisions • Pre-seed enterprise software, automation, workflow, and AI-governance investors</a:t>
            </a:r>
          </a:p>
        </p:txBody>
      </p:sp>
      <p:sp>
        <p:nvSpPr>
          <p:cNvPr id="29" name="">
            <a:extLst xmlns:a="http://schemas.openxmlformats.org/drawingml/2006/main">
              <a:ext uri="{FF2B5EF4-FFF2-40B4-BE49-F238E27FC236}">
                <a16:creationId xmlns:a16="http://schemas.microsoft.com/office/drawing/2014/main" id="{81EA801D-36AD-460B-ACF4-83DB543B22C4}"/>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Discussion strategy. Pricing, margins, customers, revenue, and contract terms are not supplied.</a:t>
            </a:r>
          </a:p>
        </p:txBody>
      </p:sp>
      <p:sp>
        <p:nvSpPr>
          <p:cNvPr id="30" name="">
            <a:extLst xmlns:a="http://schemas.openxmlformats.org/drawingml/2006/main">
              <a:ext uri="{FF2B5EF4-FFF2-40B4-BE49-F238E27FC236}">
                <a16:creationId xmlns:a16="http://schemas.microsoft.com/office/drawing/2014/main" id="{B5EF01B2-F168-4A2A-AB03-54DF5F9042DC}"/>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10</a:t>
            </a:r>
          </a:p>
        </p:txBody>
      </p:sp>
    </p:spTree>
    <p:extLst>
      <p:ext uri="{BB962C8B-B14F-4D97-AF65-F5344CB8AC3E}">
        <p14:creationId xmlns:p14="http://schemas.microsoft.com/office/powerpoint/2010/main" val="1704794925"/>
      </p:ext>
    </p:extLst>
  </p:cSld>
</p:sld>
</file>

<file path=ppt/slides/slide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57EC271-46F9-464C-A071-ACA511F41544}"/>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B9D491AB-BB30-411D-9F4C-D846BD873986}"/>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GO-TO-MARKET • AP CONFIRMATION REQUIRED</a:t>
            </a:r>
          </a:p>
        </p:txBody>
      </p:sp>
      <p:sp>
        <p:nvSpPr>
          <p:cNvPr id="3" name="">
            <a:extLst xmlns:a="http://schemas.openxmlformats.org/drawingml/2006/main">
              <a:ext uri="{FF2B5EF4-FFF2-40B4-BE49-F238E27FC236}">
                <a16:creationId xmlns:a16="http://schemas.microsoft.com/office/drawing/2014/main" id="{81113EC9-0C8E-40B2-9F19-90C47890E6E4}"/>
              </a:ext>
            </a:extLst>
          </p:cNvPr>
          <p:cNvSpPr>
            <a:spLocks xmlns:a="http://schemas.openxmlformats.org/drawingml/2006/main" noGrp="1"/>
          </p:cNvSpPr>
          <p:nvPr/>
        </p:nvSpPr>
        <p:spPr>
          <a:xfrm xmlns:a="http://schemas.openxmlformats.org/drawingml/2006/main">
            <a:off x="609600" y="638175"/>
            <a:ext cx="102870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Founder-led assessments create the first route to repeatable distribution.</a:t>
            </a:r>
          </a:p>
        </p:txBody>
      </p:sp>
      <p:sp>
        <p:nvSpPr>
          <p:cNvPr id="4" name="">
            <a:extLst xmlns:a="http://schemas.openxmlformats.org/drawingml/2006/main">
              <a:ext uri="{FF2B5EF4-FFF2-40B4-BE49-F238E27FC236}">
                <a16:creationId xmlns:a16="http://schemas.microsoft.com/office/drawing/2014/main" id="{CAEDF443-960E-434B-B191-3179F66DA680}"/>
              </a:ext>
            </a:extLst>
          </p:cNvPr>
          <p:cNvSpPr>
            <a:spLocks xmlns:a="http://schemas.openxmlformats.org/drawingml/2006/main" noGrp="1"/>
          </p:cNvSpPr>
          <p:nvPr/>
        </p:nvSpPr>
        <p:spPr>
          <a:xfrm xmlns:a="http://schemas.openxmlformats.org/drawingml/2006/main">
            <a:off x="857250" y="2190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5FFBB4B-126B-4917-8AB9-F6233D88DB86}"/>
              </a:ext>
            </a:extLst>
          </p:cNvPr>
          <p:cNvSpPr>
            <a:spLocks xmlns:a="http://schemas.openxmlformats.org/drawingml/2006/main" noGrp="1"/>
          </p:cNvSpPr>
          <p:nvPr/>
        </p:nvSpPr>
        <p:spPr>
          <a:xfrm xmlns:a="http://schemas.openxmlformats.org/drawingml/2006/main">
            <a:off x="857250" y="2343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1</a:t>
            </a:r>
          </a:p>
        </p:txBody>
      </p:sp>
      <p:sp>
        <p:nvSpPr>
          <p:cNvPr id="6" name="">
            <a:extLst xmlns:a="http://schemas.openxmlformats.org/drawingml/2006/main">
              <a:ext uri="{FF2B5EF4-FFF2-40B4-BE49-F238E27FC236}">
                <a16:creationId xmlns:a16="http://schemas.microsoft.com/office/drawing/2014/main" id="{52C7F754-2C5D-4574-9886-E6E036CD9E3C}"/>
              </a:ext>
            </a:extLst>
          </p:cNvPr>
          <p:cNvSpPr>
            <a:spLocks xmlns:a="http://schemas.openxmlformats.org/drawingml/2006/main" noGrp="1"/>
          </p:cNvSpPr>
          <p:nvPr/>
        </p:nvSpPr>
        <p:spPr>
          <a:xfrm xmlns:a="http://schemas.openxmlformats.org/drawingml/2006/main">
            <a:off x="1600200" y="2162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Targeted process assessment</a:t>
            </a:r>
          </a:p>
        </p:txBody>
      </p:sp>
      <p:sp>
        <p:nvSpPr>
          <p:cNvPr id="7" name="">
            <a:extLst xmlns:a="http://schemas.openxmlformats.org/drawingml/2006/main">
              <a:ext uri="{FF2B5EF4-FFF2-40B4-BE49-F238E27FC236}">
                <a16:creationId xmlns:a16="http://schemas.microsoft.com/office/drawing/2014/main" id="{1C9E997C-CD48-4A09-9A54-8AB8F2E8C8B3}"/>
              </a:ext>
            </a:extLst>
          </p:cNvPr>
          <p:cNvSpPr>
            <a:spLocks xmlns:a="http://schemas.openxmlformats.org/drawingml/2006/main" noGrp="1"/>
          </p:cNvSpPr>
          <p:nvPr/>
        </p:nvSpPr>
        <p:spPr>
          <a:xfrm xmlns:a="http://schemas.openxmlformats.org/drawingml/2006/main">
            <a:off x="3952875" y="2333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8" name="">
            <a:extLst xmlns:a="http://schemas.openxmlformats.org/drawingml/2006/main">
              <a:ext uri="{FF2B5EF4-FFF2-40B4-BE49-F238E27FC236}">
                <a16:creationId xmlns:a16="http://schemas.microsoft.com/office/drawing/2014/main" id="{3612A6EA-27B8-4BD4-87ED-D59DB3758285}"/>
              </a:ext>
            </a:extLst>
          </p:cNvPr>
          <p:cNvSpPr>
            <a:spLocks xmlns:a="http://schemas.openxmlformats.org/drawingml/2006/main" noGrp="1"/>
          </p:cNvSpPr>
          <p:nvPr/>
        </p:nvSpPr>
        <p:spPr>
          <a:xfrm xmlns:a="http://schemas.openxmlformats.org/drawingml/2006/main">
            <a:off x="4572000" y="2190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C7A6E14-79F8-4669-9F7B-D06BF1751F97}"/>
              </a:ext>
            </a:extLst>
          </p:cNvPr>
          <p:cNvSpPr>
            <a:spLocks xmlns:a="http://schemas.openxmlformats.org/drawingml/2006/main" noGrp="1"/>
          </p:cNvSpPr>
          <p:nvPr/>
        </p:nvSpPr>
        <p:spPr>
          <a:xfrm xmlns:a="http://schemas.openxmlformats.org/drawingml/2006/main">
            <a:off x="4572000" y="2343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2</a:t>
            </a:r>
          </a:p>
        </p:txBody>
      </p:sp>
      <p:sp>
        <p:nvSpPr>
          <p:cNvPr id="10" name="">
            <a:extLst xmlns:a="http://schemas.openxmlformats.org/drawingml/2006/main">
              <a:ext uri="{FF2B5EF4-FFF2-40B4-BE49-F238E27FC236}">
                <a16:creationId xmlns:a16="http://schemas.microsoft.com/office/drawing/2014/main" id="{6990A5E3-9550-489F-A46A-045A4E8D14DC}"/>
              </a:ext>
            </a:extLst>
          </p:cNvPr>
          <p:cNvSpPr>
            <a:spLocks xmlns:a="http://schemas.openxmlformats.org/drawingml/2006/main" noGrp="1"/>
          </p:cNvSpPr>
          <p:nvPr/>
        </p:nvSpPr>
        <p:spPr>
          <a:xfrm xmlns:a="http://schemas.openxmlformats.org/drawingml/2006/main">
            <a:off x="5314950" y="2162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Synthetic reference journey</a:t>
            </a:r>
          </a:p>
        </p:txBody>
      </p:sp>
      <p:sp>
        <p:nvSpPr>
          <p:cNvPr id="11" name="">
            <a:extLst xmlns:a="http://schemas.openxmlformats.org/drawingml/2006/main">
              <a:ext uri="{FF2B5EF4-FFF2-40B4-BE49-F238E27FC236}">
                <a16:creationId xmlns:a16="http://schemas.microsoft.com/office/drawing/2014/main" id="{F3A354B6-8D61-4A86-B12C-9E4FB8444069}"/>
              </a:ext>
            </a:extLst>
          </p:cNvPr>
          <p:cNvSpPr>
            <a:spLocks xmlns:a="http://schemas.openxmlformats.org/drawingml/2006/main" noGrp="1"/>
          </p:cNvSpPr>
          <p:nvPr/>
        </p:nvSpPr>
        <p:spPr>
          <a:xfrm xmlns:a="http://schemas.openxmlformats.org/drawingml/2006/main">
            <a:off x="7667625" y="2333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C3AED9D8-32F1-4AF1-99B9-FB39D5CE930D}"/>
              </a:ext>
            </a:extLst>
          </p:cNvPr>
          <p:cNvSpPr>
            <a:spLocks xmlns:a="http://schemas.openxmlformats.org/drawingml/2006/main" noGrp="1"/>
          </p:cNvSpPr>
          <p:nvPr/>
        </p:nvSpPr>
        <p:spPr>
          <a:xfrm xmlns:a="http://schemas.openxmlformats.org/drawingml/2006/main">
            <a:off x="8286750" y="2190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CDC23D90-A9E5-4902-855B-F76ABD530F7A}"/>
              </a:ext>
            </a:extLst>
          </p:cNvPr>
          <p:cNvSpPr>
            <a:spLocks xmlns:a="http://schemas.openxmlformats.org/drawingml/2006/main" noGrp="1"/>
          </p:cNvSpPr>
          <p:nvPr/>
        </p:nvSpPr>
        <p:spPr>
          <a:xfrm xmlns:a="http://schemas.openxmlformats.org/drawingml/2006/main">
            <a:off x="8286750" y="2343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3</a:t>
            </a:r>
          </a:p>
        </p:txBody>
      </p:sp>
      <p:sp>
        <p:nvSpPr>
          <p:cNvPr id="14" name="">
            <a:extLst xmlns:a="http://schemas.openxmlformats.org/drawingml/2006/main">
              <a:ext uri="{FF2B5EF4-FFF2-40B4-BE49-F238E27FC236}">
                <a16:creationId xmlns:a16="http://schemas.microsoft.com/office/drawing/2014/main" id="{A06CC8A9-8981-45A0-9631-836A0E32E907}"/>
              </a:ext>
            </a:extLst>
          </p:cNvPr>
          <p:cNvSpPr>
            <a:spLocks xmlns:a="http://schemas.openxmlformats.org/drawingml/2006/main" noGrp="1"/>
          </p:cNvSpPr>
          <p:nvPr/>
        </p:nvSpPr>
        <p:spPr>
          <a:xfrm xmlns:a="http://schemas.openxmlformats.org/drawingml/2006/main">
            <a:off x="9029700" y="2162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Design-partner learning</a:t>
            </a:r>
          </a:p>
        </p:txBody>
      </p:sp>
      <p:sp>
        <p:nvSpPr>
          <p:cNvPr id="15" name="">
            <a:extLst xmlns:a="http://schemas.openxmlformats.org/drawingml/2006/main">
              <a:ext uri="{FF2B5EF4-FFF2-40B4-BE49-F238E27FC236}">
                <a16:creationId xmlns:a16="http://schemas.microsoft.com/office/drawing/2014/main" id="{DCF5A4F3-0185-46F4-A9C5-E809F08420CD}"/>
              </a:ext>
            </a:extLst>
          </p:cNvPr>
          <p:cNvSpPr>
            <a:spLocks xmlns:a="http://schemas.openxmlformats.org/drawingml/2006/main" noGrp="1"/>
          </p:cNvSpPr>
          <p:nvPr/>
        </p:nvSpPr>
        <p:spPr>
          <a:xfrm xmlns:a="http://schemas.openxmlformats.org/drawingml/2006/main">
            <a:off x="857250" y="4095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16" name="">
            <a:extLst xmlns:a="http://schemas.openxmlformats.org/drawingml/2006/main">
              <a:ext uri="{FF2B5EF4-FFF2-40B4-BE49-F238E27FC236}">
                <a16:creationId xmlns:a16="http://schemas.microsoft.com/office/drawing/2014/main" id="{A1B88875-5E96-4258-A235-994DC1DD62F3}"/>
              </a:ext>
            </a:extLst>
          </p:cNvPr>
          <p:cNvSpPr>
            <a:spLocks xmlns:a="http://schemas.openxmlformats.org/drawingml/2006/main" noGrp="1"/>
          </p:cNvSpPr>
          <p:nvPr/>
        </p:nvSpPr>
        <p:spPr>
          <a:xfrm xmlns:a="http://schemas.openxmlformats.org/drawingml/2006/main">
            <a:off x="857250" y="4248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4</a:t>
            </a:r>
          </a:p>
        </p:txBody>
      </p:sp>
      <p:sp>
        <p:nvSpPr>
          <p:cNvPr id="17" name="">
            <a:extLst xmlns:a="http://schemas.openxmlformats.org/drawingml/2006/main">
              <a:ext uri="{FF2B5EF4-FFF2-40B4-BE49-F238E27FC236}">
                <a16:creationId xmlns:a16="http://schemas.microsoft.com/office/drawing/2014/main" id="{5C3157A1-2434-422F-B269-84E22A4F9061}"/>
              </a:ext>
            </a:extLst>
          </p:cNvPr>
          <p:cNvSpPr>
            <a:spLocks xmlns:a="http://schemas.openxmlformats.org/drawingml/2006/main" noGrp="1"/>
          </p:cNvSpPr>
          <p:nvPr/>
        </p:nvSpPr>
        <p:spPr>
          <a:xfrm xmlns:a="http://schemas.openxmlformats.org/drawingml/2006/main">
            <a:off x="1600200" y="4067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Consulting / automation partners</a:t>
            </a:r>
          </a:p>
        </p:txBody>
      </p:sp>
      <p:sp>
        <p:nvSpPr>
          <p:cNvPr id="18" name="">
            <a:extLst xmlns:a="http://schemas.openxmlformats.org/drawingml/2006/main">
              <a:ext uri="{FF2B5EF4-FFF2-40B4-BE49-F238E27FC236}">
                <a16:creationId xmlns:a16="http://schemas.microsoft.com/office/drawing/2014/main" id="{B77EE1A4-7338-447B-9CB9-D68C0083F6CD}"/>
              </a:ext>
            </a:extLst>
          </p:cNvPr>
          <p:cNvSpPr>
            <a:spLocks xmlns:a="http://schemas.openxmlformats.org/drawingml/2006/main" noGrp="1"/>
          </p:cNvSpPr>
          <p:nvPr/>
        </p:nvSpPr>
        <p:spPr>
          <a:xfrm xmlns:a="http://schemas.openxmlformats.org/drawingml/2006/main">
            <a:off x="3952875" y="4238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6EF7319B-4171-48C9-BECD-FEED7BAA180A}"/>
              </a:ext>
            </a:extLst>
          </p:cNvPr>
          <p:cNvSpPr>
            <a:spLocks xmlns:a="http://schemas.openxmlformats.org/drawingml/2006/main" noGrp="1"/>
          </p:cNvSpPr>
          <p:nvPr/>
        </p:nvSpPr>
        <p:spPr>
          <a:xfrm xmlns:a="http://schemas.openxmlformats.org/drawingml/2006/main">
            <a:off x="4572000" y="4095750"/>
            <a:ext cx="552450" cy="552450"/>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0" name="">
            <a:extLst xmlns:a="http://schemas.openxmlformats.org/drawingml/2006/main">
              <a:ext uri="{FF2B5EF4-FFF2-40B4-BE49-F238E27FC236}">
                <a16:creationId xmlns:a16="http://schemas.microsoft.com/office/drawing/2014/main" id="{50737EFE-C118-4536-9B4E-B5E2CA5420D0}"/>
              </a:ext>
            </a:extLst>
          </p:cNvPr>
          <p:cNvSpPr>
            <a:spLocks xmlns:a="http://schemas.openxmlformats.org/drawingml/2006/main" noGrp="1"/>
          </p:cNvSpPr>
          <p:nvPr/>
        </p:nvSpPr>
        <p:spPr>
          <a:xfrm xmlns:a="http://schemas.openxmlformats.org/drawingml/2006/main">
            <a:off x="4572000" y="4248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5</a:t>
            </a:r>
          </a:p>
        </p:txBody>
      </p:sp>
      <p:sp>
        <p:nvSpPr>
          <p:cNvPr id="21" name="">
            <a:extLst xmlns:a="http://schemas.openxmlformats.org/drawingml/2006/main">
              <a:ext uri="{FF2B5EF4-FFF2-40B4-BE49-F238E27FC236}">
                <a16:creationId xmlns:a16="http://schemas.microsoft.com/office/drawing/2014/main" id="{91C101CE-4819-4ACE-93B8-FE0C97954E6C}"/>
              </a:ext>
            </a:extLst>
          </p:cNvPr>
          <p:cNvSpPr>
            <a:spLocks xmlns:a="http://schemas.openxmlformats.org/drawingml/2006/main" noGrp="1"/>
          </p:cNvSpPr>
          <p:nvPr/>
        </p:nvSpPr>
        <p:spPr>
          <a:xfrm xmlns:a="http://schemas.openxmlformats.org/drawingml/2006/main">
            <a:off x="5314950" y="4067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White-label licensing</a:t>
            </a:r>
          </a:p>
        </p:txBody>
      </p:sp>
      <p:sp>
        <p:nvSpPr>
          <p:cNvPr id="22" name="">
            <a:extLst xmlns:a="http://schemas.openxmlformats.org/drawingml/2006/main">
              <a:ext uri="{FF2B5EF4-FFF2-40B4-BE49-F238E27FC236}">
                <a16:creationId xmlns:a16="http://schemas.microsoft.com/office/drawing/2014/main" id="{0E84C0FF-1BF6-4019-9BDE-ECB39455D000}"/>
              </a:ext>
            </a:extLst>
          </p:cNvPr>
          <p:cNvSpPr>
            <a:spLocks xmlns:a="http://schemas.openxmlformats.org/drawingml/2006/main" noGrp="1"/>
          </p:cNvSpPr>
          <p:nvPr/>
        </p:nvSpPr>
        <p:spPr>
          <a:xfrm xmlns:a="http://schemas.openxmlformats.org/drawingml/2006/main">
            <a:off x="7667625" y="4238625"/>
            <a:ext cx="457200" cy="266700"/>
          </a:xfrm>
          <a:prstGeom xmlns:a="http://schemas.openxmlformats.org/drawingml/2006/main" prst="rightArrow">
            <a:avLst/>
          </a:prstGeom>
          <a:solidFill xmlns:a="http://schemas.openxmlformats.org/drawingml/2006/main">
            <a:srgbClr val="D7E0E8"/>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116D2531-D04E-4012-A007-1099482ADECF}"/>
              </a:ext>
            </a:extLst>
          </p:cNvPr>
          <p:cNvSpPr>
            <a:spLocks xmlns:a="http://schemas.openxmlformats.org/drawingml/2006/main" noGrp="1"/>
          </p:cNvSpPr>
          <p:nvPr/>
        </p:nvSpPr>
        <p:spPr>
          <a:xfrm xmlns:a="http://schemas.openxmlformats.org/drawingml/2006/main">
            <a:off x="8286750" y="4095750"/>
            <a:ext cx="552450" cy="552450"/>
          </a:xfrm>
          <a:prstGeom xmlns:a="http://schemas.openxmlformats.org/drawingml/2006/main" prst="ellipse">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4" name="">
            <a:extLst xmlns:a="http://schemas.openxmlformats.org/drawingml/2006/main">
              <a:ext uri="{FF2B5EF4-FFF2-40B4-BE49-F238E27FC236}">
                <a16:creationId xmlns:a16="http://schemas.microsoft.com/office/drawing/2014/main" id="{806AB855-A022-4123-B6D5-697EBAB4B28C}"/>
              </a:ext>
            </a:extLst>
          </p:cNvPr>
          <p:cNvSpPr>
            <a:spLocks xmlns:a="http://schemas.openxmlformats.org/drawingml/2006/main" noGrp="1"/>
          </p:cNvSpPr>
          <p:nvPr/>
        </p:nvSpPr>
        <p:spPr>
          <a:xfrm xmlns:a="http://schemas.openxmlformats.org/drawingml/2006/main">
            <a:off x="8286750" y="4248150"/>
            <a:ext cx="5524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001B30"/>
                </a:solidFill>
                <a:latin typeface="Inter"/>
                <a:ea typeface="Inter"/>
                <a:cs typeface="Inter"/>
              </a:defRPr>
            </a:pPr>
            <a:r>
              <a:rPr sz="1275" b="1">
                <a:solidFill>
                  <a:srgbClr val="001B30"/>
                </a:solidFill>
                <a:latin typeface="Inter"/>
                <a:ea typeface="Inter"/>
                <a:cs typeface="Inter"/>
              </a:rPr>
              <a:t>6</a:t>
            </a:r>
          </a:p>
        </p:txBody>
      </p:sp>
      <p:sp>
        <p:nvSpPr>
          <p:cNvPr id="25" name="">
            <a:extLst xmlns:a="http://schemas.openxmlformats.org/drawingml/2006/main">
              <a:ext uri="{FF2B5EF4-FFF2-40B4-BE49-F238E27FC236}">
                <a16:creationId xmlns:a16="http://schemas.microsoft.com/office/drawing/2014/main" id="{FB655E76-DCD7-4014-BD6E-9320F3DC9DC8}"/>
              </a:ext>
            </a:extLst>
          </p:cNvPr>
          <p:cNvSpPr>
            <a:spLocks xmlns:a="http://schemas.openxmlformats.org/drawingml/2006/main" noGrp="1"/>
          </p:cNvSpPr>
          <p:nvPr/>
        </p:nvSpPr>
        <p:spPr>
          <a:xfrm xmlns:a="http://schemas.openxmlformats.org/drawingml/2006/main">
            <a:off x="9029700" y="4067175"/>
            <a:ext cx="2381250" cy="619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500" b="1">
                <a:solidFill>
                  <a:srgbClr val="0B1426"/>
                </a:solidFill>
                <a:latin typeface="Inter"/>
                <a:ea typeface="Inter"/>
                <a:cs typeface="Inter"/>
              </a:defRPr>
            </a:pPr>
            <a:r>
              <a:rPr sz="1500" b="1">
                <a:solidFill>
                  <a:srgbClr val="0B1426"/>
                </a:solidFill>
                <a:latin typeface="Inter"/>
                <a:ea typeface="Inter"/>
                <a:cs typeface="Inter"/>
              </a:rPr>
              <a:t>Module + portfolio expansion</a:t>
            </a:r>
          </a:p>
        </p:txBody>
      </p:sp>
      <p:sp>
        <p:nvSpPr>
          <p:cNvPr id="26" name="">
            <a:extLst xmlns:a="http://schemas.openxmlformats.org/drawingml/2006/main">
              <a:ext uri="{FF2B5EF4-FFF2-40B4-BE49-F238E27FC236}">
                <a16:creationId xmlns:a16="http://schemas.microsoft.com/office/drawing/2014/main" id="{ED4B5B7D-E84F-4D68-861D-709D4B26C000}"/>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The Operating System for Governed AI and Automation Decisions • Pre-seed enterprise software, automation, workflow, and AI-governance investors</a:t>
            </a:r>
          </a:p>
        </p:txBody>
      </p:sp>
      <p:sp>
        <p:nvSpPr>
          <p:cNvPr id="27" name="">
            <a:extLst xmlns:a="http://schemas.openxmlformats.org/drawingml/2006/main">
              <a:ext uri="{FF2B5EF4-FFF2-40B4-BE49-F238E27FC236}">
                <a16:creationId xmlns:a16="http://schemas.microsoft.com/office/drawing/2014/main" id="{F951DEEE-E2E9-47B9-A7AC-049FF7311709}"/>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Planned route only. No current partnership, pilot, customer, or pipeline claim.</a:t>
            </a:r>
          </a:p>
        </p:txBody>
      </p:sp>
      <p:sp>
        <p:nvSpPr>
          <p:cNvPr id="28" name="">
            <a:extLst xmlns:a="http://schemas.openxmlformats.org/drawingml/2006/main">
              <a:ext uri="{FF2B5EF4-FFF2-40B4-BE49-F238E27FC236}">
                <a16:creationId xmlns:a16="http://schemas.microsoft.com/office/drawing/2014/main" id="{3D5AC383-40F6-41BE-85A8-A286A4406442}"/>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11</a:t>
            </a:r>
          </a:p>
        </p:txBody>
      </p:sp>
    </p:spTree>
    <p:extLst>
      <p:ext uri="{BB962C8B-B14F-4D97-AF65-F5344CB8AC3E}">
        <p14:creationId xmlns:p14="http://schemas.microsoft.com/office/powerpoint/2010/main" val="82391572"/>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96EA3E5E-EF9B-4859-A30E-34B9C598F34A}"/>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D84000DE-D1EE-48EC-86A1-19EF42641482}"/>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PRODUCT PROGRESS</a:t>
            </a:r>
          </a:p>
        </p:txBody>
      </p:sp>
      <p:sp>
        <p:nvSpPr>
          <p:cNvPr id="3" name="">
            <a:extLst xmlns:a="http://schemas.openxmlformats.org/drawingml/2006/main">
              <a:ext uri="{FF2B5EF4-FFF2-40B4-BE49-F238E27FC236}">
                <a16:creationId xmlns:a16="http://schemas.microsoft.com/office/drawing/2014/main" id="{1E7E64FC-98D8-49E5-96FB-8E6480FB7DD2}"/>
              </a:ext>
            </a:extLst>
          </p:cNvPr>
          <p:cNvSpPr>
            <a:spLocks xmlns:a="http://schemas.openxmlformats.org/drawingml/2006/main" noGrp="1"/>
          </p:cNvSpPr>
          <p:nvPr/>
        </p:nvSpPr>
        <p:spPr>
          <a:xfrm xmlns:a="http://schemas.openxmlformats.org/drawingml/2006/main">
            <a:off x="609600" y="619125"/>
            <a:ext cx="102870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Product proof is ahead of commercial proof — and the boundary is explicit.</a:t>
            </a:r>
          </a:p>
        </p:txBody>
      </p:sp>
      <p:sp>
        <p:nvSpPr>
          <p:cNvPr id="4" name="">
            <a:extLst xmlns:a="http://schemas.openxmlformats.org/drawingml/2006/main">
              <a:ext uri="{FF2B5EF4-FFF2-40B4-BE49-F238E27FC236}">
                <a16:creationId xmlns:a16="http://schemas.microsoft.com/office/drawing/2014/main" id="{B894639A-38F4-4FD6-BE21-19F0DC0AB3CF}"/>
              </a:ext>
            </a:extLst>
          </p:cNvPr>
          <p:cNvSpPr>
            <a:spLocks xmlns:a="http://schemas.openxmlformats.org/drawingml/2006/main" noGrp="1"/>
          </p:cNvSpPr>
          <p:nvPr/>
        </p:nvSpPr>
        <p:spPr>
          <a:xfrm xmlns:a="http://schemas.openxmlformats.org/drawingml/2006/main">
            <a:off x="609600" y="1762125"/>
            <a:ext cx="3333750" cy="66675"/>
          </a:xfrm>
          <a:prstGeom xmlns:a="http://schemas.openxmlformats.org/drawingml/2006/main" prst="rect">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DDC8FD9F-4848-44E0-B3EA-A015D577F2F4}"/>
              </a:ext>
            </a:extLst>
          </p:cNvPr>
          <p:cNvSpPr>
            <a:spLocks xmlns:a="http://schemas.openxmlformats.org/drawingml/2006/main" noGrp="1"/>
          </p:cNvSpPr>
          <p:nvPr/>
        </p:nvSpPr>
        <p:spPr>
          <a:xfrm xmlns:a="http://schemas.openxmlformats.org/drawingml/2006/main">
            <a:off x="609600" y="2000250"/>
            <a:ext cx="333375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7A65"/>
                </a:solidFill>
                <a:latin typeface="Inter"/>
                <a:ea typeface="Inter"/>
                <a:cs typeface="Inter"/>
              </a:defRPr>
            </a:pPr>
            <a:r>
              <a:rPr sz="1275" b="1">
                <a:solidFill>
                  <a:srgbClr val="117A65"/>
                </a:solidFill>
                <a:latin typeface="Inter"/>
                <a:ea typeface="Inter"/>
                <a:cs typeface="Inter"/>
              </a:rPr>
              <a:t>ACCEPTED SOURCE / CI</a:t>
            </a:r>
          </a:p>
        </p:txBody>
      </p:sp>
      <p:sp>
        <p:nvSpPr>
          <p:cNvPr id="6" name="">
            <a:extLst xmlns:a="http://schemas.openxmlformats.org/drawingml/2006/main">
              <a:ext uri="{FF2B5EF4-FFF2-40B4-BE49-F238E27FC236}">
                <a16:creationId xmlns:a16="http://schemas.microsoft.com/office/drawing/2014/main" id="{73561920-923D-4A18-98A1-9D03B08F82F5}"/>
              </a:ext>
            </a:extLst>
          </p:cNvPr>
          <p:cNvSpPr>
            <a:spLocks xmlns:a="http://schemas.openxmlformats.org/drawingml/2006/main" noGrp="1"/>
          </p:cNvSpPr>
          <p:nvPr/>
        </p:nvSpPr>
        <p:spPr>
          <a:xfrm xmlns:a="http://schemas.openxmlformats.org/drawingml/2006/main">
            <a:off x="609600" y="2647950"/>
            <a:ext cx="85725" cy="8572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58E25B90-EEC0-4F5F-AD5B-70EA08D36CDD}"/>
              </a:ext>
            </a:extLst>
          </p:cNvPr>
          <p:cNvSpPr>
            <a:spLocks xmlns:a="http://schemas.openxmlformats.org/drawingml/2006/main" noGrp="1"/>
          </p:cNvSpPr>
          <p:nvPr/>
        </p:nvSpPr>
        <p:spPr>
          <a:xfrm xmlns:a="http://schemas.openxmlformats.org/drawingml/2006/main">
            <a:off x="838200" y="25717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Tenant authority + Assess</a:t>
            </a:r>
          </a:p>
        </p:txBody>
      </p:sp>
      <p:sp>
        <p:nvSpPr>
          <p:cNvPr id="8" name="">
            <a:extLst xmlns:a="http://schemas.openxmlformats.org/drawingml/2006/main">
              <a:ext uri="{FF2B5EF4-FFF2-40B4-BE49-F238E27FC236}">
                <a16:creationId xmlns:a16="http://schemas.microsoft.com/office/drawing/2014/main" id="{60300D1A-43A9-41BB-A786-F3E2438A6F9E}"/>
              </a:ext>
            </a:extLst>
          </p:cNvPr>
          <p:cNvSpPr>
            <a:spLocks xmlns:a="http://schemas.openxmlformats.org/drawingml/2006/main" noGrp="1"/>
          </p:cNvSpPr>
          <p:nvPr/>
        </p:nvSpPr>
        <p:spPr>
          <a:xfrm xmlns:a="http://schemas.openxmlformats.org/drawingml/2006/main">
            <a:off x="609600" y="3200400"/>
            <a:ext cx="85725" cy="8572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FBB82EE4-39AD-4D76-9077-5DE2DBA0D64A}"/>
              </a:ext>
            </a:extLst>
          </p:cNvPr>
          <p:cNvSpPr>
            <a:spLocks xmlns:a="http://schemas.openxmlformats.org/drawingml/2006/main" noGrp="1"/>
          </p:cNvSpPr>
          <p:nvPr/>
        </p:nvSpPr>
        <p:spPr>
          <a:xfrm xmlns:a="http://schemas.openxmlformats.org/drawingml/2006/main">
            <a:off x="838200" y="31242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V2 review and Govern handoff</a:t>
            </a:r>
          </a:p>
        </p:txBody>
      </p:sp>
      <p:sp>
        <p:nvSpPr>
          <p:cNvPr id="10" name="">
            <a:extLst xmlns:a="http://schemas.openxmlformats.org/drawingml/2006/main">
              <a:ext uri="{FF2B5EF4-FFF2-40B4-BE49-F238E27FC236}">
                <a16:creationId xmlns:a16="http://schemas.microsoft.com/office/drawing/2014/main" id="{EA33659A-C1F0-45AE-B91E-B78018A9FED2}"/>
              </a:ext>
            </a:extLst>
          </p:cNvPr>
          <p:cNvSpPr>
            <a:spLocks xmlns:a="http://schemas.openxmlformats.org/drawingml/2006/main" noGrp="1"/>
          </p:cNvSpPr>
          <p:nvPr/>
        </p:nvSpPr>
        <p:spPr>
          <a:xfrm xmlns:a="http://schemas.openxmlformats.org/drawingml/2006/main">
            <a:off x="609600" y="3752850"/>
            <a:ext cx="85725" cy="8572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3E9B48AE-E0C5-4D5D-960B-B4E84C1C38AD}"/>
              </a:ext>
            </a:extLst>
          </p:cNvPr>
          <p:cNvSpPr>
            <a:spLocks xmlns:a="http://schemas.openxmlformats.org/drawingml/2006/main" noGrp="1"/>
          </p:cNvSpPr>
          <p:nvPr/>
        </p:nvSpPr>
        <p:spPr>
          <a:xfrm xmlns:a="http://schemas.openxmlformats.org/drawingml/2006/main">
            <a:off x="838200" y="36766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Economics + Application Portfolio</a:t>
            </a:r>
          </a:p>
        </p:txBody>
      </p:sp>
      <p:sp>
        <p:nvSpPr>
          <p:cNvPr id="12" name="">
            <a:extLst xmlns:a="http://schemas.openxmlformats.org/drawingml/2006/main">
              <a:ext uri="{FF2B5EF4-FFF2-40B4-BE49-F238E27FC236}">
                <a16:creationId xmlns:a16="http://schemas.microsoft.com/office/drawing/2014/main" id="{F5ADE6EA-8E7B-48EE-9EEF-DFCD72D760CD}"/>
              </a:ext>
            </a:extLst>
          </p:cNvPr>
          <p:cNvSpPr>
            <a:spLocks xmlns:a="http://schemas.openxmlformats.org/drawingml/2006/main" noGrp="1"/>
          </p:cNvSpPr>
          <p:nvPr/>
        </p:nvSpPr>
        <p:spPr>
          <a:xfrm xmlns:a="http://schemas.openxmlformats.org/drawingml/2006/main">
            <a:off x="609600" y="4305300"/>
            <a:ext cx="85725" cy="8572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04CA6A79-036D-4184-9436-AF78C6CD5119}"/>
              </a:ext>
            </a:extLst>
          </p:cNvPr>
          <p:cNvSpPr>
            <a:spLocks xmlns:a="http://schemas.openxmlformats.org/drawingml/2006/main" noGrp="1"/>
          </p:cNvSpPr>
          <p:nvPr/>
        </p:nvSpPr>
        <p:spPr>
          <a:xfrm xmlns:a="http://schemas.openxmlformats.org/drawingml/2006/main">
            <a:off x="838200" y="42291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Studio BRD / FRD / PDD</a:t>
            </a:r>
          </a:p>
        </p:txBody>
      </p:sp>
      <p:sp>
        <p:nvSpPr>
          <p:cNvPr id="14" name="">
            <a:extLst xmlns:a="http://schemas.openxmlformats.org/drawingml/2006/main">
              <a:ext uri="{FF2B5EF4-FFF2-40B4-BE49-F238E27FC236}">
                <a16:creationId xmlns:a16="http://schemas.microsoft.com/office/drawing/2014/main" id="{7D676CC5-9CAD-4F4D-B804-736F64DE498D}"/>
              </a:ext>
            </a:extLst>
          </p:cNvPr>
          <p:cNvSpPr>
            <a:spLocks xmlns:a="http://schemas.openxmlformats.org/drawingml/2006/main" noGrp="1"/>
          </p:cNvSpPr>
          <p:nvPr/>
        </p:nvSpPr>
        <p:spPr>
          <a:xfrm xmlns:a="http://schemas.openxmlformats.org/drawingml/2006/main">
            <a:off x="4429125" y="1762125"/>
            <a:ext cx="3333750" cy="66675"/>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F7155AD4-5521-4FB9-BE7C-9516852A2B9D}"/>
              </a:ext>
            </a:extLst>
          </p:cNvPr>
          <p:cNvSpPr>
            <a:spLocks xmlns:a="http://schemas.openxmlformats.org/drawingml/2006/main" noGrp="1"/>
          </p:cNvSpPr>
          <p:nvPr/>
        </p:nvSpPr>
        <p:spPr>
          <a:xfrm xmlns:a="http://schemas.openxmlformats.org/drawingml/2006/main">
            <a:off x="4429125" y="2000250"/>
            <a:ext cx="333375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C45500"/>
                </a:solidFill>
                <a:latin typeface="Inter"/>
                <a:ea typeface="Inter"/>
                <a:cs typeface="Inter"/>
              </a:defRPr>
            </a:pPr>
            <a:r>
              <a:rPr sz="1275" b="1">
                <a:solidFill>
                  <a:srgbClr val="C45500"/>
                </a:solidFill>
                <a:latin typeface="Inter"/>
                <a:ea typeface="Inter"/>
                <a:cs typeface="Inter"/>
              </a:rPr>
              <a:t>PRODUCT SURFACES</a:t>
            </a:r>
          </a:p>
        </p:txBody>
      </p:sp>
      <p:sp>
        <p:nvSpPr>
          <p:cNvPr id="16" name="">
            <a:extLst xmlns:a="http://schemas.openxmlformats.org/drawingml/2006/main">
              <a:ext uri="{FF2B5EF4-FFF2-40B4-BE49-F238E27FC236}">
                <a16:creationId xmlns:a16="http://schemas.microsoft.com/office/drawing/2014/main" id="{F5F1C18F-CEAE-4596-895C-26390893E06B}"/>
              </a:ext>
            </a:extLst>
          </p:cNvPr>
          <p:cNvSpPr>
            <a:spLocks xmlns:a="http://schemas.openxmlformats.org/drawingml/2006/main" noGrp="1"/>
          </p:cNvSpPr>
          <p:nvPr/>
        </p:nvSpPr>
        <p:spPr>
          <a:xfrm xmlns:a="http://schemas.openxmlformats.org/drawingml/2006/main">
            <a:off x="4429125" y="2647950"/>
            <a:ext cx="85725" cy="8572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5C9416AA-0FF6-4F30-AD41-54CEC323952F}"/>
              </a:ext>
            </a:extLst>
          </p:cNvPr>
          <p:cNvSpPr>
            <a:spLocks xmlns:a="http://schemas.openxmlformats.org/drawingml/2006/main" noGrp="1"/>
          </p:cNvSpPr>
          <p:nvPr/>
        </p:nvSpPr>
        <p:spPr>
          <a:xfrm xmlns:a="http://schemas.openxmlformats.org/drawingml/2006/main">
            <a:off x="4657725" y="25717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Delivery workbench</a:t>
            </a:r>
          </a:p>
        </p:txBody>
      </p:sp>
      <p:sp>
        <p:nvSpPr>
          <p:cNvPr id="18" name="">
            <a:extLst xmlns:a="http://schemas.openxmlformats.org/drawingml/2006/main">
              <a:ext uri="{FF2B5EF4-FFF2-40B4-BE49-F238E27FC236}">
                <a16:creationId xmlns:a16="http://schemas.microsoft.com/office/drawing/2014/main" id="{795F3A76-77B4-4E95-AC02-75E0E0F3AB9A}"/>
              </a:ext>
            </a:extLst>
          </p:cNvPr>
          <p:cNvSpPr>
            <a:spLocks xmlns:a="http://schemas.openxmlformats.org/drawingml/2006/main" noGrp="1"/>
          </p:cNvSpPr>
          <p:nvPr/>
        </p:nvSpPr>
        <p:spPr>
          <a:xfrm xmlns:a="http://schemas.openxmlformats.org/drawingml/2006/main">
            <a:off x="4429125" y="3200400"/>
            <a:ext cx="85725" cy="8572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A2DF98F1-5E08-47EF-A9E3-A0B8CD40C673}"/>
              </a:ext>
            </a:extLst>
          </p:cNvPr>
          <p:cNvSpPr>
            <a:spLocks xmlns:a="http://schemas.openxmlformats.org/drawingml/2006/main" noGrp="1"/>
          </p:cNvSpPr>
          <p:nvPr/>
        </p:nvSpPr>
        <p:spPr>
          <a:xfrm xmlns:a="http://schemas.openxmlformats.org/drawingml/2006/main">
            <a:off x="4657725" y="31242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Monitor overview</a:t>
            </a:r>
          </a:p>
        </p:txBody>
      </p:sp>
      <p:sp>
        <p:nvSpPr>
          <p:cNvPr id="20" name="">
            <a:extLst xmlns:a="http://schemas.openxmlformats.org/drawingml/2006/main">
              <a:ext uri="{FF2B5EF4-FFF2-40B4-BE49-F238E27FC236}">
                <a16:creationId xmlns:a16="http://schemas.microsoft.com/office/drawing/2014/main" id="{B7A4A6CB-99D8-42CE-A439-796A1E3F7DF8}"/>
              </a:ext>
            </a:extLst>
          </p:cNvPr>
          <p:cNvSpPr>
            <a:spLocks xmlns:a="http://schemas.openxmlformats.org/drawingml/2006/main" noGrp="1"/>
          </p:cNvSpPr>
          <p:nvPr/>
        </p:nvSpPr>
        <p:spPr>
          <a:xfrm xmlns:a="http://schemas.openxmlformats.org/drawingml/2006/main">
            <a:off x="4429125" y="3752850"/>
            <a:ext cx="85725" cy="8572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D830CFBE-619C-4E0C-AF92-F960763D2925}"/>
              </a:ext>
            </a:extLst>
          </p:cNvPr>
          <p:cNvSpPr>
            <a:spLocks xmlns:a="http://schemas.openxmlformats.org/drawingml/2006/main" noGrp="1"/>
          </p:cNvSpPr>
          <p:nvPr/>
        </p:nvSpPr>
        <p:spPr>
          <a:xfrm xmlns:a="http://schemas.openxmlformats.org/drawingml/2006/main">
            <a:off x="4657725" y="36766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Admin / Trust</a:t>
            </a:r>
          </a:p>
        </p:txBody>
      </p:sp>
      <p:sp>
        <p:nvSpPr>
          <p:cNvPr id="22" name="">
            <a:extLst xmlns:a="http://schemas.openxmlformats.org/drawingml/2006/main">
              <a:ext uri="{FF2B5EF4-FFF2-40B4-BE49-F238E27FC236}">
                <a16:creationId xmlns:a16="http://schemas.microsoft.com/office/drawing/2014/main" id="{86254640-42FE-472D-BB52-BA2106C53CD5}"/>
              </a:ext>
            </a:extLst>
          </p:cNvPr>
          <p:cNvSpPr>
            <a:spLocks xmlns:a="http://schemas.openxmlformats.org/drawingml/2006/main" noGrp="1"/>
          </p:cNvSpPr>
          <p:nvPr/>
        </p:nvSpPr>
        <p:spPr>
          <a:xfrm xmlns:a="http://schemas.openxmlformats.org/drawingml/2006/main">
            <a:off x="4429125" y="4305300"/>
            <a:ext cx="85725" cy="8572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A205EEFB-180E-4E15-9867-2A63B69F72DF}"/>
              </a:ext>
            </a:extLst>
          </p:cNvPr>
          <p:cNvSpPr>
            <a:spLocks xmlns:a="http://schemas.openxmlformats.org/drawingml/2006/main" noGrp="1"/>
          </p:cNvSpPr>
          <p:nvPr/>
        </p:nvSpPr>
        <p:spPr>
          <a:xfrm xmlns:a="http://schemas.openxmlformats.org/drawingml/2006/main">
            <a:off x="4657725" y="42291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Public enterprise UI</a:t>
            </a:r>
          </a:p>
        </p:txBody>
      </p:sp>
      <p:sp>
        <p:nvSpPr>
          <p:cNvPr id="24" name="">
            <a:extLst xmlns:a="http://schemas.openxmlformats.org/drawingml/2006/main">
              <a:ext uri="{FF2B5EF4-FFF2-40B4-BE49-F238E27FC236}">
                <a16:creationId xmlns:a16="http://schemas.microsoft.com/office/drawing/2014/main" id="{2AAEFEC9-1CBE-4AE3-BDE3-D1D467230969}"/>
              </a:ext>
            </a:extLst>
          </p:cNvPr>
          <p:cNvSpPr>
            <a:spLocks xmlns:a="http://schemas.openxmlformats.org/drawingml/2006/main" noGrp="1"/>
          </p:cNvSpPr>
          <p:nvPr/>
        </p:nvSpPr>
        <p:spPr>
          <a:xfrm xmlns:a="http://schemas.openxmlformats.org/drawingml/2006/main">
            <a:off x="8248650" y="1762125"/>
            <a:ext cx="3333750" cy="66675"/>
          </a:xfrm>
          <a:prstGeom xmlns:a="http://schemas.openxmlformats.org/drawingml/2006/main" prst="rect">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3CFEFACB-9FF8-4F4F-BABF-EE57ACF5FE48}"/>
              </a:ext>
            </a:extLst>
          </p:cNvPr>
          <p:cNvSpPr>
            <a:spLocks xmlns:a="http://schemas.openxmlformats.org/drawingml/2006/main" noGrp="1"/>
          </p:cNvSpPr>
          <p:nvPr/>
        </p:nvSpPr>
        <p:spPr>
          <a:xfrm xmlns:a="http://schemas.openxmlformats.org/drawingml/2006/main">
            <a:off x="8248650" y="2000250"/>
            <a:ext cx="333375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02C4B"/>
                </a:solidFill>
                <a:latin typeface="Inter"/>
                <a:ea typeface="Inter"/>
                <a:cs typeface="Inter"/>
              </a:defRPr>
            </a:pPr>
            <a:r>
              <a:rPr sz="1275" b="1">
                <a:solidFill>
                  <a:srgbClr val="002C4B"/>
                </a:solidFill>
                <a:latin typeface="Inter"/>
                <a:ea typeface="Inter"/>
                <a:cs typeface="Inter"/>
              </a:rPr>
              <a:t>CANDIDATE / AHEAD</a:t>
            </a:r>
          </a:p>
        </p:txBody>
      </p:sp>
      <p:sp>
        <p:nvSpPr>
          <p:cNvPr id="26" name="">
            <a:extLst xmlns:a="http://schemas.openxmlformats.org/drawingml/2006/main">
              <a:ext uri="{FF2B5EF4-FFF2-40B4-BE49-F238E27FC236}">
                <a16:creationId xmlns:a16="http://schemas.microsoft.com/office/drawing/2014/main" id="{F65ADC35-D629-420E-9CF8-C338E274A576}"/>
              </a:ext>
            </a:extLst>
          </p:cNvPr>
          <p:cNvSpPr>
            <a:spLocks xmlns:a="http://schemas.openxmlformats.org/drawingml/2006/main" noGrp="1"/>
          </p:cNvSpPr>
          <p:nvPr/>
        </p:nvSpPr>
        <p:spPr>
          <a:xfrm xmlns:a="http://schemas.openxmlformats.org/drawingml/2006/main">
            <a:off x="8248650" y="26479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F7596229-3086-419E-B402-3C86D1122C4E}"/>
              </a:ext>
            </a:extLst>
          </p:cNvPr>
          <p:cNvSpPr>
            <a:spLocks xmlns:a="http://schemas.openxmlformats.org/drawingml/2006/main" noGrp="1"/>
          </p:cNvSpPr>
          <p:nvPr/>
        </p:nvSpPr>
        <p:spPr>
          <a:xfrm xmlns:a="http://schemas.openxmlformats.org/drawingml/2006/main">
            <a:off x="8477250" y="25717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Studio private artifacts</a:t>
            </a:r>
          </a:p>
        </p:txBody>
      </p:sp>
      <p:sp>
        <p:nvSpPr>
          <p:cNvPr id="28" name="">
            <a:extLst xmlns:a="http://schemas.openxmlformats.org/drawingml/2006/main">
              <a:ext uri="{FF2B5EF4-FFF2-40B4-BE49-F238E27FC236}">
                <a16:creationId xmlns:a16="http://schemas.microsoft.com/office/drawing/2014/main" id="{F2F75156-C42B-4143-890D-0580ED4C7666}"/>
              </a:ext>
            </a:extLst>
          </p:cNvPr>
          <p:cNvSpPr>
            <a:spLocks xmlns:a="http://schemas.openxmlformats.org/drawingml/2006/main" noGrp="1"/>
          </p:cNvSpPr>
          <p:nvPr/>
        </p:nvSpPr>
        <p:spPr>
          <a:xfrm xmlns:a="http://schemas.openxmlformats.org/drawingml/2006/main">
            <a:off x="8248650" y="32004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C7E9D83F-B98A-4E53-BE43-A590E86B2828}"/>
              </a:ext>
            </a:extLst>
          </p:cNvPr>
          <p:cNvSpPr>
            <a:spLocks xmlns:a="http://schemas.openxmlformats.org/drawingml/2006/main" noGrp="1"/>
          </p:cNvSpPr>
          <p:nvPr/>
        </p:nvSpPr>
        <p:spPr>
          <a:xfrm xmlns:a="http://schemas.openxmlformats.org/drawingml/2006/main">
            <a:off x="8477250" y="31242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Delivery lineage authority</a:t>
            </a:r>
          </a:p>
        </p:txBody>
      </p:sp>
      <p:sp>
        <p:nvSpPr>
          <p:cNvPr id="30" name="">
            <a:extLst xmlns:a="http://schemas.openxmlformats.org/drawingml/2006/main">
              <a:ext uri="{FF2B5EF4-FFF2-40B4-BE49-F238E27FC236}">
                <a16:creationId xmlns:a16="http://schemas.microsoft.com/office/drawing/2014/main" id="{DD05E32A-7BCE-436A-B040-8E05331225C7}"/>
              </a:ext>
            </a:extLst>
          </p:cNvPr>
          <p:cNvSpPr>
            <a:spLocks xmlns:a="http://schemas.openxmlformats.org/drawingml/2006/main" noGrp="1"/>
          </p:cNvSpPr>
          <p:nvPr/>
        </p:nvSpPr>
        <p:spPr>
          <a:xfrm xmlns:a="http://schemas.openxmlformats.org/drawingml/2006/main">
            <a:off x="8248650" y="37528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BD1990F3-6732-4589-88C9-5C130D8BE077}"/>
              </a:ext>
            </a:extLst>
          </p:cNvPr>
          <p:cNvSpPr>
            <a:spLocks xmlns:a="http://schemas.openxmlformats.org/drawingml/2006/main" noGrp="1"/>
          </p:cNvSpPr>
          <p:nvPr/>
        </p:nvSpPr>
        <p:spPr>
          <a:xfrm xmlns:a="http://schemas.openxmlformats.org/drawingml/2006/main">
            <a:off x="8477250" y="36766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Monitor / Admin / Trust server models</a:t>
            </a:r>
          </a:p>
        </p:txBody>
      </p:sp>
      <p:sp>
        <p:nvSpPr>
          <p:cNvPr id="32" name="">
            <a:extLst xmlns:a="http://schemas.openxmlformats.org/drawingml/2006/main">
              <a:ext uri="{FF2B5EF4-FFF2-40B4-BE49-F238E27FC236}">
                <a16:creationId xmlns:a16="http://schemas.microsoft.com/office/drawing/2014/main" id="{1A1DE7C7-0CA8-42F2-88A0-ACED5E18A88A}"/>
              </a:ext>
            </a:extLst>
          </p:cNvPr>
          <p:cNvSpPr>
            <a:spLocks xmlns:a="http://schemas.openxmlformats.org/drawingml/2006/main" noGrp="1"/>
          </p:cNvSpPr>
          <p:nvPr/>
        </p:nvSpPr>
        <p:spPr>
          <a:xfrm xmlns:a="http://schemas.openxmlformats.org/drawingml/2006/main">
            <a:off x="8248650" y="43053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211CE2C5-E41C-471A-B57B-4E236CFB12F3}"/>
              </a:ext>
            </a:extLst>
          </p:cNvPr>
          <p:cNvSpPr>
            <a:spLocks xmlns:a="http://schemas.openxmlformats.org/drawingml/2006/main" noGrp="1"/>
          </p:cNvSpPr>
          <p:nvPr/>
        </p:nvSpPr>
        <p:spPr>
          <a:xfrm xmlns:a="http://schemas.openxmlformats.org/drawingml/2006/main">
            <a:off x="8477250" y="42291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Deployment + pilot controls</a:t>
            </a:r>
          </a:p>
        </p:txBody>
      </p:sp>
      <p:sp>
        <p:nvSpPr>
          <p:cNvPr id="34" name="">
            <a:extLst xmlns:a="http://schemas.openxmlformats.org/drawingml/2006/main">
              <a:ext uri="{FF2B5EF4-FFF2-40B4-BE49-F238E27FC236}">
                <a16:creationId xmlns:a16="http://schemas.microsoft.com/office/drawing/2014/main" id="{B41D44C8-6A92-4F4A-9FF2-1AF184B1B8F4}"/>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The Operating System for Governed AI and Automation Decisions • Pre-seed enterprise software, automation, workflow, and AI-governance investors</a:t>
            </a:r>
          </a:p>
        </p:txBody>
      </p:sp>
      <p:sp>
        <p:nvSpPr>
          <p:cNvPr id="35" name="">
            <a:extLst xmlns:a="http://schemas.openxmlformats.org/drawingml/2006/main">
              <a:ext uri="{FF2B5EF4-FFF2-40B4-BE49-F238E27FC236}">
                <a16:creationId xmlns:a16="http://schemas.microsoft.com/office/drawing/2014/main" id="{A594E997-4EBD-4674-970E-2F2A3DA4CE24}"/>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Product verification is not customer adoption. Hosted and live validation remain unproven.</a:t>
            </a:r>
          </a:p>
        </p:txBody>
      </p:sp>
      <p:sp>
        <p:nvSpPr>
          <p:cNvPr id="36" name="">
            <a:extLst xmlns:a="http://schemas.openxmlformats.org/drawingml/2006/main">
              <a:ext uri="{FF2B5EF4-FFF2-40B4-BE49-F238E27FC236}">
                <a16:creationId xmlns:a16="http://schemas.microsoft.com/office/drawing/2014/main" id="{9E00AF5C-286C-4095-81B3-BB7E10E8D458}"/>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12</a:t>
            </a:r>
          </a:p>
        </p:txBody>
      </p:sp>
    </p:spTree>
    <p:extLst>
      <p:ext uri="{BB962C8B-B14F-4D97-AF65-F5344CB8AC3E}">
        <p14:creationId xmlns:p14="http://schemas.microsoft.com/office/powerpoint/2010/main" val="1668104963"/>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10FFAEEC-0900-4C5C-94D9-7B648E8DF56D}"/>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C8B4F361-2141-49E5-BAA8-3CD61E319960}"/>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002C4B"/>
                </a:solidFill>
                <a:latin typeface="Inter"/>
                <a:ea typeface="Inter"/>
                <a:cs typeface="Inter"/>
              </a:defRPr>
            </a:pPr>
            <a:r>
              <a:rPr sz="975" b="1">
                <a:solidFill>
                  <a:srgbClr val="002C4B"/>
                </a:solidFill>
                <a:latin typeface="Inter"/>
                <a:ea typeface="Inter"/>
                <a:cs typeface="Inter"/>
              </a:rPr>
              <a:t>ROADMAP</a:t>
            </a:r>
          </a:p>
        </p:txBody>
      </p:sp>
      <p:sp>
        <p:nvSpPr>
          <p:cNvPr id="3" name="">
            <a:extLst xmlns:a="http://schemas.openxmlformats.org/drawingml/2006/main">
              <a:ext uri="{FF2B5EF4-FFF2-40B4-BE49-F238E27FC236}">
                <a16:creationId xmlns:a16="http://schemas.microsoft.com/office/drawing/2014/main" id="{E6006ECA-5198-46CE-97E8-4AA19CAFB755}"/>
              </a:ext>
            </a:extLst>
          </p:cNvPr>
          <p:cNvSpPr>
            <a:spLocks xmlns:a="http://schemas.openxmlformats.org/drawingml/2006/main" noGrp="1"/>
          </p:cNvSpPr>
          <p:nvPr/>
        </p:nvSpPr>
        <p:spPr>
          <a:xfrm xmlns:a="http://schemas.openxmlformats.org/drawingml/2006/main">
            <a:off x="609600" y="619125"/>
            <a:ext cx="10287000" cy="781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0B1426"/>
                </a:solidFill>
                <a:latin typeface="Outfit"/>
                <a:ea typeface="Outfit"/>
                <a:cs typeface="Outfit"/>
              </a:defRPr>
            </a:pPr>
            <a:r>
              <a:rPr sz="2550" b="1">
                <a:solidFill>
                  <a:srgbClr val="0B1426"/>
                </a:solidFill>
                <a:latin typeface="Outfit"/>
                <a:ea typeface="Outfit"/>
                <a:cs typeface="Outfit"/>
              </a:rPr>
              <a:t>The roadmap converts source proof into controlled commercial proof.</a:t>
            </a:r>
          </a:p>
        </p:txBody>
      </p:sp>
      <p:sp>
        <p:nvSpPr>
          <p:cNvPr id="4" name="">
            <a:extLst xmlns:a="http://schemas.openxmlformats.org/drawingml/2006/main">
              <a:ext uri="{FF2B5EF4-FFF2-40B4-BE49-F238E27FC236}">
                <a16:creationId xmlns:a16="http://schemas.microsoft.com/office/drawing/2014/main" id="{E66475E0-44B7-42BF-B847-26BD636A4739}"/>
              </a:ext>
            </a:extLst>
          </p:cNvPr>
          <p:cNvSpPr>
            <a:spLocks xmlns:a="http://schemas.openxmlformats.org/drawingml/2006/main" noGrp="1"/>
          </p:cNvSpPr>
          <p:nvPr/>
        </p:nvSpPr>
        <p:spPr>
          <a:xfrm xmlns:a="http://schemas.openxmlformats.org/drawingml/2006/main">
            <a:off x="609600" y="1762125"/>
            <a:ext cx="3333750" cy="66675"/>
          </a:xfrm>
          <a:prstGeom xmlns:a="http://schemas.openxmlformats.org/drawingml/2006/main" prst="rect">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5" name="">
            <a:extLst xmlns:a="http://schemas.openxmlformats.org/drawingml/2006/main">
              <a:ext uri="{FF2B5EF4-FFF2-40B4-BE49-F238E27FC236}">
                <a16:creationId xmlns:a16="http://schemas.microsoft.com/office/drawing/2014/main" id="{14FAFEE4-5B76-483D-9604-B99333F53146}"/>
              </a:ext>
            </a:extLst>
          </p:cNvPr>
          <p:cNvSpPr>
            <a:spLocks xmlns:a="http://schemas.openxmlformats.org/drawingml/2006/main" noGrp="1"/>
          </p:cNvSpPr>
          <p:nvPr/>
        </p:nvSpPr>
        <p:spPr>
          <a:xfrm xmlns:a="http://schemas.openxmlformats.org/drawingml/2006/main">
            <a:off x="609600" y="2000250"/>
            <a:ext cx="333375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117A65"/>
                </a:solidFill>
                <a:latin typeface="Inter"/>
                <a:ea typeface="Inter"/>
                <a:cs typeface="Inter"/>
              </a:defRPr>
            </a:pPr>
            <a:r>
              <a:rPr sz="1275" b="1">
                <a:solidFill>
                  <a:srgbClr val="117A65"/>
                </a:solidFill>
                <a:latin typeface="Inter"/>
                <a:ea typeface="Inter"/>
                <a:cs typeface="Inter"/>
              </a:rPr>
              <a:t>CURRENT</a:t>
            </a:r>
          </a:p>
        </p:txBody>
      </p:sp>
      <p:sp>
        <p:nvSpPr>
          <p:cNvPr id="6" name="">
            <a:extLst xmlns:a="http://schemas.openxmlformats.org/drawingml/2006/main">
              <a:ext uri="{FF2B5EF4-FFF2-40B4-BE49-F238E27FC236}">
                <a16:creationId xmlns:a16="http://schemas.microsoft.com/office/drawing/2014/main" id="{3988A867-DF3F-4211-8D15-B364E620311B}"/>
              </a:ext>
            </a:extLst>
          </p:cNvPr>
          <p:cNvSpPr>
            <a:spLocks xmlns:a="http://schemas.openxmlformats.org/drawingml/2006/main" noGrp="1"/>
          </p:cNvSpPr>
          <p:nvPr/>
        </p:nvSpPr>
        <p:spPr>
          <a:xfrm xmlns:a="http://schemas.openxmlformats.org/drawingml/2006/main">
            <a:off x="609600" y="2647950"/>
            <a:ext cx="85725" cy="8572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7" name="">
            <a:extLst xmlns:a="http://schemas.openxmlformats.org/drawingml/2006/main">
              <a:ext uri="{FF2B5EF4-FFF2-40B4-BE49-F238E27FC236}">
                <a16:creationId xmlns:a16="http://schemas.microsoft.com/office/drawing/2014/main" id="{B9417F7B-09F2-4673-ACAC-C87E9EAE822B}"/>
              </a:ext>
            </a:extLst>
          </p:cNvPr>
          <p:cNvSpPr>
            <a:spLocks xmlns:a="http://schemas.openxmlformats.org/drawingml/2006/main" noGrp="1"/>
          </p:cNvSpPr>
          <p:nvPr/>
        </p:nvSpPr>
        <p:spPr>
          <a:xfrm xmlns:a="http://schemas.openxmlformats.org/drawingml/2006/main">
            <a:off x="838200" y="25717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Assess + Govern</a:t>
            </a:r>
          </a:p>
        </p:txBody>
      </p:sp>
      <p:sp>
        <p:nvSpPr>
          <p:cNvPr id="8" name="">
            <a:extLst xmlns:a="http://schemas.openxmlformats.org/drawingml/2006/main">
              <a:ext uri="{FF2B5EF4-FFF2-40B4-BE49-F238E27FC236}">
                <a16:creationId xmlns:a16="http://schemas.microsoft.com/office/drawing/2014/main" id="{125E1D19-F8E9-4891-8B96-78544578B584}"/>
              </a:ext>
            </a:extLst>
          </p:cNvPr>
          <p:cNvSpPr>
            <a:spLocks xmlns:a="http://schemas.openxmlformats.org/drawingml/2006/main" noGrp="1"/>
          </p:cNvSpPr>
          <p:nvPr/>
        </p:nvSpPr>
        <p:spPr>
          <a:xfrm xmlns:a="http://schemas.openxmlformats.org/drawingml/2006/main">
            <a:off x="609600" y="3200400"/>
            <a:ext cx="85725" cy="8572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400D41B0-1A06-4DFD-83F8-E5A18C03C6EC}"/>
              </a:ext>
            </a:extLst>
          </p:cNvPr>
          <p:cNvSpPr>
            <a:spLocks xmlns:a="http://schemas.openxmlformats.org/drawingml/2006/main" noGrp="1"/>
          </p:cNvSpPr>
          <p:nvPr/>
        </p:nvSpPr>
        <p:spPr>
          <a:xfrm xmlns:a="http://schemas.openxmlformats.org/drawingml/2006/main">
            <a:off x="838200" y="31242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Application Portfolio</a:t>
            </a:r>
          </a:p>
        </p:txBody>
      </p:sp>
      <p:sp>
        <p:nvSpPr>
          <p:cNvPr id="10" name="">
            <a:extLst xmlns:a="http://schemas.openxmlformats.org/drawingml/2006/main">
              <a:ext uri="{FF2B5EF4-FFF2-40B4-BE49-F238E27FC236}">
                <a16:creationId xmlns:a16="http://schemas.microsoft.com/office/drawing/2014/main" id="{8A4CA673-B651-400A-861B-A2B1B66A949E}"/>
              </a:ext>
            </a:extLst>
          </p:cNvPr>
          <p:cNvSpPr>
            <a:spLocks xmlns:a="http://schemas.openxmlformats.org/drawingml/2006/main" noGrp="1"/>
          </p:cNvSpPr>
          <p:nvPr/>
        </p:nvSpPr>
        <p:spPr>
          <a:xfrm xmlns:a="http://schemas.openxmlformats.org/drawingml/2006/main">
            <a:off x="609600" y="3752850"/>
            <a:ext cx="85725" cy="8572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11" name="">
            <a:extLst xmlns:a="http://schemas.openxmlformats.org/drawingml/2006/main">
              <a:ext uri="{FF2B5EF4-FFF2-40B4-BE49-F238E27FC236}">
                <a16:creationId xmlns:a16="http://schemas.microsoft.com/office/drawing/2014/main" id="{70BF2EED-022D-412D-B7C8-4EF237BBE470}"/>
              </a:ext>
            </a:extLst>
          </p:cNvPr>
          <p:cNvSpPr>
            <a:spLocks xmlns:a="http://schemas.openxmlformats.org/drawingml/2006/main" noGrp="1"/>
          </p:cNvSpPr>
          <p:nvPr/>
        </p:nvSpPr>
        <p:spPr>
          <a:xfrm xmlns:a="http://schemas.openxmlformats.org/drawingml/2006/main">
            <a:off x="838200" y="36766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Studio structured artifacts</a:t>
            </a:r>
          </a:p>
        </p:txBody>
      </p:sp>
      <p:sp>
        <p:nvSpPr>
          <p:cNvPr id="12" name="">
            <a:extLst xmlns:a="http://schemas.openxmlformats.org/drawingml/2006/main">
              <a:ext uri="{FF2B5EF4-FFF2-40B4-BE49-F238E27FC236}">
                <a16:creationId xmlns:a16="http://schemas.microsoft.com/office/drawing/2014/main" id="{46018F57-A141-42DD-ADFE-7B31EBA36CE6}"/>
              </a:ext>
            </a:extLst>
          </p:cNvPr>
          <p:cNvSpPr>
            <a:spLocks xmlns:a="http://schemas.openxmlformats.org/drawingml/2006/main" noGrp="1"/>
          </p:cNvSpPr>
          <p:nvPr/>
        </p:nvSpPr>
        <p:spPr>
          <a:xfrm xmlns:a="http://schemas.openxmlformats.org/drawingml/2006/main">
            <a:off x="609600" y="4305300"/>
            <a:ext cx="85725" cy="85725"/>
          </a:xfrm>
          <a:prstGeom xmlns:a="http://schemas.openxmlformats.org/drawingml/2006/main" prst="ellipse">
            <a:avLst/>
          </a:prstGeom>
          <a:solidFill xmlns:a="http://schemas.openxmlformats.org/drawingml/2006/main">
            <a:srgbClr val="117A65"/>
          </a:solidFill>
          <a:ln xmlns:a="http://schemas.openxmlformats.org/drawingml/2006/main" w="0">
            <a:solidFill>
              <a:srgbClr val="000000">
                <a:alpha val="0"/>
              </a:srgbClr>
            </a:solidFill>
            <a:prstDash val="solid"/>
          </a:ln>
        </p:spPr>
      </p:sp>
      <p:sp>
        <p:nvSpPr>
          <p:cNvPr id="13" name="">
            <a:extLst xmlns:a="http://schemas.openxmlformats.org/drawingml/2006/main">
              <a:ext uri="{FF2B5EF4-FFF2-40B4-BE49-F238E27FC236}">
                <a16:creationId xmlns:a16="http://schemas.microsoft.com/office/drawing/2014/main" id="{D7908F29-F1A9-414E-9A93-F2E1A1AE1D45}"/>
              </a:ext>
            </a:extLst>
          </p:cNvPr>
          <p:cNvSpPr>
            <a:spLocks xmlns:a="http://schemas.openxmlformats.org/drawingml/2006/main" noGrp="1"/>
          </p:cNvSpPr>
          <p:nvPr/>
        </p:nvSpPr>
        <p:spPr>
          <a:xfrm xmlns:a="http://schemas.openxmlformats.org/drawingml/2006/main">
            <a:off x="838200" y="42291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Source-level controls + UI</a:t>
            </a:r>
          </a:p>
        </p:txBody>
      </p:sp>
      <p:sp>
        <p:nvSpPr>
          <p:cNvPr id="14" name="">
            <a:extLst xmlns:a="http://schemas.openxmlformats.org/drawingml/2006/main">
              <a:ext uri="{FF2B5EF4-FFF2-40B4-BE49-F238E27FC236}">
                <a16:creationId xmlns:a16="http://schemas.microsoft.com/office/drawing/2014/main" id="{0A153D0C-2ED7-4296-9BB8-388526FABB40}"/>
              </a:ext>
            </a:extLst>
          </p:cNvPr>
          <p:cNvSpPr>
            <a:spLocks xmlns:a="http://schemas.openxmlformats.org/drawingml/2006/main" noGrp="1"/>
          </p:cNvSpPr>
          <p:nvPr/>
        </p:nvSpPr>
        <p:spPr>
          <a:xfrm xmlns:a="http://schemas.openxmlformats.org/drawingml/2006/main">
            <a:off x="4429125" y="1762125"/>
            <a:ext cx="3333750" cy="66675"/>
          </a:xfrm>
          <a:prstGeom xmlns:a="http://schemas.openxmlformats.org/drawingml/2006/main" prst="rect">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5080A71D-8D0B-4DF7-B1D4-A52D8E681013}"/>
              </a:ext>
            </a:extLst>
          </p:cNvPr>
          <p:cNvSpPr>
            <a:spLocks xmlns:a="http://schemas.openxmlformats.org/drawingml/2006/main" noGrp="1"/>
          </p:cNvSpPr>
          <p:nvPr/>
        </p:nvSpPr>
        <p:spPr>
          <a:xfrm xmlns:a="http://schemas.openxmlformats.org/drawingml/2006/main">
            <a:off x="4429125" y="2000250"/>
            <a:ext cx="333375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C45500"/>
                </a:solidFill>
                <a:latin typeface="Inter"/>
                <a:ea typeface="Inter"/>
                <a:cs typeface="Inter"/>
              </a:defRPr>
            </a:pPr>
            <a:r>
              <a:rPr sz="1275" b="1">
                <a:solidFill>
                  <a:srgbClr val="C45500"/>
                </a:solidFill>
                <a:latin typeface="Inter"/>
                <a:ea typeface="Inter"/>
                <a:cs typeface="Inter"/>
              </a:rPr>
              <a:t>NEAR TERM</a:t>
            </a:r>
          </a:p>
        </p:txBody>
      </p:sp>
      <p:sp>
        <p:nvSpPr>
          <p:cNvPr id="16" name="">
            <a:extLst xmlns:a="http://schemas.openxmlformats.org/drawingml/2006/main">
              <a:ext uri="{FF2B5EF4-FFF2-40B4-BE49-F238E27FC236}">
                <a16:creationId xmlns:a16="http://schemas.microsoft.com/office/drawing/2014/main" id="{41E489DB-2EB8-4C61-84FE-FCB86936EACF}"/>
              </a:ext>
            </a:extLst>
          </p:cNvPr>
          <p:cNvSpPr>
            <a:spLocks xmlns:a="http://schemas.openxmlformats.org/drawingml/2006/main" noGrp="1"/>
          </p:cNvSpPr>
          <p:nvPr/>
        </p:nvSpPr>
        <p:spPr>
          <a:xfrm xmlns:a="http://schemas.openxmlformats.org/drawingml/2006/main">
            <a:off x="4429125" y="2647950"/>
            <a:ext cx="85725" cy="8572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7" name="">
            <a:extLst xmlns:a="http://schemas.openxmlformats.org/drawingml/2006/main">
              <a:ext uri="{FF2B5EF4-FFF2-40B4-BE49-F238E27FC236}">
                <a16:creationId xmlns:a16="http://schemas.microsoft.com/office/drawing/2014/main" id="{DBB27721-CD35-43EF-841D-BB79EE351AFB}"/>
              </a:ext>
            </a:extLst>
          </p:cNvPr>
          <p:cNvSpPr>
            <a:spLocks xmlns:a="http://schemas.openxmlformats.org/drawingml/2006/main" noGrp="1"/>
          </p:cNvSpPr>
          <p:nvPr/>
        </p:nvSpPr>
        <p:spPr>
          <a:xfrm xmlns:a="http://schemas.openxmlformats.org/drawingml/2006/main">
            <a:off x="4657725" y="25717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Accept Studio PR B</a:t>
            </a:r>
          </a:p>
        </p:txBody>
      </p:sp>
      <p:sp>
        <p:nvSpPr>
          <p:cNvPr id="18" name="">
            <a:extLst xmlns:a="http://schemas.openxmlformats.org/drawingml/2006/main">
              <a:ext uri="{FF2B5EF4-FFF2-40B4-BE49-F238E27FC236}">
                <a16:creationId xmlns:a16="http://schemas.microsoft.com/office/drawing/2014/main" id="{2F2F1294-5C8E-47C7-A46D-9ADDEC177C60}"/>
              </a:ext>
            </a:extLst>
          </p:cNvPr>
          <p:cNvSpPr>
            <a:spLocks xmlns:a="http://schemas.openxmlformats.org/drawingml/2006/main" noGrp="1"/>
          </p:cNvSpPr>
          <p:nvPr/>
        </p:nvSpPr>
        <p:spPr>
          <a:xfrm xmlns:a="http://schemas.openxmlformats.org/drawingml/2006/main">
            <a:off x="4429125" y="3200400"/>
            <a:ext cx="85725" cy="8572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19" name="">
            <a:extLst xmlns:a="http://schemas.openxmlformats.org/drawingml/2006/main">
              <a:ext uri="{FF2B5EF4-FFF2-40B4-BE49-F238E27FC236}">
                <a16:creationId xmlns:a16="http://schemas.microsoft.com/office/drawing/2014/main" id="{F6BA095E-8CE3-40AA-A2D3-DB0B512444BA}"/>
              </a:ext>
            </a:extLst>
          </p:cNvPr>
          <p:cNvSpPr>
            <a:spLocks xmlns:a="http://schemas.openxmlformats.org/drawingml/2006/main" noGrp="1"/>
          </p:cNvSpPr>
          <p:nvPr/>
        </p:nvSpPr>
        <p:spPr>
          <a:xfrm xmlns:a="http://schemas.openxmlformats.org/drawingml/2006/main">
            <a:off x="4657725" y="31242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Delivery / Monitor / Admin / Trust authority</a:t>
            </a:r>
          </a:p>
        </p:txBody>
      </p:sp>
      <p:sp>
        <p:nvSpPr>
          <p:cNvPr id="20" name="">
            <a:extLst xmlns:a="http://schemas.openxmlformats.org/drawingml/2006/main">
              <a:ext uri="{FF2B5EF4-FFF2-40B4-BE49-F238E27FC236}">
                <a16:creationId xmlns:a16="http://schemas.microsoft.com/office/drawing/2014/main" id="{9B09DA5F-AB54-4E14-8B9A-EB76565474AC}"/>
              </a:ext>
            </a:extLst>
          </p:cNvPr>
          <p:cNvSpPr>
            <a:spLocks xmlns:a="http://schemas.openxmlformats.org/drawingml/2006/main" noGrp="1"/>
          </p:cNvSpPr>
          <p:nvPr/>
        </p:nvSpPr>
        <p:spPr>
          <a:xfrm xmlns:a="http://schemas.openxmlformats.org/drawingml/2006/main">
            <a:off x="4429125" y="3752850"/>
            <a:ext cx="85725" cy="8572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21" name="">
            <a:extLst xmlns:a="http://schemas.openxmlformats.org/drawingml/2006/main">
              <a:ext uri="{FF2B5EF4-FFF2-40B4-BE49-F238E27FC236}">
                <a16:creationId xmlns:a16="http://schemas.microsoft.com/office/drawing/2014/main" id="{0F6A7238-F6F3-4983-90CD-7A84858DCEF7}"/>
              </a:ext>
            </a:extLst>
          </p:cNvPr>
          <p:cNvSpPr>
            <a:spLocks xmlns:a="http://schemas.openxmlformats.org/drawingml/2006/main" noGrp="1"/>
          </p:cNvSpPr>
          <p:nvPr/>
        </p:nvSpPr>
        <p:spPr>
          <a:xfrm xmlns:a="http://schemas.openxmlformats.org/drawingml/2006/main">
            <a:off x="4657725" y="36766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Deployment-backed BYOK</a:t>
            </a:r>
          </a:p>
        </p:txBody>
      </p:sp>
      <p:sp>
        <p:nvSpPr>
          <p:cNvPr id="22" name="">
            <a:extLst xmlns:a="http://schemas.openxmlformats.org/drawingml/2006/main">
              <a:ext uri="{FF2B5EF4-FFF2-40B4-BE49-F238E27FC236}">
                <a16:creationId xmlns:a16="http://schemas.microsoft.com/office/drawing/2014/main" id="{AD8B7DEC-3E1E-4C87-9AF2-67719C483677}"/>
              </a:ext>
            </a:extLst>
          </p:cNvPr>
          <p:cNvSpPr>
            <a:spLocks xmlns:a="http://schemas.openxmlformats.org/drawingml/2006/main" noGrp="1"/>
          </p:cNvSpPr>
          <p:nvPr/>
        </p:nvSpPr>
        <p:spPr>
          <a:xfrm xmlns:a="http://schemas.openxmlformats.org/drawingml/2006/main">
            <a:off x="4429125" y="4305300"/>
            <a:ext cx="85725" cy="85725"/>
          </a:xfrm>
          <a:prstGeom xmlns:a="http://schemas.openxmlformats.org/drawingml/2006/main" prst="ellipse">
            <a:avLst/>
          </a:prstGeom>
          <a:solidFill xmlns:a="http://schemas.openxmlformats.org/drawingml/2006/main">
            <a:srgbClr val="C45500"/>
          </a:solidFill>
          <a:ln xmlns:a="http://schemas.openxmlformats.org/drawingml/2006/main" w="0">
            <a:solidFill>
              <a:srgbClr val="000000">
                <a:alpha val="0"/>
              </a:srgbClr>
            </a:solidFill>
            <a:prstDash val="solid"/>
          </a:ln>
        </p:spPr>
      </p:sp>
      <p:sp>
        <p:nvSpPr>
          <p:cNvPr id="23" name="">
            <a:extLst xmlns:a="http://schemas.openxmlformats.org/drawingml/2006/main">
              <a:ext uri="{FF2B5EF4-FFF2-40B4-BE49-F238E27FC236}">
                <a16:creationId xmlns:a16="http://schemas.microsoft.com/office/drawing/2014/main" id="{4D446DE7-43CF-4339-8AE8-D21AC0CF108D}"/>
              </a:ext>
            </a:extLst>
          </p:cNvPr>
          <p:cNvSpPr>
            <a:spLocks xmlns:a="http://schemas.openxmlformats.org/drawingml/2006/main" noGrp="1"/>
          </p:cNvSpPr>
          <p:nvPr/>
        </p:nvSpPr>
        <p:spPr>
          <a:xfrm xmlns:a="http://schemas.openxmlformats.org/drawingml/2006/main">
            <a:off x="4657725" y="42291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Controlled pilot</a:t>
            </a:r>
          </a:p>
        </p:txBody>
      </p:sp>
      <p:sp>
        <p:nvSpPr>
          <p:cNvPr id="24" name="">
            <a:extLst xmlns:a="http://schemas.openxmlformats.org/drawingml/2006/main">
              <a:ext uri="{FF2B5EF4-FFF2-40B4-BE49-F238E27FC236}">
                <a16:creationId xmlns:a16="http://schemas.microsoft.com/office/drawing/2014/main" id="{AF01945F-6D52-4D6C-ACCD-724143F8DD23}"/>
              </a:ext>
            </a:extLst>
          </p:cNvPr>
          <p:cNvSpPr>
            <a:spLocks xmlns:a="http://schemas.openxmlformats.org/drawingml/2006/main" noGrp="1"/>
          </p:cNvSpPr>
          <p:nvPr/>
        </p:nvSpPr>
        <p:spPr>
          <a:xfrm xmlns:a="http://schemas.openxmlformats.org/drawingml/2006/main">
            <a:off x="8248650" y="1762125"/>
            <a:ext cx="3333750" cy="66675"/>
          </a:xfrm>
          <a:prstGeom xmlns:a="http://schemas.openxmlformats.org/drawingml/2006/main" prst="rect">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5" name="">
            <a:extLst xmlns:a="http://schemas.openxmlformats.org/drawingml/2006/main">
              <a:ext uri="{FF2B5EF4-FFF2-40B4-BE49-F238E27FC236}">
                <a16:creationId xmlns:a16="http://schemas.microsoft.com/office/drawing/2014/main" id="{D7CD243B-CB55-402D-9236-12A2D3C4AF95}"/>
              </a:ext>
            </a:extLst>
          </p:cNvPr>
          <p:cNvSpPr>
            <a:spLocks xmlns:a="http://schemas.openxmlformats.org/drawingml/2006/main" noGrp="1"/>
          </p:cNvSpPr>
          <p:nvPr/>
        </p:nvSpPr>
        <p:spPr>
          <a:xfrm xmlns:a="http://schemas.openxmlformats.org/drawingml/2006/main">
            <a:off x="8248650" y="2000250"/>
            <a:ext cx="3333750" cy="3333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1">
                <a:solidFill>
                  <a:srgbClr val="002C4B"/>
                </a:solidFill>
                <a:latin typeface="Inter"/>
                <a:ea typeface="Inter"/>
                <a:cs typeface="Inter"/>
              </a:defRPr>
            </a:pPr>
            <a:r>
              <a:rPr sz="1275" b="1">
                <a:solidFill>
                  <a:srgbClr val="002C4B"/>
                </a:solidFill>
                <a:latin typeface="Inter"/>
                <a:ea typeface="Inter"/>
                <a:cs typeface="Inter"/>
              </a:rPr>
              <a:t>EXPANSION</a:t>
            </a:r>
          </a:p>
        </p:txBody>
      </p:sp>
      <p:sp>
        <p:nvSpPr>
          <p:cNvPr id="26" name="">
            <a:extLst xmlns:a="http://schemas.openxmlformats.org/drawingml/2006/main">
              <a:ext uri="{FF2B5EF4-FFF2-40B4-BE49-F238E27FC236}">
                <a16:creationId xmlns:a16="http://schemas.microsoft.com/office/drawing/2014/main" id="{F2895075-A6E2-4DA3-9C02-D9E0385CC3BC}"/>
              </a:ext>
            </a:extLst>
          </p:cNvPr>
          <p:cNvSpPr>
            <a:spLocks xmlns:a="http://schemas.openxmlformats.org/drawingml/2006/main" noGrp="1"/>
          </p:cNvSpPr>
          <p:nvPr/>
        </p:nvSpPr>
        <p:spPr>
          <a:xfrm xmlns:a="http://schemas.openxmlformats.org/drawingml/2006/main">
            <a:off x="8248650" y="26479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7" name="">
            <a:extLst xmlns:a="http://schemas.openxmlformats.org/drawingml/2006/main">
              <a:ext uri="{FF2B5EF4-FFF2-40B4-BE49-F238E27FC236}">
                <a16:creationId xmlns:a16="http://schemas.microsoft.com/office/drawing/2014/main" id="{6E4E6E2D-AB73-4444-A344-FEC0A56F0FAF}"/>
              </a:ext>
            </a:extLst>
          </p:cNvPr>
          <p:cNvSpPr>
            <a:spLocks xmlns:a="http://schemas.openxmlformats.org/drawingml/2006/main" noGrp="1"/>
          </p:cNvSpPr>
          <p:nvPr/>
        </p:nvSpPr>
        <p:spPr>
          <a:xfrm xmlns:a="http://schemas.openxmlformats.org/drawingml/2006/main">
            <a:off x="8477250" y="25717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Reusable solution blocks</a:t>
            </a:r>
          </a:p>
        </p:txBody>
      </p:sp>
      <p:sp>
        <p:nvSpPr>
          <p:cNvPr id="28" name="">
            <a:extLst xmlns:a="http://schemas.openxmlformats.org/drawingml/2006/main">
              <a:ext uri="{FF2B5EF4-FFF2-40B4-BE49-F238E27FC236}">
                <a16:creationId xmlns:a16="http://schemas.microsoft.com/office/drawing/2014/main" id="{F7610C25-2AAE-4338-88E2-0FFEE87E08F3}"/>
              </a:ext>
            </a:extLst>
          </p:cNvPr>
          <p:cNvSpPr>
            <a:spLocks xmlns:a="http://schemas.openxmlformats.org/drawingml/2006/main" noGrp="1"/>
          </p:cNvSpPr>
          <p:nvPr/>
        </p:nvSpPr>
        <p:spPr>
          <a:xfrm xmlns:a="http://schemas.openxmlformats.org/drawingml/2006/main">
            <a:off x="8248650" y="32004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29" name="">
            <a:extLst xmlns:a="http://schemas.openxmlformats.org/drawingml/2006/main">
              <a:ext uri="{FF2B5EF4-FFF2-40B4-BE49-F238E27FC236}">
                <a16:creationId xmlns:a16="http://schemas.microsoft.com/office/drawing/2014/main" id="{A7905455-0C0A-409E-880F-4FDAB7EF77F7}"/>
              </a:ext>
            </a:extLst>
          </p:cNvPr>
          <p:cNvSpPr>
            <a:spLocks xmlns:a="http://schemas.openxmlformats.org/drawingml/2006/main" noGrp="1"/>
          </p:cNvSpPr>
          <p:nvPr/>
        </p:nvSpPr>
        <p:spPr>
          <a:xfrm xmlns:a="http://schemas.openxmlformats.org/drawingml/2006/main">
            <a:off x="8477250" y="31242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Governed integration patterns</a:t>
            </a:r>
          </a:p>
        </p:txBody>
      </p:sp>
      <p:sp>
        <p:nvSpPr>
          <p:cNvPr id="30" name="">
            <a:extLst xmlns:a="http://schemas.openxmlformats.org/drawingml/2006/main">
              <a:ext uri="{FF2B5EF4-FFF2-40B4-BE49-F238E27FC236}">
                <a16:creationId xmlns:a16="http://schemas.microsoft.com/office/drawing/2014/main" id="{EF64F675-00DA-450F-BB8C-6410735C1F86}"/>
              </a:ext>
            </a:extLst>
          </p:cNvPr>
          <p:cNvSpPr>
            <a:spLocks xmlns:a="http://schemas.openxmlformats.org/drawingml/2006/main" noGrp="1"/>
          </p:cNvSpPr>
          <p:nvPr/>
        </p:nvSpPr>
        <p:spPr>
          <a:xfrm xmlns:a="http://schemas.openxmlformats.org/drawingml/2006/main">
            <a:off x="8248650" y="375285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31" name="">
            <a:extLst xmlns:a="http://schemas.openxmlformats.org/drawingml/2006/main">
              <a:ext uri="{FF2B5EF4-FFF2-40B4-BE49-F238E27FC236}">
                <a16:creationId xmlns:a16="http://schemas.microsoft.com/office/drawing/2014/main" id="{9C449E34-A8C2-4155-8D3A-68FD24102EFA}"/>
              </a:ext>
            </a:extLst>
          </p:cNvPr>
          <p:cNvSpPr>
            <a:spLocks xmlns:a="http://schemas.openxmlformats.org/drawingml/2006/main" noGrp="1"/>
          </p:cNvSpPr>
          <p:nvPr/>
        </p:nvSpPr>
        <p:spPr>
          <a:xfrm xmlns:a="http://schemas.openxmlformats.org/drawingml/2006/main">
            <a:off x="8477250" y="367665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Solution blueprints</a:t>
            </a:r>
          </a:p>
        </p:txBody>
      </p:sp>
      <p:sp>
        <p:nvSpPr>
          <p:cNvPr id="32" name="">
            <a:extLst xmlns:a="http://schemas.openxmlformats.org/drawingml/2006/main">
              <a:ext uri="{FF2B5EF4-FFF2-40B4-BE49-F238E27FC236}">
                <a16:creationId xmlns:a16="http://schemas.microsoft.com/office/drawing/2014/main" id="{7F8E3D4C-D6DC-4AB8-A917-CD30CE638292}"/>
              </a:ext>
            </a:extLst>
          </p:cNvPr>
          <p:cNvSpPr>
            <a:spLocks xmlns:a="http://schemas.openxmlformats.org/drawingml/2006/main" noGrp="1"/>
          </p:cNvSpPr>
          <p:nvPr/>
        </p:nvSpPr>
        <p:spPr>
          <a:xfrm xmlns:a="http://schemas.openxmlformats.org/drawingml/2006/main">
            <a:off x="8248650" y="4305300"/>
            <a:ext cx="85725" cy="85725"/>
          </a:xfrm>
          <a:prstGeom xmlns:a="http://schemas.openxmlformats.org/drawingml/2006/main" prst="ellipse">
            <a:avLst/>
          </a:prstGeom>
          <a:solidFill xmlns:a="http://schemas.openxmlformats.org/drawingml/2006/main">
            <a:srgbClr val="002C4B"/>
          </a:solidFill>
          <a:ln xmlns:a="http://schemas.openxmlformats.org/drawingml/2006/main" w="0">
            <a:solidFill>
              <a:srgbClr val="000000">
                <a:alpha val="0"/>
              </a:srgbClr>
            </a:solidFill>
            <a:prstDash val="solid"/>
          </a:ln>
        </p:spPr>
      </p:sp>
      <p:sp>
        <p:nvSpPr>
          <p:cNvPr id="33" name="">
            <a:extLst xmlns:a="http://schemas.openxmlformats.org/drawingml/2006/main">
              <a:ext uri="{FF2B5EF4-FFF2-40B4-BE49-F238E27FC236}">
                <a16:creationId xmlns:a16="http://schemas.microsoft.com/office/drawing/2014/main" id="{7EE100A2-ED93-4F31-85AF-59F53C7C7657}"/>
              </a:ext>
            </a:extLst>
          </p:cNvPr>
          <p:cNvSpPr>
            <a:spLocks xmlns:a="http://schemas.openxmlformats.org/drawingml/2006/main" noGrp="1"/>
          </p:cNvSpPr>
          <p:nvPr/>
        </p:nvSpPr>
        <p:spPr>
          <a:xfrm xmlns:a="http://schemas.openxmlformats.org/drawingml/2006/main">
            <a:off x="8477250" y="4229100"/>
            <a:ext cx="310515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75" b="0">
                <a:solidFill>
                  <a:srgbClr val="0B1426"/>
                </a:solidFill>
                <a:latin typeface="Inter"/>
                <a:ea typeface="Inter"/>
                <a:cs typeface="Inter"/>
              </a:defRPr>
            </a:pPr>
            <a:r>
              <a:rPr sz="1275" b="0">
                <a:solidFill>
                  <a:srgbClr val="0B1426"/>
                </a:solidFill>
                <a:latin typeface="Inter"/>
                <a:ea typeface="Inter"/>
                <a:cs typeface="Inter"/>
              </a:rPr>
              <a:t>Company-owned applications</a:t>
            </a:r>
          </a:p>
        </p:txBody>
      </p:sp>
      <p:sp>
        <p:nvSpPr>
          <p:cNvPr id="34" name="">
            <a:extLst xmlns:a="http://schemas.openxmlformats.org/drawingml/2006/main">
              <a:ext uri="{FF2B5EF4-FFF2-40B4-BE49-F238E27FC236}">
                <a16:creationId xmlns:a16="http://schemas.microsoft.com/office/drawing/2014/main" id="{84F2868E-27FE-45F9-8764-2D9624E042A4}"/>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8795A8"/>
                </a:solidFill>
                <a:latin typeface="Inter"/>
                <a:ea typeface="Inter"/>
                <a:cs typeface="Inter"/>
              </a:defRPr>
            </a:pPr>
            <a:r>
              <a:rPr sz="750" b="1">
                <a:solidFill>
                  <a:srgbClr val="8795A8"/>
                </a:solidFill>
                <a:latin typeface="Inter"/>
                <a:ea typeface="Inter"/>
                <a:cs typeface="Inter"/>
              </a:rPr>
              <a:t>The Operating System for Governed AI and Automation Decisions • Pre-seed enterprise software, automation, workflow, and AI-governance investors</a:t>
            </a:r>
          </a:p>
        </p:txBody>
      </p:sp>
      <p:sp>
        <p:nvSpPr>
          <p:cNvPr id="35" name="">
            <a:extLst xmlns:a="http://schemas.openxmlformats.org/drawingml/2006/main">
              <a:ext uri="{FF2B5EF4-FFF2-40B4-BE49-F238E27FC236}">
                <a16:creationId xmlns:a16="http://schemas.microsoft.com/office/drawing/2014/main" id="{A0725762-19A4-4BF8-A8E3-69D85B06AFB1}"/>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8795A8"/>
                </a:solidFill>
                <a:latin typeface="Inter"/>
                <a:ea typeface="Inter"/>
                <a:cs typeface="Inter"/>
              </a:defRPr>
            </a:pPr>
            <a:r>
              <a:rPr sz="750" b="0">
                <a:solidFill>
                  <a:srgbClr val="8795A8"/>
                </a:solidFill>
                <a:latin typeface="Inter"/>
                <a:ea typeface="Inter"/>
                <a:cs typeface="Inter"/>
              </a:rPr>
              <a:t>Commercial milestones require AP confirmation; product roadmap items require accepted evidence.</a:t>
            </a:r>
          </a:p>
        </p:txBody>
      </p:sp>
      <p:sp>
        <p:nvSpPr>
          <p:cNvPr id="36" name="">
            <a:extLst xmlns:a="http://schemas.openxmlformats.org/drawingml/2006/main">
              <a:ext uri="{FF2B5EF4-FFF2-40B4-BE49-F238E27FC236}">
                <a16:creationId xmlns:a16="http://schemas.microsoft.com/office/drawing/2014/main" id="{8E13AE5E-DDB5-42F8-83F5-92E04A722E04}"/>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8795A8"/>
                </a:solidFill>
                <a:latin typeface="Inter"/>
                <a:ea typeface="Inter"/>
                <a:cs typeface="Inter"/>
              </a:defRPr>
            </a:pPr>
            <a:r>
              <a:rPr sz="750" b="1">
                <a:solidFill>
                  <a:srgbClr val="8795A8"/>
                </a:solidFill>
                <a:latin typeface="Inter"/>
                <a:ea typeface="Inter"/>
                <a:cs typeface="Inter"/>
              </a:rPr>
              <a:t>13</a:t>
            </a:r>
          </a:p>
        </p:txBody>
      </p:sp>
    </p:spTree>
    <p:extLst>
      <p:ext uri="{BB962C8B-B14F-4D97-AF65-F5344CB8AC3E}">
        <p14:creationId xmlns:p14="http://schemas.microsoft.com/office/powerpoint/2010/main" val="101032898"/>
      </p:ext>
    </p:extLst>
  </p:cSld>
</p:sld>
</file>

<file path=ppt/slides/slide14.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9914E8F-EFE4-4B6A-A1FE-A928AC2A85CE}"/>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F93B5336-A045-474F-ADE3-03C0B6B4EC36}"/>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AVALA ASSEMBLE • ROADMAP VISION</a:t>
            </a:r>
          </a:p>
        </p:txBody>
      </p:sp>
      <p:sp>
        <p:nvSpPr>
          <p:cNvPr id="3" name="">
            <a:extLst xmlns:a="http://schemas.openxmlformats.org/drawingml/2006/main">
              <a:ext uri="{FF2B5EF4-FFF2-40B4-BE49-F238E27FC236}">
                <a16:creationId xmlns:a16="http://schemas.microsoft.com/office/drawing/2014/main" id="{4A8B5237-A582-4FA2-8DB7-F937DD972A30}"/>
              </a:ext>
            </a:extLst>
          </p:cNvPr>
          <p:cNvSpPr>
            <a:spLocks xmlns:a="http://schemas.openxmlformats.org/drawingml/2006/main" noGrp="1"/>
          </p:cNvSpPr>
          <p:nvPr/>
        </p:nvSpPr>
        <p:spPr>
          <a:xfrm xmlns:a="http://schemas.openxmlformats.org/drawingml/2006/main">
            <a:off x="609600" y="619125"/>
            <a:ext cx="10287000" cy="8096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925" b="1">
                <a:solidFill>
                  <a:srgbClr val="FFFFFF"/>
                </a:solidFill>
                <a:latin typeface="Outfit"/>
                <a:ea typeface="Outfit"/>
                <a:cs typeface="Outfit"/>
              </a:defRPr>
            </a:pPr>
            <a:r>
              <a:rPr sz="2925" b="1">
                <a:solidFill>
                  <a:srgbClr val="FFFFFF"/>
                </a:solidFill>
                <a:latin typeface="Outfit"/>
                <a:ea typeface="Outfit"/>
                <a:cs typeface="Outfit"/>
              </a:rPr>
              <a:t>From deciding what to build to governing how software is assembled.</a:t>
            </a:r>
          </a:p>
        </p:txBody>
      </p:sp>
      <p:sp>
        <p:nvSpPr>
          <p:cNvPr id="4" name="">
            <a:extLst xmlns:a="http://schemas.openxmlformats.org/drawingml/2006/main">
              <a:ext uri="{FF2B5EF4-FFF2-40B4-BE49-F238E27FC236}">
                <a16:creationId xmlns:a16="http://schemas.microsoft.com/office/drawing/2014/main" id="{72695A21-B713-4491-A83F-28AAD020D66D}"/>
              </a:ext>
            </a:extLst>
          </p:cNvPr>
          <p:cNvSpPr>
            <a:spLocks xmlns:a="http://schemas.openxmlformats.org/drawingml/2006/main" noGrp="1"/>
          </p:cNvSpPr>
          <p:nvPr/>
        </p:nvSpPr>
        <p:spPr>
          <a:xfrm xmlns:a="http://schemas.openxmlformats.org/drawingml/2006/main">
            <a:off x="704850" y="1857375"/>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Outfit"/>
                <a:ea typeface="Outfit"/>
                <a:cs typeface="Outfit"/>
              </a:defRPr>
            </a:pPr>
            <a:r>
              <a:rPr sz="1800" b="1">
                <a:solidFill>
                  <a:srgbClr val="FFFFFF"/>
                </a:solidFill>
                <a:latin typeface="Outfit"/>
                <a:ea typeface="Outfit"/>
                <a:cs typeface="Outfit"/>
              </a:rPr>
              <a:t>Assess</a:t>
            </a:r>
          </a:p>
        </p:txBody>
      </p:sp>
      <p:sp>
        <p:nvSpPr>
          <p:cNvPr id="5" name="">
            <a:extLst xmlns:a="http://schemas.openxmlformats.org/drawingml/2006/main">
              <a:ext uri="{FF2B5EF4-FFF2-40B4-BE49-F238E27FC236}">
                <a16:creationId xmlns:a16="http://schemas.microsoft.com/office/drawing/2014/main" id="{15E9F704-0671-40FF-8E57-AAFBF5F707D2}"/>
              </a:ext>
            </a:extLst>
          </p:cNvPr>
          <p:cNvSpPr>
            <a:spLocks xmlns:a="http://schemas.openxmlformats.org/drawingml/2006/main" noGrp="1"/>
          </p:cNvSpPr>
          <p:nvPr/>
        </p:nvSpPr>
        <p:spPr>
          <a:xfrm xmlns:a="http://schemas.openxmlformats.org/drawingml/2006/main">
            <a:off x="895350" y="2428875"/>
            <a:ext cx="1600200" cy="47625"/>
          </a:xfrm>
          <a:prstGeom xmlns:a="http://schemas.openxmlformats.org/drawingml/2006/main" prst="rect">
            <a:avLst/>
          </a:prstGeom>
          <a:solidFill xmlns:a="http://schemas.openxmlformats.org/drawingml/2006/main">
            <a:srgbClr val="0C3B5B"/>
          </a:solidFill>
          <a:ln xmlns:a="http://schemas.openxmlformats.org/drawingml/2006/main" w="0">
            <a:solidFill>
              <a:srgbClr val="000000">
                <a:alpha val="0"/>
              </a:srgbClr>
            </a:solidFill>
            <a:prstDash val="solid"/>
          </a:ln>
        </p:spPr>
      </p:sp>
      <p:sp>
        <p:nvSpPr>
          <p:cNvPr id="6" name="">
            <a:extLst xmlns:a="http://schemas.openxmlformats.org/drawingml/2006/main">
              <a:ext uri="{FF2B5EF4-FFF2-40B4-BE49-F238E27FC236}">
                <a16:creationId xmlns:a16="http://schemas.microsoft.com/office/drawing/2014/main" id="{C4B3417A-1A67-4963-99DA-CD752E48D9CE}"/>
              </a:ext>
            </a:extLst>
          </p:cNvPr>
          <p:cNvSpPr>
            <a:spLocks xmlns:a="http://schemas.openxmlformats.org/drawingml/2006/main" noGrp="1"/>
          </p:cNvSpPr>
          <p:nvPr/>
        </p:nvSpPr>
        <p:spPr>
          <a:xfrm xmlns:a="http://schemas.openxmlformats.org/drawingml/2006/main">
            <a:off x="704850" y="2667000"/>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C9D6E1"/>
                </a:solidFill>
                <a:latin typeface="Inter"/>
                <a:ea typeface="Inter"/>
                <a:cs typeface="Inter"/>
              </a:defRPr>
            </a:pPr>
            <a:r>
              <a:rPr sz="1125" b="0">
                <a:solidFill>
                  <a:srgbClr val="C9D6E1"/>
                </a:solidFill>
                <a:latin typeface="Inter"/>
                <a:ea typeface="Inter"/>
                <a:cs typeface="Inter"/>
              </a:rPr>
              <a:t>Evidence</a:t>
            </a:r>
          </a:p>
        </p:txBody>
      </p:sp>
      <p:sp>
        <p:nvSpPr>
          <p:cNvPr id="7" name="">
            <a:extLst xmlns:a="http://schemas.openxmlformats.org/drawingml/2006/main">
              <a:ext uri="{FF2B5EF4-FFF2-40B4-BE49-F238E27FC236}">
                <a16:creationId xmlns:a16="http://schemas.microsoft.com/office/drawing/2014/main" id="{E6FD4011-7C62-427A-A5A8-44CD11125C35}"/>
              </a:ext>
            </a:extLst>
          </p:cNvPr>
          <p:cNvSpPr>
            <a:spLocks xmlns:a="http://schemas.openxmlformats.org/drawingml/2006/main" noGrp="1"/>
          </p:cNvSpPr>
          <p:nvPr/>
        </p:nvSpPr>
        <p:spPr>
          <a:xfrm xmlns:a="http://schemas.openxmlformats.org/drawingml/2006/main">
            <a:off x="2876550" y="1857375"/>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Outfit"/>
                <a:ea typeface="Outfit"/>
                <a:cs typeface="Outfit"/>
              </a:defRPr>
            </a:pPr>
            <a:r>
              <a:rPr sz="1800" b="1">
                <a:solidFill>
                  <a:srgbClr val="FFFFFF"/>
                </a:solidFill>
                <a:latin typeface="Outfit"/>
                <a:ea typeface="Outfit"/>
                <a:cs typeface="Outfit"/>
              </a:rPr>
              <a:t>Validate</a:t>
            </a:r>
          </a:p>
        </p:txBody>
      </p:sp>
      <p:sp>
        <p:nvSpPr>
          <p:cNvPr id="8" name="">
            <a:extLst xmlns:a="http://schemas.openxmlformats.org/drawingml/2006/main">
              <a:ext uri="{FF2B5EF4-FFF2-40B4-BE49-F238E27FC236}">
                <a16:creationId xmlns:a16="http://schemas.microsoft.com/office/drawing/2014/main" id="{9FEDB42A-70FB-40C7-9E7D-9AA4E58FDB7D}"/>
              </a:ext>
            </a:extLst>
          </p:cNvPr>
          <p:cNvSpPr>
            <a:spLocks xmlns:a="http://schemas.openxmlformats.org/drawingml/2006/main" noGrp="1"/>
          </p:cNvSpPr>
          <p:nvPr/>
        </p:nvSpPr>
        <p:spPr>
          <a:xfrm xmlns:a="http://schemas.openxmlformats.org/drawingml/2006/main">
            <a:off x="3067050" y="2428875"/>
            <a:ext cx="1600200" cy="47625"/>
          </a:xfrm>
          <a:prstGeom xmlns:a="http://schemas.openxmlformats.org/drawingml/2006/main" prst="rect">
            <a:avLst/>
          </a:prstGeom>
          <a:solidFill xmlns:a="http://schemas.openxmlformats.org/drawingml/2006/main">
            <a:srgbClr val="0C3B5B"/>
          </a:solidFill>
          <a:ln xmlns:a="http://schemas.openxmlformats.org/drawingml/2006/main" w="0">
            <a:solidFill>
              <a:srgbClr val="000000">
                <a:alpha val="0"/>
              </a:srgbClr>
            </a:solidFill>
            <a:prstDash val="solid"/>
          </a:ln>
        </p:spPr>
      </p:sp>
      <p:sp>
        <p:nvSpPr>
          <p:cNvPr id="9" name="">
            <a:extLst xmlns:a="http://schemas.openxmlformats.org/drawingml/2006/main">
              <a:ext uri="{FF2B5EF4-FFF2-40B4-BE49-F238E27FC236}">
                <a16:creationId xmlns:a16="http://schemas.microsoft.com/office/drawing/2014/main" id="{7A4BA5D8-C94F-4A32-95B0-DE875F88DAF1}"/>
              </a:ext>
            </a:extLst>
          </p:cNvPr>
          <p:cNvSpPr>
            <a:spLocks xmlns:a="http://schemas.openxmlformats.org/drawingml/2006/main" noGrp="1"/>
          </p:cNvSpPr>
          <p:nvPr/>
        </p:nvSpPr>
        <p:spPr>
          <a:xfrm xmlns:a="http://schemas.openxmlformats.org/drawingml/2006/main">
            <a:off x="2876550" y="2667000"/>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C9D6E1"/>
                </a:solidFill>
                <a:latin typeface="Inter"/>
                <a:ea typeface="Inter"/>
                <a:cs typeface="Inter"/>
              </a:defRPr>
            </a:pPr>
            <a:r>
              <a:rPr sz="1125" b="0">
                <a:solidFill>
                  <a:srgbClr val="C9D6E1"/>
                </a:solidFill>
                <a:latin typeface="Inter"/>
                <a:ea typeface="Inter"/>
                <a:cs typeface="Inter"/>
              </a:rPr>
              <a:t>Controls</a:t>
            </a:r>
          </a:p>
        </p:txBody>
      </p:sp>
      <p:sp>
        <p:nvSpPr>
          <p:cNvPr id="10" name="">
            <a:extLst xmlns:a="http://schemas.openxmlformats.org/drawingml/2006/main">
              <a:ext uri="{FF2B5EF4-FFF2-40B4-BE49-F238E27FC236}">
                <a16:creationId xmlns:a16="http://schemas.microsoft.com/office/drawing/2014/main" id="{119978BD-33D5-420A-82EC-B2AD3B7F6503}"/>
              </a:ext>
            </a:extLst>
          </p:cNvPr>
          <p:cNvSpPr>
            <a:spLocks xmlns:a="http://schemas.openxmlformats.org/drawingml/2006/main" noGrp="1"/>
          </p:cNvSpPr>
          <p:nvPr/>
        </p:nvSpPr>
        <p:spPr>
          <a:xfrm xmlns:a="http://schemas.openxmlformats.org/drawingml/2006/main">
            <a:off x="5048250" y="1857375"/>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BC03"/>
                </a:solidFill>
                <a:latin typeface="Outfit"/>
                <a:ea typeface="Outfit"/>
                <a:cs typeface="Outfit"/>
              </a:defRPr>
            </a:pPr>
            <a:r>
              <a:rPr sz="1800" b="1">
                <a:solidFill>
                  <a:srgbClr val="FFBC03"/>
                </a:solidFill>
                <a:latin typeface="Outfit"/>
                <a:ea typeface="Outfit"/>
                <a:cs typeface="Outfit"/>
              </a:rPr>
              <a:t>Assemble</a:t>
            </a:r>
          </a:p>
        </p:txBody>
      </p:sp>
      <p:sp>
        <p:nvSpPr>
          <p:cNvPr id="11" name="">
            <a:extLst xmlns:a="http://schemas.openxmlformats.org/drawingml/2006/main">
              <a:ext uri="{FF2B5EF4-FFF2-40B4-BE49-F238E27FC236}">
                <a16:creationId xmlns:a16="http://schemas.microsoft.com/office/drawing/2014/main" id="{9AE5A789-65EC-441B-A641-C7A550FF1909}"/>
              </a:ext>
            </a:extLst>
          </p:cNvPr>
          <p:cNvSpPr>
            <a:spLocks xmlns:a="http://schemas.openxmlformats.org/drawingml/2006/main" noGrp="1"/>
          </p:cNvSpPr>
          <p:nvPr/>
        </p:nvSpPr>
        <p:spPr>
          <a:xfrm xmlns:a="http://schemas.openxmlformats.org/drawingml/2006/main">
            <a:off x="5238750" y="2428875"/>
            <a:ext cx="1600200" cy="4762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12" name="">
            <a:extLst xmlns:a="http://schemas.openxmlformats.org/drawingml/2006/main">
              <a:ext uri="{FF2B5EF4-FFF2-40B4-BE49-F238E27FC236}">
                <a16:creationId xmlns:a16="http://schemas.microsoft.com/office/drawing/2014/main" id="{DEF0D704-B2DE-4825-9A2D-D0BDCF56EFAE}"/>
              </a:ext>
            </a:extLst>
          </p:cNvPr>
          <p:cNvSpPr>
            <a:spLocks xmlns:a="http://schemas.openxmlformats.org/drawingml/2006/main" noGrp="1"/>
          </p:cNvSpPr>
          <p:nvPr/>
        </p:nvSpPr>
        <p:spPr>
          <a:xfrm xmlns:a="http://schemas.openxmlformats.org/drawingml/2006/main">
            <a:off x="5048250" y="2667000"/>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C9D6E1"/>
                </a:solidFill>
                <a:latin typeface="Inter"/>
                <a:ea typeface="Inter"/>
                <a:cs typeface="Inter"/>
              </a:defRPr>
            </a:pPr>
            <a:r>
              <a:rPr sz="1125" b="0">
                <a:solidFill>
                  <a:srgbClr val="C9D6E1"/>
                </a:solidFill>
                <a:latin typeface="Inter"/>
                <a:ea typeface="Inter"/>
                <a:cs typeface="Inter"/>
              </a:rPr>
              <a:t>Reusable blocks</a:t>
            </a:r>
          </a:p>
        </p:txBody>
      </p:sp>
      <p:sp>
        <p:nvSpPr>
          <p:cNvPr id="13" name="">
            <a:extLst xmlns:a="http://schemas.openxmlformats.org/drawingml/2006/main">
              <a:ext uri="{FF2B5EF4-FFF2-40B4-BE49-F238E27FC236}">
                <a16:creationId xmlns:a16="http://schemas.microsoft.com/office/drawing/2014/main" id="{9FCFA7A1-C9F1-432B-9BAD-F1BA5770E9E1}"/>
              </a:ext>
            </a:extLst>
          </p:cNvPr>
          <p:cNvSpPr>
            <a:spLocks xmlns:a="http://schemas.openxmlformats.org/drawingml/2006/main" noGrp="1"/>
          </p:cNvSpPr>
          <p:nvPr/>
        </p:nvSpPr>
        <p:spPr>
          <a:xfrm xmlns:a="http://schemas.openxmlformats.org/drawingml/2006/main">
            <a:off x="7219950" y="1857375"/>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Outfit"/>
                <a:ea typeface="Outfit"/>
                <a:cs typeface="Outfit"/>
              </a:defRPr>
            </a:pPr>
            <a:r>
              <a:rPr sz="1800" b="1">
                <a:solidFill>
                  <a:srgbClr val="FFFFFF"/>
                </a:solidFill>
                <a:latin typeface="Outfit"/>
                <a:ea typeface="Outfit"/>
                <a:cs typeface="Outfit"/>
              </a:rPr>
              <a:t>Launch</a:t>
            </a:r>
          </a:p>
        </p:txBody>
      </p:sp>
      <p:sp>
        <p:nvSpPr>
          <p:cNvPr id="14" name="">
            <a:extLst xmlns:a="http://schemas.openxmlformats.org/drawingml/2006/main">
              <a:ext uri="{FF2B5EF4-FFF2-40B4-BE49-F238E27FC236}">
                <a16:creationId xmlns:a16="http://schemas.microsoft.com/office/drawing/2014/main" id="{F8A0AAD9-DE9E-4643-AC30-2B2447504DB5}"/>
              </a:ext>
            </a:extLst>
          </p:cNvPr>
          <p:cNvSpPr>
            <a:spLocks xmlns:a="http://schemas.openxmlformats.org/drawingml/2006/main" noGrp="1"/>
          </p:cNvSpPr>
          <p:nvPr/>
        </p:nvSpPr>
        <p:spPr>
          <a:xfrm xmlns:a="http://schemas.openxmlformats.org/drawingml/2006/main">
            <a:off x="7410450" y="2428875"/>
            <a:ext cx="1600200" cy="47625"/>
          </a:xfrm>
          <a:prstGeom xmlns:a="http://schemas.openxmlformats.org/drawingml/2006/main" prst="rect">
            <a:avLst/>
          </a:prstGeom>
          <a:solidFill xmlns:a="http://schemas.openxmlformats.org/drawingml/2006/main">
            <a:srgbClr val="0C3B5B"/>
          </a:solidFill>
          <a:ln xmlns:a="http://schemas.openxmlformats.org/drawingml/2006/main" w="0">
            <a:solidFill>
              <a:srgbClr val="000000">
                <a:alpha val="0"/>
              </a:srgbClr>
            </a:solidFill>
            <a:prstDash val="solid"/>
          </a:ln>
        </p:spPr>
      </p:sp>
      <p:sp>
        <p:nvSpPr>
          <p:cNvPr id="15" name="">
            <a:extLst xmlns:a="http://schemas.openxmlformats.org/drawingml/2006/main">
              <a:ext uri="{FF2B5EF4-FFF2-40B4-BE49-F238E27FC236}">
                <a16:creationId xmlns:a16="http://schemas.microsoft.com/office/drawing/2014/main" id="{1981C78C-50FB-4828-9C01-299781A7663A}"/>
              </a:ext>
            </a:extLst>
          </p:cNvPr>
          <p:cNvSpPr>
            <a:spLocks xmlns:a="http://schemas.openxmlformats.org/drawingml/2006/main" noGrp="1"/>
          </p:cNvSpPr>
          <p:nvPr/>
        </p:nvSpPr>
        <p:spPr>
          <a:xfrm xmlns:a="http://schemas.openxmlformats.org/drawingml/2006/main">
            <a:off x="7219950" y="2667000"/>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C9D6E1"/>
                </a:solidFill>
                <a:latin typeface="Inter"/>
                <a:ea typeface="Inter"/>
                <a:cs typeface="Inter"/>
              </a:defRPr>
            </a:pPr>
            <a:r>
              <a:rPr sz="1125" b="0">
                <a:solidFill>
                  <a:srgbClr val="C9D6E1"/>
                </a:solidFill>
                <a:latin typeface="Inter"/>
                <a:ea typeface="Inter"/>
                <a:cs typeface="Inter"/>
              </a:rPr>
              <a:t>Governed handoff</a:t>
            </a:r>
          </a:p>
        </p:txBody>
      </p:sp>
      <p:sp>
        <p:nvSpPr>
          <p:cNvPr id="16" name="">
            <a:extLst xmlns:a="http://schemas.openxmlformats.org/drawingml/2006/main">
              <a:ext uri="{FF2B5EF4-FFF2-40B4-BE49-F238E27FC236}">
                <a16:creationId xmlns:a16="http://schemas.microsoft.com/office/drawing/2014/main" id="{8003AEDE-1F8A-4378-9A4C-F544804B523C}"/>
              </a:ext>
            </a:extLst>
          </p:cNvPr>
          <p:cNvSpPr>
            <a:spLocks xmlns:a="http://schemas.openxmlformats.org/drawingml/2006/main" noGrp="1"/>
          </p:cNvSpPr>
          <p:nvPr/>
        </p:nvSpPr>
        <p:spPr>
          <a:xfrm xmlns:a="http://schemas.openxmlformats.org/drawingml/2006/main">
            <a:off x="9391650" y="1857375"/>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Outfit"/>
                <a:ea typeface="Outfit"/>
                <a:cs typeface="Outfit"/>
              </a:defRPr>
            </a:pPr>
            <a:r>
              <a:rPr sz="1800" b="1">
                <a:solidFill>
                  <a:srgbClr val="FFFFFF"/>
                </a:solidFill>
                <a:latin typeface="Outfit"/>
                <a:ea typeface="Outfit"/>
                <a:cs typeface="Outfit"/>
              </a:rPr>
              <a:t>Audit</a:t>
            </a:r>
          </a:p>
        </p:txBody>
      </p:sp>
      <p:sp>
        <p:nvSpPr>
          <p:cNvPr id="17" name="">
            <a:extLst xmlns:a="http://schemas.openxmlformats.org/drawingml/2006/main">
              <a:ext uri="{FF2B5EF4-FFF2-40B4-BE49-F238E27FC236}">
                <a16:creationId xmlns:a16="http://schemas.microsoft.com/office/drawing/2014/main" id="{A706B5E0-310D-43E6-A15E-475FE805ABA2}"/>
              </a:ext>
            </a:extLst>
          </p:cNvPr>
          <p:cNvSpPr>
            <a:spLocks xmlns:a="http://schemas.openxmlformats.org/drawingml/2006/main" noGrp="1"/>
          </p:cNvSpPr>
          <p:nvPr/>
        </p:nvSpPr>
        <p:spPr>
          <a:xfrm xmlns:a="http://schemas.openxmlformats.org/drawingml/2006/main">
            <a:off x="9582150" y="2428875"/>
            <a:ext cx="1600200" cy="47625"/>
          </a:xfrm>
          <a:prstGeom xmlns:a="http://schemas.openxmlformats.org/drawingml/2006/main" prst="rect">
            <a:avLst/>
          </a:prstGeom>
          <a:solidFill xmlns:a="http://schemas.openxmlformats.org/drawingml/2006/main">
            <a:srgbClr val="0C3B5B"/>
          </a:solidFill>
          <a:ln xmlns:a="http://schemas.openxmlformats.org/drawingml/2006/main" w="0">
            <a:solidFill>
              <a:srgbClr val="000000">
                <a:alpha val="0"/>
              </a:srgbClr>
            </a:solidFill>
            <a:prstDash val="solid"/>
          </a:ln>
        </p:spPr>
      </p:sp>
      <p:sp>
        <p:nvSpPr>
          <p:cNvPr id="18" name="">
            <a:extLst xmlns:a="http://schemas.openxmlformats.org/drawingml/2006/main">
              <a:ext uri="{FF2B5EF4-FFF2-40B4-BE49-F238E27FC236}">
                <a16:creationId xmlns:a16="http://schemas.microsoft.com/office/drawing/2014/main" id="{24C10DA0-3261-4A81-9402-E851DCF0630D}"/>
              </a:ext>
            </a:extLst>
          </p:cNvPr>
          <p:cNvSpPr>
            <a:spLocks xmlns:a="http://schemas.openxmlformats.org/drawingml/2006/main" noGrp="1"/>
          </p:cNvSpPr>
          <p:nvPr/>
        </p:nvSpPr>
        <p:spPr>
          <a:xfrm xmlns:a="http://schemas.openxmlformats.org/drawingml/2006/main">
            <a:off x="9391650" y="2667000"/>
            <a:ext cx="1981200" cy="457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125" b="0">
                <a:solidFill>
                  <a:srgbClr val="C9D6E1"/>
                </a:solidFill>
                <a:latin typeface="Inter"/>
                <a:ea typeface="Inter"/>
                <a:cs typeface="Inter"/>
              </a:defRPr>
            </a:pPr>
            <a:r>
              <a:rPr sz="1125" b="0">
                <a:solidFill>
                  <a:srgbClr val="C9D6E1"/>
                </a:solidFill>
                <a:latin typeface="Inter"/>
                <a:ea typeface="Inter"/>
                <a:cs typeface="Inter"/>
              </a:rPr>
              <a:t>Evidence + visibility</a:t>
            </a:r>
          </a:p>
        </p:txBody>
      </p:sp>
      <p:sp>
        <p:nvSpPr>
          <p:cNvPr id="19" name="">
            <a:extLst xmlns:a="http://schemas.openxmlformats.org/drawingml/2006/main">
              <a:ext uri="{FF2B5EF4-FFF2-40B4-BE49-F238E27FC236}">
                <a16:creationId xmlns:a16="http://schemas.microsoft.com/office/drawing/2014/main" id="{7D0DA906-C35D-4CCE-B0F4-C2F018DD89FC}"/>
              </a:ext>
            </a:extLst>
          </p:cNvPr>
          <p:cNvSpPr>
            <a:spLocks xmlns:a="http://schemas.openxmlformats.org/drawingml/2006/main" noGrp="1"/>
          </p:cNvSpPr>
          <p:nvPr/>
        </p:nvSpPr>
        <p:spPr>
          <a:xfrm xmlns:a="http://schemas.openxmlformats.org/drawingml/2006/main">
            <a:off x="857250" y="3905250"/>
            <a:ext cx="1047750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425" b="1">
                <a:solidFill>
                  <a:srgbClr val="FFFFFF"/>
                </a:solidFill>
                <a:latin typeface="Inter"/>
                <a:ea typeface="Inter"/>
                <a:cs typeface="Inter"/>
              </a:defRPr>
            </a:pPr>
            <a:r>
              <a:rPr sz="1425" b="1">
                <a:solidFill>
                  <a:srgbClr val="FFFFFF"/>
                </a:solidFill>
                <a:latin typeface="Inter"/>
                <a:ea typeface="Inter"/>
                <a:cs typeface="Inter"/>
              </a:rPr>
              <a:t>Forms  •  Workflows  •  Extraction  •  Validations  •  Approvals  •  Connectors  •  Reporting  •  Later-approved agent tools</a:t>
            </a:r>
          </a:p>
        </p:txBody>
      </p:sp>
      <p:sp>
        <p:nvSpPr>
          <p:cNvPr id="20" name="">
            <a:extLst xmlns:a="http://schemas.openxmlformats.org/drawingml/2006/main">
              <a:ext uri="{FF2B5EF4-FFF2-40B4-BE49-F238E27FC236}">
                <a16:creationId xmlns:a16="http://schemas.microsoft.com/office/drawing/2014/main" id="{9A8421CF-54BD-424D-BDF5-13F00C187B58}"/>
              </a:ext>
            </a:extLst>
          </p:cNvPr>
          <p:cNvSpPr>
            <a:spLocks xmlns:a="http://schemas.openxmlformats.org/drawingml/2006/main" noGrp="1"/>
          </p:cNvSpPr>
          <p:nvPr/>
        </p:nvSpPr>
        <p:spPr>
          <a:xfrm xmlns:a="http://schemas.openxmlformats.org/drawingml/2006/main">
            <a:off x="3143250" y="5238750"/>
            <a:ext cx="5905500" cy="285750"/>
          </a:xfrm>
          <a:prstGeom xmlns:a="http://schemas.openxmlformats.org/drawingml/2006/main" prst="roundRect">
            <a:avLst>
              <a:gd name="adj" fmla="val 26667"/>
            </a:avLst>
          </a:prstGeom>
          <a:solidFill xmlns:a="http://schemas.openxmlformats.org/drawingml/2006/main">
            <a:srgbClr val="002C4B"/>
          </a:solidFill>
          <a:ln xmlns:a="http://schemas.openxmlformats.org/drawingml/2006/main" w="9525">
            <a:solidFill>
              <a:srgbClr val="FFBC03"/>
            </a:solidFill>
            <a:prstDash val="solid"/>
          </a:ln>
        </p:spPr>
      </p:sp>
      <p:sp>
        <p:nvSpPr>
          <p:cNvPr id="21" name="">
            <a:extLst xmlns:a="http://schemas.openxmlformats.org/drawingml/2006/main">
              <a:ext uri="{FF2B5EF4-FFF2-40B4-BE49-F238E27FC236}">
                <a16:creationId xmlns:a16="http://schemas.microsoft.com/office/drawing/2014/main" id="{4BCDFC57-5205-4009-8702-DC7206F49B57}"/>
              </a:ext>
            </a:extLst>
          </p:cNvPr>
          <p:cNvSpPr>
            <a:spLocks xmlns:a="http://schemas.openxmlformats.org/drawingml/2006/main" noGrp="1"/>
          </p:cNvSpPr>
          <p:nvPr/>
        </p:nvSpPr>
        <p:spPr>
          <a:xfrm xmlns:a="http://schemas.openxmlformats.org/drawingml/2006/main">
            <a:off x="3238500" y="5295900"/>
            <a:ext cx="5715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900" b="1">
                <a:solidFill>
                  <a:srgbClr val="FFFFFF"/>
                </a:solidFill>
                <a:latin typeface="Inter"/>
                <a:ea typeface="Inter"/>
                <a:cs typeface="Inter"/>
              </a:defRPr>
            </a:pPr>
            <a:r>
              <a:rPr sz="900" b="1">
                <a:solidFill>
                  <a:srgbClr val="FFFFFF"/>
                </a:solidFill>
                <a:latin typeface="Inter"/>
                <a:ea typeface="Inter"/>
                <a:cs typeface="Inter"/>
              </a:rPr>
              <a:t>ROADMAP VISION — NOT A CURRENT APPLICATION-GENERATION CAPABILITY</a:t>
            </a:r>
          </a:p>
        </p:txBody>
      </p:sp>
      <p:sp>
        <p:nvSpPr>
          <p:cNvPr id="22" name="">
            <a:extLst xmlns:a="http://schemas.openxmlformats.org/drawingml/2006/main">
              <a:ext uri="{FF2B5EF4-FFF2-40B4-BE49-F238E27FC236}">
                <a16:creationId xmlns:a16="http://schemas.microsoft.com/office/drawing/2014/main" id="{C6A5CDEB-2CDA-49C5-90F7-E9DF13A60700}"/>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The Operating System for Governed AI and Automation Decisions • Pre-seed enterprise software, automation, workflow, and AI-governance investors</a:t>
            </a:r>
          </a:p>
        </p:txBody>
      </p:sp>
      <p:sp>
        <p:nvSpPr>
          <p:cNvPr id="23" name="">
            <a:extLst xmlns:a="http://schemas.openxmlformats.org/drawingml/2006/main">
              <a:ext uri="{FF2B5EF4-FFF2-40B4-BE49-F238E27FC236}">
                <a16:creationId xmlns:a16="http://schemas.microsoft.com/office/drawing/2014/main" id="{3421C0AA-E9B1-4590-A4EC-EDB76D7B84CE}"/>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ROADMAP VISION — not a current production-application generation or deployment capability.</a:t>
            </a:r>
          </a:p>
        </p:txBody>
      </p:sp>
      <p:sp>
        <p:nvSpPr>
          <p:cNvPr id="24" name="">
            <a:extLst xmlns:a="http://schemas.openxmlformats.org/drawingml/2006/main">
              <a:ext uri="{FF2B5EF4-FFF2-40B4-BE49-F238E27FC236}">
                <a16:creationId xmlns:a16="http://schemas.microsoft.com/office/drawing/2014/main" id="{D20586FE-D647-4032-9193-5EA66DC79C99}"/>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14</a:t>
            </a:r>
          </a:p>
        </p:txBody>
      </p:sp>
    </p:spTree>
    <p:extLst>
      <p:ext uri="{BB962C8B-B14F-4D97-AF65-F5344CB8AC3E}">
        <p14:creationId xmlns:p14="http://schemas.microsoft.com/office/powerpoint/2010/main" val="2089279794"/>
      </p:ext>
    </p:extLst>
  </p:cSld>
</p:sld>
</file>

<file path=ppt/slides/slide15.xml><?xml version="1.0" encoding="utf-8"?>
<p:sld xmlns:p="http://schemas.openxmlformats.org/presentationml/2006/main">
  <p:cSld>
    <p:bg>
      <p:bgPr>
        <a:solidFill xmlns:a="http://schemas.openxmlformats.org/drawingml/2006/main">
          <a:srgbClr val="001B3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712A1349-8268-4FFD-BDC0-F8D6AC879F98}"/>
              </a:ext>
            </a:extLst>
          </p:cNvPr>
          <p:cNvSpPr>
            <a:spLocks xmlns:a="http://schemas.openxmlformats.org/drawingml/2006/main" noGrp="1"/>
          </p:cNvSpPr>
          <p:nvPr/>
        </p:nvSpPr>
        <p:spPr>
          <a:xfrm xmlns:a="http://schemas.openxmlformats.org/drawingml/2006/main">
            <a:off x="609600" y="400050"/>
            <a:ext cx="533400" cy="28575"/>
          </a:xfrm>
          <a:prstGeom xmlns:a="http://schemas.openxmlformats.org/drawingml/2006/main" prst="rect">
            <a:avLst/>
          </a:prstGeom>
          <a:solidFill xmlns:a="http://schemas.openxmlformats.org/drawingml/2006/main">
            <a:srgbClr val="FFBC03"/>
          </a:solidFill>
          <a:ln xmlns:a="http://schemas.openxmlformats.org/drawingml/2006/main" w="0">
            <a:solidFill>
              <a:srgbClr val="000000">
                <a:alpha val="0"/>
              </a:srgbClr>
            </a:solidFill>
            <a:prstDash val="solid"/>
          </a:ln>
        </p:spPr>
      </p:sp>
      <p:sp>
        <p:nvSpPr>
          <p:cNvPr id="2" name="">
            <a:extLst xmlns:a="http://schemas.openxmlformats.org/drawingml/2006/main">
              <a:ext uri="{FF2B5EF4-FFF2-40B4-BE49-F238E27FC236}">
                <a16:creationId xmlns:a16="http://schemas.microsoft.com/office/drawing/2014/main" id="{16166DD9-719D-4504-ADBD-F18B9084CA4B}"/>
              </a:ext>
            </a:extLst>
          </p:cNvPr>
          <p:cNvSpPr>
            <a:spLocks xmlns:a="http://schemas.openxmlformats.org/drawingml/2006/main" noGrp="1"/>
          </p:cNvSpPr>
          <p:nvPr/>
        </p:nvSpPr>
        <p:spPr>
          <a:xfrm xmlns:a="http://schemas.openxmlformats.org/drawingml/2006/main">
            <a:off x="1276350" y="295275"/>
            <a:ext cx="71437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1">
                <a:solidFill>
                  <a:srgbClr val="F5D778"/>
                </a:solidFill>
                <a:latin typeface="Inter"/>
                <a:ea typeface="Inter"/>
                <a:cs typeface="Inter"/>
              </a:defRPr>
            </a:pPr>
            <a:r>
              <a:rPr sz="975" b="1">
                <a:solidFill>
                  <a:srgbClr val="F5D778"/>
                </a:solidFill>
                <a:latin typeface="Inter"/>
                <a:ea typeface="Inter"/>
                <a:cs typeface="Inter"/>
              </a:rPr>
              <a:t>FUNDING OBJECTIVE • DISCUSSION DRAFT</a:t>
            </a:r>
          </a:p>
        </p:txBody>
      </p:sp>
      <p:sp>
        <p:nvSpPr>
          <p:cNvPr id="3" name="">
            <a:extLst xmlns:a="http://schemas.openxmlformats.org/drawingml/2006/main">
              <a:ext uri="{FF2B5EF4-FFF2-40B4-BE49-F238E27FC236}">
                <a16:creationId xmlns:a16="http://schemas.microsoft.com/office/drawing/2014/main" id="{BEB01835-2FBC-4260-AB6B-148459317949}"/>
              </a:ext>
            </a:extLst>
          </p:cNvPr>
          <p:cNvSpPr>
            <a:spLocks xmlns:a="http://schemas.openxmlformats.org/drawingml/2006/main" noGrp="1"/>
          </p:cNvSpPr>
          <p:nvPr/>
        </p:nvSpPr>
        <p:spPr>
          <a:xfrm xmlns:a="http://schemas.openxmlformats.org/drawingml/2006/main">
            <a:off x="762000" y="1095375"/>
            <a:ext cx="10668000" cy="1143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3300" b="1">
                <a:solidFill>
                  <a:srgbClr val="FFFFFF"/>
                </a:solidFill>
                <a:latin typeface="Outfit"/>
                <a:ea typeface="Outfit"/>
                <a:cs typeface="Outfit"/>
              </a:defRPr>
            </a:pPr>
            <a:r>
              <a:rPr sz="3300" b="1">
                <a:solidFill>
                  <a:srgbClr val="FFFFFF"/>
                </a:solidFill>
                <a:latin typeface="Outfit"/>
                <a:ea typeface="Outfit"/>
                <a:cs typeface="Outfit"/>
              </a:rPr>
              <a:t>Capital would convert product proof into controlled market proof.</a:t>
            </a:r>
          </a:p>
        </p:txBody>
      </p:sp>
      <p:sp>
        <p:nvSpPr>
          <p:cNvPr id="4" name="">
            <a:extLst xmlns:a="http://schemas.openxmlformats.org/drawingml/2006/main">
              <a:ext uri="{FF2B5EF4-FFF2-40B4-BE49-F238E27FC236}">
                <a16:creationId xmlns:a16="http://schemas.microsoft.com/office/drawing/2014/main" id="{318F8373-5C30-4E86-89E3-5052DBE093F6}"/>
              </a:ext>
            </a:extLst>
          </p:cNvPr>
          <p:cNvSpPr>
            <a:spLocks xmlns:a="http://schemas.openxmlformats.org/drawingml/2006/main" noGrp="1"/>
          </p:cNvSpPr>
          <p:nvPr/>
        </p:nvSpPr>
        <p:spPr>
          <a:xfrm xmlns:a="http://schemas.openxmlformats.org/drawingml/2006/main">
            <a:off x="1590675" y="3048000"/>
            <a:ext cx="628650" cy="628650"/>
          </a:xfrm>
          <a:prstGeom xmlns:a="http://schemas.openxmlformats.org/drawingml/2006/main" prst="ellipse">
            <a:avLst/>
          </a:prstGeom>
          <a:solidFill xmlns:a="http://schemas.openxmlformats.org/drawingml/2006/main">
            <a:srgbClr val="FFBC03"/>
          </a:solidFill>
          <a:ln xmlns:a="http://schemas.openxmlformats.org/drawingml/2006/main" w="19050">
            <a:solidFill>
              <a:srgbClr val="FFBC03"/>
            </a:solidFill>
            <a:prstDash val="solid"/>
          </a:ln>
        </p:spPr>
      </p:sp>
      <p:sp>
        <p:nvSpPr>
          <p:cNvPr id="5" name="">
            <a:extLst xmlns:a="http://schemas.openxmlformats.org/drawingml/2006/main">
              <a:ext uri="{FF2B5EF4-FFF2-40B4-BE49-F238E27FC236}">
                <a16:creationId xmlns:a16="http://schemas.microsoft.com/office/drawing/2014/main" id="{8F0FA51D-6A6D-466A-8D43-38B061B45DA4}"/>
              </a:ext>
            </a:extLst>
          </p:cNvPr>
          <p:cNvSpPr>
            <a:spLocks xmlns:a="http://schemas.openxmlformats.org/drawingml/2006/main" noGrp="1"/>
          </p:cNvSpPr>
          <p:nvPr/>
        </p:nvSpPr>
        <p:spPr>
          <a:xfrm xmlns:a="http://schemas.openxmlformats.org/drawingml/2006/main">
            <a:off x="1590675" y="3238500"/>
            <a:ext cx="6286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001B30"/>
                </a:solidFill>
                <a:latin typeface="Inter"/>
                <a:ea typeface="Inter"/>
                <a:cs typeface="Inter"/>
              </a:defRPr>
            </a:pPr>
            <a:r>
              <a:rPr sz="1275" b="1">
                <a:solidFill>
                  <a:srgbClr val="001B30"/>
                </a:solidFill>
                <a:latin typeface="Inter"/>
                <a:ea typeface="Inter"/>
                <a:cs typeface="Inter"/>
              </a:rPr>
              <a:t>1</a:t>
            </a:r>
          </a:p>
        </p:txBody>
      </p:sp>
      <p:sp>
        <p:nvSpPr>
          <p:cNvPr id="6" name="">
            <a:extLst xmlns:a="http://schemas.openxmlformats.org/drawingml/2006/main">
              <a:ext uri="{FF2B5EF4-FFF2-40B4-BE49-F238E27FC236}">
                <a16:creationId xmlns:a16="http://schemas.microsoft.com/office/drawing/2014/main" id="{5492F381-AD9D-4051-B774-424B1C470035}"/>
              </a:ext>
            </a:extLst>
          </p:cNvPr>
          <p:cNvSpPr>
            <a:spLocks xmlns:a="http://schemas.openxmlformats.org/drawingml/2006/main" noGrp="1"/>
          </p:cNvSpPr>
          <p:nvPr/>
        </p:nvSpPr>
        <p:spPr>
          <a:xfrm xmlns:a="http://schemas.openxmlformats.org/drawingml/2006/main">
            <a:off x="1000125" y="4000500"/>
            <a:ext cx="1809750" cy="904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Deployment-backed BYOK</a:t>
            </a:r>
          </a:p>
        </p:txBody>
      </p:sp>
      <p:sp>
        <p:nvSpPr>
          <p:cNvPr id="7" name="">
            <a:extLst xmlns:a="http://schemas.openxmlformats.org/drawingml/2006/main">
              <a:ext uri="{FF2B5EF4-FFF2-40B4-BE49-F238E27FC236}">
                <a16:creationId xmlns:a16="http://schemas.microsoft.com/office/drawing/2014/main" id="{AE9AEBC4-118B-4C97-B7CC-579C3C1D1549}"/>
              </a:ext>
            </a:extLst>
          </p:cNvPr>
          <p:cNvSpPr>
            <a:spLocks xmlns:a="http://schemas.openxmlformats.org/drawingml/2006/main" noGrp="1"/>
          </p:cNvSpPr>
          <p:nvPr/>
        </p:nvSpPr>
        <p:spPr>
          <a:xfrm xmlns:a="http://schemas.openxmlformats.org/drawingml/2006/main">
            <a:off x="3638550" y="3048000"/>
            <a:ext cx="628650" cy="628650"/>
          </a:xfrm>
          <a:prstGeom xmlns:a="http://schemas.openxmlformats.org/drawingml/2006/main" prst="ellipse">
            <a:avLst/>
          </a:prstGeom>
          <a:solidFill xmlns:a="http://schemas.openxmlformats.org/drawingml/2006/main">
            <a:srgbClr val="002C4B"/>
          </a:solidFill>
          <a:ln xmlns:a="http://schemas.openxmlformats.org/drawingml/2006/main" w="19050">
            <a:solidFill>
              <a:srgbClr val="FFBC03"/>
            </a:solidFill>
            <a:prstDash val="solid"/>
          </a:ln>
        </p:spPr>
      </p:sp>
      <p:sp>
        <p:nvSpPr>
          <p:cNvPr id="8" name="">
            <a:extLst xmlns:a="http://schemas.openxmlformats.org/drawingml/2006/main">
              <a:ext uri="{FF2B5EF4-FFF2-40B4-BE49-F238E27FC236}">
                <a16:creationId xmlns:a16="http://schemas.microsoft.com/office/drawing/2014/main" id="{DA645262-F794-406E-AEEB-0932E094E643}"/>
              </a:ext>
            </a:extLst>
          </p:cNvPr>
          <p:cNvSpPr>
            <a:spLocks xmlns:a="http://schemas.openxmlformats.org/drawingml/2006/main" noGrp="1"/>
          </p:cNvSpPr>
          <p:nvPr/>
        </p:nvSpPr>
        <p:spPr>
          <a:xfrm xmlns:a="http://schemas.openxmlformats.org/drawingml/2006/main">
            <a:off x="3638550" y="3238500"/>
            <a:ext cx="6286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2</a:t>
            </a:r>
          </a:p>
        </p:txBody>
      </p:sp>
      <p:sp>
        <p:nvSpPr>
          <p:cNvPr id="9" name="">
            <a:extLst xmlns:a="http://schemas.openxmlformats.org/drawingml/2006/main">
              <a:ext uri="{FF2B5EF4-FFF2-40B4-BE49-F238E27FC236}">
                <a16:creationId xmlns:a16="http://schemas.microsoft.com/office/drawing/2014/main" id="{2D213C44-FE52-4FCE-A06A-CFE8B4C1E29C}"/>
              </a:ext>
            </a:extLst>
          </p:cNvPr>
          <p:cNvSpPr>
            <a:spLocks xmlns:a="http://schemas.openxmlformats.org/drawingml/2006/main" noGrp="1"/>
          </p:cNvSpPr>
          <p:nvPr/>
        </p:nvSpPr>
        <p:spPr>
          <a:xfrm xmlns:a="http://schemas.openxmlformats.org/drawingml/2006/main">
            <a:off x="3048000" y="4000500"/>
            <a:ext cx="1809750" cy="904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Operational and pilot controls</a:t>
            </a:r>
          </a:p>
        </p:txBody>
      </p:sp>
      <p:sp>
        <p:nvSpPr>
          <p:cNvPr id="10" name="">
            <a:extLst xmlns:a="http://schemas.openxmlformats.org/drawingml/2006/main">
              <a:ext uri="{FF2B5EF4-FFF2-40B4-BE49-F238E27FC236}">
                <a16:creationId xmlns:a16="http://schemas.microsoft.com/office/drawing/2014/main" id="{730EED91-41BD-4935-866E-5549D21CD179}"/>
              </a:ext>
            </a:extLst>
          </p:cNvPr>
          <p:cNvSpPr>
            <a:spLocks xmlns:a="http://schemas.openxmlformats.org/drawingml/2006/main" noGrp="1"/>
          </p:cNvSpPr>
          <p:nvPr/>
        </p:nvSpPr>
        <p:spPr>
          <a:xfrm xmlns:a="http://schemas.openxmlformats.org/drawingml/2006/main">
            <a:off x="5686425" y="3048000"/>
            <a:ext cx="628650" cy="628650"/>
          </a:xfrm>
          <a:prstGeom xmlns:a="http://schemas.openxmlformats.org/drawingml/2006/main" prst="ellipse">
            <a:avLst/>
          </a:prstGeom>
          <a:solidFill xmlns:a="http://schemas.openxmlformats.org/drawingml/2006/main">
            <a:srgbClr val="002C4B"/>
          </a:solidFill>
          <a:ln xmlns:a="http://schemas.openxmlformats.org/drawingml/2006/main" w="19050">
            <a:solidFill>
              <a:srgbClr val="FFBC03"/>
            </a:solidFill>
            <a:prstDash val="solid"/>
          </a:ln>
        </p:spPr>
      </p:sp>
      <p:sp>
        <p:nvSpPr>
          <p:cNvPr id="11" name="">
            <a:extLst xmlns:a="http://schemas.openxmlformats.org/drawingml/2006/main">
              <a:ext uri="{FF2B5EF4-FFF2-40B4-BE49-F238E27FC236}">
                <a16:creationId xmlns:a16="http://schemas.microsoft.com/office/drawing/2014/main" id="{FCF95955-9D6C-4190-9A75-54AD99E073DA}"/>
              </a:ext>
            </a:extLst>
          </p:cNvPr>
          <p:cNvSpPr>
            <a:spLocks xmlns:a="http://schemas.openxmlformats.org/drawingml/2006/main" noGrp="1"/>
          </p:cNvSpPr>
          <p:nvPr/>
        </p:nvSpPr>
        <p:spPr>
          <a:xfrm xmlns:a="http://schemas.openxmlformats.org/drawingml/2006/main">
            <a:off x="5686425" y="3238500"/>
            <a:ext cx="6286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3</a:t>
            </a:r>
          </a:p>
        </p:txBody>
      </p:sp>
      <p:sp>
        <p:nvSpPr>
          <p:cNvPr id="12" name="">
            <a:extLst xmlns:a="http://schemas.openxmlformats.org/drawingml/2006/main">
              <a:ext uri="{FF2B5EF4-FFF2-40B4-BE49-F238E27FC236}">
                <a16:creationId xmlns:a16="http://schemas.microsoft.com/office/drawing/2014/main" id="{090474EC-41A0-4982-8A06-9D5FB1D3FDDE}"/>
              </a:ext>
            </a:extLst>
          </p:cNvPr>
          <p:cNvSpPr>
            <a:spLocks xmlns:a="http://schemas.openxmlformats.org/drawingml/2006/main" noGrp="1"/>
          </p:cNvSpPr>
          <p:nvPr/>
        </p:nvSpPr>
        <p:spPr>
          <a:xfrm xmlns:a="http://schemas.openxmlformats.org/drawingml/2006/main">
            <a:off x="5095875" y="4000500"/>
            <a:ext cx="1809750" cy="904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Delivery / Monitor / Admin / Trust engineering</a:t>
            </a:r>
          </a:p>
        </p:txBody>
      </p:sp>
      <p:sp>
        <p:nvSpPr>
          <p:cNvPr id="13" name="">
            <a:extLst xmlns:a="http://schemas.openxmlformats.org/drawingml/2006/main">
              <a:ext uri="{FF2B5EF4-FFF2-40B4-BE49-F238E27FC236}">
                <a16:creationId xmlns:a16="http://schemas.microsoft.com/office/drawing/2014/main" id="{A8ABE6C2-CF42-4DE1-8EA0-AB4A9EA67A8F}"/>
              </a:ext>
            </a:extLst>
          </p:cNvPr>
          <p:cNvSpPr>
            <a:spLocks xmlns:a="http://schemas.openxmlformats.org/drawingml/2006/main" noGrp="1"/>
          </p:cNvSpPr>
          <p:nvPr/>
        </p:nvSpPr>
        <p:spPr>
          <a:xfrm xmlns:a="http://schemas.openxmlformats.org/drawingml/2006/main">
            <a:off x="7734300" y="3048000"/>
            <a:ext cx="628650" cy="628650"/>
          </a:xfrm>
          <a:prstGeom xmlns:a="http://schemas.openxmlformats.org/drawingml/2006/main" prst="ellipse">
            <a:avLst/>
          </a:prstGeom>
          <a:solidFill xmlns:a="http://schemas.openxmlformats.org/drawingml/2006/main">
            <a:srgbClr val="002C4B"/>
          </a:solidFill>
          <a:ln xmlns:a="http://schemas.openxmlformats.org/drawingml/2006/main" w="19050">
            <a:solidFill>
              <a:srgbClr val="FFBC03"/>
            </a:solidFill>
            <a:prstDash val="solid"/>
          </a:ln>
        </p:spPr>
      </p:sp>
      <p:sp>
        <p:nvSpPr>
          <p:cNvPr id="14" name="">
            <a:extLst xmlns:a="http://schemas.openxmlformats.org/drawingml/2006/main">
              <a:ext uri="{FF2B5EF4-FFF2-40B4-BE49-F238E27FC236}">
                <a16:creationId xmlns:a16="http://schemas.microsoft.com/office/drawing/2014/main" id="{2B193542-A275-44B2-A662-3D1579F39EB9}"/>
              </a:ext>
            </a:extLst>
          </p:cNvPr>
          <p:cNvSpPr>
            <a:spLocks xmlns:a="http://schemas.openxmlformats.org/drawingml/2006/main" noGrp="1"/>
          </p:cNvSpPr>
          <p:nvPr/>
        </p:nvSpPr>
        <p:spPr>
          <a:xfrm xmlns:a="http://schemas.openxmlformats.org/drawingml/2006/main">
            <a:off x="7734300" y="3238500"/>
            <a:ext cx="6286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4</a:t>
            </a:r>
          </a:p>
        </p:txBody>
      </p:sp>
      <p:sp>
        <p:nvSpPr>
          <p:cNvPr id="15" name="">
            <a:extLst xmlns:a="http://schemas.openxmlformats.org/drawingml/2006/main">
              <a:ext uri="{FF2B5EF4-FFF2-40B4-BE49-F238E27FC236}">
                <a16:creationId xmlns:a16="http://schemas.microsoft.com/office/drawing/2014/main" id="{25853140-3EF0-481B-8213-6D1A2D0028BB}"/>
              </a:ext>
            </a:extLst>
          </p:cNvPr>
          <p:cNvSpPr>
            <a:spLocks xmlns:a="http://schemas.openxmlformats.org/drawingml/2006/main" noGrp="1"/>
          </p:cNvSpPr>
          <p:nvPr/>
        </p:nvSpPr>
        <p:spPr>
          <a:xfrm xmlns:a="http://schemas.openxmlformats.org/drawingml/2006/main">
            <a:off x="7143750" y="4000500"/>
            <a:ext cx="1809750" cy="904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First design partners</a:t>
            </a:r>
          </a:p>
        </p:txBody>
      </p:sp>
      <p:sp>
        <p:nvSpPr>
          <p:cNvPr id="16" name="">
            <a:extLst xmlns:a="http://schemas.openxmlformats.org/drawingml/2006/main">
              <a:ext uri="{FF2B5EF4-FFF2-40B4-BE49-F238E27FC236}">
                <a16:creationId xmlns:a16="http://schemas.microsoft.com/office/drawing/2014/main" id="{45C95B00-C600-49C1-9BCC-A15CE355F366}"/>
              </a:ext>
            </a:extLst>
          </p:cNvPr>
          <p:cNvSpPr>
            <a:spLocks xmlns:a="http://schemas.openxmlformats.org/drawingml/2006/main" noGrp="1"/>
          </p:cNvSpPr>
          <p:nvPr/>
        </p:nvSpPr>
        <p:spPr>
          <a:xfrm xmlns:a="http://schemas.openxmlformats.org/drawingml/2006/main">
            <a:off x="9782175" y="3048000"/>
            <a:ext cx="628650" cy="628650"/>
          </a:xfrm>
          <a:prstGeom xmlns:a="http://schemas.openxmlformats.org/drawingml/2006/main" prst="ellipse">
            <a:avLst/>
          </a:prstGeom>
          <a:solidFill xmlns:a="http://schemas.openxmlformats.org/drawingml/2006/main">
            <a:srgbClr val="002C4B"/>
          </a:solidFill>
          <a:ln xmlns:a="http://schemas.openxmlformats.org/drawingml/2006/main" w="19050">
            <a:solidFill>
              <a:srgbClr val="FFBC03"/>
            </a:solidFill>
            <a:prstDash val="solid"/>
          </a:ln>
        </p:spPr>
      </p:sp>
      <p:sp>
        <p:nvSpPr>
          <p:cNvPr id="17" name="">
            <a:extLst xmlns:a="http://schemas.openxmlformats.org/drawingml/2006/main">
              <a:ext uri="{FF2B5EF4-FFF2-40B4-BE49-F238E27FC236}">
                <a16:creationId xmlns:a16="http://schemas.microsoft.com/office/drawing/2014/main" id="{1E48993B-4CB1-479D-9AA6-07181A08174B}"/>
              </a:ext>
            </a:extLst>
          </p:cNvPr>
          <p:cNvSpPr>
            <a:spLocks xmlns:a="http://schemas.openxmlformats.org/drawingml/2006/main" noGrp="1"/>
          </p:cNvSpPr>
          <p:nvPr/>
        </p:nvSpPr>
        <p:spPr>
          <a:xfrm xmlns:a="http://schemas.openxmlformats.org/drawingml/2006/main">
            <a:off x="9782175" y="3238500"/>
            <a:ext cx="628650" cy="23812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5</a:t>
            </a:r>
          </a:p>
        </p:txBody>
      </p:sp>
      <p:sp>
        <p:nvSpPr>
          <p:cNvPr id="18" name="">
            <a:extLst xmlns:a="http://schemas.openxmlformats.org/drawingml/2006/main">
              <a:ext uri="{FF2B5EF4-FFF2-40B4-BE49-F238E27FC236}">
                <a16:creationId xmlns:a16="http://schemas.microsoft.com/office/drawing/2014/main" id="{F3D81520-30D9-43F5-B758-5AED760148A3}"/>
              </a:ext>
            </a:extLst>
          </p:cNvPr>
          <p:cNvSpPr>
            <a:spLocks xmlns:a="http://schemas.openxmlformats.org/drawingml/2006/main" noGrp="1"/>
          </p:cNvSpPr>
          <p:nvPr/>
        </p:nvSpPr>
        <p:spPr>
          <a:xfrm xmlns:a="http://schemas.openxmlformats.org/drawingml/2006/main">
            <a:off x="9191625" y="4000500"/>
            <a:ext cx="1809750" cy="904875"/>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75" b="1">
                <a:solidFill>
                  <a:srgbClr val="FFFFFF"/>
                </a:solidFill>
                <a:latin typeface="Inter"/>
                <a:ea typeface="Inter"/>
                <a:cs typeface="Inter"/>
              </a:defRPr>
            </a:pPr>
            <a:r>
              <a:rPr sz="1275" b="1">
                <a:solidFill>
                  <a:srgbClr val="FFFFFF"/>
                </a:solidFill>
                <a:latin typeface="Inter"/>
                <a:ea typeface="Inter"/>
                <a:cs typeface="Inter"/>
              </a:rPr>
              <a:t>Focused go-to-market</a:t>
            </a:r>
          </a:p>
        </p:txBody>
      </p:sp>
      <p:sp>
        <p:nvSpPr>
          <p:cNvPr id="19" name="">
            <a:extLst xmlns:a="http://schemas.openxmlformats.org/drawingml/2006/main">
              <a:ext uri="{FF2B5EF4-FFF2-40B4-BE49-F238E27FC236}">
                <a16:creationId xmlns:a16="http://schemas.microsoft.com/office/drawing/2014/main" id="{3DF063EF-09B8-43F0-A1B4-5A02C5C45B24}"/>
              </a:ext>
            </a:extLst>
          </p:cNvPr>
          <p:cNvSpPr>
            <a:spLocks xmlns:a="http://schemas.openxmlformats.org/drawingml/2006/main" noGrp="1"/>
          </p:cNvSpPr>
          <p:nvPr/>
        </p:nvSpPr>
        <p:spPr>
          <a:xfrm xmlns:a="http://schemas.openxmlformats.org/drawingml/2006/main">
            <a:off x="609600" y="6477000"/>
            <a:ext cx="36195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1">
                <a:solidFill>
                  <a:srgbClr val="B9C7D5"/>
                </a:solidFill>
                <a:latin typeface="Inter"/>
                <a:ea typeface="Inter"/>
                <a:cs typeface="Inter"/>
              </a:defRPr>
            </a:pPr>
            <a:r>
              <a:rPr sz="750" b="1">
                <a:solidFill>
                  <a:srgbClr val="B9C7D5"/>
                </a:solidFill>
                <a:latin typeface="Inter"/>
                <a:ea typeface="Inter"/>
                <a:cs typeface="Inter"/>
              </a:rPr>
              <a:t>The Operating System for Governed AI and Automation Decisions • Pre-seed enterprise software, automation, workflow, and AI-governance investors</a:t>
            </a:r>
          </a:p>
        </p:txBody>
      </p:sp>
      <p:sp>
        <p:nvSpPr>
          <p:cNvPr id="20" name="">
            <a:extLst xmlns:a="http://schemas.openxmlformats.org/drawingml/2006/main">
              <a:ext uri="{FF2B5EF4-FFF2-40B4-BE49-F238E27FC236}">
                <a16:creationId xmlns:a16="http://schemas.microsoft.com/office/drawing/2014/main" id="{2D771D51-A23B-4842-A6A0-91EFE2ED3057}"/>
              </a:ext>
            </a:extLst>
          </p:cNvPr>
          <p:cNvSpPr>
            <a:spLocks xmlns:a="http://schemas.openxmlformats.org/drawingml/2006/main" noGrp="1"/>
          </p:cNvSpPr>
          <p:nvPr/>
        </p:nvSpPr>
        <p:spPr>
          <a:xfrm xmlns:a="http://schemas.openxmlformats.org/drawingml/2006/main">
            <a:off x="3695700" y="6477000"/>
            <a:ext cx="7239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750" b="0">
                <a:solidFill>
                  <a:srgbClr val="B9C7D5"/>
                </a:solidFill>
                <a:latin typeface="Inter"/>
                <a:ea typeface="Inter"/>
                <a:cs typeface="Inter"/>
              </a:defRPr>
            </a:pPr>
            <a:r>
              <a:rPr sz="750" b="0">
                <a:solidFill>
                  <a:srgbClr val="B9C7D5"/>
                </a:solidFill>
                <a:latin typeface="Inter"/>
                <a:ea typeface="Inter"/>
                <a:cs typeface="Inter"/>
              </a:rPr>
              <a:t>Round, amount, runway, founder credentials, traction, legal entity, and contact details are intentionally omitted until supplied.</a:t>
            </a:r>
          </a:p>
        </p:txBody>
      </p:sp>
      <p:sp>
        <p:nvSpPr>
          <p:cNvPr id="21" name="">
            <a:extLst xmlns:a="http://schemas.openxmlformats.org/drawingml/2006/main">
              <a:ext uri="{FF2B5EF4-FFF2-40B4-BE49-F238E27FC236}">
                <a16:creationId xmlns:a16="http://schemas.microsoft.com/office/drawing/2014/main" id="{6A514F19-5793-4248-858D-97495A5CB386}"/>
              </a:ext>
            </a:extLst>
          </p:cNvPr>
          <p:cNvSpPr>
            <a:spLocks xmlns:a="http://schemas.openxmlformats.org/drawingml/2006/main" noGrp="1"/>
          </p:cNvSpPr>
          <p:nvPr/>
        </p:nvSpPr>
        <p:spPr>
          <a:xfrm xmlns:a="http://schemas.openxmlformats.org/drawingml/2006/main">
            <a:off x="11125200" y="6477000"/>
            <a:ext cx="4572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750" b="1">
                <a:solidFill>
                  <a:srgbClr val="B9C7D5"/>
                </a:solidFill>
                <a:latin typeface="Inter"/>
                <a:ea typeface="Inter"/>
                <a:cs typeface="Inter"/>
              </a:defRPr>
            </a:pPr>
            <a:r>
              <a:rPr sz="750" b="1">
                <a:solidFill>
                  <a:srgbClr val="B9C7D5"/>
                </a:solidFill>
                <a:latin typeface="Inter"/>
                <a:ea typeface="Inter"/>
                <a:cs typeface="Inter"/>
              </a:rPr>
              <a:t>15</a:t>
            </a:r>
          </a:p>
        </p:txBody>
      </p:sp>
    </p:spTree>
    <p:extLst>
      <p:ext uri="{BB962C8B-B14F-4D97-AF65-F5344CB8AC3E}">
        <p14:creationId xmlns:p14="http://schemas.microsoft.com/office/powerpoint/2010/main" val="11195992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2026-08-02T11:35:24.5180000Z</dcterms:created>
  <dcterms:modified xsi:type="dcterms:W3CDTF">2026-08-02T11:35:24.5180000Z</dcterms:modified>
</coreProperties>
</file>