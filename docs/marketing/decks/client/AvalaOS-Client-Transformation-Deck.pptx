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54627b862a4825" /><Relationship Type="http://schemas.openxmlformats.org/officeDocument/2006/relationships/extended-properties" Target="/docProps/app.xml" Id="Re089e95892be44ca" /><Relationship Type="http://schemas.openxmlformats.org/officeDocument/2006/relationships/officeDocument" Target="/ppt/presentation.xml" Id="R11eb813e96f8411d" /></Relationships>
</file>

<file path=ppt/presentation.xml><?xml version="1.0" encoding="utf-8"?>
<p:presentation xmlns:p="http://schemas.openxmlformats.org/presentationml/2006/main">
  <p:sldMasterIdLst>
    <p:sldMasterId xmlns:r="http://schemas.openxmlformats.org/officeDocument/2006/relationships" id="2147483648" r:id="R507a19b1df714ca0"/>
  </p:sldMasterIdLst>
  <p:notesMasterIdLst>
    <p:notesMasterId xmlns:r="http://schemas.openxmlformats.org/officeDocument/2006/relationships" r:id="R2bab8a201dcd4a9d"/>
  </p:notesMasterIdLst>
  <p:sldIdLst>
    <p:sldId xmlns:r="http://schemas.openxmlformats.org/officeDocument/2006/relationships" id="256" r:id="R8ec12be4333a4500"/>
    <p:sldId xmlns:r="http://schemas.openxmlformats.org/officeDocument/2006/relationships" id="257" r:id="Rf688da34ebef4c12"/>
    <p:sldId xmlns:r="http://schemas.openxmlformats.org/officeDocument/2006/relationships" id="258" r:id="R667a2008a7d74054"/>
    <p:sldId xmlns:r="http://schemas.openxmlformats.org/officeDocument/2006/relationships" id="259" r:id="R55d22721b766465e"/>
    <p:sldId xmlns:r="http://schemas.openxmlformats.org/officeDocument/2006/relationships" id="260" r:id="R21501ed00b1045cd"/>
    <p:sldId xmlns:r="http://schemas.openxmlformats.org/officeDocument/2006/relationships" id="261" r:id="R8b1c2482f3b74eb9"/>
    <p:sldId xmlns:r="http://schemas.openxmlformats.org/officeDocument/2006/relationships" id="262" r:id="Rfbef0d0897254f67"/>
    <p:sldId xmlns:r="http://schemas.openxmlformats.org/officeDocument/2006/relationships" id="263" r:id="Re3f9a1770adb472b"/>
    <p:sldId xmlns:r="http://schemas.openxmlformats.org/officeDocument/2006/relationships" id="264" r:id="R7a6fd97280a34c08"/>
    <p:sldId xmlns:r="http://schemas.openxmlformats.org/officeDocument/2006/relationships" id="265" r:id="R6c382c4a477b426c"/>
    <p:sldId xmlns:r="http://schemas.openxmlformats.org/officeDocument/2006/relationships" id="266" r:id="R026e32843a6646a2"/>
    <p:sldId xmlns:r="http://schemas.openxmlformats.org/officeDocument/2006/relationships" id="267" r:id="Reb559092c30f4105"/>
    <p:sldId xmlns:r="http://schemas.openxmlformats.org/officeDocument/2006/relationships" id="268" r:id="Rd9f4a6029ab34ad2"/>
    <p:sldId xmlns:r="http://schemas.openxmlformats.org/officeDocument/2006/relationships" id="269" r:id="R08fe6f20f08d466f"/>
    <p:sldId xmlns:r="http://schemas.openxmlformats.org/officeDocument/2006/relationships" id="270" r:id="R15c76d0634034412"/>
    <p:sldId xmlns:r="http://schemas.openxmlformats.org/officeDocument/2006/relationships" id="271" r:id="R173c86c62c7d4ddc"/>
    <p:sldId xmlns:r="http://schemas.openxmlformats.org/officeDocument/2006/relationships" id="272" r:id="R77443ca2af9a4907"/>
    <p:sldId xmlns:r="http://schemas.openxmlformats.org/officeDocument/2006/relationships" id="273" r:id="Rc01f343c61074b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cc8c95c17f4dc9" /><Relationship Type="http://schemas.openxmlformats.org/officeDocument/2006/relationships/slideMaster" Target="/ppt/slideMasters/slideMaster1.xml" Id="R507a19b1df714ca0" /><Relationship Type="http://schemas.openxmlformats.org/officeDocument/2006/relationships/notesMaster" Target="/ppt/notesMasters/notesMaster1.xml" Id="R2bab8a201dcd4a9d" /><Relationship Type="http://schemas.openxmlformats.org/officeDocument/2006/relationships/presProps" Target="/ppt/presProps.xml" Id="R70e94fbdcd1f4ff0" /><Relationship Type="http://schemas.openxmlformats.org/officeDocument/2006/relationships/tableStyles" Target="/ppt/tableStyles.xml" Id="Rc643672280984522" /><Relationship Type="http://schemas.openxmlformats.org/officeDocument/2006/relationships/slide" Target="/ppt/slides/slide1.xml" Id="R8ec12be4333a4500" /><Relationship Type="http://schemas.openxmlformats.org/officeDocument/2006/relationships/slide" Target="/ppt/slides/slide2.xml" Id="Rf688da34ebef4c12" /><Relationship Type="http://schemas.openxmlformats.org/officeDocument/2006/relationships/slide" Target="/ppt/slides/slide3.xml" Id="R667a2008a7d74054" /><Relationship Type="http://schemas.openxmlformats.org/officeDocument/2006/relationships/slide" Target="/ppt/slides/slide4.xml" Id="R55d22721b766465e" /><Relationship Type="http://schemas.openxmlformats.org/officeDocument/2006/relationships/slide" Target="/ppt/slides/slide5.xml" Id="R21501ed00b1045cd" /><Relationship Type="http://schemas.openxmlformats.org/officeDocument/2006/relationships/slide" Target="/ppt/slides/slide6.xml" Id="R8b1c2482f3b74eb9" /><Relationship Type="http://schemas.openxmlformats.org/officeDocument/2006/relationships/slide" Target="/ppt/slides/slide7.xml" Id="Rfbef0d0897254f67" /><Relationship Type="http://schemas.openxmlformats.org/officeDocument/2006/relationships/slide" Target="/ppt/slides/slide8.xml" Id="Re3f9a1770adb472b" /><Relationship Type="http://schemas.openxmlformats.org/officeDocument/2006/relationships/slide" Target="/ppt/slides/slide9.xml" Id="R7a6fd97280a34c08" /><Relationship Type="http://schemas.openxmlformats.org/officeDocument/2006/relationships/slide" Target="/ppt/slides/slide10.xml" Id="R6c382c4a477b426c" /><Relationship Type="http://schemas.openxmlformats.org/officeDocument/2006/relationships/slide" Target="/ppt/slides/slide11.xml" Id="R026e32843a6646a2" /><Relationship Type="http://schemas.openxmlformats.org/officeDocument/2006/relationships/slide" Target="/ppt/slides/slide12.xml" Id="Reb559092c30f4105" /><Relationship Type="http://schemas.openxmlformats.org/officeDocument/2006/relationships/slide" Target="/ppt/slides/slide13.xml" Id="Rd9f4a6029ab34ad2" /><Relationship Type="http://schemas.openxmlformats.org/officeDocument/2006/relationships/slide" Target="/ppt/slides/slide14.xml" Id="R08fe6f20f08d466f" /><Relationship Type="http://schemas.openxmlformats.org/officeDocument/2006/relationships/slide" Target="/ppt/slides/slide15.xml" Id="R15c76d0634034412" /><Relationship Type="http://schemas.openxmlformats.org/officeDocument/2006/relationships/slide" Target="/ppt/slides/slide16.xml" Id="R173c86c62c7d4ddc" /><Relationship Type="http://schemas.openxmlformats.org/officeDocument/2006/relationships/slide" Target="/ppt/slides/slide17.xml" Id="R77443ca2af9a4907" /><Relationship Type="http://schemas.openxmlformats.org/officeDocument/2006/relationships/slide" Target="/ppt/slides/slide18.xml" Id="Rc01f343c61074b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f3d24be2f84b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d7cc2002e34fff" /><Relationship Type="http://schemas.openxmlformats.org/officeDocument/2006/relationships/notesMaster" Target="/ppt/notesMasters/notesMaster1.xml" Id="R0dcf59777c0940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27160b4b82470f" /><Relationship Type="http://schemas.openxmlformats.org/officeDocument/2006/relationships/notesMaster" Target="/ppt/notesMasters/notesMaster1.xml" Id="Rc37d80ec4fd34d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6ca52c845044b2" /><Relationship Type="http://schemas.openxmlformats.org/officeDocument/2006/relationships/notesMaster" Target="/ppt/notesMasters/notesMaster1.xml" Id="R4eb6535d0c8746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710c72297d4d8d" /><Relationship Type="http://schemas.openxmlformats.org/officeDocument/2006/relationships/notesMaster" Target="/ppt/notesMasters/notesMaster1.xml" Id="R4af8eeef295b44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1493c7a07a4642" /><Relationship Type="http://schemas.openxmlformats.org/officeDocument/2006/relationships/notesMaster" Target="/ppt/notesMasters/notesMaster1.xml" Id="Rd7ba334cad584d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13083d265d4aa8" /><Relationship Type="http://schemas.openxmlformats.org/officeDocument/2006/relationships/notesMaster" Target="/ppt/notesMasters/notesMaster1.xml" Id="R06ec9482b1fe44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55a543e91d4e2c" /><Relationship Type="http://schemas.openxmlformats.org/officeDocument/2006/relationships/notesMaster" Target="/ppt/notesMasters/notesMaster1.xml" Id="R679f1fd1fde346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a8c659327a4b24" /><Relationship Type="http://schemas.openxmlformats.org/officeDocument/2006/relationships/notesMaster" Target="/ppt/notesMasters/notesMaster1.xml" Id="R14a18c51f39f41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363a479f72483a" /><Relationship Type="http://schemas.openxmlformats.org/officeDocument/2006/relationships/notesMaster" Target="/ppt/notesMasters/notesMaster1.xml" Id="R27d0cd3cd6484b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290794b2d74df7" /><Relationship Type="http://schemas.openxmlformats.org/officeDocument/2006/relationships/notesMaster" Target="/ppt/notesMasters/notesMaster1.xml" Id="R81d0d436fc1645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52711b706440ed" /><Relationship Type="http://schemas.openxmlformats.org/officeDocument/2006/relationships/notesMaster" Target="/ppt/notesMasters/notesMaster1.xml" Id="R862e90707fdf47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c891f7c7d14287" /><Relationship Type="http://schemas.openxmlformats.org/officeDocument/2006/relationships/notesMaster" Target="/ppt/notesMasters/notesMaster1.xml" Id="R0338238d0f2a4c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510b0095074b87" /><Relationship Type="http://schemas.openxmlformats.org/officeDocument/2006/relationships/notesMaster" Target="/ppt/notesMasters/notesMaster1.xml" Id="R4c27011280864f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58de0d6be94a98" /><Relationship Type="http://schemas.openxmlformats.org/officeDocument/2006/relationships/notesMaster" Target="/ppt/notesMasters/notesMaster1.xml" Id="R8172b3b7d66541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f749481a2a549f9" /><Relationship Type="http://schemas.openxmlformats.org/officeDocument/2006/relationships/notesMaster" Target="/ppt/notesMasters/notesMaster1.xml" Id="Rbd0c2ba6dead4f9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ea74cf8a514482" /><Relationship Type="http://schemas.openxmlformats.org/officeDocument/2006/relationships/notesMaster" Target="/ppt/notesMasters/notesMaster1.xml" Id="Rd5bb4c0c8515487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698c96cefc448b" /><Relationship Type="http://schemas.openxmlformats.org/officeDocument/2006/relationships/notesMaster" Target="/ppt/notesMasters/notesMaster1.xml" Id="R16d879b3c56948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d61062b09b448b9" /><Relationship Type="http://schemas.openxmlformats.org/officeDocument/2006/relationships/notesMaster" Target="/ppt/notesMasters/notesMaster1.xml" Id="R07c5cb306bba44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from process evidence to governed delivery. AvalaOS — the governed decision and delivery layer around AI, automation, and human work. The key distinction is that AvalaOS governs the decision and handoff while authorized systems execute. State the boundary plainly: Synthetic product preview. No client relationship or live execution implied.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From process evidence to governed delivery.</a:t>
            </a:r>
          </a:p>
          <a:p xmlns:a="http://schemas.openxmlformats.org/drawingml/2006/main">
            <a:r>
              <a:t/>
            </a:r>
          </a:p>
          <a:p xmlns:a="http://schemas.openxmlformats.org/drawingml/2006/main">
            <a:r>
              <a:t>AUDIENCE-SPECIFIC EMPHASIS</a:t>
            </a:r>
          </a:p>
          <a:p xmlns:a="http://schemas.openxmlformats.org/drawingml/2006/main">
            <a:r>
              <a:t>Orient the buyer around the operating outcome.</a:t>
            </a:r>
          </a:p>
          <a:p xmlns:a="http://schemas.openxmlformats.org/drawingml/2006/main">
            <a:r>
              <a:t/>
            </a:r>
          </a:p>
          <a:p xmlns:a="http://schemas.openxmlformats.org/drawingml/2006/main">
            <a:r>
              <a:t>CLAIMS USED</a:t>
            </a:r>
          </a:p>
          <a:p xmlns:a="http://schemas.openxmlformats.org/drawingml/2006/main">
            <a:r>
              <a:t>CL-001, CL-002, CL-003,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Is this a customer case study?</a:t>
            </a:r>
          </a:p>
          <a:p xmlns:a="http://schemas.openxmlformats.org/drawingml/2006/main">
            <a:r>
              <a:t/>
            </a:r>
          </a:p>
          <a:p xmlns:a="http://schemas.openxmlformats.org/drawingml/2006/main">
            <a:r>
              <a:t>SUGGESTED RESPONSE</a:t>
            </a:r>
          </a:p>
          <a:p xmlns:a="http://schemas.openxmlformats.org/drawingml/2006/main">
            <a:r>
              <a:t>No. This is a configurable discussion draft using synthetic product data.</a:t>
            </a:r>
          </a:p>
          <a:p xmlns:a="http://schemas.openxmlformats.org/drawingml/2006/main">
            <a:r>
              <a:t/>
            </a:r>
          </a:p>
          <a:p xmlns:a="http://schemas.openxmlformats.org/drawingml/2006/main">
            <a:r>
              <a:t>AP INPUT REQUIRED</a:t>
            </a:r>
          </a:p>
          <a:p xmlns:a="http://schemas.openxmlformats.org/drawingml/2006/main">
            <a:r>
              <a:t>Client name and logo remain unsupplied.</a:t>
            </a:r>
          </a:p>
          <a:p xmlns:a="http://schemas.openxmlformats.org/drawingml/2006/main">
            <a:r>
              <a:t/>
            </a:r>
          </a:p>
          <a:p xmlns:a="http://schemas.openxmlformats.org/drawingml/2006/main">
            <a:r>
              <a:t>[Sources]</a:t>
            </a:r>
          </a:p>
          <a:p xmlns:a="http://schemas.openxmlformats.org/drawingml/2006/main">
            <a:r>
              <a:t>- CL-001: docs/00_SOURCE_OF_TRUTH.md — product identity; docs/01_PRODUCT_STRATEGY.md — Positioning</a:t>
            </a:r>
          </a:p>
          <a:p xmlns:a="http://schemas.openxmlformats.org/drawingml/2006/main">
            <a:r>
              <a:t>- CL-002: docs/00_SOURCE_OF_TRUTH.md — canonical tagline</a:t>
            </a:r>
          </a:p>
          <a:p xmlns:a="http://schemas.openxmlformats.org/drawingml/2006/main">
            <a:r>
              <a:t>- CL-003: docs/design/avalaos-enterprise-ui-rebaseline.md — Purpose</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automation portfolios fail before development begins. Walk through Technology-first selection, Inconsistent assessment methods, Incomplete evidence, and Spreadsheet decisions. The remaining signals — Spreadsheet decisions and Approval by email — matter because they keep authority and evidence visible. State the boundary plainly: Recognizable operating pattern; no quantified buyer performance claim.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Automation portfolios fail before development begins.</a:t>
            </a:r>
          </a:p>
          <a:p xmlns:a="http://schemas.openxmlformats.org/drawingml/2006/main">
            <a:r>
              <a:t/>
            </a:r>
          </a:p>
          <a:p xmlns:a="http://schemas.openxmlformats.org/drawingml/2006/main">
            <a:r>
              <a:t>AUDIENCE-SPECIFIC EMPHASIS</a:t>
            </a:r>
          </a:p>
          <a:p xmlns:a="http://schemas.openxmlformats.org/drawingml/2006/main">
            <a:r>
              <a:t>Frame decision quality as a portfolio-control problem.</a:t>
            </a:r>
          </a:p>
          <a:p xmlns:a="http://schemas.openxmlformats.org/drawingml/2006/main">
            <a:r>
              <a:t/>
            </a:r>
          </a:p>
          <a:p xmlns:a="http://schemas.openxmlformats.org/drawingml/2006/main">
            <a:r>
              <a:t>CLAIMS USED</a:t>
            </a:r>
          </a:p>
          <a:p xmlns:a="http://schemas.openxmlformats.org/drawingml/2006/main">
            <a:r>
              <a:t>CL-001, CL-003, CL-008</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Do you have benchmark failure rates?</a:t>
            </a:r>
          </a:p>
          <a:p xmlns:a="http://schemas.openxmlformats.org/drawingml/2006/main">
            <a:r>
              <a:t/>
            </a:r>
          </a:p>
          <a:p xmlns:a="http://schemas.openxmlformats.org/drawingml/2006/main">
            <a:r>
              <a:t>SUGGESTED RESPONSE</a:t>
            </a:r>
          </a:p>
          <a:p xmlns:a="http://schemas.openxmlformats.org/drawingml/2006/main">
            <a:r>
              <a:t>No benchmark number is used; the slide describes the problem the product addresses.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CL-001: docs/00_SOURCE_OF_TRUTH.md — product identity; docs/01_PRODUCT_STRATEGY.md — Positioning</a:t>
            </a:r>
          </a:p>
          <a:p xmlns:a="http://schemas.openxmlformats.org/drawingml/2006/main">
            <a:r>
              <a:t>- CL-003: docs/design/avalaos-enterprise-ui-rebaseline.md — Purpose</a:t>
            </a:r>
          </a:p>
          <a:p xmlns:a="http://schemas.openxmlformats.org/drawingml/2006/main">
            <a:r>
              <a:t>- CL-008: docs/00_SOURCE_OF_TRUTH.md — Product and Security Law</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not every process needs ai. Walk through Stable + structured: Rules / workflow: Deterministic controls, Repetitive UI work: RPA: Only where stronger interfaces are unavailable, Unstructured content: AI assistance: Extraction, classification, summarisation, and Context-heavy inquiry: Bounded agent assistance: Evidence synthesis with controls. The remaining signals — Context-heavy inquiry: Bounded agent assistance: Evidence synthesis with controls and Material-risk judgment: Human / HITL: Accountable approval — matter because they keep authority and evidence visible. State the boundary plainly: AvalaOS evaluates evidence and controls; authorized systems execute.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Not every process needs AI.</a:t>
            </a:r>
          </a:p>
          <a:p xmlns:a="http://schemas.openxmlformats.org/drawingml/2006/main">
            <a:r>
              <a:t/>
            </a:r>
          </a:p>
          <a:p xmlns:a="http://schemas.openxmlformats.org/drawingml/2006/main">
            <a:r>
              <a:t>AUDIENCE-SPECIFIC EMPHASIS</a:t>
            </a:r>
          </a:p>
          <a:p xmlns:a="http://schemas.openxmlformats.org/drawingml/2006/main">
            <a:r>
              <a:t>Use the AP Invoice Exception pattern to make hybrid fit concrete.</a:t>
            </a:r>
          </a:p>
          <a:p xmlns:a="http://schemas.openxmlformats.org/drawingml/2006/main">
            <a:r>
              <a:t/>
            </a:r>
          </a:p>
          <a:p xmlns:a="http://schemas.openxmlformats.org/drawingml/2006/main">
            <a:r>
              <a:t>CLAIMS USED</a:t>
            </a:r>
          </a:p>
          <a:p xmlns:a="http://schemas.openxmlformats.org/drawingml/2006/main">
            <a:r>
              <a:t>CL-006, CL-007, CL-008</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Does the system prefer AI?</a:t>
            </a:r>
          </a:p>
          <a:p xmlns:a="http://schemas.openxmlformats.org/drawingml/2006/main">
            <a:r>
              <a:t/>
            </a:r>
          </a:p>
          <a:p xmlns:a="http://schemas.openxmlformats.org/drawingml/2006/main">
            <a:r>
              <a:t>SUGGESTED RESPONSE</a:t>
            </a:r>
          </a:p>
          <a:p xmlns:a="http://schemas.openxmlformats.org/drawingml/2006/main">
            <a:r>
              <a:t>No. It selects the least-complex eligible mix under deterministic rules.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CL-006: docs/architecture/assess-v2-decision-intelligence-architecture.md — Purpose and Deterministic Decision Layers</a:t>
            </a:r>
          </a:p>
          <a:p xmlns:a="http://schemas.openxmlformats.org/drawingml/2006/main">
            <a:r>
              <a:t>- CL-007: docs/architecture/assess-v2-decision-intelligence-architecture.md — Canonical AP Invoice Exception Outcome</a:t>
            </a:r>
          </a:p>
          <a:p xmlns:a="http://schemas.openxmlformats.org/drawingml/2006/main">
            <a:r>
              <a:t>- CL-008: docs/00_SOURCE_OF_TRUTH.md — Product and Security Law</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the decision trail breaks when every phase starts over. Walk through Workshop, Spreadsheet, Opinion, and Document. The remaining signals — Document and Email approval — matter because they keep authority and evidence visible. State the boundary plainly: The fragmented path is an operating pattern, not a claim about a named client.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The decision trail breaks when every phase starts over.</a:t>
            </a:r>
          </a:p>
          <a:p xmlns:a="http://schemas.openxmlformats.org/drawingml/2006/main">
            <a:r>
              <a:t/>
            </a:r>
          </a:p>
          <a:p xmlns:a="http://schemas.openxmlformats.org/drawingml/2006/main">
            <a:r>
              <a:t>AUDIENCE-SPECIFIC EMPHASIS</a:t>
            </a:r>
          </a:p>
          <a:p xmlns:a="http://schemas.openxmlformats.org/drawingml/2006/main">
            <a:r>
              <a:t>Contrast handoff loss with retained reasoning.</a:t>
            </a:r>
          </a:p>
          <a:p xmlns:a="http://schemas.openxmlformats.org/drawingml/2006/main">
            <a:r>
              <a:t/>
            </a:r>
          </a:p>
          <a:p xmlns:a="http://schemas.openxmlformats.org/drawingml/2006/main">
            <a:r>
              <a:t>CLAIMS USED</a:t>
            </a:r>
          </a:p>
          <a:p xmlns:a="http://schemas.openxmlformats.org/drawingml/2006/main">
            <a:r>
              <a:t>CL-003</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Can existing tools be retained?</a:t>
            </a:r>
          </a:p>
          <a:p xmlns:a="http://schemas.openxmlformats.org/drawingml/2006/main">
            <a:r>
              <a:t/>
            </a:r>
          </a:p>
          <a:p xmlns:a="http://schemas.openxmlformats.org/drawingml/2006/main">
            <a:r>
              <a:t>SUGGESTED RESPONSE</a:t>
            </a:r>
          </a:p>
          <a:p xmlns:a="http://schemas.openxmlformats.org/drawingml/2006/main">
            <a:r>
              <a:t>Yes. AvalaOS complements the execution ecosystem.</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CL-003: docs/design/avalaos-enterprise-ui-rebaseline.md — Purpose</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one governed lifecycle keeps evidence and accountability attached. Walk through Assess: Evidence-qualified recommendation, Govern: Human-owned controls, Studio: Approved artifacts, and Delivery: Source-linked work. The remaining signals — Delivery: Source-linked work and Monitor: Outcome visibility — matter because they keep authority and evidence visible. State the boundary plainly: Synthetic product previews. Execution remains with authorized systems.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One governed lifecycle keeps evidence and accountability attached.</a:t>
            </a:r>
          </a:p>
          <a:p xmlns:a="http://schemas.openxmlformats.org/drawingml/2006/main">
            <a:r>
              <a:t/>
            </a:r>
          </a:p>
          <a:p xmlns:a="http://schemas.openxmlformats.org/drawingml/2006/main">
            <a:r>
              <a:t>AUDIENCE-SPECIFIC EMPHASIS</a:t>
            </a:r>
          </a:p>
          <a:p xmlns:a="http://schemas.openxmlformats.org/drawingml/2006/main">
            <a:r>
              <a:t>Explain the cumulative output of each stage.</a:t>
            </a:r>
          </a:p>
          <a:p xmlns:a="http://schemas.openxmlformats.org/drawingml/2006/main">
            <a:r>
              <a:t/>
            </a:r>
          </a:p>
          <a:p xmlns:a="http://schemas.openxmlformats.org/drawingml/2006/main">
            <a:r>
              <a:t>CLAIMS USED</a:t>
            </a:r>
          </a:p>
          <a:p xmlns:a="http://schemas.openxmlformats.org/drawingml/2006/main">
            <a:r>
              <a:t>CL-003, CL-004,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Does the lifecycle replace our existing stack?</a:t>
            </a:r>
          </a:p>
          <a:p xmlns:a="http://schemas.openxmlformats.org/drawingml/2006/main">
            <a:r>
              <a:t/>
            </a:r>
          </a:p>
          <a:p xmlns:a="http://schemas.openxmlformats.org/drawingml/2006/main">
            <a:r>
              <a:t>SUGGESTED RESPONSE</a:t>
            </a:r>
          </a:p>
          <a:p xmlns:a="http://schemas.openxmlformats.org/drawingml/2006/main">
            <a:r>
              <a:t>No. It preserves decision context around the systems that execute.</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CL-003: docs/design/avalaos-enterprise-ui-rebaseline.md — Purpose</a:t>
            </a:r>
          </a:p>
          <a:p xmlns:a="http://schemas.openxmlformats.org/drawingml/2006/main">
            <a:r>
              <a:t>- CL-004: docs/design/avalaos-enterprise-ui-rebaseline.md — Authenticated information architecture</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avala assess turns evidence into an explainable recommendation. Walk through Process inventory, Primitive-level decomposition, Evidence confidence and gaps, and Versioned deterministic recommendation. The remaining signals — Versioned deterministic recommendation and Hybrid operating model — matter because they keep authority and evidence visible. State the boundary plainly: Economics are scenario-based; calibration is Insufficient Data. No live estate scanning.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Avala Assess turns evidence into an explainable recommendation.</a:t>
            </a:r>
          </a:p>
          <a:p xmlns:a="http://schemas.openxmlformats.org/drawingml/2006/main">
            <a:r>
              <a:t/>
            </a:r>
          </a:p>
          <a:p xmlns:a="http://schemas.openxmlformats.org/drawingml/2006/main">
            <a:r>
              <a:t>AUDIENCE-SPECIFIC EMPHASIS</a:t>
            </a:r>
          </a:p>
          <a:p xmlns:a="http://schemas.openxmlformats.org/drawingml/2006/main">
            <a:r>
              <a:t>Describe tangible buyer outputs, not features alone.</a:t>
            </a:r>
          </a:p>
          <a:p xmlns:a="http://schemas.openxmlformats.org/drawingml/2006/main">
            <a:r>
              <a:t/>
            </a:r>
          </a:p>
          <a:p xmlns:a="http://schemas.openxmlformats.org/drawingml/2006/main">
            <a:r>
              <a:t>CLAIMS USED</a:t>
            </a:r>
          </a:p>
          <a:p xmlns:a="http://schemas.openxmlformats.org/drawingml/2006/main">
            <a:r>
              <a:t>CL-005, CL-006, CL-009, CL-010,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accurate are the economics?</a:t>
            </a:r>
          </a:p>
          <a:p xmlns:a="http://schemas.openxmlformats.org/drawingml/2006/main">
            <a:r>
              <a:t/>
            </a:r>
          </a:p>
          <a:p xmlns:a="http://schemas.openxmlformats.org/drawingml/2006/main">
            <a:r>
              <a:t>SUGGESTED RESPONSE</a:t>
            </a:r>
          </a:p>
          <a:p xmlns:a="http://schemas.openxmlformats.org/drawingml/2006/main">
            <a:r>
              <a:t>They are traceable scenarios from explicit evidence and assumptions, not guaranteed outcomes.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CL-005: docs/00_SOURCE_OF_TRUTH.md — Accepted Capabilities</a:t>
            </a:r>
          </a:p>
          <a:p xmlns:a="http://schemas.openxmlformats.org/drawingml/2006/main">
            <a:r>
              <a:t>- CL-006: docs/architecture/assess-v2-decision-intelligence-architecture.md — Purpose and Deterministic Decision Layers</a:t>
            </a:r>
          </a:p>
          <a:p xmlns:a="http://schemas.openxmlformats.org/drawingml/2006/main">
            <a:r>
              <a:t>- CL-009: docs/architecture/assess-v2-economics-calibration-architecture.md — Formula Architecture and Calibration</a:t>
            </a:r>
          </a:p>
          <a:p xmlns:a="http://schemas.openxmlformats.org/drawingml/2006/main">
            <a:r>
              <a:t>- CL-010: docs/architecture/application-portfolio-assessment-architecture.md — Dimensions and Dispositions</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govern resolves material risk before handoff. Walk through Evidence attestations, Assumptions and gaps, Action-specific controls, and Approval conditions. The remaining signals — Approval conditions and Handoff readiness — matter because they keep authority and evidence visible. State the boundary plainly: Govern is a control-plane record, not runtime enforcement.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Govern resolves material risk before handoff.</a:t>
            </a:r>
          </a:p>
          <a:p xmlns:a="http://schemas.openxmlformats.org/drawingml/2006/main">
            <a:r>
              <a:t/>
            </a:r>
          </a:p>
          <a:p xmlns:a="http://schemas.openxmlformats.org/drawingml/2006/main">
            <a:r>
              <a:t>AUDIENCE-SPECIFIC EMPHASIS</a:t>
            </a:r>
          </a:p>
          <a:p xmlns:a="http://schemas.openxmlformats.org/drawingml/2006/main">
            <a:r>
              <a:t>Use resolves conditions, not eliminates risk.</a:t>
            </a:r>
          </a:p>
          <a:p xmlns:a="http://schemas.openxmlformats.org/drawingml/2006/main">
            <a:r>
              <a:t/>
            </a:r>
          </a:p>
          <a:p xmlns:a="http://schemas.openxmlformats.org/drawingml/2006/main">
            <a:r>
              <a:t>CLAIMS USED</a:t>
            </a:r>
          </a:p>
          <a:p xmlns:a="http://schemas.openxmlformats.org/drawingml/2006/main">
            <a:r>
              <a:t>CL-008, CL-011, CL-012,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Can the system enforce agent behavior live?</a:t>
            </a:r>
          </a:p>
          <a:p xmlns:a="http://schemas.openxmlformats.org/drawingml/2006/main">
            <a:r>
              <a:t/>
            </a:r>
          </a:p>
          <a:p xmlns:a="http://schemas.openxmlformats.org/drawingml/2006/main">
            <a:r>
              <a:t>SUGGESTED RESPONSE</a:t>
            </a:r>
          </a:p>
          <a:p xmlns:a="http://schemas.openxmlformats.org/drawingml/2006/main">
            <a:r>
              <a:t>Not in the current baseline. Authorized execution platforms retain runtime control.</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CL-008: docs/00_SOURCE_OF_TRUTH.md — Product and Security Law</a:t>
            </a:r>
          </a:p>
          <a:p xmlns:a="http://schemas.openxmlformats.org/drawingml/2006/main">
            <a:r>
              <a:t>- CL-011: docs/07_AVALA_GOVERN_FRAMEWORK.md — Current Scope</a:t>
            </a:r>
          </a:p>
          <a:p xmlns:a="http://schemas.openxmlformats.org/drawingml/2006/main">
            <a:r>
              <a:t>- CL-012: docs/00_SOURCE_OF_TRUTH.md — Product and Security Law</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studio turns approved context into an artifact people can revise and approve. Walk through BRD, FRD, PDD, and Human-readable preview. The remaining signals — Human-readable preview and Immutable revisions — matter because they keep authority and evidence visible. State the boundary plainly: Structured artifacts are accepted. Private rendition and brokered download remain candidate-only.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Studio turns approved context into an artifact people can revise and approve.</a:t>
            </a:r>
          </a:p>
          <a:p xmlns:a="http://schemas.openxmlformats.org/drawingml/2006/main">
            <a:r>
              <a:t/>
            </a:r>
          </a:p>
          <a:p xmlns:a="http://schemas.openxmlformats.org/drawingml/2006/main">
            <a:r>
              <a:t>AUDIENCE-SPECIFIC EMPHASIS</a:t>
            </a:r>
          </a:p>
          <a:p xmlns:a="http://schemas.openxmlformats.org/drawingml/2006/main">
            <a:r>
              <a:t>Keep current structured authority distinct from candidate private files.</a:t>
            </a:r>
          </a:p>
          <a:p xmlns:a="http://schemas.openxmlformats.org/drawingml/2006/main">
            <a:r>
              <a:t/>
            </a:r>
          </a:p>
          <a:p xmlns:a="http://schemas.openxmlformats.org/drawingml/2006/main">
            <a:r>
              <a:t>CLAIMS USED</a:t>
            </a:r>
          </a:p>
          <a:p xmlns:a="http://schemas.openxmlformats.org/drawingml/2006/main">
            <a:r>
              <a:t>CL-013, CL-014, CL-015,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Can we download approved files today?</a:t>
            </a:r>
          </a:p>
          <a:p xmlns:a="http://schemas.openxmlformats.org/drawingml/2006/main">
            <a:r>
              <a:t/>
            </a:r>
          </a:p>
          <a:p xmlns:a="http://schemas.openxmlformats.org/drawingml/2006/main">
            <a:r>
              <a:t>SUGGESTED RESPONSE</a:t>
            </a:r>
          </a:p>
          <a:p xmlns:a="http://schemas.openxmlformats.org/drawingml/2006/main">
            <a:r>
              <a:t>Private Markdown/PDF/DOCX and brokered download remain release- and deployment-dependent.</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CL-013: docs/architecture/studio-governed-artifact-authority.md — Scope and trust boundary</a:t>
            </a:r>
          </a:p>
          <a:p xmlns:a="http://schemas.openxmlformats.org/drawingml/2006/main">
            <a:r>
              <a:t>- CL-014: docs/architecture/studio-governed-artifact-authority.md — Lifecycle and people</a:t>
            </a:r>
          </a:p>
          <a:p xmlns:a="http://schemas.openxmlformats.org/drawingml/2006/main">
            <a:r>
              <a:t>- CL-015: docs/architecture/studio-private-artifact-authority.md — Objective and boundary</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one governed handoff carries the why into delivery. Walk through Source-linked work items, Tasks and acceptance context, Ownership and blockers, and Delivery Pack. The remaining signals — Delivery Pack and Evidence and lineage — matter because they keep authority and evidence visible. State the boundary plainly: One governed handoff prepares source-linked work; AvalaOS neither executes the automation nor replaces Jira.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One governed handoff carries the why into delivery.</a:t>
            </a:r>
          </a:p>
          <a:p xmlns:a="http://schemas.openxmlformats.org/drawingml/2006/main">
            <a:r>
              <a:t/>
            </a:r>
          </a:p>
          <a:p xmlns:a="http://schemas.openxmlformats.org/drawingml/2006/main">
            <a:r>
              <a:t>AUDIENCE-SPECIFIC EMPHASIS</a:t>
            </a:r>
          </a:p>
          <a:p xmlns:a="http://schemas.openxmlformats.org/drawingml/2006/main">
            <a:r>
              <a:t>Show what the delivery team receives.</a:t>
            </a:r>
          </a:p>
          <a:p xmlns:a="http://schemas.openxmlformats.org/drawingml/2006/main">
            <a:r>
              <a:t/>
            </a:r>
          </a:p>
          <a:p xmlns:a="http://schemas.openxmlformats.org/drawingml/2006/main">
            <a:r>
              <a:t>CLAIMS USED</a:t>
            </a:r>
          </a:p>
          <a:p xmlns:a="http://schemas.openxmlformats.org/drawingml/2006/main">
            <a:r>
              <a:t>CL-016, CL-017, CL-018,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Does it sync to Jira or Azure DevOps?</a:t>
            </a:r>
          </a:p>
          <a:p xmlns:a="http://schemas.openxmlformats.org/drawingml/2006/main">
            <a:r>
              <a:t/>
            </a:r>
          </a:p>
          <a:p xmlns:a="http://schemas.openxmlformats.org/drawingml/2006/main">
            <a:r>
              <a:t>SUGGESTED RESPONSE</a:t>
            </a:r>
          </a:p>
          <a:p xmlns:a="http://schemas.openxmlformats.org/drawingml/2006/main">
            <a:r>
              <a:t>No connector or synchronization is promised in this deck.</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CL-016: docs/02_PRODUCT_REQUIREMENTS.md — Avala Delivery</a:t>
            </a:r>
          </a:p>
          <a:p xmlns:a="http://schemas.openxmlformats.org/drawingml/2006/main">
            <a:r>
              <a:t>- CL-017: docs/design/avalaos-enterprise-ui-rebaseline.md — Delivery and Monitor</a:t>
            </a:r>
          </a:p>
          <a:p xmlns:a="http://schemas.openxmlformats.org/drawingml/2006/main">
            <a:r>
              <a:t>- CL-018: docs/01_PRODUCT_STRATEGY.md — Product Boundaries</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monitor shows what is ready — and what is not recorded. Walk through Initiative disposition, Readiness and risk, Open work and blockers, and Source lineage. The remaining signals — Source lineage and Outcome recording state — matter because they keep authority and evidence visible. State the boundary plainly: Read-only visibility over recorded data. No live runtime telemetry; fixture percentages are not client outcomes.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Monitor shows what is ready — and what is not recorded.</a:t>
            </a:r>
          </a:p>
          <a:p xmlns:a="http://schemas.openxmlformats.org/drawingml/2006/main">
            <a:r>
              <a:t/>
            </a:r>
          </a:p>
          <a:p xmlns:a="http://schemas.openxmlformats.org/drawingml/2006/main">
            <a:r>
              <a:t>AUDIENCE-SPECIFIC EMPHASIS</a:t>
            </a:r>
          </a:p>
          <a:p xmlns:a="http://schemas.openxmlformats.org/drawingml/2006/main">
            <a:r>
              <a:t>Make the absence of evidence a visible state.</a:t>
            </a:r>
          </a:p>
          <a:p xmlns:a="http://schemas.openxmlformats.org/drawingml/2006/main">
            <a:r>
              <a:t/>
            </a:r>
          </a:p>
          <a:p xmlns:a="http://schemas.openxmlformats.org/drawingml/2006/main">
            <a:r>
              <a:t>CLAIMS USED</a:t>
            </a:r>
          </a:p>
          <a:p xmlns:a="http://schemas.openxmlformats.org/drawingml/2006/main">
            <a:r>
              <a:t>CL-019,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Is Monitor real-time?</a:t>
            </a:r>
          </a:p>
          <a:p xmlns:a="http://schemas.openxmlformats.org/drawingml/2006/main">
            <a:r>
              <a:t/>
            </a:r>
          </a:p>
          <a:p xmlns:a="http://schemas.openxmlformats.org/drawingml/2006/main">
            <a:r>
              <a:t>SUGGESTED RESPONSE</a:t>
            </a:r>
          </a:p>
          <a:p xmlns:a="http://schemas.openxmlformats.org/drawingml/2006/main">
            <a:r>
              <a:t>No. It is a read-only view over recorded data.</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CL-019: docs/design/avalaos-enterprise-ui-rebaseline.md — Delivery and Monitor</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familiar roles and artifacts reduce adoption friction. Walk through Process owner, Process analyst, Business analyst, and Control reviewer. The remaining signals — Control reviewer and Delivery lead — matter because they keep authority and evidence visible. State the boundary plainly: Designed to reduce adoption friction; no zero-training claim.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Familiar roles and artifacts reduce adoption friction.</a:t>
            </a:r>
          </a:p>
          <a:p xmlns:a="http://schemas.openxmlformats.org/drawingml/2006/main">
            <a:r>
              <a:t/>
            </a:r>
          </a:p>
          <a:p xmlns:a="http://schemas.openxmlformats.org/drawingml/2006/main">
            <a:r>
              <a:t>AUDIENCE-SPECIFIC EMPHASIS</a:t>
            </a:r>
          </a:p>
          <a:p xmlns:a="http://schemas.openxmlformats.org/drawingml/2006/main">
            <a:r>
              <a:t>Show shared evidence with role-specific views.</a:t>
            </a:r>
          </a:p>
          <a:p xmlns:a="http://schemas.openxmlformats.org/drawingml/2006/main">
            <a:r>
              <a:t/>
            </a:r>
          </a:p>
          <a:p xmlns:a="http://schemas.openxmlformats.org/drawingml/2006/main">
            <a:r>
              <a:t>CLAIMS USED</a:t>
            </a:r>
          </a:p>
          <a:p xmlns:a="http://schemas.openxmlformats.org/drawingml/2006/main">
            <a:r>
              <a:t>CL-027</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much training is needed?</a:t>
            </a:r>
          </a:p>
          <a:p xmlns:a="http://schemas.openxmlformats.org/drawingml/2006/main">
            <a:r>
              <a:t/>
            </a:r>
          </a:p>
          <a:p xmlns:a="http://schemas.openxmlformats.org/drawingml/2006/main">
            <a:r>
              <a:t>SUGGESTED RESPONSE</a:t>
            </a:r>
          </a:p>
          <a:p xmlns:a="http://schemas.openxmlformats.org/drawingml/2006/main">
            <a:r>
              <a:t>Familiar roles and artifacts reduce friction, but training is not claimed to be unnecessary.</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CL-027: docs/01_PRODUCT_STRATEGY.md — Personas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control boundaries keep model authority and decision authority separate. Walk through BYOK-ready architecture, Designed for customer-controlled model access, Server-side secret boundary, and Human approval. The remaining signals — Human approval and Evidence and audit — matter because they keep authority and evidence visible. State the boundary plainly: Provider availability is deployment-dependent. Hosted tenant isolation and compliance readiness remain unproven.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Control boundaries keep model authority and decision authority separate.</a:t>
            </a:r>
          </a:p>
          <a:p xmlns:a="http://schemas.openxmlformats.org/drawingml/2006/main">
            <a:r>
              <a:t/>
            </a:r>
          </a:p>
          <a:p xmlns:a="http://schemas.openxmlformats.org/drawingml/2006/main">
            <a:r>
              <a:t>AUDIENCE-SPECIFIC EMPHASIS</a:t>
            </a:r>
          </a:p>
          <a:p xmlns:a="http://schemas.openxmlformats.org/drawingml/2006/main">
            <a:r>
              <a:t>Use proof-safe trust wording.</a:t>
            </a:r>
          </a:p>
          <a:p xmlns:a="http://schemas.openxmlformats.org/drawingml/2006/main">
            <a:r>
              <a:t/>
            </a:r>
          </a:p>
          <a:p xmlns:a="http://schemas.openxmlformats.org/drawingml/2006/main">
            <a:r>
              <a:t>CLAIMS USED</a:t>
            </a:r>
          </a:p>
          <a:p xmlns:a="http://schemas.openxmlformats.org/drawingml/2006/main">
            <a:r>
              <a:t>CL-008, CL-021, CL-022, CL-026</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Is BYOK available now?</a:t>
            </a:r>
          </a:p>
          <a:p xmlns:a="http://schemas.openxmlformats.org/drawingml/2006/main">
            <a:r>
              <a:t/>
            </a:r>
          </a:p>
          <a:p xmlns:a="http://schemas.openxmlformats.org/drawingml/2006/main">
            <a:r>
              <a:t>SUGGESTED RESPONSE</a:t>
            </a:r>
          </a:p>
          <a:p xmlns:a="http://schemas.openxmlformats.org/drawingml/2006/main">
            <a:r>
              <a:t>The current claim is BYOK-ready architecture, dependent on a validated deployment.</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CL-008: docs/00_SOURCE_OF_TRUTH.md — Product and Security Law</a:t>
            </a:r>
          </a:p>
          <a:p xmlns:a="http://schemas.openxmlformats.org/drawingml/2006/main">
            <a:r>
              <a:t>- CL-021: docs/design/avalaos-enterprise-ui-rebaseline.md — Product surfaces</a:t>
            </a:r>
          </a:p>
          <a:p xmlns:a="http://schemas.openxmlformats.org/drawingml/2006/main">
            <a:r>
              <a:t>- CL-022: components/public/PublicWebsite.tsx — TrustPage BYOK direction</a:t>
            </a:r>
          </a:p>
          <a:p xmlns:a="http://schemas.openxmlformats.org/drawingml/2006/main">
            <a:r>
              <a:t>- CL-026: docs/00_SOURCE_OF_TRUTH.md — Maturity Verdict and Not Accepted Or Proven</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start with one decision, then earn the right to scale. Walk through 1: Candidate process + evidence discovery, 2: Governed assessment + Decision Pack, 3: Studio artifact + approval, and 4: Delivery-handoff validation. The remaining signals — 4: Delivery-handoff validation and 5: Monitor + outcome review — matter because they keep authority and evidence visible. State the boundary plainly: No timeline promise. Later pilot and scale stages depend on separately accepted readiness evidence.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Start with one decision, then earn the right to scale.</a:t>
            </a:r>
          </a:p>
          <a:p xmlns:a="http://schemas.openxmlformats.org/drawingml/2006/main">
            <a:r>
              <a:t/>
            </a:r>
          </a:p>
          <a:p xmlns:a="http://schemas.openxmlformats.org/drawingml/2006/main">
            <a:r>
              <a:t>AUDIENCE-SPECIFIC EMPHASIS</a:t>
            </a:r>
          </a:p>
          <a:p xmlns:a="http://schemas.openxmlformats.org/drawingml/2006/main">
            <a:r>
              <a:t>Every stage produces an auditable output.</a:t>
            </a:r>
          </a:p>
          <a:p xmlns:a="http://schemas.openxmlformats.org/drawingml/2006/main">
            <a:r>
              <a:t/>
            </a:r>
          </a:p>
          <a:p xmlns:a="http://schemas.openxmlformats.org/drawingml/2006/main">
            <a:r>
              <a:t>CLAIMS USED</a:t>
            </a:r>
          </a:p>
          <a:p xmlns:a="http://schemas.openxmlformats.org/drawingml/2006/main">
            <a:r>
              <a:t>CL-003, CL-005, CL-011, CL-013, CL-017, CL-019</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quickly can we deploy?</a:t>
            </a:r>
          </a:p>
          <a:p xmlns:a="http://schemas.openxmlformats.org/drawingml/2006/main">
            <a:r>
              <a:t/>
            </a:r>
          </a:p>
          <a:p xmlns:a="http://schemas.openxmlformats.org/drawingml/2006/main">
            <a:r>
              <a:t>SUGGESTED RESPONSE</a:t>
            </a:r>
          </a:p>
          <a:p xmlns:a="http://schemas.openxmlformats.org/drawingml/2006/main">
            <a:r>
              <a:t>This deck does not promise a timeline; it sequences the decisions and proof required.</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CL-003: docs/design/avalaos-enterprise-ui-rebaseline.md — Purpose</a:t>
            </a:r>
          </a:p>
          <a:p xmlns:a="http://schemas.openxmlformats.org/drawingml/2006/main">
            <a:r>
              <a:t>- CL-005: docs/00_SOURCE_OF_TRUTH.md — Accepted Capabilities</a:t>
            </a:r>
          </a:p>
          <a:p xmlns:a="http://schemas.openxmlformats.org/drawingml/2006/main">
            <a:r>
              <a:t>- CL-011: docs/07_AVALA_GOVERN_FRAMEWORK.md — Current Scope</a:t>
            </a:r>
          </a:p>
          <a:p xmlns:a="http://schemas.openxmlformats.org/drawingml/2006/main">
            <a:r>
              <a:t>- CL-013: docs/architecture/studio-governed-artifact-authority.md — Scope and trust boundary</a:t>
            </a:r>
          </a:p>
          <a:p xmlns:a="http://schemas.openxmlformats.org/drawingml/2006/main">
            <a:r>
              <a:t>- CL-017: docs/design/avalaos-enterprise-ui-rebaseline.md — Delivery and Monitor</a:t>
            </a:r>
          </a:p>
          <a:p xmlns:a="http://schemas.openxmlformats.org/drawingml/2006/main">
            <a:r>
              <a:t>- CL-019: docs/design/avalaos-enterprise-ui-rebaseline.md — Delivery and Monitor</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select one process before committing build budget. Bring a named process owner, a candidate process, available evidence, and known constraints. Leave with a reviewed Decision Pack, control requirements, and an explicit next-step disposition. The key distinction is that AvalaOS governs the decision and handoff while authorized systems execute. State the boundary plainly: Success is a defensible decision, not a deployed automation.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Select one process before committing build budget.</a:t>
            </a:r>
          </a:p>
          <a:p xmlns:a="http://schemas.openxmlformats.org/drawingml/2006/main">
            <a:r>
              <a:t/>
            </a:r>
          </a:p>
          <a:p xmlns:a="http://schemas.openxmlformats.org/drawingml/2006/main">
            <a:r>
              <a:t>AUDIENCE-SPECIFIC EMPHASIS</a:t>
            </a:r>
          </a:p>
          <a:p xmlns:a="http://schemas.openxmlformats.org/drawingml/2006/main">
            <a:r>
              <a:t>Close on a bounded, buyer-owned action.</a:t>
            </a:r>
          </a:p>
          <a:p xmlns:a="http://schemas.openxmlformats.org/drawingml/2006/main">
            <a:r>
              <a:t/>
            </a:r>
          </a:p>
          <a:p xmlns:a="http://schemas.openxmlformats.org/drawingml/2006/main">
            <a:r>
              <a:t>CLAIMS USED</a:t>
            </a:r>
          </a:p>
          <a:p xmlns:a="http://schemas.openxmlformats.org/drawingml/2006/main">
            <a:r>
              <a:t>CL-001, CL-005, CL-008</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What must the client provide?</a:t>
            </a:r>
          </a:p>
          <a:p xmlns:a="http://schemas.openxmlformats.org/drawingml/2006/main">
            <a:r>
              <a:t/>
            </a:r>
          </a:p>
          <a:p xmlns:a="http://schemas.openxmlformats.org/drawingml/2006/main">
            <a:r>
              <a:t>SUGGESTED RESPONSE</a:t>
            </a:r>
          </a:p>
          <a:p xmlns:a="http://schemas.openxmlformats.org/drawingml/2006/main">
            <a:r>
              <a:t>One process, accountable owners, current evidence, and known constraints.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CL-001: docs/00_SOURCE_OF_TRUTH.md — product identity; docs/01_PRODUCT_STRATEGY.md — Positioning</a:t>
            </a:r>
          </a:p>
          <a:p xmlns:a="http://schemas.openxmlformats.org/drawingml/2006/main">
            <a:r>
              <a:t>- CL-005: docs/00_SOURCE_OF_TRUTH.md — Accepted Capabilities</a:t>
            </a:r>
          </a:p>
          <a:p xmlns:a="http://schemas.openxmlformats.org/drawingml/2006/main">
            <a:r>
              <a:t>- CL-008: docs/00_SOURCE_OF_TRUTH.md — Product and Security Law</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turn discovery into a repeatable, evidence-backed client method. Walk through Reusable assessment structure, Client-specific evidence and Decision Pack, Governed BRD/FRD/PDD package, and Delivery-handoff preparation. The remaining signals — Delivery-handoff preparation and Repeatable review and control language — matter because they keep authority and evidence visible. State the boundary plainly: Proposed partner operating model; no current white-label, reseller, or client-branding claim.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Turn discovery into a repeatable, evidence-backed client method.</a:t>
            </a:r>
          </a:p>
          <a:p xmlns:a="http://schemas.openxmlformats.org/drawingml/2006/main">
            <a:r>
              <a:t/>
            </a:r>
          </a:p>
          <a:p xmlns:a="http://schemas.openxmlformats.org/drawingml/2006/main">
            <a:r>
              <a:t>AUDIENCE-SPECIFIC EMPHASIS</a:t>
            </a:r>
          </a:p>
          <a:p xmlns:a="http://schemas.openxmlformats.org/drawingml/2006/main">
            <a:r>
              <a:t>Focus on method repeatability, not an unproven reseller program.</a:t>
            </a:r>
          </a:p>
          <a:p xmlns:a="http://schemas.openxmlformats.org/drawingml/2006/main">
            <a:r>
              <a:t/>
            </a:r>
          </a:p>
          <a:p xmlns:a="http://schemas.openxmlformats.org/drawingml/2006/main">
            <a:r>
              <a:t>CLAIMS USED</a:t>
            </a:r>
          </a:p>
          <a:p xmlns:a="http://schemas.openxmlformats.org/drawingml/2006/main">
            <a:r>
              <a:t>CL-005, CL-013, CL-017, CL-029</a:t>
            </a:r>
          </a:p>
          <a:p xmlns:a="http://schemas.openxmlformats.org/drawingml/2006/main">
            <a:r>
              <a:t/>
            </a:r>
          </a:p>
          <a:p xmlns:a="http://schemas.openxmlformats.org/drawingml/2006/main">
            <a:r>
              <a:t>CURRENT VS ROADMAP</a:t>
            </a:r>
          </a:p>
          <a:p xmlns:a="http://schemas.openxmlformats.org/drawingml/2006/main">
            <a:r>
              <a:t>Commercial discussion strategy requiring AP and legal confirmation.</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White-label rights, licensing structure, branding rules, pricing, support, and retained IP.</a:t>
            </a:r>
          </a:p>
          <a:p xmlns:a="http://schemas.openxmlformats.org/drawingml/2006/main">
            <a:r>
              <a:t/>
            </a:r>
          </a:p>
          <a:p xmlns:a="http://schemas.openxmlformats.org/drawingml/2006/main">
            <a:r>
              <a:t>[Sources]</a:t>
            </a:r>
          </a:p>
          <a:p xmlns:a="http://schemas.openxmlformats.org/drawingml/2006/main">
            <a:r>
              <a:t>- CL-005: docs/00_SOURCE_OF_TRUTH.md — Accepted Capabilities</a:t>
            </a:r>
          </a:p>
          <a:p xmlns:a="http://schemas.openxmlformats.org/drawingml/2006/main">
            <a:r>
              <a:t>- CL-013: docs/architecture/studio-governed-artifact-authority.md — Scope and trust boundary</a:t>
            </a:r>
          </a:p>
          <a:p xmlns:a="http://schemas.openxmlformats.org/drawingml/2006/main">
            <a:r>
              <a:t>- CL-017: docs/design/avalaos-enterprise-ui-rebaseline.md — Delivery and Monitor</a:t>
            </a:r>
          </a:p>
          <a:p xmlns:a="http://schemas.openxmlformats.org/drawingml/2006/main">
            <a:r>
              <a:t>- CL-029: docs/marketing/decks/source/deck-inputs.yaml — AP-confirmable discussion inputs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define the partner model before making a commercial promise. Walk through Client relationship, Discovery, Implementation, and Enablement. The remaining signals — Enablement and Approved customisation — matter because they keep authority and evidence visible. State the boundary plainly: REQUIRES AP / LEGAL INPUT — licensing, territory, branding, pricing, support, and IP terms.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Define the partner model before making a commercial promise.</a:t>
            </a:r>
          </a:p>
          <a:p xmlns:a="http://schemas.openxmlformats.org/drawingml/2006/main">
            <a:r>
              <a:t/>
            </a:r>
          </a:p>
          <a:p xmlns:a="http://schemas.openxmlformats.org/drawingml/2006/main">
            <a:r>
              <a:t>AUDIENCE-SPECIFIC EMPHASIS</a:t>
            </a:r>
          </a:p>
          <a:p xmlns:a="http://schemas.openxmlformats.org/drawingml/2006/main">
            <a:r>
              <a:t>Keep the visible copy polished while making the approval boundary explicit.</a:t>
            </a:r>
          </a:p>
          <a:p xmlns:a="http://schemas.openxmlformats.org/drawingml/2006/main">
            <a:r>
              <a:t/>
            </a:r>
          </a:p>
          <a:p xmlns:a="http://schemas.openxmlformats.org/drawingml/2006/main">
            <a:r>
              <a:t>CLAIMS USED</a:t>
            </a:r>
          </a:p>
          <a:p xmlns:a="http://schemas.openxmlformats.org/drawingml/2006/main">
            <a:r>
              <a:t>CL-029</a:t>
            </a:r>
          </a:p>
          <a:p xmlns:a="http://schemas.openxmlformats.org/drawingml/2006/main">
            <a:r>
              <a:t/>
            </a:r>
          </a:p>
          <a:p xmlns:a="http://schemas.openxmlformats.org/drawingml/2006/main">
            <a:r>
              <a:t>CURRENT VS ROADMAP</a:t>
            </a:r>
          </a:p>
          <a:p xmlns:a="http://schemas.openxmlformats.org/drawingml/2006/main">
            <a:r>
              <a:t>Proposed model, not current capability.</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All commercial and legal partner terms.</a:t>
            </a:r>
          </a:p>
          <a:p xmlns:a="http://schemas.openxmlformats.org/drawingml/2006/main">
            <a:r>
              <a:t/>
            </a:r>
          </a:p>
          <a:p xmlns:a="http://schemas.openxmlformats.org/drawingml/2006/main">
            <a:r>
              <a:t>[Sources]</a:t>
            </a:r>
          </a:p>
          <a:p xmlns:a="http://schemas.openxmlformats.org/drawingml/2006/main">
            <a:r>
              <a:t>- CL-029: docs/marketing/decks/source/deck-inputs.yaml — AP-confirmable discussion inputs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build portfolio discipline before technology becomes the default. Walk through Process and application inventory, Evidence and accountable owners, Governed dispositions, and Application-readiness bands. The remaining signals — Application-readiness bands and Dependency waves — matter because they keep authority and evidence visible. State the boundary plainly: No live CMDB scanning, automatic roadmap approval, or operational telemetry.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Build portfolio discipline before technology becomes the default.</a:t>
            </a:r>
          </a:p>
          <a:p xmlns:a="http://schemas.openxmlformats.org/drawingml/2006/main">
            <a:r>
              <a:t/>
            </a:r>
          </a:p>
          <a:p xmlns:a="http://schemas.openxmlformats.org/drawingml/2006/main">
            <a:r>
              <a:t>AUDIENCE-SPECIFIC EMPHASIS</a:t>
            </a:r>
          </a:p>
          <a:p xmlns:a="http://schemas.openxmlformats.org/drawingml/2006/main">
            <a:r>
              <a:t>Show a repeatable portfolio decision contract.</a:t>
            </a:r>
          </a:p>
          <a:p xmlns:a="http://schemas.openxmlformats.org/drawingml/2006/main">
            <a:r>
              <a:t/>
            </a:r>
          </a:p>
          <a:p xmlns:a="http://schemas.openxmlformats.org/drawingml/2006/main">
            <a:r>
              <a:t>CLAIMS USED</a:t>
            </a:r>
          </a:p>
          <a:p xmlns:a="http://schemas.openxmlformats.org/drawingml/2006/main">
            <a:r>
              <a:t>CL-006, CL-009, CL-010, CL-011</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Does this discover the estate automatically?</a:t>
            </a:r>
          </a:p>
          <a:p xmlns:a="http://schemas.openxmlformats.org/drawingml/2006/main">
            <a:r>
              <a:t/>
            </a:r>
          </a:p>
          <a:p xmlns:a="http://schemas.openxmlformats.org/drawingml/2006/main">
            <a:r>
              <a:t>SUGGESTED RESPONSE</a:t>
            </a:r>
          </a:p>
          <a:p xmlns:a="http://schemas.openxmlformats.org/drawingml/2006/main">
            <a:r>
              <a:t>No. Current capability uses governed inventory, import, evidence, and review.</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CL-006: docs/architecture/assess-v2-decision-intelligence-architecture.md — Purpose and Deterministic Decision Layers</a:t>
            </a:r>
          </a:p>
          <a:p xmlns:a="http://schemas.openxmlformats.org/drawingml/2006/main">
            <a:r>
              <a:t>- CL-009: docs/architecture/assess-v2-economics-calibration-architecture.md — Formula Architecture and Calibration</a:t>
            </a:r>
          </a:p>
          <a:p xmlns:a="http://schemas.openxmlformats.org/drawingml/2006/main">
            <a:r>
              <a:t>- CL-010: docs/architecture/application-portfolio-assessment-architecture.md — Dimensions and Dispositions</a:t>
            </a:r>
          </a:p>
          <a:p xmlns:a="http://schemas.openxmlformats.org/drawingml/2006/main">
            <a:r>
              <a:t>- CL-011: docs/07_AVALA_GOVERN_FRAMEWORK.md — Current Scope</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give every initiative the same decision-to-handoff contract. Walk through 1: Evidence + assumptions, 2: Versioned deterministic recommendation, 3: Human review + controls, and 4: Approved artifact. The remaining signals — 4: Approved artifact and 5: Source-linked handoff — matter because they keep authority and evidence visible. State the boundary plainly: A standard decision contract, not autonomous execution or direct tool integration.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Give every initiative the same decision-to-handoff contract.</a:t>
            </a:r>
          </a:p>
          <a:p xmlns:a="http://schemas.openxmlformats.org/drawingml/2006/main">
            <a:r>
              <a:t/>
            </a:r>
          </a:p>
          <a:p xmlns:a="http://schemas.openxmlformats.org/drawingml/2006/main">
            <a:r>
              <a:t>AUDIENCE-SPECIFIC EMPHASIS</a:t>
            </a:r>
          </a:p>
          <a:p xmlns:a="http://schemas.openxmlformats.org/drawingml/2006/main">
            <a:r>
              <a:t>End the appendix on the scalable governance pattern.</a:t>
            </a:r>
          </a:p>
          <a:p xmlns:a="http://schemas.openxmlformats.org/drawingml/2006/main">
            <a:r>
              <a:t/>
            </a:r>
          </a:p>
          <a:p xmlns:a="http://schemas.openxmlformats.org/drawingml/2006/main">
            <a:r>
              <a:t>CLAIMS USED</a:t>
            </a:r>
          </a:p>
          <a:p xmlns:a="http://schemas.openxmlformats.org/drawingml/2006/main">
            <a:r>
              <a:t>CL-003, CL-008, CL-013, CL-017, CL-019</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CL-003: docs/design/avalaos-enterprise-ui-rebaseline.md — Purpose</a:t>
            </a:r>
          </a:p>
          <a:p xmlns:a="http://schemas.openxmlformats.org/drawingml/2006/main">
            <a:r>
              <a:t>- CL-008: docs/00_SOURCE_OF_TRUTH.md — Product and Security Law</a:t>
            </a:r>
          </a:p>
          <a:p xmlns:a="http://schemas.openxmlformats.org/drawingml/2006/main">
            <a:r>
              <a:t>- CL-013: docs/architecture/studio-governed-artifact-authority.md — Scope and trust boundary</a:t>
            </a:r>
          </a:p>
          <a:p xmlns:a="http://schemas.openxmlformats.org/drawingml/2006/main">
            <a:r>
              <a:t>- CL-017: docs/design/avalaos-enterprise-ui-rebaseline.md — Delivery and Monitor</a:t>
            </a:r>
          </a:p>
          <a:p xmlns:a="http://schemas.openxmlformats.org/drawingml/2006/main">
            <a:r>
              <a:t>- CL-019: docs/design/avalaos-enterprise-ui-rebaseline.md — Delivery and Monitor</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9efe8a2f3f4d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bb7a3311614bc8" /><Relationship Type="http://schemas.openxmlformats.org/officeDocument/2006/relationships/slideLayout" Target="/ppt/slideLayouts/slideLayout1.xml" Id="R3f330e334e054b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330e334e054b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de91f713e0419e" /><Relationship Type="http://schemas.openxmlformats.org/officeDocument/2006/relationships/image" Target="/ppt/media/image.png" Id="R51fda32be6ce46fd" /><Relationship Type="http://schemas.openxmlformats.org/officeDocument/2006/relationships/notesSlide" Target="/ppt/notesSlides/notesSlide1.xml" Id="R5a1502d6e7ad43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6dce6325f24de3" /><Relationship Type="http://schemas.openxmlformats.org/officeDocument/2006/relationships/notesSlide" Target="/ppt/notesSlides/notesSlide2.xml" Id="R4054cd05392a40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ef1d059b6546d2" /><Relationship Type="http://schemas.openxmlformats.org/officeDocument/2006/relationships/notesSlide" Target="/ppt/notesSlides/notesSlide3.xml" Id="R24801da55c1d44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c35442a0964ccd" /><Relationship Type="http://schemas.openxmlformats.org/officeDocument/2006/relationships/notesSlide" Target="/ppt/notesSlides/notesSlide4.xml" Id="Ra79c65b7da1b4f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f0c91678e414b8d" /><Relationship Type="http://schemas.openxmlformats.org/officeDocument/2006/relationships/image" Target="/ppt/media/image2.png" Id="Re56f7ae7372e4ac1" /><Relationship Type="http://schemas.openxmlformats.org/officeDocument/2006/relationships/image" Target="/ppt/media/image3.png" Id="R53b43690d80f48f7" /><Relationship Type="http://schemas.openxmlformats.org/officeDocument/2006/relationships/image" Target="/ppt/media/image4.png" Id="R0d1b5a67d0cb45bd" /><Relationship Type="http://schemas.openxmlformats.org/officeDocument/2006/relationships/image" Target="/ppt/media/image5.png" Id="Refbc78bcd4da4be0" /><Relationship Type="http://schemas.openxmlformats.org/officeDocument/2006/relationships/image" Target="/ppt/media/image6.png" Id="R02ef0ce37d024d87" /><Relationship Type="http://schemas.openxmlformats.org/officeDocument/2006/relationships/notesSlide" Target="/ppt/notesSlides/notesSlide5.xml" Id="R21f5321d1ce244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b45d4e11f3b42c3" /><Relationship Type="http://schemas.openxmlformats.org/officeDocument/2006/relationships/image" Target="/ppt/media/image7.png" Id="R9aff2ecd815643ba" /><Relationship Type="http://schemas.openxmlformats.org/officeDocument/2006/relationships/notesSlide" Target="/ppt/notesSlides/notesSlide6.xml" Id="R6c54ec7790b847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d5d8ba391040d9" /><Relationship Type="http://schemas.openxmlformats.org/officeDocument/2006/relationships/image" Target="/ppt/media/image8.png" Id="Rdef977c255b7424a" /><Relationship Type="http://schemas.openxmlformats.org/officeDocument/2006/relationships/notesSlide" Target="/ppt/notesSlides/notesSlide7.xml" Id="R3be536f9a7984d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1a14df8fbc14802" /><Relationship Type="http://schemas.openxmlformats.org/officeDocument/2006/relationships/image" Target="/ppt/media/image9.png" Id="Re4023a4605a04afb" /><Relationship Type="http://schemas.openxmlformats.org/officeDocument/2006/relationships/notesSlide" Target="/ppt/notesSlides/notesSlide8.xml" Id="R315edb04b49f41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5747ba643984024" /><Relationship Type="http://schemas.openxmlformats.org/officeDocument/2006/relationships/image" Target="/ppt/media/image10.png" Id="R364a4b33517445f0" /><Relationship Type="http://schemas.openxmlformats.org/officeDocument/2006/relationships/notesSlide" Target="/ppt/notesSlides/notesSlide9.xml" Id="Rfb8f3d46a0434f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503e0fcbb994628" /><Relationship Type="http://schemas.openxmlformats.org/officeDocument/2006/relationships/image" Target="/ppt/media/image11.png" Id="Rbcbf8750b6c04227" /><Relationship Type="http://schemas.openxmlformats.org/officeDocument/2006/relationships/notesSlide" Target="/ppt/notesSlides/notesSlide10.xml" Id="Rc7910737155b4d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48829db09fd431c" /><Relationship Type="http://schemas.openxmlformats.org/officeDocument/2006/relationships/notesSlide" Target="/ppt/notesSlides/notesSlide11.xml" Id="R69f27ccf1e134a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92791d1edf34241" /><Relationship Type="http://schemas.openxmlformats.org/officeDocument/2006/relationships/image" Target="/ppt/media/image12.png" Id="Ra75f3ea50eec49a2" /><Relationship Type="http://schemas.openxmlformats.org/officeDocument/2006/relationships/notesSlide" Target="/ppt/notesSlides/notesSlide12.xml" Id="R0acd7576e4e942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52fdd686cd146cc" /><Relationship Type="http://schemas.openxmlformats.org/officeDocument/2006/relationships/notesSlide" Target="/ppt/notesSlides/notesSlide13.xml" Id="Readb7b49a5794f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f826eda557405d" /><Relationship Type="http://schemas.openxmlformats.org/officeDocument/2006/relationships/notesSlide" Target="/ppt/notesSlides/notesSlide14.xml" Id="R92f46fe9afbf42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4c4c40cca3b4545" /><Relationship Type="http://schemas.openxmlformats.org/officeDocument/2006/relationships/notesSlide" Target="/ppt/notesSlides/notesSlide15.xml" Id="R708928c6bce241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ca07fc2a5e448d7" /><Relationship Type="http://schemas.openxmlformats.org/officeDocument/2006/relationships/notesSlide" Target="/ppt/notesSlides/notesSlide16.xml" Id="Rdecf8e865c214b1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cb6bc6bb0aa4c4b" /><Relationship Type="http://schemas.openxmlformats.org/officeDocument/2006/relationships/notesSlide" Target="/ppt/notesSlides/notesSlide17.xml" Id="Rf49a9bf83ed243b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06af17f8c2e4242" /><Relationship Type="http://schemas.openxmlformats.org/officeDocument/2006/relationships/notesSlide" Target="/ppt/notesSlides/notesSlide18.xml" Id="Rb13c8904b6cd4cca" /></Relationships>
</file>

<file path=ppt/slides/slide1.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791CAB-B097-468B-8B73-902BE21CB195}"/>
              </a:ext>
            </a:extLst>
          </p:cNvPr>
          <p:cNvSpPr>
            <a:spLocks xmlns:a="http://schemas.openxmlformats.org/drawingml/2006/main" noGrp="1"/>
          </p:cNvSpPr>
          <p:nvPr/>
        </p:nvSpPr>
        <p:spPr>
          <a:xfrm xmlns:a="http://schemas.openxmlformats.org/drawingml/2006/main">
            <a:off x="609600" y="514350"/>
            <a:ext cx="800100" cy="57150"/>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11DC1DF-C917-43C9-8462-8581B6AA0345}"/>
              </a:ext>
            </a:extLst>
          </p:cNvPr>
          <p:cNvSpPr>
            <a:spLocks xmlns:a="http://schemas.openxmlformats.org/drawingml/2006/main" noGrp="1"/>
          </p:cNvSpPr>
          <p:nvPr/>
        </p:nvSpPr>
        <p:spPr>
          <a:xfrm xmlns:a="http://schemas.openxmlformats.org/drawingml/2006/main">
            <a:off x="609600" y="742950"/>
            <a:ext cx="5238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CLIENT DISCUSSION DRAFT</a:t>
            </a:r>
          </a:p>
        </p:txBody>
      </p:sp>
      <p:sp>
        <p:nvSpPr>
          <p:cNvPr id="3" name="">
            <a:extLst xmlns:a="http://schemas.openxmlformats.org/drawingml/2006/main">
              <a:ext uri="{FF2B5EF4-FFF2-40B4-BE49-F238E27FC236}">
                <a16:creationId xmlns:a16="http://schemas.microsoft.com/office/drawing/2014/main" id="{A0B7D4F6-AF08-455D-9833-0A6544DC1B8C}"/>
              </a:ext>
            </a:extLst>
          </p:cNvPr>
          <p:cNvSpPr>
            <a:spLocks xmlns:a="http://schemas.openxmlformats.org/drawingml/2006/main" noGrp="1"/>
          </p:cNvSpPr>
          <p:nvPr/>
        </p:nvSpPr>
        <p:spPr>
          <a:xfrm xmlns:a="http://schemas.openxmlformats.org/drawingml/2006/main">
            <a:off x="609600" y="1285875"/>
            <a:ext cx="5143500" cy="2190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FFFFFF"/>
                </a:solidFill>
                <a:latin typeface="Outfit"/>
                <a:ea typeface="Outfit"/>
                <a:cs typeface="Outfit"/>
              </a:defRPr>
            </a:pPr>
            <a:r>
              <a:rPr sz="3600" b="1">
                <a:solidFill>
                  <a:srgbClr val="FFFFFF"/>
                </a:solidFill>
                <a:latin typeface="Outfit"/>
                <a:ea typeface="Outfit"/>
                <a:cs typeface="Outfit"/>
              </a:rPr>
              <a:t>From process evidence to governed delivery.</a:t>
            </a:r>
          </a:p>
        </p:txBody>
      </p:sp>
      <p:sp>
        <p:nvSpPr>
          <p:cNvPr id="4" name="">
            <a:extLst xmlns:a="http://schemas.openxmlformats.org/drawingml/2006/main">
              <a:ext uri="{FF2B5EF4-FFF2-40B4-BE49-F238E27FC236}">
                <a16:creationId xmlns:a16="http://schemas.microsoft.com/office/drawing/2014/main" id="{52B637AE-4266-42FD-9579-186F8121AA2D}"/>
              </a:ext>
            </a:extLst>
          </p:cNvPr>
          <p:cNvSpPr>
            <a:spLocks xmlns:a="http://schemas.openxmlformats.org/drawingml/2006/main" noGrp="1"/>
          </p:cNvSpPr>
          <p:nvPr/>
        </p:nvSpPr>
        <p:spPr>
          <a:xfrm xmlns:a="http://schemas.openxmlformats.org/drawingml/2006/main">
            <a:off x="609600" y="3714750"/>
            <a:ext cx="47625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DCE6EF"/>
                </a:solidFill>
                <a:latin typeface="Inter"/>
                <a:ea typeface="Inter"/>
                <a:cs typeface="Inter"/>
              </a:defRPr>
            </a:pPr>
            <a:r>
              <a:rPr sz="1575" b="0">
                <a:solidFill>
                  <a:srgbClr val="DCE6EF"/>
                </a:solidFill>
                <a:latin typeface="Inter"/>
                <a:ea typeface="Inter"/>
                <a:cs typeface="Inter"/>
              </a:rPr>
              <a:t>AvalaOS — the governed decision and delivery layer around AI, automation, and human work.</a:t>
            </a:r>
          </a:p>
        </p:txBody>
      </p:sp>
      <p:sp>
        <p:nvSpPr>
          <p:cNvPr id="5" name="">
            <a:extLst xmlns:a="http://schemas.openxmlformats.org/drawingml/2006/main">
              <a:ext uri="{FF2B5EF4-FFF2-40B4-BE49-F238E27FC236}">
                <a16:creationId xmlns:a16="http://schemas.microsoft.com/office/drawing/2014/main" id="{95A26465-D76B-4BB2-94DE-8DD38EBE96E9}"/>
              </a:ext>
            </a:extLst>
          </p:cNvPr>
          <p:cNvSpPr>
            <a:spLocks xmlns:a="http://schemas.openxmlformats.org/drawingml/2006/main" noGrp="1"/>
          </p:cNvSpPr>
          <p:nvPr/>
        </p:nvSpPr>
        <p:spPr>
          <a:xfrm xmlns:a="http://schemas.openxmlformats.org/drawingml/2006/main">
            <a:off x="6134100" y="990600"/>
            <a:ext cx="5505450" cy="4257675"/>
          </a:xfrm>
          <a:prstGeom xmlns:a="http://schemas.openxmlformats.org/drawingml/2006/main" prst="roundRect">
            <a:avLst>
              <a:gd name="adj" fmla="val 1790"/>
            </a:avLst>
          </a:prstGeom>
          <a:solidFill xmlns:a="http://schemas.openxmlformats.org/drawingml/2006/main">
            <a:srgbClr val="002C4B"/>
          </a:solidFill>
          <a:ln xmlns:a="http://schemas.openxmlformats.org/drawingml/2006/main" w="9525">
            <a:solidFill>
              <a:srgbClr val="0C3B5B"/>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1fda32be6ce46fd"/>
          <a:srcRect xmlns:a="http://schemas.openxmlformats.org/drawingml/2006/main" l="797" t="0" r="797" b="0"/>
          <a:stretch xmlns:a="http://schemas.openxmlformats.org/drawingml/2006/main">
            <a:fillRect l="0" t="0" r="0" b="0"/>
          </a:stretch>
        </p:blipFill>
        <p:spPr>
          <a:xfrm xmlns:a="http://schemas.openxmlformats.org/drawingml/2006/main">
            <a:off x="6191250" y="1047750"/>
            <a:ext cx="5391150" cy="4143375"/>
          </a:xfrm>
          <a:prstGeom xmlns:a="http://schemas.openxmlformats.org/drawingml/2006/main" prst="roundRect">
            <a:avLst>
              <a:gd name="adj" fmla="val 2759"/>
            </a:avLst>
          </a:prstGeom>
        </p:spPr>
      </p:pic>
      <p:sp>
        <p:nvSpPr>
          <p:cNvPr id="7" name="">
            <a:extLst xmlns:a="http://schemas.openxmlformats.org/drawingml/2006/main">
              <a:ext uri="{FF2B5EF4-FFF2-40B4-BE49-F238E27FC236}">
                <a16:creationId xmlns:a16="http://schemas.microsoft.com/office/drawing/2014/main" id="{FB3E97AE-D331-4B3E-B8CA-4E808DC23F41}"/>
              </a:ext>
            </a:extLst>
          </p:cNvPr>
          <p:cNvSpPr>
            <a:spLocks xmlns:a="http://schemas.openxmlformats.org/drawingml/2006/main" noGrp="1"/>
          </p:cNvSpPr>
          <p:nvPr/>
        </p:nvSpPr>
        <p:spPr>
          <a:xfrm xmlns:a="http://schemas.openxmlformats.org/drawingml/2006/main">
            <a:off x="609600" y="5381625"/>
            <a:ext cx="4476750" cy="285750"/>
          </a:xfrm>
          <a:prstGeom xmlns:a="http://schemas.openxmlformats.org/drawingml/2006/main" prst="roundRect">
            <a:avLst>
              <a:gd name="adj" fmla="val 26667"/>
            </a:avLst>
          </a:prstGeom>
          <a:solidFill xmlns:a="http://schemas.openxmlformats.org/drawingml/2006/main">
            <a:srgbClr val="002C4B"/>
          </a:solidFill>
          <a:ln xmlns:a="http://schemas.openxmlformats.org/drawingml/2006/main" w="9525">
            <a:solidFill>
              <a:srgbClr val="0C3B5B"/>
            </a:solidFill>
            <a:prstDash val="solid"/>
          </a:ln>
        </p:spPr>
      </p:sp>
      <p:sp>
        <p:nvSpPr>
          <p:cNvPr id="8" name="">
            <a:extLst xmlns:a="http://schemas.openxmlformats.org/drawingml/2006/main">
              <a:ext uri="{FF2B5EF4-FFF2-40B4-BE49-F238E27FC236}">
                <a16:creationId xmlns:a16="http://schemas.microsoft.com/office/drawing/2014/main" id="{F13A73F5-A188-4D73-AC60-A9B8FA211FBB}"/>
              </a:ext>
            </a:extLst>
          </p:cNvPr>
          <p:cNvSpPr>
            <a:spLocks xmlns:a="http://schemas.openxmlformats.org/drawingml/2006/main" noGrp="1"/>
          </p:cNvSpPr>
          <p:nvPr/>
        </p:nvSpPr>
        <p:spPr>
          <a:xfrm xmlns:a="http://schemas.openxmlformats.org/drawingml/2006/main">
            <a:off x="704850" y="5438775"/>
            <a:ext cx="4286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Inter"/>
                <a:ea typeface="Inter"/>
                <a:cs typeface="Inter"/>
              </a:defRPr>
            </a:pPr>
            <a:r>
              <a:rPr sz="900" b="1">
                <a:solidFill>
                  <a:srgbClr val="FFFFFF"/>
                </a:solidFill>
                <a:latin typeface="Inter"/>
                <a:ea typeface="Inter"/>
                <a:cs typeface="Inter"/>
              </a:rPr>
              <a:t>EVIDENCE • HUMAN AUTHORITY • TRACEABLE HANDOFF</a:t>
            </a:r>
          </a:p>
        </p:txBody>
      </p:sp>
      <p:sp>
        <p:nvSpPr>
          <p:cNvPr id="9" name="">
            <a:extLst xmlns:a="http://schemas.openxmlformats.org/drawingml/2006/main">
              <a:ext uri="{FF2B5EF4-FFF2-40B4-BE49-F238E27FC236}">
                <a16:creationId xmlns:a16="http://schemas.microsoft.com/office/drawing/2014/main" id="{86A2C1AC-B5EC-4711-880F-C4518C8367DD}"/>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From Process Evidence to Governed Delivery • CIO/COO, Automation or AI leadership, Process Owners, BA/PMO, Risk and delivery leaders</a:t>
            </a:r>
          </a:p>
        </p:txBody>
      </p:sp>
      <p:sp>
        <p:nvSpPr>
          <p:cNvPr id="10" name="">
            <a:extLst xmlns:a="http://schemas.openxmlformats.org/drawingml/2006/main">
              <a:ext uri="{FF2B5EF4-FFF2-40B4-BE49-F238E27FC236}">
                <a16:creationId xmlns:a16="http://schemas.microsoft.com/office/drawing/2014/main" id="{FB6FD358-CB8E-4F25-86CE-7DE0D3326997}"/>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Synthetic product preview. No client relationship or live execution implied.</a:t>
            </a:r>
          </a:p>
        </p:txBody>
      </p:sp>
      <p:sp>
        <p:nvSpPr>
          <p:cNvPr id="11" name="">
            <a:extLst xmlns:a="http://schemas.openxmlformats.org/drawingml/2006/main">
              <a:ext uri="{FF2B5EF4-FFF2-40B4-BE49-F238E27FC236}">
                <a16:creationId xmlns:a16="http://schemas.microsoft.com/office/drawing/2014/main" id="{C9D0759B-C40D-465F-9913-104D47234E78}"/>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01</a:t>
            </a:r>
          </a:p>
        </p:txBody>
      </p:sp>
    </p:spTree>
    <p:extLst>
      <p:ext uri="{BB962C8B-B14F-4D97-AF65-F5344CB8AC3E}">
        <p14:creationId xmlns:p14="http://schemas.microsoft.com/office/powerpoint/2010/main" val="2118545821"/>
      </p:ext>
    </p:extLst>
  </p:cSld>
</p:sld>
</file>

<file path=ppt/slides/slide2.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38863C6-649A-4937-9364-665BB1F2F664}"/>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3C541D7-963C-445C-9EBD-05A52AD885A7}"/>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THE BUYER PROBLEM</a:t>
            </a:r>
          </a:p>
        </p:txBody>
      </p:sp>
      <p:sp>
        <p:nvSpPr>
          <p:cNvPr id="3" name="">
            <a:extLst xmlns:a="http://schemas.openxmlformats.org/drawingml/2006/main">
              <a:ext uri="{FF2B5EF4-FFF2-40B4-BE49-F238E27FC236}">
                <a16:creationId xmlns:a16="http://schemas.microsoft.com/office/drawing/2014/main" id="{9EDC1CFE-D3C5-45D4-AC3F-DD778333E2A2}"/>
              </a:ext>
            </a:extLst>
          </p:cNvPr>
          <p:cNvSpPr>
            <a:spLocks xmlns:a="http://schemas.openxmlformats.org/drawingml/2006/main" noGrp="1"/>
          </p:cNvSpPr>
          <p:nvPr/>
        </p:nvSpPr>
        <p:spPr>
          <a:xfrm xmlns:a="http://schemas.openxmlformats.org/drawingml/2006/main">
            <a:off x="609600" y="1000125"/>
            <a:ext cx="5429250" cy="2095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75" b="1">
                <a:solidFill>
                  <a:srgbClr val="FFFFFF"/>
                </a:solidFill>
                <a:latin typeface="Outfit"/>
                <a:ea typeface="Outfit"/>
                <a:cs typeface="Outfit"/>
              </a:defRPr>
            </a:pPr>
            <a:r>
              <a:rPr sz="3375" b="1">
                <a:solidFill>
                  <a:srgbClr val="FFFFFF"/>
                </a:solidFill>
                <a:latin typeface="Outfit"/>
                <a:ea typeface="Outfit"/>
                <a:cs typeface="Outfit"/>
              </a:rPr>
              <a:t>Automation portfolios fail before development begins.</a:t>
            </a:r>
          </a:p>
        </p:txBody>
      </p:sp>
      <p:sp>
        <p:nvSpPr>
          <p:cNvPr id="4" name="">
            <a:extLst xmlns:a="http://schemas.openxmlformats.org/drawingml/2006/main">
              <a:ext uri="{FF2B5EF4-FFF2-40B4-BE49-F238E27FC236}">
                <a16:creationId xmlns:a16="http://schemas.microsoft.com/office/drawing/2014/main" id="{CF9F7A2E-6E1B-4924-B567-F8FB719B8AD2}"/>
              </a:ext>
            </a:extLst>
          </p:cNvPr>
          <p:cNvSpPr>
            <a:spLocks xmlns:a="http://schemas.openxmlformats.org/drawingml/2006/main" noGrp="1"/>
          </p:cNvSpPr>
          <p:nvPr/>
        </p:nvSpPr>
        <p:spPr>
          <a:xfrm xmlns:a="http://schemas.openxmlformats.org/drawingml/2006/main">
            <a:off x="609600" y="3333750"/>
            <a:ext cx="4000500" cy="4762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411DAC4-3882-4344-93ED-3BA77ED2BABC}"/>
              </a:ext>
            </a:extLst>
          </p:cNvPr>
          <p:cNvSpPr>
            <a:spLocks xmlns:a="http://schemas.openxmlformats.org/drawingml/2006/main" noGrp="1"/>
          </p:cNvSpPr>
          <p:nvPr/>
        </p:nvSpPr>
        <p:spPr>
          <a:xfrm xmlns:a="http://schemas.openxmlformats.org/drawingml/2006/main">
            <a:off x="6858000" y="12954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73F2F4BF-4CB9-44B8-8BDA-B1954C0D1757}"/>
              </a:ext>
            </a:extLst>
          </p:cNvPr>
          <p:cNvSpPr>
            <a:spLocks xmlns:a="http://schemas.openxmlformats.org/drawingml/2006/main" noGrp="1"/>
          </p:cNvSpPr>
          <p:nvPr/>
        </p:nvSpPr>
        <p:spPr>
          <a:xfrm xmlns:a="http://schemas.openxmlformats.org/drawingml/2006/main">
            <a:off x="7086600" y="12192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Technology-first selection</a:t>
            </a:r>
          </a:p>
        </p:txBody>
      </p:sp>
      <p:sp>
        <p:nvSpPr>
          <p:cNvPr id="7" name="">
            <a:extLst xmlns:a="http://schemas.openxmlformats.org/drawingml/2006/main">
              <a:ext uri="{FF2B5EF4-FFF2-40B4-BE49-F238E27FC236}">
                <a16:creationId xmlns:a16="http://schemas.microsoft.com/office/drawing/2014/main" id="{C87436A7-3AE2-4716-8E88-30968426C9F5}"/>
              </a:ext>
            </a:extLst>
          </p:cNvPr>
          <p:cNvSpPr>
            <a:spLocks xmlns:a="http://schemas.openxmlformats.org/drawingml/2006/main" noGrp="1"/>
          </p:cNvSpPr>
          <p:nvPr/>
        </p:nvSpPr>
        <p:spPr>
          <a:xfrm xmlns:a="http://schemas.openxmlformats.org/drawingml/2006/main">
            <a:off x="6858000" y="20193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30FCB7D-C38B-4078-B66D-9426135EDD3D}"/>
              </a:ext>
            </a:extLst>
          </p:cNvPr>
          <p:cNvSpPr>
            <a:spLocks xmlns:a="http://schemas.openxmlformats.org/drawingml/2006/main" noGrp="1"/>
          </p:cNvSpPr>
          <p:nvPr/>
        </p:nvSpPr>
        <p:spPr>
          <a:xfrm xmlns:a="http://schemas.openxmlformats.org/drawingml/2006/main">
            <a:off x="7086600" y="19431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Inconsistent assessment methods</a:t>
            </a:r>
          </a:p>
        </p:txBody>
      </p:sp>
      <p:sp>
        <p:nvSpPr>
          <p:cNvPr id="9" name="">
            <a:extLst xmlns:a="http://schemas.openxmlformats.org/drawingml/2006/main">
              <a:ext uri="{FF2B5EF4-FFF2-40B4-BE49-F238E27FC236}">
                <a16:creationId xmlns:a16="http://schemas.microsoft.com/office/drawing/2014/main" id="{38CF326F-102F-4CCB-9569-3728542CD958}"/>
              </a:ext>
            </a:extLst>
          </p:cNvPr>
          <p:cNvSpPr>
            <a:spLocks xmlns:a="http://schemas.openxmlformats.org/drawingml/2006/main" noGrp="1"/>
          </p:cNvSpPr>
          <p:nvPr/>
        </p:nvSpPr>
        <p:spPr>
          <a:xfrm xmlns:a="http://schemas.openxmlformats.org/drawingml/2006/main">
            <a:off x="6858000" y="27432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60A2351-857D-4506-ACD0-4A735E531B2D}"/>
              </a:ext>
            </a:extLst>
          </p:cNvPr>
          <p:cNvSpPr>
            <a:spLocks xmlns:a="http://schemas.openxmlformats.org/drawingml/2006/main" noGrp="1"/>
          </p:cNvSpPr>
          <p:nvPr/>
        </p:nvSpPr>
        <p:spPr>
          <a:xfrm xmlns:a="http://schemas.openxmlformats.org/drawingml/2006/main">
            <a:off x="7086600" y="26670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Incomplete evidence</a:t>
            </a:r>
          </a:p>
        </p:txBody>
      </p:sp>
      <p:sp>
        <p:nvSpPr>
          <p:cNvPr id="11" name="">
            <a:extLst xmlns:a="http://schemas.openxmlformats.org/drawingml/2006/main">
              <a:ext uri="{FF2B5EF4-FFF2-40B4-BE49-F238E27FC236}">
                <a16:creationId xmlns:a16="http://schemas.microsoft.com/office/drawing/2014/main" id="{8FE658CC-2E08-47DC-84D8-E331B4F784A2}"/>
              </a:ext>
            </a:extLst>
          </p:cNvPr>
          <p:cNvSpPr>
            <a:spLocks xmlns:a="http://schemas.openxmlformats.org/drawingml/2006/main" noGrp="1"/>
          </p:cNvSpPr>
          <p:nvPr/>
        </p:nvSpPr>
        <p:spPr>
          <a:xfrm xmlns:a="http://schemas.openxmlformats.org/drawingml/2006/main">
            <a:off x="6858000" y="34671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3D4A71C-BF30-435C-8F1B-C75A1749EF5E}"/>
              </a:ext>
            </a:extLst>
          </p:cNvPr>
          <p:cNvSpPr>
            <a:spLocks xmlns:a="http://schemas.openxmlformats.org/drawingml/2006/main" noGrp="1"/>
          </p:cNvSpPr>
          <p:nvPr/>
        </p:nvSpPr>
        <p:spPr>
          <a:xfrm xmlns:a="http://schemas.openxmlformats.org/drawingml/2006/main">
            <a:off x="7086600" y="33909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Spreadsheet decisions</a:t>
            </a:r>
          </a:p>
        </p:txBody>
      </p:sp>
      <p:sp>
        <p:nvSpPr>
          <p:cNvPr id="13" name="">
            <a:extLst xmlns:a="http://schemas.openxmlformats.org/drawingml/2006/main">
              <a:ext uri="{FF2B5EF4-FFF2-40B4-BE49-F238E27FC236}">
                <a16:creationId xmlns:a16="http://schemas.microsoft.com/office/drawing/2014/main" id="{D8FDB7A4-3AB0-4B88-87E5-D61AF0A8F892}"/>
              </a:ext>
            </a:extLst>
          </p:cNvPr>
          <p:cNvSpPr>
            <a:spLocks xmlns:a="http://schemas.openxmlformats.org/drawingml/2006/main" noGrp="1"/>
          </p:cNvSpPr>
          <p:nvPr/>
        </p:nvSpPr>
        <p:spPr>
          <a:xfrm xmlns:a="http://schemas.openxmlformats.org/drawingml/2006/main">
            <a:off x="6858000" y="41910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A1682E7-308A-4527-BC07-36493D223F8A}"/>
              </a:ext>
            </a:extLst>
          </p:cNvPr>
          <p:cNvSpPr>
            <a:spLocks xmlns:a="http://schemas.openxmlformats.org/drawingml/2006/main" noGrp="1"/>
          </p:cNvSpPr>
          <p:nvPr/>
        </p:nvSpPr>
        <p:spPr>
          <a:xfrm xmlns:a="http://schemas.openxmlformats.org/drawingml/2006/main">
            <a:off x="7086600" y="41148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Approval by email</a:t>
            </a:r>
          </a:p>
        </p:txBody>
      </p:sp>
      <p:sp>
        <p:nvSpPr>
          <p:cNvPr id="15" name="">
            <a:extLst xmlns:a="http://schemas.openxmlformats.org/drawingml/2006/main">
              <a:ext uri="{FF2B5EF4-FFF2-40B4-BE49-F238E27FC236}">
                <a16:creationId xmlns:a16="http://schemas.microsoft.com/office/drawing/2014/main" id="{8497ECE3-A8F0-457B-A7A9-FEF38B8C1615}"/>
              </a:ext>
            </a:extLst>
          </p:cNvPr>
          <p:cNvSpPr>
            <a:spLocks xmlns:a="http://schemas.openxmlformats.org/drawingml/2006/main" noGrp="1"/>
          </p:cNvSpPr>
          <p:nvPr/>
        </p:nvSpPr>
        <p:spPr>
          <a:xfrm xmlns:a="http://schemas.openxmlformats.org/drawingml/2006/main">
            <a:off x="6858000" y="49149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FD1C8C5-6758-461B-B4E3-010AE0483359}"/>
              </a:ext>
            </a:extLst>
          </p:cNvPr>
          <p:cNvSpPr>
            <a:spLocks xmlns:a="http://schemas.openxmlformats.org/drawingml/2006/main" noGrp="1"/>
          </p:cNvSpPr>
          <p:nvPr/>
        </p:nvSpPr>
        <p:spPr>
          <a:xfrm xmlns:a="http://schemas.openxmlformats.org/drawingml/2006/main">
            <a:off x="7086600" y="48387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Context lost at handoff</a:t>
            </a:r>
          </a:p>
        </p:txBody>
      </p:sp>
      <p:sp>
        <p:nvSpPr>
          <p:cNvPr id="17" name="">
            <a:extLst xmlns:a="http://schemas.openxmlformats.org/drawingml/2006/main">
              <a:ext uri="{FF2B5EF4-FFF2-40B4-BE49-F238E27FC236}">
                <a16:creationId xmlns:a16="http://schemas.microsoft.com/office/drawing/2014/main" id="{9A28C915-F31F-48F6-B6A1-F009DCE24A78}"/>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From Process Evidence to Governed Delivery • CIO/COO, Automation or AI leadership, Process Owners, BA/PMO, Risk and delivery leaders</a:t>
            </a:r>
          </a:p>
        </p:txBody>
      </p:sp>
      <p:sp>
        <p:nvSpPr>
          <p:cNvPr id="18" name="">
            <a:extLst xmlns:a="http://schemas.openxmlformats.org/drawingml/2006/main">
              <a:ext uri="{FF2B5EF4-FFF2-40B4-BE49-F238E27FC236}">
                <a16:creationId xmlns:a16="http://schemas.microsoft.com/office/drawing/2014/main" id="{D2A6C592-86DB-492A-AEEF-4D301671FC1A}"/>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Recognizable operating pattern; no quantified buyer performance claim.</a:t>
            </a:r>
          </a:p>
        </p:txBody>
      </p:sp>
      <p:sp>
        <p:nvSpPr>
          <p:cNvPr id="19" name="">
            <a:extLst xmlns:a="http://schemas.openxmlformats.org/drawingml/2006/main">
              <a:ext uri="{FF2B5EF4-FFF2-40B4-BE49-F238E27FC236}">
                <a16:creationId xmlns:a16="http://schemas.microsoft.com/office/drawing/2014/main" id="{3E5A6C9B-4B04-4FB7-8CDD-160A3EF58571}"/>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02</a:t>
            </a:r>
          </a:p>
        </p:txBody>
      </p:sp>
    </p:spTree>
    <p:extLst>
      <p:ext uri="{BB962C8B-B14F-4D97-AF65-F5344CB8AC3E}">
        <p14:creationId xmlns:p14="http://schemas.microsoft.com/office/powerpoint/2010/main" val="600507258"/>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509701F-4512-4D96-A829-0654AD245CC1}"/>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2FC9F32-4F7D-4B14-835C-A0950EC0C498}"/>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TECHNOLOGY FIT</a:t>
            </a:r>
          </a:p>
        </p:txBody>
      </p:sp>
      <p:sp>
        <p:nvSpPr>
          <p:cNvPr id="3" name="">
            <a:extLst xmlns:a="http://schemas.openxmlformats.org/drawingml/2006/main">
              <a:ext uri="{FF2B5EF4-FFF2-40B4-BE49-F238E27FC236}">
                <a16:creationId xmlns:a16="http://schemas.microsoft.com/office/drawing/2014/main" id="{576A0FD6-A977-4E65-8CF5-C86CB552EBA4}"/>
              </a:ext>
            </a:extLst>
          </p:cNvPr>
          <p:cNvSpPr>
            <a:spLocks xmlns:a="http://schemas.openxmlformats.org/drawingml/2006/main" noGrp="1"/>
          </p:cNvSpPr>
          <p:nvPr/>
        </p:nvSpPr>
        <p:spPr>
          <a:xfrm xmlns:a="http://schemas.openxmlformats.org/drawingml/2006/main">
            <a:off x="609600" y="666750"/>
            <a:ext cx="10287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Not every process needs AI.</a:t>
            </a:r>
          </a:p>
        </p:txBody>
      </p:sp>
      <p:sp>
        <p:nvSpPr>
          <p:cNvPr id="4" name="">
            <a:extLst xmlns:a="http://schemas.openxmlformats.org/drawingml/2006/main">
              <a:ext uri="{FF2B5EF4-FFF2-40B4-BE49-F238E27FC236}">
                <a16:creationId xmlns:a16="http://schemas.microsoft.com/office/drawing/2014/main" id="{1D9A3DA2-CAD3-452A-BD82-C6E2AB91D71D}"/>
              </a:ext>
            </a:extLst>
          </p:cNvPr>
          <p:cNvSpPr>
            <a:spLocks xmlns:a="http://schemas.openxmlformats.org/drawingml/2006/main" noGrp="1"/>
          </p:cNvSpPr>
          <p:nvPr/>
        </p:nvSpPr>
        <p:spPr>
          <a:xfrm xmlns:a="http://schemas.openxmlformats.org/drawingml/2006/main">
            <a:off x="723900" y="163830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Stable + structured</a:t>
            </a:r>
          </a:p>
        </p:txBody>
      </p:sp>
      <p:sp>
        <p:nvSpPr>
          <p:cNvPr id="5" name="">
            <a:extLst xmlns:a="http://schemas.openxmlformats.org/drawingml/2006/main">
              <a:ext uri="{FF2B5EF4-FFF2-40B4-BE49-F238E27FC236}">
                <a16:creationId xmlns:a16="http://schemas.microsoft.com/office/drawing/2014/main" id="{E3F71DEA-AD6F-4F4F-9F2C-D88C07B1B471}"/>
              </a:ext>
            </a:extLst>
          </p:cNvPr>
          <p:cNvSpPr>
            <a:spLocks xmlns:a="http://schemas.openxmlformats.org/drawingml/2006/main" noGrp="1"/>
          </p:cNvSpPr>
          <p:nvPr/>
        </p:nvSpPr>
        <p:spPr>
          <a:xfrm xmlns:a="http://schemas.openxmlformats.org/drawingml/2006/main">
            <a:off x="3667125" y="1714500"/>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A888748-1A0F-497E-A356-B3F690319807}"/>
              </a:ext>
            </a:extLst>
          </p:cNvPr>
          <p:cNvSpPr>
            <a:spLocks xmlns:a="http://schemas.openxmlformats.org/drawingml/2006/main" noGrp="1"/>
          </p:cNvSpPr>
          <p:nvPr/>
        </p:nvSpPr>
        <p:spPr>
          <a:xfrm xmlns:a="http://schemas.openxmlformats.org/drawingml/2006/main">
            <a:off x="4572000" y="1638300"/>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Rules / workflow</a:t>
            </a:r>
          </a:p>
        </p:txBody>
      </p:sp>
      <p:sp>
        <p:nvSpPr>
          <p:cNvPr id="7" name="">
            <a:extLst xmlns:a="http://schemas.openxmlformats.org/drawingml/2006/main">
              <a:ext uri="{FF2B5EF4-FFF2-40B4-BE49-F238E27FC236}">
                <a16:creationId xmlns:a16="http://schemas.microsoft.com/office/drawing/2014/main" id="{4A2D7E77-9A20-4F0D-B2FE-FA9589BB8848}"/>
              </a:ext>
            </a:extLst>
          </p:cNvPr>
          <p:cNvSpPr>
            <a:spLocks xmlns:a="http://schemas.openxmlformats.org/drawingml/2006/main" noGrp="1"/>
          </p:cNvSpPr>
          <p:nvPr/>
        </p:nvSpPr>
        <p:spPr>
          <a:xfrm xmlns:a="http://schemas.openxmlformats.org/drawingml/2006/main">
            <a:off x="7524750" y="1638300"/>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Deterministic controls</a:t>
            </a:r>
          </a:p>
        </p:txBody>
      </p:sp>
      <p:sp>
        <p:nvSpPr>
          <p:cNvPr id="8" name="">
            <a:extLst xmlns:a="http://schemas.openxmlformats.org/drawingml/2006/main">
              <a:ext uri="{FF2B5EF4-FFF2-40B4-BE49-F238E27FC236}">
                <a16:creationId xmlns:a16="http://schemas.microsoft.com/office/drawing/2014/main" id="{A4969BE3-D011-49A8-971E-26519CB34948}"/>
              </a:ext>
            </a:extLst>
          </p:cNvPr>
          <p:cNvSpPr>
            <a:spLocks xmlns:a="http://schemas.openxmlformats.org/drawingml/2006/main" noGrp="1"/>
          </p:cNvSpPr>
          <p:nvPr/>
        </p:nvSpPr>
        <p:spPr>
          <a:xfrm xmlns:a="http://schemas.openxmlformats.org/drawingml/2006/main">
            <a:off x="723900" y="2228850"/>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092995A-F977-4D32-8C2E-B23CD1FEEDD4}"/>
              </a:ext>
            </a:extLst>
          </p:cNvPr>
          <p:cNvSpPr>
            <a:spLocks xmlns:a="http://schemas.openxmlformats.org/drawingml/2006/main" noGrp="1"/>
          </p:cNvSpPr>
          <p:nvPr/>
        </p:nvSpPr>
        <p:spPr>
          <a:xfrm xmlns:a="http://schemas.openxmlformats.org/drawingml/2006/main">
            <a:off x="723900" y="2333625"/>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Repetitive UI work</a:t>
            </a:r>
          </a:p>
        </p:txBody>
      </p:sp>
      <p:sp>
        <p:nvSpPr>
          <p:cNvPr id="10" name="">
            <a:extLst xmlns:a="http://schemas.openxmlformats.org/drawingml/2006/main">
              <a:ext uri="{FF2B5EF4-FFF2-40B4-BE49-F238E27FC236}">
                <a16:creationId xmlns:a16="http://schemas.microsoft.com/office/drawing/2014/main" id="{68CFECC0-E9F6-462B-BF3A-C77CEAFBB1EB}"/>
              </a:ext>
            </a:extLst>
          </p:cNvPr>
          <p:cNvSpPr>
            <a:spLocks xmlns:a="http://schemas.openxmlformats.org/drawingml/2006/main" noGrp="1"/>
          </p:cNvSpPr>
          <p:nvPr/>
        </p:nvSpPr>
        <p:spPr>
          <a:xfrm xmlns:a="http://schemas.openxmlformats.org/drawingml/2006/main">
            <a:off x="3667125" y="2409825"/>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449153CC-125C-4E30-A7FC-57E68EB57FDD}"/>
              </a:ext>
            </a:extLst>
          </p:cNvPr>
          <p:cNvSpPr>
            <a:spLocks xmlns:a="http://schemas.openxmlformats.org/drawingml/2006/main" noGrp="1"/>
          </p:cNvSpPr>
          <p:nvPr/>
        </p:nvSpPr>
        <p:spPr>
          <a:xfrm xmlns:a="http://schemas.openxmlformats.org/drawingml/2006/main">
            <a:off x="4572000" y="2333625"/>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RPA</a:t>
            </a:r>
          </a:p>
        </p:txBody>
      </p:sp>
      <p:sp>
        <p:nvSpPr>
          <p:cNvPr id="12" name="">
            <a:extLst xmlns:a="http://schemas.openxmlformats.org/drawingml/2006/main">
              <a:ext uri="{FF2B5EF4-FFF2-40B4-BE49-F238E27FC236}">
                <a16:creationId xmlns:a16="http://schemas.microsoft.com/office/drawing/2014/main" id="{9692BE36-0EE7-471D-B62B-2A29E3A0186F}"/>
              </a:ext>
            </a:extLst>
          </p:cNvPr>
          <p:cNvSpPr>
            <a:spLocks xmlns:a="http://schemas.openxmlformats.org/drawingml/2006/main" noGrp="1"/>
          </p:cNvSpPr>
          <p:nvPr/>
        </p:nvSpPr>
        <p:spPr>
          <a:xfrm xmlns:a="http://schemas.openxmlformats.org/drawingml/2006/main">
            <a:off x="7524750" y="2333625"/>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Only where stronger interfaces are unavailable</a:t>
            </a:r>
          </a:p>
        </p:txBody>
      </p:sp>
      <p:sp>
        <p:nvSpPr>
          <p:cNvPr id="13" name="">
            <a:extLst xmlns:a="http://schemas.openxmlformats.org/drawingml/2006/main">
              <a:ext uri="{FF2B5EF4-FFF2-40B4-BE49-F238E27FC236}">
                <a16:creationId xmlns:a16="http://schemas.microsoft.com/office/drawing/2014/main" id="{37E694CD-7369-4F3C-8763-A0E62813E9B7}"/>
              </a:ext>
            </a:extLst>
          </p:cNvPr>
          <p:cNvSpPr>
            <a:spLocks xmlns:a="http://schemas.openxmlformats.org/drawingml/2006/main" noGrp="1"/>
          </p:cNvSpPr>
          <p:nvPr/>
        </p:nvSpPr>
        <p:spPr>
          <a:xfrm xmlns:a="http://schemas.openxmlformats.org/drawingml/2006/main">
            <a:off x="723900" y="2924175"/>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EEAD85BB-8B6B-468A-91BD-5A3BD049072E}"/>
              </a:ext>
            </a:extLst>
          </p:cNvPr>
          <p:cNvSpPr>
            <a:spLocks xmlns:a="http://schemas.openxmlformats.org/drawingml/2006/main" noGrp="1"/>
          </p:cNvSpPr>
          <p:nvPr/>
        </p:nvSpPr>
        <p:spPr>
          <a:xfrm xmlns:a="http://schemas.openxmlformats.org/drawingml/2006/main">
            <a:off x="723900" y="302895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Unstructured content</a:t>
            </a:r>
          </a:p>
        </p:txBody>
      </p:sp>
      <p:sp>
        <p:nvSpPr>
          <p:cNvPr id="15" name="">
            <a:extLst xmlns:a="http://schemas.openxmlformats.org/drawingml/2006/main">
              <a:ext uri="{FF2B5EF4-FFF2-40B4-BE49-F238E27FC236}">
                <a16:creationId xmlns:a16="http://schemas.microsoft.com/office/drawing/2014/main" id="{131E1AFA-E7C7-40A1-B58F-782BF1839E5D}"/>
              </a:ext>
            </a:extLst>
          </p:cNvPr>
          <p:cNvSpPr>
            <a:spLocks xmlns:a="http://schemas.openxmlformats.org/drawingml/2006/main" noGrp="1"/>
          </p:cNvSpPr>
          <p:nvPr/>
        </p:nvSpPr>
        <p:spPr>
          <a:xfrm xmlns:a="http://schemas.openxmlformats.org/drawingml/2006/main">
            <a:off x="3667125" y="3105150"/>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0AD6F66-D833-46E3-89FF-1F05FC916FF6}"/>
              </a:ext>
            </a:extLst>
          </p:cNvPr>
          <p:cNvSpPr>
            <a:spLocks xmlns:a="http://schemas.openxmlformats.org/drawingml/2006/main" noGrp="1"/>
          </p:cNvSpPr>
          <p:nvPr/>
        </p:nvSpPr>
        <p:spPr>
          <a:xfrm xmlns:a="http://schemas.openxmlformats.org/drawingml/2006/main">
            <a:off x="4572000" y="3028950"/>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AI assistance</a:t>
            </a:r>
          </a:p>
        </p:txBody>
      </p:sp>
      <p:sp>
        <p:nvSpPr>
          <p:cNvPr id="17" name="">
            <a:extLst xmlns:a="http://schemas.openxmlformats.org/drawingml/2006/main">
              <a:ext uri="{FF2B5EF4-FFF2-40B4-BE49-F238E27FC236}">
                <a16:creationId xmlns:a16="http://schemas.microsoft.com/office/drawing/2014/main" id="{8D2595A6-C25A-497C-B092-48ABF9512F86}"/>
              </a:ext>
            </a:extLst>
          </p:cNvPr>
          <p:cNvSpPr>
            <a:spLocks xmlns:a="http://schemas.openxmlformats.org/drawingml/2006/main" noGrp="1"/>
          </p:cNvSpPr>
          <p:nvPr/>
        </p:nvSpPr>
        <p:spPr>
          <a:xfrm xmlns:a="http://schemas.openxmlformats.org/drawingml/2006/main">
            <a:off x="7524750" y="3028950"/>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Extraction, classification, summarisation</a:t>
            </a:r>
          </a:p>
        </p:txBody>
      </p:sp>
      <p:sp>
        <p:nvSpPr>
          <p:cNvPr id="18" name="">
            <a:extLst xmlns:a="http://schemas.openxmlformats.org/drawingml/2006/main">
              <a:ext uri="{FF2B5EF4-FFF2-40B4-BE49-F238E27FC236}">
                <a16:creationId xmlns:a16="http://schemas.microsoft.com/office/drawing/2014/main" id="{382761DF-0185-45F9-B9A9-41881E42957F}"/>
              </a:ext>
            </a:extLst>
          </p:cNvPr>
          <p:cNvSpPr>
            <a:spLocks xmlns:a="http://schemas.openxmlformats.org/drawingml/2006/main" noGrp="1"/>
          </p:cNvSpPr>
          <p:nvPr/>
        </p:nvSpPr>
        <p:spPr>
          <a:xfrm xmlns:a="http://schemas.openxmlformats.org/drawingml/2006/main">
            <a:off x="723900" y="3619500"/>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1E39103C-BA23-4D3B-B08D-D264A48D1A0B}"/>
              </a:ext>
            </a:extLst>
          </p:cNvPr>
          <p:cNvSpPr>
            <a:spLocks xmlns:a="http://schemas.openxmlformats.org/drawingml/2006/main" noGrp="1"/>
          </p:cNvSpPr>
          <p:nvPr/>
        </p:nvSpPr>
        <p:spPr>
          <a:xfrm xmlns:a="http://schemas.openxmlformats.org/drawingml/2006/main">
            <a:off x="723900" y="3724275"/>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Context-heavy inquiry</a:t>
            </a:r>
          </a:p>
        </p:txBody>
      </p:sp>
      <p:sp>
        <p:nvSpPr>
          <p:cNvPr id="20" name="">
            <a:extLst xmlns:a="http://schemas.openxmlformats.org/drawingml/2006/main">
              <a:ext uri="{FF2B5EF4-FFF2-40B4-BE49-F238E27FC236}">
                <a16:creationId xmlns:a16="http://schemas.microsoft.com/office/drawing/2014/main" id="{0A6E613B-C77E-4B2F-8EDA-80623D0FDB98}"/>
              </a:ext>
            </a:extLst>
          </p:cNvPr>
          <p:cNvSpPr>
            <a:spLocks xmlns:a="http://schemas.openxmlformats.org/drawingml/2006/main" noGrp="1"/>
          </p:cNvSpPr>
          <p:nvPr/>
        </p:nvSpPr>
        <p:spPr>
          <a:xfrm xmlns:a="http://schemas.openxmlformats.org/drawingml/2006/main">
            <a:off x="3667125" y="3800475"/>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47811AA8-546D-4155-A1EE-D6A89373009D}"/>
              </a:ext>
            </a:extLst>
          </p:cNvPr>
          <p:cNvSpPr>
            <a:spLocks xmlns:a="http://schemas.openxmlformats.org/drawingml/2006/main" noGrp="1"/>
          </p:cNvSpPr>
          <p:nvPr/>
        </p:nvSpPr>
        <p:spPr>
          <a:xfrm xmlns:a="http://schemas.openxmlformats.org/drawingml/2006/main">
            <a:off x="4572000" y="3724275"/>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Bounded agent assistance</a:t>
            </a:r>
          </a:p>
        </p:txBody>
      </p:sp>
      <p:sp>
        <p:nvSpPr>
          <p:cNvPr id="22" name="">
            <a:extLst xmlns:a="http://schemas.openxmlformats.org/drawingml/2006/main">
              <a:ext uri="{FF2B5EF4-FFF2-40B4-BE49-F238E27FC236}">
                <a16:creationId xmlns:a16="http://schemas.microsoft.com/office/drawing/2014/main" id="{34B29E09-C49B-42E1-A875-F6EF39B8AB94}"/>
              </a:ext>
            </a:extLst>
          </p:cNvPr>
          <p:cNvSpPr>
            <a:spLocks xmlns:a="http://schemas.openxmlformats.org/drawingml/2006/main" noGrp="1"/>
          </p:cNvSpPr>
          <p:nvPr/>
        </p:nvSpPr>
        <p:spPr>
          <a:xfrm xmlns:a="http://schemas.openxmlformats.org/drawingml/2006/main">
            <a:off x="7524750" y="3724275"/>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Evidence synthesis with controls</a:t>
            </a:r>
          </a:p>
        </p:txBody>
      </p:sp>
      <p:sp>
        <p:nvSpPr>
          <p:cNvPr id="23" name="">
            <a:extLst xmlns:a="http://schemas.openxmlformats.org/drawingml/2006/main">
              <a:ext uri="{FF2B5EF4-FFF2-40B4-BE49-F238E27FC236}">
                <a16:creationId xmlns:a16="http://schemas.microsoft.com/office/drawing/2014/main" id="{7BE1833C-1E9B-4B69-8167-DF495D32D7F1}"/>
              </a:ext>
            </a:extLst>
          </p:cNvPr>
          <p:cNvSpPr>
            <a:spLocks xmlns:a="http://schemas.openxmlformats.org/drawingml/2006/main" noGrp="1"/>
          </p:cNvSpPr>
          <p:nvPr/>
        </p:nvSpPr>
        <p:spPr>
          <a:xfrm xmlns:a="http://schemas.openxmlformats.org/drawingml/2006/main">
            <a:off x="723900" y="4314825"/>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F02A7846-4113-4CB6-BEE9-F255FA2E222A}"/>
              </a:ext>
            </a:extLst>
          </p:cNvPr>
          <p:cNvSpPr>
            <a:spLocks xmlns:a="http://schemas.openxmlformats.org/drawingml/2006/main" noGrp="1"/>
          </p:cNvSpPr>
          <p:nvPr/>
        </p:nvSpPr>
        <p:spPr>
          <a:xfrm xmlns:a="http://schemas.openxmlformats.org/drawingml/2006/main">
            <a:off x="723900" y="441960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Material-risk judgment</a:t>
            </a:r>
          </a:p>
        </p:txBody>
      </p:sp>
      <p:sp>
        <p:nvSpPr>
          <p:cNvPr id="25" name="">
            <a:extLst xmlns:a="http://schemas.openxmlformats.org/drawingml/2006/main">
              <a:ext uri="{FF2B5EF4-FFF2-40B4-BE49-F238E27FC236}">
                <a16:creationId xmlns:a16="http://schemas.microsoft.com/office/drawing/2014/main" id="{ED740FEF-7CAE-43D7-B69A-50AA90D6AA23}"/>
              </a:ext>
            </a:extLst>
          </p:cNvPr>
          <p:cNvSpPr>
            <a:spLocks xmlns:a="http://schemas.openxmlformats.org/drawingml/2006/main" noGrp="1"/>
          </p:cNvSpPr>
          <p:nvPr/>
        </p:nvSpPr>
        <p:spPr>
          <a:xfrm xmlns:a="http://schemas.openxmlformats.org/drawingml/2006/main">
            <a:off x="3667125" y="4495800"/>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B9ABE6F-CC73-406D-BF1A-97831911F933}"/>
              </a:ext>
            </a:extLst>
          </p:cNvPr>
          <p:cNvSpPr>
            <a:spLocks xmlns:a="http://schemas.openxmlformats.org/drawingml/2006/main" noGrp="1"/>
          </p:cNvSpPr>
          <p:nvPr/>
        </p:nvSpPr>
        <p:spPr>
          <a:xfrm xmlns:a="http://schemas.openxmlformats.org/drawingml/2006/main">
            <a:off x="4572000" y="4419600"/>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Human / HITL</a:t>
            </a:r>
          </a:p>
        </p:txBody>
      </p:sp>
      <p:sp>
        <p:nvSpPr>
          <p:cNvPr id="27" name="">
            <a:extLst xmlns:a="http://schemas.openxmlformats.org/drawingml/2006/main">
              <a:ext uri="{FF2B5EF4-FFF2-40B4-BE49-F238E27FC236}">
                <a16:creationId xmlns:a16="http://schemas.microsoft.com/office/drawing/2014/main" id="{1EA58C4E-31AB-43CB-9977-1927D1E8C56C}"/>
              </a:ext>
            </a:extLst>
          </p:cNvPr>
          <p:cNvSpPr>
            <a:spLocks xmlns:a="http://schemas.openxmlformats.org/drawingml/2006/main" noGrp="1"/>
          </p:cNvSpPr>
          <p:nvPr/>
        </p:nvSpPr>
        <p:spPr>
          <a:xfrm xmlns:a="http://schemas.openxmlformats.org/drawingml/2006/main">
            <a:off x="7524750" y="4419600"/>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Accountable approval</a:t>
            </a:r>
          </a:p>
        </p:txBody>
      </p:sp>
      <p:sp>
        <p:nvSpPr>
          <p:cNvPr id="28" name="">
            <a:extLst xmlns:a="http://schemas.openxmlformats.org/drawingml/2006/main">
              <a:ext uri="{FF2B5EF4-FFF2-40B4-BE49-F238E27FC236}">
                <a16:creationId xmlns:a16="http://schemas.microsoft.com/office/drawing/2014/main" id="{23B494D8-ED85-46D4-A172-F835E7F03222}"/>
              </a:ext>
            </a:extLst>
          </p:cNvPr>
          <p:cNvSpPr>
            <a:spLocks xmlns:a="http://schemas.openxmlformats.org/drawingml/2006/main" noGrp="1"/>
          </p:cNvSpPr>
          <p:nvPr/>
        </p:nvSpPr>
        <p:spPr>
          <a:xfrm xmlns:a="http://schemas.openxmlformats.org/drawingml/2006/main">
            <a:off x="723900" y="5010150"/>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5F6CCCCC-4C49-4851-AAEA-D78FB79429D9}"/>
              </a:ext>
            </a:extLst>
          </p:cNvPr>
          <p:cNvSpPr>
            <a:spLocks xmlns:a="http://schemas.openxmlformats.org/drawingml/2006/main" noGrp="1"/>
          </p:cNvSpPr>
          <p:nvPr/>
        </p:nvSpPr>
        <p:spPr>
          <a:xfrm xmlns:a="http://schemas.openxmlformats.org/drawingml/2006/main">
            <a:off x="723900" y="5114925"/>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Mixed end-to-end work</a:t>
            </a:r>
          </a:p>
        </p:txBody>
      </p:sp>
      <p:sp>
        <p:nvSpPr>
          <p:cNvPr id="30" name="">
            <a:extLst xmlns:a="http://schemas.openxmlformats.org/drawingml/2006/main">
              <a:ext uri="{FF2B5EF4-FFF2-40B4-BE49-F238E27FC236}">
                <a16:creationId xmlns:a16="http://schemas.microsoft.com/office/drawing/2014/main" id="{6006BB27-3B9E-4559-8695-69C33E4D02DD}"/>
              </a:ext>
            </a:extLst>
          </p:cNvPr>
          <p:cNvSpPr>
            <a:spLocks xmlns:a="http://schemas.openxmlformats.org/drawingml/2006/main" noGrp="1"/>
          </p:cNvSpPr>
          <p:nvPr/>
        </p:nvSpPr>
        <p:spPr>
          <a:xfrm xmlns:a="http://schemas.openxmlformats.org/drawingml/2006/main">
            <a:off x="3667125" y="5191125"/>
            <a:ext cx="666750" cy="361950"/>
          </a:xfrm>
          <a:prstGeom xmlns:a="http://schemas.openxmlformats.org/drawingml/2006/main" prst="rightArrow">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E2A93C45-0D79-47F9-9B83-72CA2DDF31DE}"/>
              </a:ext>
            </a:extLst>
          </p:cNvPr>
          <p:cNvSpPr>
            <a:spLocks xmlns:a="http://schemas.openxmlformats.org/drawingml/2006/main" noGrp="1"/>
          </p:cNvSpPr>
          <p:nvPr/>
        </p:nvSpPr>
        <p:spPr>
          <a:xfrm xmlns:a="http://schemas.openxmlformats.org/drawingml/2006/main">
            <a:off x="4572000" y="5114925"/>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Hybrid model</a:t>
            </a:r>
          </a:p>
        </p:txBody>
      </p:sp>
      <p:sp>
        <p:nvSpPr>
          <p:cNvPr id="32" name="">
            <a:extLst xmlns:a="http://schemas.openxmlformats.org/drawingml/2006/main">
              <a:ext uri="{FF2B5EF4-FFF2-40B4-BE49-F238E27FC236}">
                <a16:creationId xmlns:a16="http://schemas.microsoft.com/office/drawing/2014/main" id="{E5F6B4B2-B8D8-4914-B3C3-5BE9D6C9B288}"/>
              </a:ext>
            </a:extLst>
          </p:cNvPr>
          <p:cNvSpPr>
            <a:spLocks xmlns:a="http://schemas.openxmlformats.org/drawingml/2006/main" noGrp="1"/>
          </p:cNvSpPr>
          <p:nvPr/>
        </p:nvSpPr>
        <p:spPr>
          <a:xfrm xmlns:a="http://schemas.openxmlformats.org/drawingml/2006/main">
            <a:off x="7524750" y="5114925"/>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A governed combination</a:t>
            </a:r>
          </a:p>
        </p:txBody>
      </p:sp>
      <p:sp>
        <p:nvSpPr>
          <p:cNvPr id="33" name="">
            <a:extLst xmlns:a="http://schemas.openxmlformats.org/drawingml/2006/main">
              <a:ext uri="{FF2B5EF4-FFF2-40B4-BE49-F238E27FC236}">
                <a16:creationId xmlns:a16="http://schemas.microsoft.com/office/drawing/2014/main" id="{418A8B58-C723-4B83-90F6-644FF782705E}"/>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34" name="">
            <a:extLst xmlns:a="http://schemas.openxmlformats.org/drawingml/2006/main">
              <a:ext uri="{FF2B5EF4-FFF2-40B4-BE49-F238E27FC236}">
                <a16:creationId xmlns:a16="http://schemas.microsoft.com/office/drawing/2014/main" id="{C6345133-8494-40FE-B42F-D0251C961BAC}"/>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AvalaOS evaluates evidence and controls; authorized systems execute.</a:t>
            </a:r>
          </a:p>
        </p:txBody>
      </p:sp>
      <p:sp>
        <p:nvSpPr>
          <p:cNvPr id="35" name="">
            <a:extLst xmlns:a="http://schemas.openxmlformats.org/drawingml/2006/main">
              <a:ext uri="{FF2B5EF4-FFF2-40B4-BE49-F238E27FC236}">
                <a16:creationId xmlns:a16="http://schemas.microsoft.com/office/drawing/2014/main" id="{5C5DB128-E4FB-48CF-A32D-FC9AE72A8A62}"/>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03</a:t>
            </a:r>
          </a:p>
        </p:txBody>
      </p:sp>
    </p:spTree>
    <p:extLst>
      <p:ext uri="{BB962C8B-B14F-4D97-AF65-F5344CB8AC3E}">
        <p14:creationId xmlns:p14="http://schemas.microsoft.com/office/powerpoint/2010/main" val="95420592"/>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FD8CA77E-49DE-439E-AE78-321699831508}"/>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FB0DC64-9FCF-40AD-9F92-EFD33DD04AE9}"/>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FRAGMENTED VS GOVERNED</a:t>
            </a:r>
          </a:p>
        </p:txBody>
      </p:sp>
      <p:sp>
        <p:nvSpPr>
          <p:cNvPr id="3" name="">
            <a:extLst xmlns:a="http://schemas.openxmlformats.org/drawingml/2006/main">
              <a:ext uri="{FF2B5EF4-FFF2-40B4-BE49-F238E27FC236}">
                <a16:creationId xmlns:a16="http://schemas.microsoft.com/office/drawing/2014/main" id="{7C79A417-F7BE-4422-9E38-1D8CB83B972A}"/>
              </a:ext>
            </a:extLst>
          </p:cNvPr>
          <p:cNvSpPr>
            <a:spLocks xmlns:a="http://schemas.openxmlformats.org/drawingml/2006/main" noGrp="1"/>
          </p:cNvSpPr>
          <p:nvPr/>
        </p:nvSpPr>
        <p:spPr>
          <a:xfrm xmlns:a="http://schemas.openxmlformats.org/drawingml/2006/main">
            <a:off x="609600" y="647700"/>
            <a:ext cx="10287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The decision trail breaks when every phase starts over.</a:t>
            </a:r>
          </a:p>
        </p:txBody>
      </p:sp>
      <p:sp>
        <p:nvSpPr>
          <p:cNvPr id="4" name="">
            <a:extLst xmlns:a="http://schemas.openxmlformats.org/drawingml/2006/main">
              <a:ext uri="{FF2B5EF4-FFF2-40B4-BE49-F238E27FC236}">
                <a16:creationId xmlns:a16="http://schemas.microsoft.com/office/drawing/2014/main" id="{BE573FFE-2EC8-4488-85A7-CFAB5FBA9550}"/>
              </a:ext>
            </a:extLst>
          </p:cNvPr>
          <p:cNvSpPr>
            <a:spLocks xmlns:a="http://schemas.openxmlformats.org/drawingml/2006/main" noGrp="1"/>
          </p:cNvSpPr>
          <p:nvPr/>
        </p:nvSpPr>
        <p:spPr>
          <a:xfrm xmlns:a="http://schemas.openxmlformats.org/drawingml/2006/main">
            <a:off x="609600" y="1571625"/>
            <a:ext cx="5143500" cy="4429125"/>
          </a:xfrm>
          <a:prstGeom xmlns:a="http://schemas.openxmlformats.org/drawingml/2006/main" prst="roundRect">
            <a:avLst>
              <a:gd name="adj" fmla="val 1720"/>
            </a:avLst>
          </a:prstGeom>
          <a:solidFill xmlns:a="http://schemas.openxmlformats.org/drawingml/2006/main">
            <a:srgbClr val="FFFFFF"/>
          </a:solidFill>
          <a:ln xmlns:a="http://schemas.openxmlformats.org/drawingml/2006/main" w="9525">
            <a:solidFill>
              <a:srgbClr val="D7E0E8"/>
            </a:solidFill>
            <a:prstDash val="solid"/>
          </a:ln>
        </p:spPr>
      </p:sp>
      <p:sp>
        <p:nvSpPr>
          <p:cNvPr id="5" name="">
            <a:extLst xmlns:a="http://schemas.openxmlformats.org/drawingml/2006/main">
              <a:ext uri="{FF2B5EF4-FFF2-40B4-BE49-F238E27FC236}">
                <a16:creationId xmlns:a16="http://schemas.microsoft.com/office/drawing/2014/main" id="{88E31821-AA76-4AF1-84D6-B0036E7FBCDC}"/>
              </a:ext>
            </a:extLst>
          </p:cNvPr>
          <p:cNvSpPr>
            <a:spLocks xmlns:a="http://schemas.openxmlformats.org/drawingml/2006/main" noGrp="1"/>
          </p:cNvSpPr>
          <p:nvPr/>
        </p:nvSpPr>
        <p:spPr>
          <a:xfrm xmlns:a="http://schemas.openxmlformats.org/drawingml/2006/main">
            <a:off x="6438900" y="1571625"/>
            <a:ext cx="5143500" cy="4429125"/>
          </a:xfrm>
          <a:prstGeom xmlns:a="http://schemas.openxmlformats.org/drawingml/2006/main" prst="roundRect">
            <a:avLst>
              <a:gd name="adj" fmla="val 1720"/>
            </a:avLst>
          </a:prstGeom>
          <a:solidFill xmlns:a="http://schemas.openxmlformats.org/drawingml/2006/main">
            <a:srgbClr val="FFFFFF"/>
          </a:solidFill>
          <a:ln xmlns:a="http://schemas.openxmlformats.org/drawingml/2006/main" w="9525">
            <a:solidFill>
              <a:srgbClr val="D7E0E8"/>
            </a:solidFill>
            <a:prstDash val="solid"/>
          </a:ln>
        </p:spPr>
      </p:sp>
      <p:sp>
        <p:nvSpPr>
          <p:cNvPr id="6" name="">
            <a:extLst xmlns:a="http://schemas.openxmlformats.org/drawingml/2006/main">
              <a:ext uri="{FF2B5EF4-FFF2-40B4-BE49-F238E27FC236}">
                <a16:creationId xmlns:a16="http://schemas.microsoft.com/office/drawing/2014/main" id="{84F3F5B5-70C0-4271-8D13-88DE04EEA7AE}"/>
              </a:ext>
            </a:extLst>
          </p:cNvPr>
          <p:cNvSpPr>
            <a:spLocks xmlns:a="http://schemas.openxmlformats.org/drawingml/2006/main" noGrp="1"/>
          </p:cNvSpPr>
          <p:nvPr/>
        </p:nvSpPr>
        <p:spPr>
          <a:xfrm xmlns:a="http://schemas.openxmlformats.org/drawingml/2006/main">
            <a:off x="876300" y="1752600"/>
            <a:ext cx="4762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C45500"/>
                </a:solidFill>
                <a:latin typeface="Outfit"/>
                <a:ea typeface="Outfit"/>
                <a:cs typeface="Outfit"/>
              </a:defRPr>
            </a:pPr>
            <a:r>
              <a:rPr sz="1800" b="1">
                <a:solidFill>
                  <a:srgbClr val="C45500"/>
                </a:solidFill>
                <a:latin typeface="Outfit"/>
                <a:ea typeface="Outfit"/>
                <a:cs typeface="Outfit"/>
              </a:rPr>
              <a:t>Fragmented path</a:t>
            </a:r>
          </a:p>
        </p:txBody>
      </p:sp>
      <p:sp>
        <p:nvSpPr>
          <p:cNvPr id="7" name="">
            <a:extLst xmlns:a="http://schemas.openxmlformats.org/drawingml/2006/main">
              <a:ext uri="{FF2B5EF4-FFF2-40B4-BE49-F238E27FC236}">
                <a16:creationId xmlns:a16="http://schemas.microsoft.com/office/drawing/2014/main" id="{E9F51619-1DD0-4F51-87B1-5B3BB412607C}"/>
              </a:ext>
            </a:extLst>
          </p:cNvPr>
          <p:cNvSpPr>
            <a:spLocks xmlns:a="http://schemas.openxmlformats.org/drawingml/2006/main" noGrp="1"/>
          </p:cNvSpPr>
          <p:nvPr/>
        </p:nvSpPr>
        <p:spPr>
          <a:xfrm xmlns:a="http://schemas.openxmlformats.org/drawingml/2006/main">
            <a:off x="876300" y="24955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6C57C0A-BD6D-4D99-9249-499A0113079F}"/>
              </a:ext>
            </a:extLst>
          </p:cNvPr>
          <p:cNvSpPr>
            <a:spLocks xmlns:a="http://schemas.openxmlformats.org/drawingml/2006/main" noGrp="1"/>
          </p:cNvSpPr>
          <p:nvPr/>
        </p:nvSpPr>
        <p:spPr>
          <a:xfrm xmlns:a="http://schemas.openxmlformats.org/drawingml/2006/main">
            <a:off x="1143000" y="24384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Workshop</a:t>
            </a:r>
          </a:p>
        </p:txBody>
      </p:sp>
      <p:sp>
        <p:nvSpPr>
          <p:cNvPr id="9" name="">
            <a:extLst xmlns:a="http://schemas.openxmlformats.org/drawingml/2006/main">
              <a:ext uri="{FF2B5EF4-FFF2-40B4-BE49-F238E27FC236}">
                <a16:creationId xmlns:a16="http://schemas.microsoft.com/office/drawing/2014/main" id="{ADEB6DF7-09F3-4948-B579-8998128C4628}"/>
              </a:ext>
            </a:extLst>
          </p:cNvPr>
          <p:cNvSpPr>
            <a:spLocks xmlns:a="http://schemas.openxmlformats.org/drawingml/2006/main" noGrp="1"/>
          </p:cNvSpPr>
          <p:nvPr/>
        </p:nvSpPr>
        <p:spPr>
          <a:xfrm xmlns:a="http://schemas.openxmlformats.org/drawingml/2006/main">
            <a:off x="923925" y="26860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17476922-655D-4E2E-8A37-2D8E825E553E}"/>
              </a:ext>
            </a:extLst>
          </p:cNvPr>
          <p:cNvSpPr>
            <a:spLocks xmlns:a="http://schemas.openxmlformats.org/drawingml/2006/main" noGrp="1"/>
          </p:cNvSpPr>
          <p:nvPr/>
        </p:nvSpPr>
        <p:spPr>
          <a:xfrm xmlns:a="http://schemas.openxmlformats.org/drawingml/2006/main">
            <a:off x="876300" y="29527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722E5A2-37C0-42C7-9CF1-DC063E136CF1}"/>
              </a:ext>
            </a:extLst>
          </p:cNvPr>
          <p:cNvSpPr>
            <a:spLocks xmlns:a="http://schemas.openxmlformats.org/drawingml/2006/main" noGrp="1"/>
          </p:cNvSpPr>
          <p:nvPr/>
        </p:nvSpPr>
        <p:spPr>
          <a:xfrm xmlns:a="http://schemas.openxmlformats.org/drawingml/2006/main">
            <a:off x="1143000" y="28956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Spreadsheet</a:t>
            </a:r>
          </a:p>
        </p:txBody>
      </p:sp>
      <p:sp>
        <p:nvSpPr>
          <p:cNvPr id="12" name="">
            <a:extLst xmlns:a="http://schemas.openxmlformats.org/drawingml/2006/main">
              <a:ext uri="{FF2B5EF4-FFF2-40B4-BE49-F238E27FC236}">
                <a16:creationId xmlns:a16="http://schemas.microsoft.com/office/drawing/2014/main" id="{B043967E-B461-4D0D-BE42-30426961C2B8}"/>
              </a:ext>
            </a:extLst>
          </p:cNvPr>
          <p:cNvSpPr>
            <a:spLocks xmlns:a="http://schemas.openxmlformats.org/drawingml/2006/main" noGrp="1"/>
          </p:cNvSpPr>
          <p:nvPr/>
        </p:nvSpPr>
        <p:spPr>
          <a:xfrm xmlns:a="http://schemas.openxmlformats.org/drawingml/2006/main">
            <a:off x="923925" y="31432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C5975779-CB7B-40CA-8D53-0A51F1E97FFB}"/>
              </a:ext>
            </a:extLst>
          </p:cNvPr>
          <p:cNvSpPr>
            <a:spLocks xmlns:a="http://schemas.openxmlformats.org/drawingml/2006/main" noGrp="1"/>
          </p:cNvSpPr>
          <p:nvPr/>
        </p:nvSpPr>
        <p:spPr>
          <a:xfrm xmlns:a="http://schemas.openxmlformats.org/drawingml/2006/main">
            <a:off x="876300" y="34099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B6CC7D3-CDC0-49DB-BC3F-511E7BA23EE6}"/>
              </a:ext>
            </a:extLst>
          </p:cNvPr>
          <p:cNvSpPr>
            <a:spLocks xmlns:a="http://schemas.openxmlformats.org/drawingml/2006/main" noGrp="1"/>
          </p:cNvSpPr>
          <p:nvPr/>
        </p:nvSpPr>
        <p:spPr>
          <a:xfrm xmlns:a="http://schemas.openxmlformats.org/drawingml/2006/main">
            <a:off x="1143000" y="33528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Opinion</a:t>
            </a:r>
          </a:p>
        </p:txBody>
      </p:sp>
      <p:sp>
        <p:nvSpPr>
          <p:cNvPr id="15" name="">
            <a:extLst xmlns:a="http://schemas.openxmlformats.org/drawingml/2006/main">
              <a:ext uri="{FF2B5EF4-FFF2-40B4-BE49-F238E27FC236}">
                <a16:creationId xmlns:a16="http://schemas.microsoft.com/office/drawing/2014/main" id="{4FB4EF4B-BAD2-4DCC-BBC4-A2B9D1EBDBA9}"/>
              </a:ext>
            </a:extLst>
          </p:cNvPr>
          <p:cNvSpPr>
            <a:spLocks xmlns:a="http://schemas.openxmlformats.org/drawingml/2006/main" noGrp="1"/>
          </p:cNvSpPr>
          <p:nvPr/>
        </p:nvSpPr>
        <p:spPr>
          <a:xfrm xmlns:a="http://schemas.openxmlformats.org/drawingml/2006/main">
            <a:off x="923925" y="36004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FE03375D-4051-468B-BD29-D8B6FC602C24}"/>
              </a:ext>
            </a:extLst>
          </p:cNvPr>
          <p:cNvSpPr>
            <a:spLocks xmlns:a="http://schemas.openxmlformats.org/drawingml/2006/main" noGrp="1"/>
          </p:cNvSpPr>
          <p:nvPr/>
        </p:nvSpPr>
        <p:spPr>
          <a:xfrm xmlns:a="http://schemas.openxmlformats.org/drawingml/2006/main">
            <a:off x="876300" y="38671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79E1F9D1-81D5-4AB5-9107-CB9DD7073FAC}"/>
              </a:ext>
            </a:extLst>
          </p:cNvPr>
          <p:cNvSpPr>
            <a:spLocks xmlns:a="http://schemas.openxmlformats.org/drawingml/2006/main" noGrp="1"/>
          </p:cNvSpPr>
          <p:nvPr/>
        </p:nvSpPr>
        <p:spPr>
          <a:xfrm xmlns:a="http://schemas.openxmlformats.org/drawingml/2006/main">
            <a:off x="1143000" y="38100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Document</a:t>
            </a:r>
          </a:p>
        </p:txBody>
      </p:sp>
      <p:sp>
        <p:nvSpPr>
          <p:cNvPr id="18" name="">
            <a:extLst xmlns:a="http://schemas.openxmlformats.org/drawingml/2006/main">
              <a:ext uri="{FF2B5EF4-FFF2-40B4-BE49-F238E27FC236}">
                <a16:creationId xmlns:a16="http://schemas.microsoft.com/office/drawing/2014/main" id="{F45AF188-F514-42A6-B6B6-F6365A05F3B7}"/>
              </a:ext>
            </a:extLst>
          </p:cNvPr>
          <p:cNvSpPr>
            <a:spLocks xmlns:a="http://schemas.openxmlformats.org/drawingml/2006/main" noGrp="1"/>
          </p:cNvSpPr>
          <p:nvPr/>
        </p:nvSpPr>
        <p:spPr>
          <a:xfrm xmlns:a="http://schemas.openxmlformats.org/drawingml/2006/main">
            <a:off x="923925" y="40576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1A59153-80E2-4F0C-9DE2-31411048CB1C}"/>
              </a:ext>
            </a:extLst>
          </p:cNvPr>
          <p:cNvSpPr>
            <a:spLocks xmlns:a="http://schemas.openxmlformats.org/drawingml/2006/main" noGrp="1"/>
          </p:cNvSpPr>
          <p:nvPr/>
        </p:nvSpPr>
        <p:spPr>
          <a:xfrm xmlns:a="http://schemas.openxmlformats.org/drawingml/2006/main">
            <a:off x="876300" y="43243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A06DFE5-F7CF-45DB-B8A2-2835DE7AC351}"/>
              </a:ext>
            </a:extLst>
          </p:cNvPr>
          <p:cNvSpPr>
            <a:spLocks xmlns:a="http://schemas.openxmlformats.org/drawingml/2006/main" noGrp="1"/>
          </p:cNvSpPr>
          <p:nvPr/>
        </p:nvSpPr>
        <p:spPr>
          <a:xfrm xmlns:a="http://schemas.openxmlformats.org/drawingml/2006/main">
            <a:off x="1143000" y="42672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Email approval</a:t>
            </a:r>
          </a:p>
        </p:txBody>
      </p:sp>
      <p:sp>
        <p:nvSpPr>
          <p:cNvPr id="21" name="">
            <a:extLst xmlns:a="http://schemas.openxmlformats.org/drawingml/2006/main">
              <a:ext uri="{FF2B5EF4-FFF2-40B4-BE49-F238E27FC236}">
                <a16:creationId xmlns:a16="http://schemas.microsoft.com/office/drawing/2014/main" id="{0545D6FC-B46A-49A5-8EA2-69E17ED71A0A}"/>
              </a:ext>
            </a:extLst>
          </p:cNvPr>
          <p:cNvSpPr>
            <a:spLocks xmlns:a="http://schemas.openxmlformats.org/drawingml/2006/main" noGrp="1"/>
          </p:cNvSpPr>
          <p:nvPr/>
        </p:nvSpPr>
        <p:spPr>
          <a:xfrm xmlns:a="http://schemas.openxmlformats.org/drawingml/2006/main">
            <a:off x="923925" y="45148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50ED821-C67D-4C6F-8074-FB5B79BFDF4C}"/>
              </a:ext>
            </a:extLst>
          </p:cNvPr>
          <p:cNvSpPr>
            <a:spLocks xmlns:a="http://schemas.openxmlformats.org/drawingml/2006/main" noGrp="1"/>
          </p:cNvSpPr>
          <p:nvPr/>
        </p:nvSpPr>
        <p:spPr>
          <a:xfrm xmlns:a="http://schemas.openxmlformats.org/drawingml/2006/main">
            <a:off x="876300" y="47815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4143D85A-32B3-48FD-89F1-2CD5BD30FA85}"/>
              </a:ext>
            </a:extLst>
          </p:cNvPr>
          <p:cNvSpPr>
            <a:spLocks xmlns:a="http://schemas.openxmlformats.org/drawingml/2006/main" noGrp="1"/>
          </p:cNvSpPr>
          <p:nvPr/>
        </p:nvSpPr>
        <p:spPr>
          <a:xfrm xmlns:a="http://schemas.openxmlformats.org/drawingml/2006/main">
            <a:off x="1143000" y="47244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Delivery tool</a:t>
            </a:r>
          </a:p>
        </p:txBody>
      </p:sp>
      <p:sp>
        <p:nvSpPr>
          <p:cNvPr id="24" name="">
            <a:extLst xmlns:a="http://schemas.openxmlformats.org/drawingml/2006/main">
              <a:ext uri="{FF2B5EF4-FFF2-40B4-BE49-F238E27FC236}">
                <a16:creationId xmlns:a16="http://schemas.microsoft.com/office/drawing/2014/main" id="{A608A104-388F-4E38-B3FF-CCB9EBBE7EAD}"/>
              </a:ext>
            </a:extLst>
          </p:cNvPr>
          <p:cNvSpPr>
            <a:spLocks xmlns:a="http://schemas.openxmlformats.org/drawingml/2006/main" noGrp="1"/>
          </p:cNvSpPr>
          <p:nvPr/>
        </p:nvSpPr>
        <p:spPr>
          <a:xfrm xmlns:a="http://schemas.openxmlformats.org/drawingml/2006/main">
            <a:off x="923925" y="49720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4FFB48FB-94FE-44B7-A933-8FFEB4AA3419}"/>
              </a:ext>
            </a:extLst>
          </p:cNvPr>
          <p:cNvSpPr>
            <a:spLocks xmlns:a="http://schemas.openxmlformats.org/drawingml/2006/main" noGrp="1"/>
          </p:cNvSpPr>
          <p:nvPr/>
        </p:nvSpPr>
        <p:spPr>
          <a:xfrm xmlns:a="http://schemas.openxmlformats.org/drawingml/2006/main">
            <a:off x="876300" y="52387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7AA3BD47-9EB5-4086-83FA-612C51652866}"/>
              </a:ext>
            </a:extLst>
          </p:cNvPr>
          <p:cNvSpPr>
            <a:spLocks xmlns:a="http://schemas.openxmlformats.org/drawingml/2006/main" noGrp="1"/>
          </p:cNvSpPr>
          <p:nvPr/>
        </p:nvSpPr>
        <p:spPr>
          <a:xfrm xmlns:a="http://schemas.openxmlformats.org/drawingml/2006/main">
            <a:off x="1143000" y="51816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Lost context</a:t>
            </a:r>
          </a:p>
        </p:txBody>
      </p:sp>
      <p:sp>
        <p:nvSpPr>
          <p:cNvPr id="27" name="">
            <a:extLst xmlns:a="http://schemas.openxmlformats.org/drawingml/2006/main">
              <a:ext uri="{FF2B5EF4-FFF2-40B4-BE49-F238E27FC236}">
                <a16:creationId xmlns:a16="http://schemas.microsoft.com/office/drawing/2014/main" id="{AA044627-7C8D-44B9-87DF-CA2B0509899C}"/>
              </a:ext>
            </a:extLst>
          </p:cNvPr>
          <p:cNvSpPr>
            <a:spLocks xmlns:a="http://schemas.openxmlformats.org/drawingml/2006/main" noGrp="1"/>
          </p:cNvSpPr>
          <p:nvPr/>
        </p:nvSpPr>
        <p:spPr>
          <a:xfrm xmlns:a="http://schemas.openxmlformats.org/drawingml/2006/main">
            <a:off x="6705600" y="1752600"/>
            <a:ext cx="4762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1B30"/>
                </a:solidFill>
                <a:latin typeface="Outfit"/>
                <a:ea typeface="Outfit"/>
                <a:cs typeface="Outfit"/>
              </a:defRPr>
            </a:pPr>
            <a:r>
              <a:rPr sz="1800" b="1">
                <a:solidFill>
                  <a:srgbClr val="001B30"/>
                </a:solidFill>
                <a:latin typeface="Outfit"/>
                <a:ea typeface="Outfit"/>
                <a:cs typeface="Outfit"/>
              </a:rPr>
              <a:t>AvalaOS path</a:t>
            </a:r>
          </a:p>
        </p:txBody>
      </p:sp>
      <p:sp>
        <p:nvSpPr>
          <p:cNvPr id="28" name="">
            <a:extLst xmlns:a="http://schemas.openxmlformats.org/drawingml/2006/main">
              <a:ext uri="{FF2B5EF4-FFF2-40B4-BE49-F238E27FC236}">
                <a16:creationId xmlns:a16="http://schemas.microsoft.com/office/drawing/2014/main" id="{B21EA6B9-48A2-4EB0-95BF-7E6AE78932C9}"/>
              </a:ext>
            </a:extLst>
          </p:cNvPr>
          <p:cNvSpPr>
            <a:spLocks xmlns:a="http://schemas.openxmlformats.org/drawingml/2006/main" noGrp="1"/>
          </p:cNvSpPr>
          <p:nvPr/>
        </p:nvSpPr>
        <p:spPr>
          <a:xfrm xmlns:a="http://schemas.openxmlformats.org/drawingml/2006/main">
            <a:off x="6705600" y="24955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7655CF01-6ECA-42DB-B25C-18FEC7492A6D}"/>
              </a:ext>
            </a:extLst>
          </p:cNvPr>
          <p:cNvSpPr>
            <a:spLocks xmlns:a="http://schemas.openxmlformats.org/drawingml/2006/main" noGrp="1"/>
          </p:cNvSpPr>
          <p:nvPr/>
        </p:nvSpPr>
        <p:spPr>
          <a:xfrm xmlns:a="http://schemas.openxmlformats.org/drawingml/2006/main">
            <a:off x="6972300" y="24384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Evidence</a:t>
            </a:r>
          </a:p>
        </p:txBody>
      </p:sp>
      <p:sp>
        <p:nvSpPr>
          <p:cNvPr id="30" name="">
            <a:extLst xmlns:a="http://schemas.openxmlformats.org/drawingml/2006/main">
              <a:ext uri="{FF2B5EF4-FFF2-40B4-BE49-F238E27FC236}">
                <a16:creationId xmlns:a16="http://schemas.microsoft.com/office/drawing/2014/main" id="{F135F8D8-DC65-4C75-AFAD-57A610D3FEC4}"/>
              </a:ext>
            </a:extLst>
          </p:cNvPr>
          <p:cNvSpPr>
            <a:spLocks xmlns:a="http://schemas.openxmlformats.org/drawingml/2006/main" noGrp="1"/>
          </p:cNvSpPr>
          <p:nvPr/>
        </p:nvSpPr>
        <p:spPr>
          <a:xfrm xmlns:a="http://schemas.openxmlformats.org/drawingml/2006/main">
            <a:off x="6753225" y="2686050"/>
            <a:ext cx="19050" cy="228600"/>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2417341B-9CCF-4788-9AE2-CA1F008EC4CE}"/>
              </a:ext>
            </a:extLst>
          </p:cNvPr>
          <p:cNvSpPr>
            <a:spLocks xmlns:a="http://schemas.openxmlformats.org/drawingml/2006/main" noGrp="1"/>
          </p:cNvSpPr>
          <p:nvPr/>
        </p:nvSpPr>
        <p:spPr>
          <a:xfrm xmlns:a="http://schemas.openxmlformats.org/drawingml/2006/main">
            <a:off x="6705600" y="29527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5D0246E7-7E26-4661-BCA3-C416F4DAD29F}"/>
              </a:ext>
            </a:extLst>
          </p:cNvPr>
          <p:cNvSpPr>
            <a:spLocks xmlns:a="http://schemas.openxmlformats.org/drawingml/2006/main" noGrp="1"/>
          </p:cNvSpPr>
          <p:nvPr/>
        </p:nvSpPr>
        <p:spPr>
          <a:xfrm xmlns:a="http://schemas.openxmlformats.org/drawingml/2006/main">
            <a:off x="6972300" y="28956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Deterministic decision</a:t>
            </a:r>
          </a:p>
        </p:txBody>
      </p:sp>
      <p:sp>
        <p:nvSpPr>
          <p:cNvPr id="33" name="">
            <a:extLst xmlns:a="http://schemas.openxmlformats.org/drawingml/2006/main">
              <a:ext uri="{FF2B5EF4-FFF2-40B4-BE49-F238E27FC236}">
                <a16:creationId xmlns:a16="http://schemas.microsoft.com/office/drawing/2014/main" id="{FD6DB5E5-4119-4F8A-A179-BFF799A90DD8}"/>
              </a:ext>
            </a:extLst>
          </p:cNvPr>
          <p:cNvSpPr>
            <a:spLocks xmlns:a="http://schemas.openxmlformats.org/drawingml/2006/main" noGrp="1"/>
          </p:cNvSpPr>
          <p:nvPr/>
        </p:nvSpPr>
        <p:spPr>
          <a:xfrm xmlns:a="http://schemas.openxmlformats.org/drawingml/2006/main">
            <a:off x="6753225" y="3143250"/>
            <a:ext cx="19050" cy="228600"/>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4B3AFF8E-5EC4-430A-8207-BC8136698FBF}"/>
              </a:ext>
            </a:extLst>
          </p:cNvPr>
          <p:cNvSpPr>
            <a:spLocks xmlns:a="http://schemas.openxmlformats.org/drawingml/2006/main" noGrp="1"/>
          </p:cNvSpPr>
          <p:nvPr/>
        </p:nvSpPr>
        <p:spPr>
          <a:xfrm xmlns:a="http://schemas.openxmlformats.org/drawingml/2006/main">
            <a:off x="6705600" y="34099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89D7CD4B-FBA5-452D-9C2D-2E25B578FA53}"/>
              </a:ext>
            </a:extLst>
          </p:cNvPr>
          <p:cNvSpPr>
            <a:spLocks xmlns:a="http://schemas.openxmlformats.org/drawingml/2006/main" noGrp="1"/>
          </p:cNvSpPr>
          <p:nvPr/>
        </p:nvSpPr>
        <p:spPr>
          <a:xfrm xmlns:a="http://schemas.openxmlformats.org/drawingml/2006/main">
            <a:off x="6972300" y="33528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Human governance</a:t>
            </a:r>
          </a:p>
        </p:txBody>
      </p:sp>
      <p:sp>
        <p:nvSpPr>
          <p:cNvPr id="36" name="">
            <a:extLst xmlns:a="http://schemas.openxmlformats.org/drawingml/2006/main">
              <a:ext uri="{FF2B5EF4-FFF2-40B4-BE49-F238E27FC236}">
                <a16:creationId xmlns:a16="http://schemas.microsoft.com/office/drawing/2014/main" id="{D03FF2C1-18DC-4ECA-B72C-E942EAA8014B}"/>
              </a:ext>
            </a:extLst>
          </p:cNvPr>
          <p:cNvSpPr>
            <a:spLocks xmlns:a="http://schemas.openxmlformats.org/drawingml/2006/main" noGrp="1"/>
          </p:cNvSpPr>
          <p:nvPr/>
        </p:nvSpPr>
        <p:spPr>
          <a:xfrm xmlns:a="http://schemas.openxmlformats.org/drawingml/2006/main">
            <a:off x="6753225" y="3600450"/>
            <a:ext cx="19050" cy="228600"/>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183622E4-D396-434E-A088-E93758D225D0}"/>
              </a:ext>
            </a:extLst>
          </p:cNvPr>
          <p:cNvSpPr>
            <a:spLocks xmlns:a="http://schemas.openxmlformats.org/drawingml/2006/main" noGrp="1"/>
          </p:cNvSpPr>
          <p:nvPr/>
        </p:nvSpPr>
        <p:spPr>
          <a:xfrm xmlns:a="http://schemas.openxmlformats.org/drawingml/2006/main">
            <a:off x="6705600" y="38671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B8DF241F-F81C-4FB4-9D80-6D5A1026893D}"/>
              </a:ext>
            </a:extLst>
          </p:cNvPr>
          <p:cNvSpPr>
            <a:spLocks xmlns:a="http://schemas.openxmlformats.org/drawingml/2006/main" noGrp="1"/>
          </p:cNvSpPr>
          <p:nvPr/>
        </p:nvSpPr>
        <p:spPr>
          <a:xfrm xmlns:a="http://schemas.openxmlformats.org/drawingml/2006/main">
            <a:off x="6972300" y="38100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Governed artifact</a:t>
            </a:r>
          </a:p>
        </p:txBody>
      </p:sp>
      <p:sp>
        <p:nvSpPr>
          <p:cNvPr id="39" name="">
            <a:extLst xmlns:a="http://schemas.openxmlformats.org/drawingml/2006/main">
              <a:ext uri="{FF2B5EF4-FFF2-40B4-BE49-F238E27FC236}">
                <a16:creationId xmlns:a16="http://schemas.microsoft.com/office/drawing/2014/main" id="{6C7A4297-E629-43E1-8A1B-EB59269A8D23}"/>
              </a:ext>
            </a:extLst>
          </p:cNvPr>
          <p:cNvSpPr>
            <a:spLocks xmlns:a="http://schemas.openxmlformats.org/drawingml/2006/main" noGrp="1"/>
          </p:cNvSpPr>
          <p:nvPr/>
        </p:nvSpPr>
        <p:spPr>
          <a:xfrm xmlns:a="http://schemas.openxmlformats.org/drawingml/2006/main">
            <a:off x="6753225" y="4057650"/>
            <a:ext cx="19050" cy="228600"/>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7D55DDF6-FD24-4FD9-848C-A99F1A292781}"/>
              </a:ext>
            </a:extLst>
          </p:cNvPr>
          <p:cNvSpPr>
            <a:spLocks xmlns:a="http://schemas.openxmlformats.org/drawingml/2006/main" noGrp="1"/>
          </p:cNvSpPr>
          <p:nvPr/>
        </p:nvSpPr>
        <p:spPr>
          <a:xfrm xmlns:a="http://schemas.openxmlformats.org/drawingml/2006/main">
            <a:off x="6705600" y="43243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24A00704-BDB8-4CE6-8AFD-154B5ABD387F}"/>
              </a:ext>
            </a:extLst>
          </p:cNvPr>
          <p:cNvSpPr>
            <a:spLocks xmlns:a="http://schemas.openxmlformats.org/drawingml/2006/main" noGrp="1"/>
          </p:cNvSpPr>
          <p:nvPr/>
        </p:nvSpPr>
        <p:spPr>
          <a:xfrm xmlns:a="http://schemas.openxmlformats.org/drawingml/2006/main">
            <a:off x="6972300" y="42672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Delivery handoff</a:t>
            </a:r>
          </a:p>
        </p:txBody>
      </p:sp>
      <p:sp>
        <p:nvSpPr>
          <p:cNvPr id="42" name="">
            <a:extLst xmlns:a="http://schemas.openxmlformats.org/drawingml/2006/main">
              <a:ext uri="{FF2B5EF4-FFF2-40B4-BE49-F238E27FC236}">
                <a16:creationId xmlns:a16="http://schemas.microsoft.com/office/drawing/2014/main" id="{EDFBAED6-8ECC-457D-91E0-783C55416D21}"/>
              </a:ext>
            </a:extLst>
          </p:cNvPr>
          <p:cNvSpPr>
            <a:spLocks xmlns:a="http://schemas.openxmlformats.org/drawingml/2006/main" noGrp="1"/>
          </p:cNvSpPr>
          <p:nvPr/>
        </p:nvSpPr>
        <p:spPr>
          <a:xfrm xmlns:a="http://schemas.openxmlformats.org/drawingml/2006/main">
            <a:off x="6753225" y="4514850"/>
            <a:ext cx="19050" cy="228600"/>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C702779D-7E4D-4B40-BB9D-CD955CDC8BFD}"/>
              </a:ext>
            </a:extLst>
          </p:cNvPr>
          <p:cNvSpPr>
            <a:spLocks xmlns:a="http://schemas.openxmlformats.org/drawingml/2006/main" noGrp="1"/>
          </p:cNvSpPr>
          <p:nvPr/>
        </p:nvSpPr>
        <p:spPr>
          <a:xfrm xmlns:a="http://schemas.openxmlformats.org/drawingml/2006/main">
            <a:off x="6705600" y="47815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83B396CB-DCE6-4E16-B091-8DFFABFD4866}"/>
              </a:ext>
            </a:extLst>
          </p:cNvPr>
          <p:cNvSpPr>
            <a:spLocks xmlns:a="http://schemas.openxmlformats.org/drawingml/2006/main" noGrp="1"/>
          </p:cNvSpPr>
          <p:nvPr/>
        </p:nvSpPr>
        <p:spPr>
          <a:xfrm xmlns:a="http://schemas.openxmlformats.org/drawingml/2006/main">
            <a:off x="6972300" y="47244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Outcome visibility</a:t>
            </a:r>
          </a:p>
        </p:txBody>
      </p:sp>
      <p:sp>
        <p:nvSpPr>
          <p:cNvPr id="45" name="">
            <a:extLst xmlns:a="http://schemas.openxmlformats.org/drawingml/2006/main">
              <a:ext uri="{FF2B5EF4-FFF2-40B4-BE49-F238E27FC236}">
                <a16:creationId xmlns:a16="http://schemas.microsoft.com/office/drawing/2014/main" id="{C7F334D1-CA79-421C-82B4-940863E4721F}"/>
              </a:ext>
            </a:extLst>
          </p:cNvPr>
          <p:cNvSpPr>
            <a:spLocks xmlns:a="http://schemas.openxmlformats.org/drawingml/2006/main" noGrp="1"/>
          </p:cNvSpPr>
          <p:nvPr/>
        </p:nvSpPr>
        <p:spPr>
          <a:xfrm xmlns:a="http://schemas.openxmlformats.org/drawingml/2006/main">
            <a:off x="5810250" y="3476625"/>
            <a:ext cx="571500" cy="428625"/>
          </a:xfrm>
          <a:prstGeom xmlns:a="http://schemas.openxmlformats.org/drawingml/2006/main" prst="rightArrow">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9662BDAA-8D1A-4AA0-8B56-FC704AB882BC}"/>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47" name="">
            <a:extLst xmlns:a="http://schemas.openxmlformats.org/drawingml/2006/main">
              <a:ext uri="{FF2B5EF4-FFF2-40B4-BE49-F238E27FC236}">
                <a16:creationId xmlns:a16="http://schemas.microsoft.com/office/drawing/2014/main" id="{FD0B96D6-63A0-4335-B9F9-4D6B62838483}"/>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The fragmented path is an operating pattern, not a claim about a named client.</a:t>
            </a:r>
          </a:p>
        </p:txBody>
      </p:sp>
      <p:sp>
        <p:nvSpPr>
          <p:cNvPr id="48" name="">
            <a:extLst xmlns:a="http://schemas.openxmlformats.org/drawingml/2006/main">
              <a:ext uri="{FF2B5EF4-FFF2-40B4-BE49-F238E27FC236}">
                <a16:creationId xmlns:a16="http://schemas.microsoft.com/office/drawing/2014/main" id="{D77F3CB1-D0EE-4226-85A8-766C585AADCC}"/>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04</a:t>
            </a:r>
          </a:p>
        </p:txBody>
      </p:sp>
    </p:spTree>
    <p:extLst>
      <p:ext uri="{BB962C8B-B14F-4D97-AF65-F5344CB8AC3E}">
        <p14:creationId xmlns:p14="http://schemas.microsoft.com/office/powerpoint/2010/main" val="1908619438"/>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525DE53-19CA-488D-B114-E61B133129EE}"/>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1966207-AFB3-4A38-BA44-EB27DBC26ED1}"/>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THE AVALAOS LIFECYCLE</a:t>
            </a:r>
          </a:p>
        </p:txBody>
      </p:sp>
      <p:sp>
        <p:nvSpPr>
          <p:cNvPr id="3" name="">
            <a:extLst xmlns:a="http://schemas.openxmlformats.org/drawingml/2006/main">
              <a:ext uri="{FF2B5EF4-FFF2-40B4-BE49-F238E27FC236}">
                <a16:creationId xmlns:a16="http://schemas.microsoft.com/office/drawing/2014/main" id="{E448578F-16DD-46E2-8168-D91B8CA063AD}"/>
              </a:ext>
            </a:extLst>
          </p:cNvPr>
          <p:cNvSpPr>
            <a:spLocks xmlns:a="http://schemas.openxmlformats.org/drawingml/2006/main" noGrp="1"/>
          </p:cNvSpPr>
          <p:nvPr/>
        </p:nvSpPr>
        <p:spPr>
          <a:xfrm xmlns:a="http://schemas.openxmlformats.org/drawingml/2006/main">
            <a:off x="609600" y="628650"/>
            <a:ext cx="10287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One governed lifecycle keeps evidence and accountability attached.</a:t>
            </a:r>
          </a:p>
        </p:txBody>
      </p:sp>
      <p:sp>
        <p:nvSpPr>
          <p:cNvPr id="4" name="">
            <a:extLst xmlns:a="http://schemas.openxmlformats.org/drawingml/2006/main">
              <a:ext uri="{FF2B5EF4-FFF2-40B4-BE49-F238E27FC236}">
                <a16:creationId xmlns:a16="http://schemas.microsoft.com/office/drawing/2014/main" id="{9AC5CAAC-00C3-4DE2-85F3-386A2176AAFC}"/>
              </a:ext>
            </a:extLst>
          </p:cNvPr>
          <p:cNvSpPr>
            <a:spLocks xmlns:a="http://schemas.openxmlformats.org/drawingml/2006/main" noGrp="1"/>
          </p:cNvSpPr>
          <p:nvPr/>
        </p:nvSpPr>
        <p:spPr>
          <a:xfrm xmlns:a="http://schemas.openxmlformats.org/drawingml/2006/main">
            <a:off x="55245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56f7ae7372e4ac1"/>
          <a:srcRect xmlns:a="http://schemas.openxmlformats.org/drawingml/2006/main" l="12322" t="0" r="12322" b="0"/>
          <a:stretch xmlns:a="http://schemas.openxmlformats.org/drawingml/2006/main">
            <a:fillRect l="0" t="0" r="0" b="0"/>
          </a:stretch>
        </p:blipFill>
        <p:spPr>
          <a:xfrm xmlns:a="http://schemas.openxmlformats.org/drawingml/2006/main">
            <a:off x="609600" y="1666875"/>
            <a:ext cx="2087880" cy="2095500"/>
          </a:xfrm>
          <a:prstGeom xmlns:a="http://schemas.openxmlformats.org/drawingml/2006/main" prst="roundRect">
            <a:avLst>
              <a:gd name="adj" fmla="val 5474"/>
            </a:avLst>
          </a:prstGeom>
        </p:spPr>
      </p:pic>
      <p:sp>
        <p:nvSpPr>
          <p:cNvPr id="6" name="">
            <a:extLst xmlns:a="http://schemas.openxmlformats.org/drawingml/2006/main">
              <a:ext uri="{FF2B5EF4-FFF2-40B4-BE49-F238E27FC236}">
                <a16:creationId xmlns:a16="http://schemas.microsoft.com/office/drawing/2014/main" id="{E31E153E-C3EA-437E-8DB3-B01AF708127D}"/>
              </a:ext>
            </a:extLst>
          </p:cNvPr>
          <p:cNvSpPr>
            <a:spLocks xmlns:a="http://schemas.openxmlformats.org/drawingml/2006/main" noGrp="1"/>
          </p:cNvSpPr>
          <p:nvPr/>
        </p:nvSpPr>
        <p:spPr>
          <a:xfrm xmlns:a="http://schemas.openxmlformats.org/drawingml/2006/main">
            <a:off x="60960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01</a:t>
            </a:r>
          </a:p>
        </p:txBody>
      </p:sp>
      <p:sp>
        <p:nvSpPr>
          <p:cNvPr id="7" name="">
            <a:extLst xmlns:a="http://schemas.openxmlformats.org/drawingml/2006/main">
              <a:ext uri="{FF2B5EF4-FFF2-40B4-BE49-F238E27FC236}">
                <a16:creationId xmlns:a16="http://schemas.microsoft.com/office/drawing/2014/main" id="{9EF12EB9-DC64-495C-852B-1C30027ABA7B}"/>
              </a:ext>
            </a:extLst>
          </p:cNvPr>
          <p:cNvSpPr>
            <a:spLocks xmlns:a="http://schemas.openxmlformats.org/drawingml/2006/main" noGrp="1"/>
          </p:cNvSpPr>
          <p:nvPr/>
        </p:nvSpPr>
        <p:spPr>
          <a:xfrm xmlns:a="http://schemas.openxmlformats.org/drawingml/2006/main">
            <a:off x="93345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Assess</a:t>
            </a:r>
          </a:p>
        </p:txBody>
      </p:sp>
      <p:sp>
        <p:nvSpPr>
          <p:cNvPr id="8" name="">
            <a:extLst xmlns:a="http://schemas.openxmlformats.org/drawingml/2006/main">
              <a:ext uri="{FF2B5EF4-FFF2-40B4-BE49-F238E27FC236}">
                <a16:creationId xmlns:a16="http://schemas.microsoft.com/office/drawing/2014/main" id="{39864F7D-545E-4351-8E80-4057C4E2718C}"/>
              </a:ext>
            </a:extLst>
          </p:cNvPr>
          <p:cNvSpPr>
            <a:spLocks xmlns:a="http://schemas.openxmlformats.org/drawingml/2006/main" noGrp="1"/>
          </p:cNvSpPr>
          <p:nvPr/>
        </p:nvSpPr>
        <p:spPr>
          <a:xfrm xmlns:a="http://schemas.openxmlformats.org/drawingml/2006/main">
            <a:off x="60960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Evidence-qualified recommendation</a:t>
            </a:r>
          </a:p>
        </p:txBody>
      </p:sp>
      <p:sp>
        <p:nvSpPr>
          <p:cNvPr id="9" name="">
            <a:extLst xmlns:a="http://schemas.openxmlformats.org/drawingml/2006/main">
              <a:ext uri="{FF2B5EF4-FFF2-40B4-BE49-F238E27FC236}">
                <a16:creationId xmlns:a16="http://schemas.microsoft.com/office/drawing/2014/main" id="{C0451810-042F-464D-BCC2-50B860230F0A}"/>
              </a:ext>
            </a:extLst>
          </p:cNvPr>
          <p:cNvSpPr>
            <a:spLocks xmlns:a="http://schemas.openxmlformats.org/drawingml/2006/main" noGrp="1"/>
          </p:cNvSpPr>
          <p:nvPr/>
        </p:nvSpPr>
        <p:spPr>
          <a:xfrm xmlns:a="http://schemas.openxmlformats.org/drawingml/2006/main">
            <a:off x="277368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53b43690d80f48f7"/>
          <a:srcRect xmlns:a="http://schemas.openxmlformats.org/drawingml/2006/main" l="12322" t="0" r="12322" b="0"/>
          <a:stretch xmlns:a="http://schemas.openxmlformats.org/drawingml/2006/main">
            <a:fillRect l="0" t="0" r="0" b="0"/>
          </a:stretch>
        </p:blipFill>
        <p:spPr>
          <a:xfrm xmlns:a="http://schemas.openxmlformats.org/drawingml/2006/main">
            <a:off x="2830830" y="1666875"/>
            <a:ext cx="2087880" cy="2095500"/>
          </a:xfrm>
          <a:prstGeom xmlns:a="http://schemas.openxmlformats.org/drawingml/2006/main" prst="roundRect">
            <a:avLst>
              <a:gd name="adj" fmla="val 5474"/>
            </a:avLst>
          </a:prstGeom>
        </p:spPr>
      </p:pic>
      <p:sp>
        <p:nvSpPr>
          <p:cNvPr id="11" name="">
            <a:extLst xmlns:a="http://schemas.openxmlformats.org/drawingml/2006/main">
              <a:ext uri="{FF2B5EF4-FFF2-40B4-BE49-F238E27FC236}">
                <a16:creationId xmlns:a16="http://schemas.microsoft.com/office/drawing/2014/main" id="{2CB0C398-9EEC-476E-958B-8138A0451E2A}"/>
              </a:ext>
            </a:extLst>
          </p:cNvPr>
          <p:cNvSpPr>
            <a:spLocks xmlns:a="http://schemas.openxmlformats.org/drawingml/2006/main" noGrp="1"/>
          </p:cNvSpPr>
          <p:nvPr/>
        </p:nvSpPr>
        <p:spPr>
          <a:xfrm xmlns:a="http://schemas.openxmlformats.org/drawingml/2006/main">
            <a:off x="283083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02</a:t>
            </a:r>
          </a:p>
        </p:txBody>
      </p:sp>
      <p:sp>
        <p:nvSpPr>
          <p:cNvPr id="12" name="">
            <a:extLst xmlns:a="http://schemas.openxmlformats.org/drawingml/2006/main">
              <a:ext uri="{FF2B5EF4-FFF2-40B4-BE49-F238E27FC236}">
                <a16:creationId xmlns:a16="http://schemas.microsoft.com/office/drawing/2014/main" id="{8A4A6AB8-36CE-4905-8E93-A26F99120745}"/>
              </a:ext>
            </a:extLst>
          </p:cNvPr>
          <p:cNvSpPr>
            <a:spLocks xmlns:a="http://schemas.openxmlformats.org/drawingml/2006/main" noGrp="1"/>
          </p:cNvSpPr>
          <p:nvPr/>
        </p:nvSpPr>
        <p:spPr>
          <a:xfrm xmlns:a="http://schemas.openxmlformats.org/drawingml/2006/main">
            <a:off x="315468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Govern</a:t>
            </a:r>
          </a:p>
        </p:txBody>
      </p:sp>
      <p:sp>
        <p:nvSpPr>
          <p:cNvPr id="13" name="">
            <a:extLst xmlns:a="http://schemas.openxmlformats.org/drawingml/2006/main">
              <a:ext uri="{FF2B5EF4-FFF2-40B4-BE49-F238E27FC236}">
                <a16:creationId xmlns:a16="http://schemas.microsoft.com/office/drawing/2014/main" id="{0B6F513A-5F7C-4B81-8ADB-113DC6A7E73A}"/>
              </a:ext>
            </a:extLst>
          </p:cNvPr>
          <p:cNvSpPr>
            <a:spLocks xmlns:a="http://schemas.openxmlformats.org/drawingml/2006/main" noGrp="1"/>
          </p:cNvSpPr>
          <p:nvPr/>
        </p:nvSpPr>
        <p:spPr>
          <a:xfrm xmlns:a="http://schemas.openxmlformats.org/drawingml/2006/main">
            <a:off x="283083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Human-owned controls</a:t>
            </a:r>
          </a:p>
        </p:txBody>
      </p:sp>
      <p:sp>
        <p:nvSpPr>
          <p:cNvPr id="14" name="">
            <a:extLst xmlns:a="http://schemas.openxmlformats.org/drawingml/2006/main">
              <a:ext uri="{FF2B5EF4-FFF2-40B4-BE49-F238E27FC236}">
                <a16:creationId xmlns:a16="http://schemas.microsoft.com/office/drawing/2014/main" id="{A7D6AFBF-594C-4B1D-BD16-865D17E222CA}"/>
              </a:ext>
            </a:extLst>
          </p:cNvPr>
          <p:cNvSpPr>
            <a:spLocks xmlns:a="http://schemas.openxmlformats.org/drawingml/2006/main" noGrp="1"/>
          </p:cNvSpPr>
          <p:nvPr/>
        </p:nvSpPr>
        <p:spPr>
          <a:xfrm xmlns:a="http://schemas.openxmlformats.org/drawingml/2006/main">
            <a:off x="499491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d1b5a67d0cb45bd"/>
          <a:srcRect xmlns:a="http://schemas.openxmlformats.org/drawingml/2006/main" l="12322" t="0" r="12322" b="0"/>
          <a:stretch xmlns:a="http://schemas.openxmlformats.org/drawingml/2006/main">
            <a:fillRect l="0" t="0" r="0" b="0"/>
          </a:stretch>
        </p:blipFill>
        <p:spPr>
          <a:xfrm xmlns:a="http://schemas.openxmlformats.org/drawingml/2006/main">
            <a:off x="5052060" y="1666875"/>
            <a:ext cx="2087880" cy="2095500"/>
          </a:xfrm>
          <a:prstGeom xmlns:a="http://schemas.openxmlformats.org/drawingml/2006/main" prst="roundRect">
            <a:avLst>
              <a:gd name="adj" fmla="val 5474"/>
            </a:avLst>
          </a:prstGeom>
        </p:spPr>
      </p:pic>
      <p:sp>
        <p:nvSpPr>
          <p:cNvPr id="16" name="">
            <a:extLst xmlns:a="http://schemas.openxmlformats.org/drawingml/2006/main">
              <a:ext uri="{FF2B5EF4-FFF2-40B4-BE49-F238E27FC236}">
                <a16:creationId xmlns:a16="http://schemas.microsoft.com/office/drawing/2014/main" id="{977E0045-F594-4438-815D-40CE87143B10}"/>
              </a:ext>
            </a:extLst>
          </p:cNvPr>
          <p:cNvSpPr>
            <a:spLocks xmlns:a="http://schemas.openxmlformats.org/drawingml/2006/main" noGrp="1"/>
          </p:cNvSpPr>
          <p:nvPr/>
        </p:nvSpPr>
        <p:spPr>
          <a:xfrm xmlns:a="http://schemas.openxmlformats.org/drawingml/2006/main">
            <a:off x="505206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03</a:t>
            </a:r>
          </a:p>
        </p:txBody>
      </p:sp>
      <p:sp>
        <p:nvSpPr>
          <p:cNvPr id="17" name="">
            <a:extLst xmlns:a="http://schemas.openxmlformats.org/drawingml/2006/main">
              <a:ext uri="{FF2B5EF4-FFF2-40B4-BE49-F238E27FC236}">
                <a16:creationId xmlns:a16="http://schemas.microsoft.com/office/drawing/2014/main" id="{1531B5A9-00C2-4F99-8521-12C7D3E06BB0}"/>
              </a:ext>
            </a:extLst>
          </p:cNvPr>
          <p:cNvSpPr>
            <a:spLocks xmlns:a="http://schemas.openxmlformats.org/drawingml/2006/main" noGrp="1"/>
          </p:cNvSpPr>
          <p:nvPr/>
        </p:nvSpPr>
        <p:spPr>
          <a:xfrm xmlns:a="http://schemas.openxmlformats.org/drawingml/2006/main">
            <a:off x="537591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Studio</a:t>
            </a:r>
          </a:p>
        </p:txBody>
      </p:sp>
      <p:sp>
        <p:nvSpPr>
          <p:cNvPr id="18" name="">
            <a:extLst xmlns:a="http://schemas.openxmlformats.org/drawingml/2006/main">
              <a:ext uri="{FF2B5EF4-FFF2-40B4-BE49-F238E27FC236}">
                <a16:creationId xmlns:a16="http://schemas.microsoft.com/office/drawing/2014/main" id="{72835B35-3434-49A2-BDFB-16B58B21340E}"/>
              </a:ext>
            </a:extLst>
          </p:cNvPr>
          <p:cNvSpPr>
            <a:spLocks xmlns:a="http://schemas.openxmlformats.org/drawingml/2006/main" noGrp="1"/>
          </p:cNvSpPr>
          <p:nvPr/>
        </p:nvSpPr>
        <p:spPr>
          <a:xfrm xmlns:a="http://schemas.openxmlformats.org/drawingml/2006/main">
            <a:off x="505206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Approved artifacts</a:t>
            </a:r>
          </a:p>
        </p:txBody>
      </p:sp>
      <p:sp>
        <p:nvSpPr>
          <p:cNvPr id="19" name="">
            <a:extLst xmlns:a="http://schemas.openxmlformats.org/drawingml/2006/main">
              <a:ext uri="{FF2B5EF4-FFF2-40B4-BE49-F238E27FC236}">
                <a16:creationId xmlns:a16="http://schemas.microsoft.com/office/drawing/2014/main" id="{5ADE6D44-9FCC-4C77-B687-C07CE81C9B06}"/>
              </a:ext>
            </a:extLst>
          </p:cNvPr>
          <p:cNvSpPr>
            <a:spLocks xmlns:a="http://schemas.openxmlformats.org/drawingml/2006/main" noGrp="1"/>
          </p:cNvSpPr>
          <p:nvPr/>
        </p:nvSpPr>
        <p:spPr>
          <a:xfrm xmlns:a="http://schemas.openxmlformats.org/drawingml/2006/main">
            <a:off x="721614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efbc78bcd4da4be0"/>
          <a:srcRect xmlns:a="http://schemas.openxmlformats.org/drawingml/2006/main" l="12322" t="0" r="12322" b="0"/>
          <a:stretch xmlns:a="http://schemas.openxmlformats.org/drawingml/2006/main">
            <a:fillRect l="0" t="0" r="0" b="0"/>
          </a:stretch>
        </p:blipFill>
        <p:spPr>
          <a:xfrm xmlns:a="http://schemas.openxmlformats.org/drawingml/2006/main">
            <a:off x="7273290" y="1666875"/>
            <a:ext cx="2087880" cy="2095500"/>
          </a:xfrm>
          <a:prstGeom xmlns:a="http://schemas.openxmlformats.org/drawingml/2006/main" prst="roundRect">
            <a:avLst>
              <a:gd name="adj" fmla="val 5474"/>
            </a:avLst>
          </a:prstGeom>
        </p:spPr>
      </p:pic>
      <p:sp>
        <p:nvSpPr>
          <p:cNvPr id="21" name="">
            <a:extLst xmlns:a="http://schemas.openxmlformats.org/drawingml/2006/main">
              <a:ext uri="{FF2B5EF4-FFF2-40B4-BE49-F238E27FC236}">
                <a16:creationId xmlns:a16="http://schemas.microsoft.com/office/drawing/2014/main" id="{7788DCB0-2203-4CCE-9EA0-2D3A9F0DB8D7}"/>
              </a:ext>
            </a:extLst>
          </p:cNvPr>
          <p:cNvSpPr>
            <a:spLocks xmlns:a="http://schemas.openxmlformats.org/drawingml/2006/main" noGrp="1"/>
          </p:cNvSpPr>
          <p:nvPr/>
        </p:nvSpPr>
        <p:spPr>
          <a:xfrm xmlns:a="http://schemas.openxmlformats.org/drawingml/2006/main">
            <a:off x="727329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04</a:t>
            </a:r>
          </a:p>
        </p:txBody>
      </p:sp>
      <p:sp>
        <p:nvSpPr>
          <p:cNvPr id="22" name="">
            <a:extLst xmlns:a="http://schemas.openxmlformats.org/drawingml/2006/main">
              <a:ext uri="{FF2B5EF4-FFF2-40B4-BE49-F238E27FC236}">
                <a16:creationId xmlns:a16="http://schemas.microsoft.com/office/drawing/2014/main" id="{E1C9853D-CC9A-4688-87C8-80EE4430FB0B}"/>
              </a:ext>
            </a:extLst>
          </p:cNvPr>
          <p:cNvSpPr>
            <a:spLocks xmlns:a="http://schemas.openxmlformats.org/drawingml/2006/main" noGrp="1"/>
          </p:cNvSpPr>
          <p:nvPr/>
        </p:nvSpPr>
        <p:spPr>
          <a:xfrm xmlns:a="http://schemas.openxmlformats.org/drawingml/2006/main">
            <a:off x="759714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Delivery</a:t>
            </a:r>
          </a:p>
        </p:txBody>
      </p:sp>
      <p:sp>
        <p:nvSpPr>
          <p:cNvPr id="23" name="">
            <a:extLst xmlns:a="http://schemas.openxmlformats.org/drawingml/2006/main">
              <a:ext uri="{FF2B5EF4-FFF2-40B4-BE49-F238E27FC236}">
                <a16:creationId xmlns:a16="http://schemas.microsoft.com/office/drawing/2014/main" id="{9AE6AEEE-14AD-40B0-A7FD-8F41E12C5896}"/>
              </a:ext>
            </a:extLst>
          </p:cNvPr>
          <p:cNvSpPr>
            <a:spLocks xmlns:a="http://schemas.openxmlformats.org/drawingml/2006/main" noGrp="1"/>
          </p:cNvSpPr>
          <p:nvPr/>
        </p:nvSpPr>
        <p:spPr>
          <a:xfrm xmlns:a="http://schemas.openxmlformats.org/drawingml/2006/main">
            <a:off x="727329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Source-linked work</a:t>
            </a:r>
          </a:p>
        </p:txBody>
      </p:sp>
      <p:sp>
        <p:nvSpPr>
          <p:cNvPr id="24" name="">
            <a:extLst xmlns:a="http://schemas.openxmlformats.org/drawingml/2006/main">
              <a:ext uri="{FF2B5EF4-FFF2-40B4-BE49-F238E27FC236}">
                <a16:creationId xmlns:a16="http://schemas.microsoft.com/office/drawing/2014/main" id="{05BAF916-3969-465B-B1AB-E790F23BB00A}"/>
              </a:ext>
            </a:extLst>
          </p:cNvPr>
          <p:cNvSpPr>
            <a:spLocks xmlns:a="http://schemas.openxmlformats.org/drawingml/2006/main" noGrp="1"/>
          </p:cNvSpPr>
          <p:nvPr/>
        </p:nvSpPr>
        <p:spPr>
          <a:xfrm xmlns:a="http://schemas.openxmlformats.org/drawingml/2006/main">
            <a:off x="943737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2ef0ce37d024d87"/>
          <a:srcRect xmlns:a="http://schemas.openxmlformats.org/drawingml/2006/main" l="12322" t="0" r="12322" b="0"/>
          <a:stretch xmlns:a="http://schemas.openxmlformats.org/drawingml/2006/main">
            <a:fillRect l="0" t="0" r="0" b="0"/>
          </a:stretch>
        </p:blipFill>
        <p:spPr>
          <a:xfrm xmlns:a="http://schemas.openxmlformats.org/drawingml/2006/main">
            <a:off x="9494520" y="1666875"/>
            <a:ext cx="2087880" cy="2095500"/>
          </a:xfrm>
          <a:prstGeom xmlns:a="http://schemas.openxmlformats.org/drawingml/2006/main" prst="roundRect">
            <a:avLst>
              <a:gd name="adj" fmla="val 5474"/>
            </a:avLst>
          </a:prstGeom>
        </p:spPr>
      </p:pic>
      <p:sp>
        <p:nvSpPr>
          <p:cNvPr id="26" name="">
            <a:extLst xmlns:a="http://schemas.openxmlformats.org/drawingml/2006/main">
              <a:ext uri="{FF2B5EF4-FFF2-40B4-BE49-F238E27FC236}">
                <a16:creationId xmlns:a16="http://schemas.microsoft.com/office/drawing/2014/main" id="{8FD82FB3-2218-4918-A021-9B6086524122}"/>
              </a:ext>
            </a:extLst>
          </p:cNvPr>
          <p:cNvSpPr>
            <a:spLocks xmlns:a="http://schemas.openxmlformats.org/drawingml/2006/main" noGrp="1"/>
          </p:cNvSpPr>
          <p:nvPr/>
        </p:nvSpPr>
        <p:spPr>
          <a:xfrm xmlns:a="http://schemas.openxmlformats.org/drawingml/2006/main">
            <a:off x="949452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05</a:t>
            </a:r>
          </a:p>
        </p:txBody>
      </p:sp>
      <p:sp>
        <p:nvSpPr>
          <p:cNvPr id="27" name="">
            <a:extLst xmlns:a="http://schemas.openxmlformats.org/drawingml/2006/main">
              <a:ext uri="{FF2B5EF4-FFF2-40B4-BE49-F238E27FC236}">
                <a16:creationId xmlns:a16="http://schemas.microsoft.com/office/drawing/2014/main" id="{AF4943DA-1E6B-4E10-A340-40D7FCFDEA79}"/>
              </a:ext>
            </a:extLst>
          </p:cNvPr>
          <p:cNvSpPr>
            <a:spLocks xmlns:a="http://schemas.openxmlformats.org/drawingml/2006/main" noGrp="1"/>
          </p:cNvSpPr>
          <p:nvPr/>
        </p:nvSpPr>
        <p:spPr>
          <a:xfrm xmlns:a="http://schemas.openxmlformats.org/drawingml/2006/main">
            <a:off x="981837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Monitor</a:t>
            </a:r>
          </a:p>
        </p:txBody>
      </p:sp>
      <p:sp>
        <p:nvSpPr>
          <p:cNvPr id="28" name="">
            <a:extLst xmlns:a="http://schemas.openxmlformats.org/drawingml/2006/main">
              <a:ext uri="{FF2B5EF4-FFF2-40B4-BE49-F238E27FC236}">
                <a16:creationId xmlns:a16="http://schemas.microsoft.com/office/drawing/2014/main" id="{964A5B89-131F-405E-BB4B-E36FCDE199F5}"/>
              </a:ext>
            </a:extLst>
          </p:cNvPr>
          <p:cNvSpPr>
            <a:spLocks xmlns:a="http://schemas.openxmlformats.org/drawingml/2006/main" noGrp="1"/>
          </p:cNvSpPr>
          <p:nvPr/>
        </p:nvSpPr>
        <p:spPr>
          <a:xfrm xmlns:a="http://schemas.openxmlformats.org/drawingml/2006/main">
            <a:off x="949452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Outcome visibility</a:t>
            </a:r>
          </a:p>
        </p:txBody>
      </p:sp>
      <p:sp>
        <p:nvSpPr>
          <p:cNvPr id="29" name="">
            <a:extLst xmlns:a="http://schemas.openxmlformats.org/drawingml/2006/main">
              <a:ext uri="{FF2B5EF4-FFF2-40B4-BE49-F238E27FC236}">
                <a16:creationId xmlns:a16="http://schemas.microsoft.com/office/drawing/2014/main" id="{EB280C7A-7433-42C1-B49B-7CB9C655CC6E}"/>
              </a:ext>
            </a:extLst>
          </p:cNvPr>
          <p:cNvSpPr>
            <a:spLocks xmlns:a="http://schemas.openxmlformats.org/drawingml/2006/main" noGrp="1"/>
          </p:cNvSpPr>
          <p:nvPr/>
        </p:nvSpPr>
        <p:spPr>
          <a:xfrm xmlns:a="http://schemas.openxmlformats.org/drawingml/2006/main">
            <a:off x="609600" y="5219700"/>
            <a:ext cx="10972800" cy="38100"/>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A72DCD76-3F7D-426D-B307-28BDEFE898D0}"/>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31" name="">
            <a:extLst xmlns:a="http://schemas.openxmlformats.org/drawingml/2006/main">
              <a:ext uri="{FF2B5EF4-FFF2-40B4-BE49-F238E27FC236}">
                <a16:creationId xmlns:a16="http://schemas.microsoft.com/office/drawing/2014/main" id="{9EDBCB58-BB28-4EC8-878F-16933DE4E1AA}"/>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Synthetic product previews. Execution remains with authorized systems.</a:t>
            </a:r>
          </a:p>
        </p:txBody>
      </p:sp>
      <p:sp>
        <p:nvSpPr>
          <p:cNvPr id="32" name="">
            <a:extLst xmlns:a="http://schemas.openxmlformats.org/drawingml/2006/main">
              <a:ext uri="{FF2B5EF4-FFF2-40B4-BE49-F238E27FC236}">
                <a16:creationId xmlns:a16="http://schemas.microsoft.com/office/drawing/2014/main" id="{089EA4BA-DFEE-4D09-A1AC-E0C3CC7309DC}"/>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05</a:t>
            </a:r>
          </a:p>
        </p:txBody>
      </p:sp>
    </p:spTree>
    <p:extLst>
      <p:ext uri="{BB962C8B-B14F-4D97-AF65-F5344CB8AC3E}">
        <p14:creationId xmlns:p14="http://schemas.microsoft.com/office/powerpoint/2010/main" val="1560723282"/>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948B12C-4DF7-4F22-8CCB-EA5A34C62DC3}"/>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738FB4C-3C84-4A85-9AC8-D726547523DA}"/>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WHAT THE CLIENT RECEIVES</a:t>
            </a:r>
          </a:p>
        </p:txBody>
      </p:sp>
      <p:sp>
        <p:nvSpPr>
          <p:cNvPr id="3" name="">
            <a:extLst xmlns:a="http://schemas.openxmlformats.org/drawingml/2006/main">
              <a:ext uri="{FF2B5EF4-FFF2-40B4-BE49-F238E27FC236}">
                <a16:creationId xmlns:a16="http://schemas.microsoft.com/office/drawing/2014/main" id="{0CCE29F5-89B0-4D48-B61A-03782DB842DF}"/>
              </a:ext>
            </a:extLst>
          </p:cNvPr>
          <p:cNvSpPr>
            <a:spLocks xmlns:a="http://schemas.openxmlformats.org/drawingml/2006/main" noGrp="1"/>
          </p:cNvSpPr>
          <p:nvPr/>
        </p:nvSpPr>
        <p:spPr>
          <a:xfrm xmlns:a="http://schemas.openxmlformats.org/drawingml/2006/main">
            <a:off x="609600" y="619125"/>
            <a:ext cx="10668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Avala Assess turns evidence into an explainable recommendation.</a:t>
            </a:r>
          </a:p>
        </p:txBody>
      </p:sp>
      <p:sp>
        <p:nvSpPr>
          <p:cNvPr id="4" name="">
            <a:extLst xmlns:a="http://schemas.openxmlformats.org/drawingml/2006/main">
              <a:ext uri="{FF2B5EF4-FFF2-40B4-BE49-F238E27FC236}">
                <a16:creationId xmlns:a16="http://schemas.microsoft.com/office/drawing/2014/main" id="{AD2BDAD1-9EB0-4669-A4D0-9C8865B93D30}"/>
              </a:ext>
            </a:extLst>
          </p:cNvPr>
          <p:cNvSpPr>
            <a:spLocks xmlns:a="http://schemas.openxmlformats.org/drawingml/2006/main" noGrp="1"/>
          </p:cNvSpPr>
          <p:nvPr/>
        </p:nvSpPr>
        <p:spPr>
          <a:xfrm xmlns:a="http://schemas.openxmlformats.org/drawingml/2006/main">
            <a:off x="4705350" y="1657350"/>
            <a:ext cx="6934200" cy="4305300"/>
          </a:xfrm>
          <a:prstGeom xmlns:a="http://schemas.openxmlformats.org/drawingml/2006/main" prst="roundRect">
            <a:avLst>
              <a:gd name="adj" fmla="val 1770"/>
            </a:avLst>
          </a:prstGeom>
          <a:solidFill xmlns:a="http://schemas.openxmlformats.org/drawingml/2006/main">
            <a:srgbClr val="FFFFFF"/>
          </a:solidFill>
          <a:ln xmlns:a="http://schemas.openxmlformats.org/drawingml/2006/main" w="9525">
            <a:solidFill>
              <a:srgbClr val="D7E0E8"/>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aff2ecd815643ba"/>
          <a:srcRect xmlns:a="http://schemas.openxmlformats.org/drawingml/2006/main" l="0" t="9373" r="0" b="9373"/>
          <a:stretch xmlns:a="http://schemas.openxmlformats.org/drawingml/2006/main">
            <a:fillRect l="0" t="0" r="0" b="0"/>
          </a:stretch>
        </p:blipFill>
        <p:spPr>
          <a:xfrm xmlns:a="http://schemas.openxmlformats.org/drawingml/2006/main">
            <a:off x="4762500" y="1714500"/>
            <a:ext cx="6819900" cy="4191000"/>
          </a:xfrm>
          <a:prstGeom xmlns:a="http://schemas.openxmlformats.org/drawingml/2006/main" prst="roundRect">
            <a:avLst>
              <a:gd name="adj" fmla="val 2727"/>
            </a:avLst>
          </a:prstGeom>
        </p:spPr>
      </p:pic>
      <p:sp>
        <p:nvSpPr>
          <p:cNvPr id="6" name="">
            <a:extLst xmlns:a="http://schemas.openxmlformats.org/drawingml/2006/main">
              <a:ext uri="{FF2B5EF4-FFF2-40B4-BE49-F238E27FC236}">
                <a16:creationId xmlns:a16="http://schemas.microsoft.com/office/drawing/2014/main" id="{6BE00C41-7888-47E8-BA27-EE4FF946B368}"/>
              </a:ext>
            </a:extLst>
          </p:cNvPr>
          <p:cNvSpPr>
            <a:spLocks xmlns:a="http://schemas.openxmlformats.org/drawingml/2006/main" noGrp="1"/>
          </p:cNvSpPr>
          <p:nvPr/>
        </p:nvSpPr>
        <p:spPr>
          <a:xfrm xmlns:a="http://schemas.openxmlformats.org/drawingml/2006/main">
            <a:off x="685800" y="20002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6FBC92B-7329-44E0-AB48-E538F44E3780}"/>
              </a:ext>
            </a:extLst>
          </p:cNvPr>
          <p:cNvSpPr>
            <a:spLocks xmlns:a="http://schemas.openxmlformats.org/drawingml/2006/main" noGrp="1"/>
          </p:cNvSpPr>
          <p:nvPr/>
        </p:nvSpPr>
        <p:spPr>
          <a:xfrm xmlns:a="http://schemas.openxmlformats.org/drawingml/2006/main">
            <a:off x="914400" y="19240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Process inventory</a:t>
            </a:r>
          </a:p>
        </p:txBody>
      </p:sp>
      <p:sp>
        <p:nvSpPr>
          <p:cNvPr id="8" name="">
            <a:extLst xmlns:a="http://schemas.openxmlformats.org/drawingml/2006/main">
              <a:ext uri="{FF2B5EF4-FFF2-40B4-BE49-F238E27FC236}">
                <a16:creationId xmlns:a16="http://schemas.microsoft.com/office/drawing/2014/main" id="{5A519E54-D71B-4062-84C8-5EE7E299A0F0}"/>
              </a:ext>
            </a:extLst>
          </p:cNvPr>
          <p:cNvSpPr>
            <a:spLocks xmlns:a="http://schemas.openxmlformats.org/drawingml/2006/main" noGrp="1"/>
          </p:cNvSpPr>
          <p:nvPr/>
        </p:nvSpPr>
        <p:spPr>
          <a:xfrm xmlns:a="http://schemas.openxmlformats.org/drawingml/2006/main">
            <a:off x="685800" y="25146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0B9E606-28F3-4EBD-96BC-F302A316A356}"/>
              </a:ext>
            </a:extLst>
          </p:cNvPr>
          <p:cNvSpPr>
            <a:spLocks xmlns:a="http://schemas.openxmlformats.org/drawingml/2006/main" noGrp="1"/>
          </p:cNvSpPr>
          <p:nvPr/>
        </p:nvSpPr>
        <p:spPr>
          <a:xfrm xmlns:a="http://schemas.openxmlformats.org/drawingml/2006/main">
            <a:off x="914400" y="243840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Primitive-level decomposition</a:t>
            </a:r>
          </a:p>
        </p:txBody>
      </p:sp>
      <p:sp>
        <p:nvSpPr>
          <p:cNvPr id="10" name="">
            <a:extLst xmlns:a="http://schemas.openxmlformats.org/drawingml/2006/main">
              <a:ext uri="{FF2B5EF4-FFF2-40B4-BE49-F238E27FC236}">
                <a16:creationId xmlns:a16="http://schemas.microsoft.com/office/drawing/2014/main" id="{0C642268-947E-409D-8FB7-40EF7E1FC662}"/>
              </a:ext>
            </a:extLst>
          </p:cNvPr>
          <p:cNvSpPr>
            <a:spLocks xmlns:a="http://schemas.openxmlformats.org/drawingml/2006/main" noGrp="1"/>
          </p:cNvSpPr>
          <p:nvPr/>
        </p:nvSpPr>
        <p:spPr>
          <a:xfrm xmlns:a="http://schemas.openxmlformats.org/drawingml/2006/main">
            <a:off x="685800" y="30289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8AF1748-6C6E-4871-98ED-00C4286A45BC}"/>
              </a:ext>
            </a:extLst>
          </p:cNvPr>
          <p:cNvSpPr>
            <a:spLocks xmlns:a="http://schemas.openxmlformats.org/drawingml/2006/main" noGrp="1"/>
          </p:cNvSpPr>
          <p:nvPr/>
        </p:nvSpPr>
        <p:spPr>
          <a:xfrm xmlns:a="http://schemas.openxmlformats.org/drawingml/2006/main">
            <a:off x="914400" y="29527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Evidence confidence and gaps</a:t>
            </a:r>
          </a:p>
        </p:txBody>
      </p:sp>
      <p:sp>
        <p:nvSpPr>
          <p:cNvPr id="12" name="">
            <a:extLst xmlns:a="http://schemas.openxmlformats.org/drawingml/2006/main">
              <a:ext uri="{FF2B5EF4-FFF2-40B4-BE49-F238E27FC236}">
                <a16:creationId xmlns:a16="http://schemas.microsoft.com/office/drawing/2014/main" id="{0992514E-5E11-42E9-983A-C98F894D58F9}"/>
              </a:ext>
            </a:extLst>
          </p:cNvPr>
          <p:cNvSpPr>
            <a:spLocks xmlns:a="http://schemas.openxmlformats.org/drawingml/2006/main" noGrp="1"/>
          </p:cNvSpPr>
          <p:nvPr/>
        </p:nvSpPr>
        <p:spPr>
          <a:xfrm xmlns:a="http://schemas.openxmlformats.org/drawingml/2006/main">
            <a:off x="685800" y="35433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82C5B4A-B6B2-4732-A667-259C08C03FEA}"/>
              </a:ext>
            </a:extLst>
          </p:cNvPr>
          <p:cNvSpPr>
            <a:spLocks xmlns:a="http://schemas.openxmlformats.org/drawingml/2006/main" noGrp="1"/>
          </p:cNvSpPr>
          <p:nvPr/>
        </p:nvSpPr>
        <p:spPr>
          <a:xfrm xmlns:a="http://schemas.openxmlformats.org/drawingml/2006/main">
            <a:off x="914400" y="346710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Versioned deterministic recommendation</a:t>
            </a:r>
          </a:p>
        </p:txBody>
      </p:sp>
      <p:sp>
        <p:nvSpPr>
          <p:cNvPr id="14" name="">
            <a:extLst xmlns:a="http://schemas.openxmlformats.org/drawingml/2006/main">
              <a:ext uri="{FF2B5EF4-FFF2-40B4-BE49-F238E27FC236}">
                <a16:creationId xmlns:a16="http://schemas.microsoft.com/office/drawing/2014/main" id="{6B996CAB-2FA4-4034-87EB-988650069BEB}"/>
              </a:ext>
            </a:extLst>
          </p:cNvPr>
          <p:cNvSpPr>
            <a:spLocks xmlns:a="http://schemas.openxmlformats.org/drawingml/2006/main" noGrp="1"/>
          </p:cNvSpPr>
          <p:nvPr/>
        </p:nvSpPr>
        <p:spPr>
          <a:xfrm xmlns:a="http://schemas.openxmlformats.org/drawingml/2006/main">
            <a:off x="685800" y="40576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2D4E661-C92E-4585-94AA-8B4EBF13A6EB}"/>
              </a:ext>
            </a:extLst>
          </p:cNvPr>
          <p:cNvSpPr>
            <a:spLocks xmlns:a="http://schemas.openxmlformats.org/drawingml/2006/main" noGrp="1"/>
          </p:cNvSpPr>
          <p:nvPr/>
        </p:nvSpPr>
        <p:spPr>
          <a:xfrm xmlns:a="http://schemas.openxmlformats.org/drawingml/2006/main">
            <a:off x="914400" y="39814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Hybrid operating model</a:t>
            </a:r>
          </a:p>
        </p:txBody>
      </p:sp>
      <p:sp>
        <p:nvSpPr>
          <p:cNvPr id="16" name="">
            <a:extLst xmlns:a="http://schemas.openxmlformats.org/drawingml/2006/main">
              <a:ext uri="{FF2B5EF4-FFF2-40B4-BE49-F238E27FC236}">
                <a16:creationId xmlns:a16="http://schemas.microsoft.com/office/drawing/2014/main" id="{36411751-34F4-4F17-841A-E689978AEBA4}"/>
              </a:ext>
            </a:extLst>
          </p:cNvPr>
          <p:cNvSpPr>
            <a:spLocks xmlns:a="http://schemas.openxmlformats.org/drawingml/2006/main" noGrp="1"/>
          </p:cNvSpPr>
          <p:nvPr/>
        </p:nvSpPr>
        <p:spPr>
          <a:xfrm xmlns:a="http://schemas.openxmlformats.org/drawingml/2006/main">
            <a:off x="685800" y="45720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736B8541-8A56-499B-B0B6-B452CB29AB9A}"/>
              </a:ext>
            </a:extLst>
          </p:cNvPr>
          <p:cNvSpPr>
            <a:spLocks xmlns:a="http://schemas.openxmlformats.org/drawingml/2006/main" noGrp="1"/>
          </p:cNvSpPr>
          <p:nvPr/>
        </p:nvSpPr>
        <p:spPr>
          <a:xfrm xmlns:a="http://schemas.openxmlformats.org/drawingml/2006/main">
            <a:off x="914400" y="449580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Decision Pack</a:t>
            </a:r>
          </a:p>
        </p:txBody>
      </p:sp>
      <p:sp>
        <p:nvSpPr>
          <p:cNvPr id="18" name="">
            <a:extLst xmlns:a="http://schemas.openxmlformats.org/drawingml/2006/main">
              <a:ext uri="{FF2B5EF4-FFF2-40B4-BE49-F238E27FC236}">
                <a16:creationId xmlns:a16="http://schemas.microsoft.com/office/drawing/2014/main" id="{5C1DCC14-51C7-42D0-A320-0813813E1296}"/>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19" name="">
            <a:extLst xmlns:a="http://schemas.openxmlformats.org/drawingml/2006/main">
              <a:ext uri="{FF2B5EF4-FFF2-40B4-BE49-F238E27FC236}">
                <a16:creationId xmlns:a16="http://schemas.microsoft.com/office/drawing/2014/main" id="{9487038B-3E6C-4A19-ADA6-F4D2A5A87C42}"/>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Economics are scenario-based; calibration is Insufficient Data. No live estate scanning.</a:t>
            </a:r>
          </a:p>
        </p:txBody>
      </p:sp>
      <p:sp>
        <p:nvSpPr>
          <p:cNvPr id="20" name="">
            <a:extLst xmlns:a="http://schemas.openxmlformats.org/drawingml/2006/main">
              <a:ext uri="{FF2B5EF4-FFF2-40B4-BE49-F238E27FC236}">
                <a16:creationId xmlns:a16="http://schemas.microsoft.com/office/drawing/2014/main" id="{115345E7-BAB8-4D32-8473-BB942A0BC177}"/>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06</a:t>
            </a:r>
          </a:p>
        </p:txBody>
      </p:sp>
    </p:spTree>
    <p:extLst>
      <p:ext uri="{BB962C8B-B14F-4D97-AF65-F5344CB8AC3E}">
        <p14:creationId xmlns:p14="http://schemas.microsoft.com/office/powerpoint/2010/main" val="1974278899"/>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20C77B4-60D6-4791-A53C-0850091982E5}"/>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CC3EECA-A2F6-413A-BD52-DED549BD5BE3}"/>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HUMANS APPROVE RISK</a:t>
            </a:r>
          </a:p>
        </p:txBody>
      </p:sp>
      <p:sp>
        <p:nvSpPr>
          <p:cNvPr id="3" name="">
            <a:extLst xmlns:a="http://schemas.openxmlformats.org/drawingml/2006/main">
              <a:ext uri="{FF2B5EF4-FFF2-40B4-BE49-F238E27FC236}">
                <a16:creationId xmlns:a16="http://schemas.microsoft.com/office/drawing/2014/main" id="{9C7D47AE-F19B-4957-BAAB-E45852B00F20}"/>
              </a:ext>
            </a:extLst>
          </p:cNvPr>
          <p:cNvSpPr>
            <a:spLocks xmlns:a="http://schemas.openxmlformats.org/drawingml/2006/main" noGrp="1"/>
          </p:cNvSpPr>
          <p:nvPr/>
        </p:nvSpPr>
        <p:spPr>
          <a:xfrm xmlns:a="http://schemas.openxmlformats.org/drawingml/2006/main">
            <a:off x="609600" y="619125"/>
            <a:ext cx="10668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Govern resolves material risk before handoff.</a:t>
            </a:r>
          </a:p>
        </p:txBody>
      </p:sp>
      <p:sp>
        <p:nvSpPr>
          <p:cNvPr id="4" name="">
            <a:extLst xmlns:a="http://schemas.openxmlformats.org/drawingml/2006/main">
              <a:ext uri="{FF2B5EF4-FFF2-40B4-BE49-F238E27FC236}">
                <a16:creationId xmlns:a16="http://schemas.microsoft.com/office/drawing/2014/main" id="{C01BC15D-6B5F-47A0-B20E-6D3786CFE495}"/>
              </a:ext>
            </a:extLst>
          </p:cNvPr>
          <p:cNvSpPr>
            <a:spLocks xmlns:a="http://schemas.openxmlformats.org/drawingml/2006/main" noGrp="1"/>
          </p:cNvSpPr>
          <p:nvPr/>
        </p:nvSpPr>
        <p:spPr>
          <a:xfrm xmlns:a="http://schemas.openxmlformats.org/drawingml/2006/main">
            <a:off x="4705350" y="1657350"/>
            <a:ext cx="6934200" cy="4305300"/>
          </a:xfrm>
          <a:prstGeom xmlns:a="http://schemas.openxmlformats.org/drawingml/2006/main" prst="roundRect">
            <a:avLst>
              <a:gd name="adj" fmla="val 1770"/>
            </a:avLst>
          </a:prstGeom>
          <a:solidFill xmlns:a="http://schemas.openxmlformats.org/drawingml/2006/main">
            <a:srgbClr val="FFFFFF"/>
          </a:solidFill>
          <a:ln xmlns:a="http://schemas.openxmlformats.org/drawingml/2006/main" w="9525">
            <a:solidFill>
              <a:srgbClr val="D7E0E8"/>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ef977c255b7424a"/>
          <a:srcRect xmlns:a="http://schemas.openxmlformats.org/drawingml/2006/main" l="0" t="9373" r="0" b="9373"/>
          <a:stretch xmlns:a="http://schemas.openxmlformats.org/drawingml/2006/main">
            <a:fillRect l="0" t="0" r="0" b="0"/>
          </a:stretch>
        </p:blipFill>
        <p:spPr>
          <a:xfrm xmlns:a="http://schemas.openxmlformats.org/drawingml/2006/main">
            <a:off x="4762500" y="1714500"/>
            <a:ext cx="6819900" cy="4191000"/>
          </a:xfrm>
          <a:prstGeom xmlns:a="http://schemas.openxmlformats.org/drawingml/2006/main" prst="roundRect">
            <a:avLst>
              <a:gd name="adj" fmla="val 2727"/>
            </a:avLst>
          </a:prstGeom>
        </p:spPr>
      </p:pic>
      <p:sp>
        <p:nvSpPr>
          <p:cNvPr id="6" name="">
            <a:extLst xmlns:a="http://schemas.openxmlformats.org/drawingml/2006/main">
              <a:ext uri="{FF2B5EF4-FFF2-40B4-BE49-F238E27FC236}">
                <a16:creationId xmlns:a16="http://schemas.microsoft.com/office/drawing/2014/main" id="{CBAC17C2-CFE9-48C9-A94F-5F9856806E8D}"/>
              </a:ext>
            </a:extLst>
          </p:cNvPr>
          <p:cNvSpPr>
            <a:spLocks xmlns:a="http://schemas.openxmlformats.org/drawingml/2006/main" noGrp="1"/>
          </p:cNvSpPr>
          <p:nvPr/>
        </p:nvSpPr>
        <p:spPr>
          <a:xfrm xmlns:a="http://schemas.openxmlformats.org/drawingml/2006/main">
            <a:off x="685800" y="20002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E912AAB-7B1C-4560-8952-9211D7A92004}"/>
              </a:ext>
            </a:extLst>
          </p:cNvPr>
          <p:cNvSpPr>
            <a:spLocks xmlns:a="http://schemas.openxmlformats.org/drawingml/2006/main" noGrp="1"/>
          </p:cNvSpPr>
          <p:nvPr/>
        </p:nvSpPr>
        <p:spPr>
          <a:xfrm xmlns:a="http://schemas.openxmlformats.org/drawingml/2006/main">
            <a:off x="914400" y="19240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Evidence attestations</a:t>
            </a:r>
          </a:p>
        </p:txBody>
      </p:sp>
      <p:sp>
        <p:nvSpPr>
          <p:cNvPr id="8" name="">
            <a:extLst xmlns:a="http://schemas.openxmlformats.org/drawingml/2006/main">
              <a:ext uri="{FF2B5EF4-FFF2-40B4-BE49-F238E27FC236}">
                <a16:creationId xmlns:a16="http://schemas.microsoft.com/office/drawing/2014/main" id="{29238909-FC11-4D74-A6E6-C3F635235048}"/>
              </a:ext>
            </a:extLst>
          </p:cNvPr>
          <p:cNvSpPr>
            <a:spLocks xmlns:a="http://schemas.openxmlformats.org/drawingml/2006/main" noGrp="1"/>
          </p:cNvSpPr>
          <p:nvPr/>
        </p:nvSpPr>
        <p:spPr>
          <a:xfrm xmlns:a="http://schemas.openxmlformats.org/drawingml/2006/main">
            <a:off x="685800" y="25146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77E36D5-0B38-43C9-8E0C-59EB1AFDD601}"/>
              </a:ext>
            </a:extLst>
          </p:cNvPr>
          <p:cNvSpPr>
            <a:spLocks xmlns:a="http://schemas.openxmlformats.org/drawingml/2006/main" noGrp="1"/>
          </p:cNvSpPr>
          <p:nvPr/>
        </p:nvSpPr>
        <p:spPr>
          <a:xfrm xmlns:a="http://schemas.openxmlformats.org/drawingml/2006/main">
            <a:off x="914400" y="243840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Assumptions and gaps</a:t>
            </a:r>
          </a:p>
        </p:txBody>
      </p:sp>
      <p:sp>
        <p:nvSpPr>
          <p:cNvPr id="10" name="">
            <a:extLst xmlns:a="http://schemas.openxmlformats.org/drawingml/2006/main">
              <a:ext uri="{FF2B5EF4-FFF2-40B4-BE49-F238E27FC236}">
                <a16:creationId xmlns:a16="http://schemas.microsoft.com/office/drawing/2014/main" id="{EF18BF01-1ECC-4181-8777-AFD8A5DC4B62}"/>
              </a:ext>
            </a:extLst>
          </p:cNvPr>
          <p:cNvSpPr>
            <a:spLocks xmlns:a="http://schemas.openxmlformats.org/drawingml/2006/main" noGrp="1"/>
          </p:cNvSpPr>
          <p:nvPr/>
        </p:nvSpPr>
        <p:spPr>
          <a:xfrm xmlns:a="http://schemas.openxmlformats.org/drawingml/2006/main">
            <a:off x="685800" y="30289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F12A00F-8FA8-4DE9-8314-DF299314C32E}"/>
              </a:ext>
            </a:extLst>
          </p:cNvPr>
          <p:cNvSpPr>
            <a:spLocks xmlns:a="http://schemas.openxmlformats.org/drawingml/2006/main" noGrp="1"/>
          </p:cNvSpPr>
          <p:nvPr/>
        </p:nvSpPr>
        <p:spPr>
          <a:xfrm xmlns:a="http://schemas.openxmlformats.org/drawingml/2006/main">
            <a:off x="914400" y="29527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Action-specific controls</a:t>
            </a:r>
          </a:p>
        </p:txBody>
      </p:sp>
      <p:sp>
        <p:nvSpPr>
          <p:cNvPr id="12" name="">
            <a:extLst xmlns:a="http://schemas.openxmlformats.org/drawingml/2006/main">
              <a:ext uri="{FF2B5EF4-FFF2-40B4-BE49-F238E27FC236}">
                <a16:creationId xmlns:a16="http://schemas.microsoft.com/office/drawing/2014/main" id="{3D55CBF5-52A1-4A77-93BB-FCE4E7921944}"/>
              </a:ext>
            </a:extLst>
          </p:cNvPr>
          <p:cNvSpPr>
            <a:spLocks xmlns:a="http://schemas.openxmlformats.org/drawingml/2006/main" noGrp="1"/>
          </p:cNvSpPr>
          <p:nvPr/>
        </p:nvSpPr>
        <p:spPr>
          <a:xfrm xmlns:a="http://schemas.openxmlformats.org/drawingml/2006/main">
            <a:off x="685800" y="35433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7BA69FB8-15E4-4937-88E5-569370411137}"/>
              </a:ext>
            </a:extLst>
          </p:cNvPr>
          <p:cNvSpPr>
            <a:spLocks xmlns:a="http://schemas.openxmlformats.org/drawingml/2006/main" noGrp="1"/>
          </p:cNvSpPr>
          <p:nvPr/>
        </p:nvSpPr>
        <p:spPr>
          <a:xfrm xmlns:a="http://schemas.openxmlformats.org/drawingml/2006/main">
            <a:off x="914400" y="346710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Approval conditions</a:t>
            </a:r>
          </a:p>
        </p:txBody>
      </p:sp>
      <p:sp>
        <p:nvSpPr>
          <p:cNvPr id="14" name="">
            <a:extLst xmlns:a="http://schemas.openxmlformats.org/drawingml/2006/main">
              <a:ext uri="{FF2B5EF4-FFF2-40B4-BE49-F238E27FC236}">
                <a16:creationId xmlns:a16="http://schemas.microsoft.com/office/drawing/2014/main" id="{CAF02345-BC6A-497A-878B-B784CA6BA7F2}"/>
              </a:ext>
            </a:extLst>
          </p:cNvPr>
          <p:cNvSpPr>
            <a:spLocks xmlns:a="http://schemas.openxmlformats.org/drawingml/2006/main" noGrp="1"/>
          </p:cNvSpPr>
          <p:nvPr/>
        </p:nvSpPr>
        <p:spPr>
          <a:xfrm xmlns:a="http://schemas.openxmlformats.org/drawingml/2006/main">
            <a:off x="685800" y="40576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B981F7C2-7D63-4FE3-8184-C43644DFEC70}"/>
              </a:ext>
            </a:extLst>
          </p:cNvPr>
          <p:cNvSpPr>
            <a:spLocks xmlns:a="http://schemas.openxmlformats.org/drawingml/2006/main" noGrp="1"/>
          </p:cNvSpPr>
          <p:nvPr/>
        </p:nvSpPr>
        <p:spPr>
          <a:xfrm xmlns:a="http://schemas.openxmlformats.org/drawingml/2006/main">
            <a:off x="914400" y="39814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Handoff readiness</a:t>
            </a:r>
          </a:p>
        </p:txBody>
      </p:sp>
      <p:sp>
        <p:nvSpPr>
          <p:cNvPr id="16" name="">
            <a:extLst xmlns:a="http://schemas.openxmlformats.org/drawingml/2006/main">
              <a:ext uri="{FF2B5EF4-FFF2-40B4-BE49-F238E27FC236}">
                <a16:creationId xmlns:a16="http://schemas.microsoft.com/office/drawing/2014/main" id="{FA4D071C-3A7C-4C15-9034-E135BB0272F7}"/>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17" name="">
            <a:extLst xmlns:a="http://schemas.openxmlformats.org/drawingml/2006/main">
              <a:ext uri="{FF2B5EF4-FFF2-40B4-BE49-F238E27FC236}">
                <a16:creationId xmlns:a16="http://schemas.microsoft.com/office/drawing/2014/main" id="{9B317B76-611F-43AC-8630-FB47AD0F5BEB}"/>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Govern is a control-plane record, not runtime enforcement.</a:t>
            </a:r>
          </a:p>
        </p:txBody>
      </p:sp>
      <p:sp>
        <p:nvSpPr>
          <p:cNvPr id="18" name="">
            <a:extLst xmlns:a="http://schemas.openxmlformats.org/drawingml/2006/main">
              <a:ext uri="{FF2B5EF4-FFF2-40B4-BE49-F238E27FC236}">
                <a16:creationId xmlns:a16="http://schemas.microsoft.com/office/drawing/2014/main" id="{55A9FFAF-D846-47FD-9EE1-3F1DE0A8BCB3}"/>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07</a:t>
            </a:r>
          </a:p>
        </p:txBody>
      </p:sp>
    </p:spTree>
    <p:extLst>
      <p:ext uri="{BB962C8B-B14F-4D97-AF65-F5344CB8AC3E}">
        <p14:creationId xmlns:p14="http://schemas.microsoft.com/office/powerpoint/2010/main" val="539541487"/>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237277F-2F94-4DBB-9FD0-F274125FFD89}"/>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B0F51D5-D856-4791-928A-44694EF3D405}"/>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EDITABLE BUSINESS + DELIVERY DOCUMENTATION</a:t>
            </a:r>
          </a:p>
        </p:txBody>
      </p:sp>
      <p:sp>
        <p:nvSpPr>
          <p:cNvPr id="3" name="">
            <a:extLst xmlns:a="http://schemas.openxmlformats.org/drawingml/2006/main">
              <a:ext uri="{FF2B5EF4-FFF2-40B4-BE49-F238E27FC236}">
                <a16:creationId xmlns:a16="http://schemas.microsoft.com/office/drawing/2014/main" id="{9D1B3F1F-5704-487C-B1FB-03B2A863769C}"/>
              </a:ext>
            </a:extLst>
          </p:cNvPr>
          <p:cNvSpPr>
            <a:spLocks xmlns:a="http://schemas.openxmlformats.org/drawingml/2006/main" noGrp="1"/>
          </p:cNvSpPr>
          <p:nvPr/>
        </p:nvSpPr>
        <p:spPr>
          <a:xfrm xmlns:a="http://schemas.openxmlformats.org/drawingml/2006/main">
            <a:off x="609600" y="619125"/>
            <a:ext cx="10668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Studio turns approved context into an artifact people can revise and approve.</a:t>
            </a:r>
          </a:p>
        </p:txBody>
      </p:sp>
      <p:sp>
        <p:nvSpPr>
          <p:cNvPr id="4" name="">
            <a:extLst xmlns:a="http://schemas.openxmlformats.org/drawingml/2006/main">
              <a:ext uri="{FF2B5EF4-FFF2-40B4-BE49-F238E27FC236}">
                <a16:creationId xmlns:a16="http://schemas.microsoft.com/office/drawing/2014/main" id="{523E5839-7B68-4623-9B66-544130DBA1B1}"/>
              </a:ext>
            </a:extLst>
          </p:cNvPr>
          <p:cNvSpPr>
            <a:spLocks xmlns:a="http://schemas.openxmlformats.org/drawingml/2006/main" noGrp="1"/>
          </p:cNvSpPr>
          <p:nvPr/>
        </p:nvSpPr>
        <p:spPr>
          <a:xfrm xmlns:a="http://schemas.openxmlformats.org/drawingml/2006/main">
            <a:off x="4705350" y="1657350"/>
            <a:ext cx="6934200" cy="4305300"/>
          </a:xfrm>
          <a:prstGeom xmlns:a="http://schemas.openxmlformats.org/drawingml/2006/main" prst="roundRect">
            <a:avLst>
              <a:gd name="adj" fmla="val 1770"/>
            </a:avLst>
          </a:prstGeom>
          <a:solidFill xmlns:a="http://schemas.openxmlformats.org/drawingml/2006/main">
            <a:srgbClr val="FFFFFF"/>
          </a:solidFill>
          <a:ln xmlns:a="http://schemas.openxmlformats.org/drawingml/2006/main" w="9525">
            <a:solidFill>
              <a:srgbClr val="D7E0E8"/>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4023a4605a04afb"/>
          <a:srcRect xmlns:a="http://schemas.openxmlformats.org/drawingml/2006/main" l="0" t="9373" r="0" b="9373"/>
          <a:stretch xmlns:a="http://schemas.openxmlformats.org/drawingml/2006/main">
            <a:fillRect l="0" t="0" r="0" b="0"/>
          </a:stretch>
        </p:blipFill>
        <p:spPr>
          <a:xfrm xmlns:a="http://schemas.openxmlformats.org/drawingml/2006/main">
            <a:off x="4762500" y="1714500"/>
            <a:ext cx="6819900" cy="4191000"/>
          </a:xfrm>
          <a:prstGeom xmlns:a="http://schemas.openxmlformats.org/drawingml/2006/main" prst="roundRect">
            <a:avLst>
              <a:gd name="adj" fmla="val 2727"/>
            </a:avLst>
          </a:prstGeom>
        </p:spPr>
      </p:pic>
      <p:sp>
        <p:nvSpPr>
          <p:cNvPr id="6" name="">
            <a:extLst xmlns:a="http://schemas.openxmlformats.org/drawingml/2006/main">
              <a:ext uri="{FF2B5EF4-FFF2-40B4-BE49-F238E27FC236}">
                <a16:creationId xmlns:a16="http://schemas.microsoft.com/office/drawing/2014/main" id="{2930ADD5-4A9A-4255-9C7A-19F20756A90C}"/>
              </a:ext>
            </a:extLst>
          </p:cNvPr>
          <p:cNvSpPr>
            <a:spLocks xmlns:a="http://schemas.openxmlformats.org/drawingml/2006/main" noGrp="1"/>
          </p:cNvSpPr>
          <p:nvPr/>
        </p:nvSpPr>
        <p:spPr>
          <a:xfrm xmlns:a="http://schemas.openxmlformats.org/drawingml/2006/main">
            <a:off x="685800" y="20002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C21A9E9-B803-43C9-BE8B-E85B477431D9}"/>
              </a:ext>
            </a:extLst>
          </p:cNvPr>
          <p:cNvSpPr>
            <a:spLocks xmlns:a="http://schemas.openxmlformats.org/drawingml/2006/main" noGrp="1"/>
          </p:cNvSpPr>
          <p:nvPr/>
        </p:nvSpPr>
        <p:spPr>
          <a:xfrm xmlns:a="http://schemas.openxmlformats.org/drawingml/2006/main">
            <a:off x="914400" y="1924050"/>
            <a:ext cx="3486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BRD</a:t>
            </a:r>
          </a:p>
        </p:txBody>
      </p:sp>
      <p:sp>
        <p:nvSpPr>
          <p:cNvPr id="8" name="">
            <a:extLst xmlns:a="http://schemas.openxmlformats.org/drawingml/2006/main">
              <a:ext uri="{FF2B5EF4-FFF2-40B4-BE49-F238E27FC236}">
                <a16:creationId xmlns:a16="http://schemas.microsoft.com/office/drawing/2014/main" id="{63B839A3-D98F-4F38-9B48-B7549DF59C17}"/>
              </a:ext>
            </a:extLst>
          </p:cNvPr>
          <p:cNvSpPr>
            <a:spLocks xmlns:a="http://schemas.openxmlformats.org/drawingml/2006/main" noGrp="1"/>
          </p:cNvSpPr>
          <p:nvPr/>
        </p:nvSpPr>
        <p:spPr>
          <a:xfrm xmlns:a="http://schemas.openxmlformats.org/drawingml/2006/main">
            <a:off x="685800" y="24765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94B5009-6204-46BB-87C9-C58C3C53D580}"/>
              </a:ext>
            </a:extLst>
          </p:cNvPr>
          <p:cNvSpPr>
            <a:spLocks xmlns:a="http://schemas.openxmlformats.org/drawingml/2006/main" noGrp="1"/>
          </p:cNvSpPr>
          <p:nvPr/>
        </p:nvSpPr>
        <p:spPr>
          <a:xfrm xmlns:a="http://schemas.openxmlformats.org/drawingml/2006/main">
            <a:off x="914400" y="2400300"/>
            <a:ext cx="3486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FRD</a:t>
            </a:r>
          </a:p>
        </p:txBody>
      </p:sp>
      <p:sp>
        <p:nvSpPr>
          <p:cNvPr id="10" name="">
            <a:extLst xmlns:a="http://schemas.openxmlformats.org/drawingml/2006/main">
              <a:ext uri="{FF2B5EF4-FFF2-40B4-BE49-F238E27FC236}">
                <a16:creationId xmlns:a16="http://schemas.microsoft.com/office/drawing/2014/main" id="{107875BB-96E6-4A61-9E99-2E7950B9941F}"/>
              </a:ext>
            </a:extLst>
          </p:cNvPr>
          <p:cNvSpPr>
            <a:spLocks xmlns:a="http://schemas.openxmlformats.org/drawingml/2006/main" noGrp="1"/>
          </p:cNvSpPr>
          <p:nvPr/>
        </p:nvSpPr>
        <p:spPr>
          <a:xfrm xmlns:a="http://schemas.openxmlformats.org/drawingml/2006/main">
            <a:off x="685800" y="29527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472ABB14-7686-4D1A-BB48-A919927131BF}"/>
              </a:ext>
            </a:extLst>
          </p:cNvPr>
          <p:cNvSpPr>
            <a:spLocks xmlns:a="http://schemas.openxmlformats.org/drawingml/2006/main" noGrp="1"/>
          </p:cNvSpPr>
          <p:nvPr/>
        </p:nvSpPr>
        <p:spPr>
          <a:xfrm xmlns:a="http://schemas.openxmlformats.org/drawingml/2006/main">
            <a:off x="914400" y="2876550"/>
            <a:ext cx="3486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PDD</a:t>
            </a:r>
          </a:p>
        </p:txBody>
      </p:sp>
      <p:sp>
        <p:nvSpPr>
          <p:cNvPr id="12" name="">
            <a:extLst xmlns:a="http://schemas.openxmlformats.org/drawingml/2006/main">
              <a:ext uri="{FF2B5EF4-FFF2-40B4-BE49-F238E27FC236}">
                <a16:creationId xmlns:a16="http://schemas.microsoft.com/office/drawing/2014/main" id="{CCFE20E3-9D2A-4814-87E2-60FFA46BAB72}"/>
              </a:ext>
            </a:extLst>
          </p:cNvPr>
          <p:cNvSpPr>
            <a:spLocks xmlns:a="http://schemas.openxmlformats.org/drawingml/2006/main" noGrp="1"/>
          </p:cNvSpPr>
          <p:nvPr/>
        </p:nvSpPr>
        <p:spPr>
          <a:xfrm xmlns:a="http://schemas.openxmlformats.org/drawingml/2006/main">
            <a:off x="685800" y="34290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3C0F0906-C28C-42F6-9F8E-A31044EA8339}"/>
              </a:ext>
            </a:extLst>
          </p:cNvPr>
          <p:cNvSpPr>
            <a:spLocks xmlns:a="http://schemas.openxmlformats.org/drawingml/2006/main" noGrp="1"/>
          </p:cNvSpPr>
          <p:nvPr/>
        </p:nvSpPr>
        <p:spPr>
          <a:xfrm xmlns:a="http://schemas.openxmlformats.org/drawingml/2006/main">
            <a:off x="914400" y="3352800"/>
            <a:ext cx="3486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Human-readable preview</a:t>
            </a:r>
          </a:p>
        </p:txBody>
      </p:sp>
      <p:sp>
        <p:nvSpPr>
          <p:cNvPr id="14" name="">
            <a:extLst xmlns:a="http://schemas.openxmlformats.org/drawingml/2006/main">
              <a:ext uri="{FF2B5EF4-FFF2-40B4-BE49-F238E27FC236}">
                <a16:creationId xmlns:a16="http://schemas.microsoft.com/office/drawing/2014/main" id="{C90A3D17-FECA-4D86-AE64-EC7910B7E2B4}"/>
              </a:ext>
            </a:extLst>
          </p:cNvPr>
          <p:cNvSpPr>
            <a:spLocks xmlns:a="http://schemas.openxmlformats.org/drawingml/2006/main" noGrp="1"/>
          </p:cNvSpPr>
          <p:nvPr/>
        </p:nvSpPr>
        <p:spPr>
          <a:xfrm xmlns:a="http://schemas.openxmlformats.org/drawingml/2006/main">
            <a:off x="685800" y="39052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25CF94BA-2371-43A5-A8E5-397A000F3614}"/>
              </a:ext>
            </a:extLst>
          </p:cNvPr>
          <p:cNvSpPr>
            <a:spLocks xmlns:a="http://schemas.openxmlformats.org/drawingml/2006/main" noGrp="1"/>
          </p:cNvSpPr>
          <p:nvPr/>
        </p:nvSpPr>
        <p:spPr>
          <a:xfrm xmlns:a="http://schemas.openxmlformats.org/drawingml/2006/main">
            <a:off x="914400" y="3829050"/>
            <a:ext cx="3486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Immutable revisions</a:t>
            </a:r>
          </a:p>
        </p:txBody>
      </p:sp>
      <p:sp>
        <p:nvSpPr>
          <p:cNvPr id="16" name="">
            <a:extLst xmlns:a="http://schemas.openxmlformats.org/drawingml/2006/main">
              <a:ext uri="{FF2B5EF4-FFF2-40B4-BE49-F238E27FC236}">
                <a16:creationId xmlns:a16="http://schemas.microsoft.com/office/drawing/2014/main" id="{666CE78D-F7A8-49D9-9AD9-AE5B96EC6A2B}"/>
              </a:ext>
            </a:extLst>
          </p:cNvPr>
          <p:cNvSpPr>
            <a:spLocks xmlns:a="http://schemas.openxmlformats.org/drawingml/2006/main" noGrp="1"/>
          </p:cNvSpPr>
          <p:nvPr/>
        </p:nvSpPr>
        <p:spPr>
          <a:xfrm xmlns:a="http://schemas.openxmlformats.org/drawingml/2006/main">
            <a:off x="685800" y="43815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BDEE905-2F9D-4462-A932-2085CF2A711E}"/>
              </a:ext>
            </a:extLst>
          </p:cNvPr>
          <p:cNvSpPr>
            <a:spLocks xmlns:a="http://schemas.openxmlformats.org/drawingml/2006/main" noGrp="1"/>
          </p:cNvSpPr>
          <p:nvPr/>
        </p:nvSpPr>
        <p:spPr>
          <a:xfrm xmlns:a="http://schemas.openxmlformats.org/drawingml/2006/main">
            <a:off x="914400" y="4305300"/>
            <a:ext cx="3486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Independent review</a:t>
            </a:r>
          </a:p>
        </p:txBody>
      </p:sp>
      <p:sp>
        <p:nvSpPr>
          <p:cNvPr id="18" name="">
            <a:extLst xmlns:a="http://schemas.openxmlformats.org/drawingml/2006/main">
              <a:ext uri="{FF2B5EF4-FFF2-40B4-BE49-F238E27FC236}">
                <a16:creationId xmlns:a16="http://schemas.microsoft.com/office/drawing/2014/main" id="{4E7F8037-F44E-492B-BD00-E7B9D4A69C21}"/>
              </a:ext>
            </a:extLst>
          </p:cNvPr>
          <p:cNvSpPr>
            <a:spLocks xmlns:a="http://schemas.openxmlformats.org/drawingml/2006/main" noGrp="1"/>
          </p:cNvSpPr>
          <p:nvPr/>
        </p:nvSpPr>
        <p:spPr>
          <a:xfrm xmlns:a="http://schemas.openxmlformats.org/drawingml/2006/main">
            <a:off x="685800" y="48577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D1A5BC2B-A5E5-4A2A-8570-536BDC5D0C7B}"/>
              </a:ext>
            </a:extLst>
          </p:cNvPr>
          <p:cNvSpPr>
            <a:spLocks xmlns:a="http://schemas.openxmlformats.org/drawingml/2006/main" noGrp="1"/>
          </p:cNvSpPr>
          <p:nvPr/>
        </p:nvSpPr>
        <p:spPr>
          <a:xfrm xmlns:a="http://schemas.openxmlformats.org/drawingml/2006/main">
            <a:off x="914400" y="4781550"/>
            <a:ext cx="3486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Separate approval</a:t>
            </a:r>
          </a:p>
        </p:txBody>
      </p:sp>
      <p:sp>
        <p:nvSpPr>
          <p:cNvPr id="20" name="">
            <a:extLst xmlns:a="http://schemas.openxmlformats.org/drawingml/2006/main">
              <a:ext uri="{FF2B5EF4-FFF2-40B4-BE49-F238E27FC236}">
                <a16:creationId xmlns:a16="http://schemas.microsoft.com/office/drawing/2014/main" id="{77E9D23A-19E4-498D-9F75-B69C4F5D99DB}"/>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21" name="">
            <a:extLst xmlns:a="http://schemas.openxmlformats.org/drawingml/2006/main">
              <a:ext uri="{FF2B5EF4-FFF2-40B4-BE49-F238E27FC236}">
                <a16:creationId xmlns:a16="http://schemas.microsoft.com/office/drawing/2014/main" id="{CF6828CE-81B2-47E6-8AD3-FF5F4E1DB3BB}"/>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Structured artifacts are accepted. Private rendition and brokered download remain candidate-only.</a:t>
            </a:r>
          </a:p>
        </p:txBody>
      </p:sp>
      <p:sp>
        <p:nvSpPr>
          <p:cNvPr id="22" name="">
            <a:extLst xmlns:a="http://schemas.openxmlformats.org/drawingml/2006/main">
              <a:ext uri="{FF2B5EF4-FFF2-40B4-BE49-F238E27FC236}">
                <a16:creationId xmlns:a16="http://schemas.microsoft.com/office/drawing/2014/main" id="{AAE3FE01-2534-49A4-90A4-BEECD6EEC86E}"/>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08</a:t>
            </a:r>
          </a:p>
        </p:txBody>
      </p:sp>
    </p:spTree>
    <p:extLst>
      <p:ext uri="{BB962C8B-B14F-4D97-AF65-F5344CB8AC3E}">
        <p14:creationId xmlns:p14="http://schemas.microsoft.com/office/powerpoint/2010/main" val="633676000"/>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B979CB2-BFF8-4B9C-ACD4-9B4AA3307863}"/>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491876B-F652-40AB-9167-F07E536F7252}"/>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AVALA DELIVERY</a:t>
            </a:r>
          </a:p>
        </p:txBody>
      </p:sp>
      <p:sp>
        <p:nvSpPr>
          <p:cNvPr id="3" name="">
            <a:extLst xmlns:a="http://schemas.openxmlformats.org/drawingml/2006/main">
              <a:ext uri="{FF2B5EF4-FFF2-40B4-BE49-F238E27FC236}">
                <a16:creationId xmlns:a16="http://schemas.microsoft.com/office/drawing/2014/main" id="{5B313152-CE11-46A2-9D98-7E919454EBC7}"/>
              </a:ext>
            </a:extLst>
          </p:cNvPr>
          <p:cNvSpPr>
            <a:spLocks xmlns:a="http://schemas.openxmlformats.org/drawingml/2006/main" noGrp="1"/>
          </p:cNvSpPr>
          <p:nvPr/>
        </p:nvSpPr>
        <p:spPr>
          <a:xfrm xmlns:a="http://schemas.openxmlformats.org/drawingml/2006/main">
            <a:off x="609600" y="619125"/>
            <a:ext cx="10668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One governed handoff carries the why into delivery.</a:t>
            </a:r>
          </a:p>
        </p:txBody>
      </p:sp>
      <p:sp>
        <p:nvSpPr>
          <p:cNvPr id="4" name="">
            <a:extLst xmlns:a="http://schemas.openxmlformats.org/drawingml/2006/main">
              <a:ext uri="{FF2B5EF4-FFF2-40B4-BE49-F238E27FC236}">
                <a16:creationId xmlns:a16="http://schemas.microsoft.com/office/drawing/2014/main" id="{D1651729-72D0-4D55-93FE-1CE0AEB1F9AA}"/>
              </a:ext>
            </a:extLst>
          </p:cNvPr>
          <p:cNvSpPr>
            <a:spLocks xmlns:a="http://schemas.openxmlformats.org/drawingml/2006/main" noGrp="1"/>
          </p:cNvSpPr>
          <p:nvPr/>
        </p:nvSpPr>
        <p:spPr>
          <a:xfrm xmlns:a="http://schemas.openxmlformats.org/drawingml/2006/main">
            <a:off x="4705350" y="1657350"/>
            <a:ext cx="6934200" cy="4305300"/>
          </a:xfrm>
          <a:prstGeom xmlns:a="http://schemas.openxmlformats.org/drawingml/2006/main" prst="roundRect">
            <a:avLst>
              <a:gd name="adj" fmla="val 1770"/>
            </a:avLst>
          </a:prstGeom>
          <a:solidFill xmlns:a="http://schemas.openxmlformats.org/drawingml/2006/main">
            <a:srgbClr val="FFFFFF"/>
          </a:solidFill>
          <a:ln xmlns:a="http://schemas.openxmlformats.org/drawingml/2006/main" w="9525">
            <a:solidFill>
              <a:srgbClr val="D7E0E8"/>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64a4b33517445f0"/>
          <a:srcRect xmlns:a="http://schemas.openxmlformats.org/drawingml/2006/main" l="0" t="9373" r="0" b="9373"/>
          <a:stretch xmlns:a="http://schemas.openxmlformats.org/drawingml/2006/main">
            <a:fillRect l="0" t="0" r="0" b="0"/>
          </a:stretch>
        </p:blipFill>
        <p:spPr>
          <a:xfrm xmlns:a="http://schemas.openxmlformats.org/drawingml/2006/main">
            <a:off x="4762500" y="1714500"/>
            <a:ext cx="6819900" cy="4191000"/>
          </a:xfrm>
          <a:prstGeom xmlns:a="http://schemas.openxmlformats.org/drawingml/2006/main" prst="roundRect">
            <a:avLst>
              <a:gd name="adj" fmla="val 2727"/>
            </a:avLst>
          </a:prstGeom>
        </p:spPr>
      </p:pic>
      <p:sp>
        <p:nvSpPr>
          <p:cNvPr id="6" name="">
            <a:extLst xmlns:a="http://schemas.openxmlformats.org/drawingml/2006/main">
              <a:ext uri="{FF2B5EF4-FFF2-40B4-BE49-F238E27FC236}">
                <a16:creationId xmlns:a16="http://schemas.microsoft.com/office/drawing/2014/main" id="{38F70B4D-89AA-4C36-85B4-F695FADE1A5F}"/>
              </a:ext>
            </a:extLst>
          </p:cNvPr>
          <p:cNvSpPr>
            <a:spLocks xmlns:a="http://schemas.openxmlformats.org/drawingml/2006/main" noGrp="1"/>
          </p:cNvSpPr>
          <p:nvPr/>
        </p:nvSpPr>
        <p:spPr>
          <a:xfrm xmlns:a="http://schemas.openxmlformats.org/drawingml/2006/main">
            <a:off x="685800" y="20002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CCD09A4-4AA8-4585-983A-7E9A1D62943E}"/>
              </a:ext>
            </a:extLst>
          </p:cNvPr>
          <p:cNvSpPr>
            <a:spLocks xmlns:a="http://schemas.openxmlformats.org/drawingml/2006/main" noGrp="1"/>
          </p:cNvSpPr>
          <p:nvPr/>
        </p:nvSpPr>
        <p:spPr>
          <a:xfrm xmlns:a="http://schemas.openxmlformats.org/drawingml/2006/main">
            <a:off x="914400" y="19240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Source-linked work items</a:t>
            </a:r>
          </a:p>
        </p:txBody>
      </p:sp>
      <p:sp>
        <p:nvSpPr>
          <p:cNvPr id="8" name="">
            <a:extLst xmlns:a="http://schemas.openxmlformats.org/drawingml/2006/main">
              <a:ext uri="{FF2B5EF4-FFF2-40B4-BE49-F238E27FC236}">
                <a16:creationId xmlns:a16="http://schemas.microsoft.com/office/drawing/2014/main" id="{2C99D9D6-FE56-4A75-9DFE-F2DCB5E21A27}"/>
              </a:ext>
            </a:extLst>
          </p:cNvPr>
          <p:cNvSpPr>
            <a:spLocks xmlns:a="http://schemas.openxmlformats.org/drawingml/2006/main" noGrp="1"/>
          </p:cNvSpPr>
          <p:nvPr/>
        </p:nvSpPr>
        <p:spPr>
          <a:xfrm xmlns:a="http://schemas.openxmlformats.org/drawingml/2006/main">
            <a:off x="685800" y="25146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D8ED35A-AD4D-400D-94F5-98EACD1A0C68}"/>
              </a:ext>
            </a:extLst>
          </p:cNvPr>
          <p:cNvSpPr>
            <a:spLocks xmlns:a="http://schemas.openxmlformats.org/drawingml/2006/main" noGrp="1"/>
          </p:cNvSpPr>
          <p:nvPr/>
        </p:nvSpPr>
        <p:spPr>
          <a:xfrm xmlns:a="http://schemas.openxmlformats.org/drawingml/2006/main">
            <a:off x="914400" y="243840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Tasks and acceptance context</a:t>
            </a:r>
          </a:p>
        </p:txBody>
      </p:sp>
      <p:sp>
        <p:nvSpPr>
          <p:cNvPr id="10" name="">
            <a:extLst xmlns:a="http://schemas.openxmlformats.org/drawingml/2006/main">
              <a:ext uri="{FF2B5EF4-FFF2-40B4-BE49-F238E27FC236}">
                <a16:creationId xmlns:a16="http://schemas.microsoft.com/office/drawing/2014/main" id="{3726781E-6FEB-4D6D-85FB-FC7D8C17A338}"/>
              </a:ext>
            </a:extLst>
          </p:cNvPr>
          <p:cNvSpPr>
            <a:spLocks xmlns:a="http://schemas.openxmlformats.org/drawingml/2006/main" noGrp="1"/>
          </p:cNvSpPr>
          <p:nvPr/>
        </p:nvSpPr>
        <p:spPr>
          <a:xfrm xmlns:a="http://schemas.openxmlformats.org/drawingml/2006/main">
            <a:off x="685800" y="30289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20CE7AB-741F-4020-A711-DDE2CEF19B0D}"/>
              </a:ext>
            </a:extLst>
          </p:cNvPr>
          <p:cNvSpPr>
            <a:spLocks xmlns:a="http://schemas.openxmlformats.org/drawingml/2006/main" noGrp="1"/>
          </p:cNvSpPr>
          <p:nvPr/>
        </p:nvSpPr>
        <p:spPr>
          <a:xfrm xmlns:a="http://schemas.openxmlformats.org/drawingml/2006/main">
            <a:off x="914400" y="29527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Ownership and blockers</a:t>
            </a:r>
          </a:p>
        </p:txBody>
      </p:sp>
      <p:sp>
        <p:nvSpPr>
          <p:cNvPr id="12" name="">
            <a:extLst xmlns:a="http://schemas.openxmlformats.org/drawingml/2006/main">
              <a:ext uri="{FF2B5EF4-FFF2-40B4-BE49-F238E27FC236}">
                <a16:creationId xmlns:a16="http://schemas.microsoft.com/office/drawing/2014/main" id="{9DBF3E01-F838-42DB-9A19-65B7309F64E6}"/>
              </a:ext>
            </a:extLst>
          </p:cNvPr>
          <p:cNvSpPr>
            <a:spLocks xmlns:a="http://schemas.openxmlformats.org/drawingml/2006/main" noGrp="1"/>
          </p:cNvSpPr>
          <p:nvPr/>
        </p:nvSpPr>
        <p:spPr>
          <a:xfrm xmlns:a="http://schemas.openxmlformats.org/drawingml/2006/main">
            <a:off x="685800" y="35433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E5DAB305-73C6-4430-BF73-C8B64622AF8D}"/>
              </a:ext>
            </a:extLst>
          </p:cNvPr>
          <p:cNvSpPr>
            <a:spLocks xmlns:a="http://schemas.openxmlformats.org/drawingml/2006/main" noGrp="1"/>
          </p:cNvSpPr>
          <p:nvPr/>
        </p:nvSpPr>
        <p:spPr>
          <a:xfrm xmlns:a="http://schemas.openxmlformats.org/drawingml/2006/main">
            <a:off x="914400" y="346710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Delivery Pack</a:t>
            </a:r>
          </a:p>
        </p:txBody>
      </p:sp>
      <p:sp>
        <p:nvSpPr>
          <p:cNvPr id="14" name="">
            <a:extLst xmlns:a="http://schemas.openxmlformats.org/drawingml/2006/main">
              <a:ext uri="{FF2B5EF4-FFF2-40B4-BE49-F238E27FC236}">
                <a16:creationId xmlns:a16="http://schemas.microsoft.com/office/drawing/2014/main" id="{0BAD5F2B-C694-4D5B-8239-2076EC60029E}"/>
              </a:ext>
            </a:extLst>
          </p:cNvPr>
          <p:cNvSpPr>
            <a:spLocks xmlns:a="http://schemas.openxmlformats.org/drawingml/2006/main" noGrp="1"/>
          </p:cNvSpPr>
          <p:nvPr/>
        </p:nvSpPr>
        <p:spPr>
          <a:xfrm xmlns:a="http://schemas.openxmlformats.org/drawingml/2006/main">
            <a:off x="685800" y="40576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CC1EDD73-755C-4AAE-AFA1-991704EC8435}"/>
              </a:ext>
            </a:extLst>
          </p:cNvPr>
          <p:cNvSpPr>
            <a:spLocks xmlns:a="http://schemas.openxmlformats.org/drawingml/2006/main" noGrp="1"/>
          </p:cNvSpPr>
          <p:nvPr/>
        </p:nvSpPr>
        <p:spPr>
          <a:xfrm xmlns:a="http://schemas.openxmlformats.org/drawingml/2006/main">
            <a:off x="914400" y="39814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Evidence and lineage</a:t>
            </a:r>
          </a:p>
        </p:txBody>
      </p:sp>
      <p:sp>
        <p:nvSpPr>
          <p:cNvPr id="16" name="">
            <a:extLst xmlns:a="http://schemas.openxmlformats.org/drawingml/2006/main">
              <a:ext uri="{FF2B5EF4-FFF2-40B4-BE49-F238E27FC236}">
                <a16:creationId xmlns:a16="http://schemas.microsoft.com/office/drawing/2014/main" id="{9AFCE174-FDF9-4538-B4AB-F0489E0E6E58}"/>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17" name="">
            <a:extLst xmlns:a="http://schemas.openxmlformats.org/drawingml/2006/main">
              <a:ext uri="{FF2B5EF4-FFF2-40B4-BE49-F238E27FC236}">
                <a16:creationId xmlns:a16="http://schemas.microsoft.com/office/drawing/2014/main" id="{8DC108C7-233E-4D58-BED6-A9E04EC23040}"/>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One governed handoff prepares source-linked work; AvalaOS neither executes the automation nor replaces Jira.</a:t>
            </a:r>
          </a:p>
        </p:txBody>
      </p:sp>
      <p:sp>
        <p:nvSpPr>
          <p:cNvPr id="18" name="">
            <a:extLst xmlns:a="http://schemas.openxmlformats.org/drawingml/2006/main">
              <a:ext uri="{FF2B5EF4-FFF2-40B4-BE49-F238E27FC236}">
                <a16:creationId xmlns:a16="http://schemas.microsoft.com/office/drawing/2014/main" id="{8F210771-0D1C-4B91-9AAE-8E3BEE182101}"/>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09</a:t>
            </a:r>
          </a:p>
        </p:txBody>
      </p:sp>
    </p:spTree>
    <p:extLst>
      <p:ext uri="{BB962C8B-B14F-4D97-AF65-F5344CB8AC3E}">
        <p14:creationId xmlns:p14="http://schemas.microsoft.com/office/powerpoint/2010/main" val="796018516"/>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D73F04E-7C81-4EEF-84F5-78D0C6FBFBD2}"/>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3A72127-D5B5-4E08-B336-2546606DDC71}"/>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AVALA MONITOR</a:t>
            </a:r>
          </a:p>
        </p:txBody>
      </p:sp>
      <p:sp>
        <p:nvSpPr>
          <p:cNvPr id="3" name="">
            <a:extLst xmlns:a="http://schemas.openxmlformats.org/drawingml/2006/main">
              <a:ext uri="{FF2B5EF4-FFF2-40B4-BE49-F238E27FC236}">
                <a16:creationId xmlns:a16="http://schemas.microsoft.com/office/drawing/2014/main" id="{9BC8BAB7-BDF0-423B-BB28-D8B6C1177FF4}"/>
              </a:ext>
            </a:extLst>
          </p:cNvPr>
          <p:cNvSpPr>
            <a:spLocks xmlns:a="http://schemas.openxmlformats.org/drawingml/2006/main" noGrp="1"/>
          </p:cNvSpPr>
          <p:nvPr/>
        </p:nvSpPr>
        <p:spPr>
          <a:xfrm xmlns:a="http://schemas.openxmlformats.org/drawingml/2006/main">
            <a:off x="609600" y="619125"/>
            <a:ext cx="10668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Monitor shows what is ready — and what is not recorded.</a:t>
            </a:r>
          </a:p>
        </p:txBody>
      </p:sp>
      <p:sp>
        <p:nvSpPr>
          <p:cNvPr id="4" name="">
            <a:extLst xmlns:a="http://schemas.openxmlformats.org/drawingml/2006/main">
              <a:ext uri="{FF2B5EF4-FFF2-40B4-BE49-F238E27FC236}">
                <a16:creationId xmlns:a16="http://schemas.microsoft.com/office/drawing/2014/main" id="{DF120A5D-A3E1-4E2B-95D4-CE2AE2FB7979}"/>
              </a:ext>
            </a:extLst>
          </p:cNvPr>
          <p:cNvSpPr>
            <a:spLocks xmlns:a="http://schemas.openxmlformats.org/drawingml/2006/main" noGrp="1"/>
          </p:cNvSpPr>
          <p:nvPr/>
        </p:nvSpPr>
        <p:spPr>
          <a:xfrm xmlns:a="http://schemas.openxmlformats.org/drawingml/2006/main">
            <a:off x="4705350" y="1657350"/>
            <a:ext cx="6934200" cy="4305300"/>
          </a:xfrm>
          <a:prstGeom xmlns:a="http://schemas.openxmlformats.org/drawingml/2006/main" prst="roundRect">
            <a:avLst>
              <a:gd name="adj" fmla="val 1770"/>
            </a:avLst>
          </a:prstGeom>
          <a:solidFill xmlns:a="http://schemas.openxmlformats.org/drawingml/2006/main">
            <a:srgbClr val="FFFFFF"/>
          </a:solidFill>
          <a:ln xmlns:a="http://schemas.openxmlformats.org/drawingml/2006/main" w="9525">
            <a:solidFill>
              <a:srgbClr val="D7E0E8"/>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cbf8750b6c04227"/>
          <a:srcRect xmlns:a="http://schemas.openxmlformats.org/drawingml/2006/main" l="0" t="9373" r="0" b="9373"/>
          <a:stretch xmlns:a="http://schemas.openxmlformats.org/drawingml/2006/main">
            <a:fillRect l="0" t="0" r="0" b="0"/>
          </a:stretch>
        </p:blipFill>
        <p:spPr>
          <a:xfrm xmlns:a="http://schemas.openxmlformats.org/drawingml/2006/main">
            <a:off x="4762500" y="1714500"/>
            <a:ext cx="6819900" cy="4191000"/>
          </a:xfrm>
          <a:prstGeom xmlns:a="http://schemas.openxmlformats.org/drawingml/2006/main" prst="roundRect">
            <a:avLst>
              <a:gd name="adj" fmla="val 2727"/>
            </a:avLst>
          </a:prstGeom>
        </p:spPr>
      </p:pic>
      <p:sp>
        <p:nvSpPr>
          <p:cNvPr id="6" name="">
            <a:extLst xmlns:a="http://schemas.openxmlformats.org/drawingml/2006/main">
              <a:ext uri="{FF2B5EF4-FFF2-40B4-BE49-F238E27FC236}">
                <a16:creationId xmlns:a16="http://schemas.microsoft.com/office/drawing/2014/main" id="{1A27F079-9844-4A98-99C7-30B881E9FCAB}"/>
              </a:ext>
            </a:extLst>
          </p:cNvPr>
          <p:cNvSpPr>
            <a:spLocks xmlns:a="http://schemas.openxmlformats.org/drawingml/2006/main" noGrp="1"/>
          </p:cNvSpPr>
          <p:nvPr/>
        </p:nvSpPr>
        <p:spPr>
          <a:xfrm xmlns:a="http://schemas.openxmlformats.org/drawingml/2006/main">
            <a:off x="685800" y="20002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6CED53CD-5EEC-4E73-82A1-82D60847BE87}"/>
              </a:ext>
            </a:extLst>
          </p:cNvPr>
          <p:cNvSpPr>
            <a:spLocks xmlns:a="http://schemas.openxmlformats.org/drawingml/2006/main" noGrp="1"/>
          </p:cNvSpPr>
          <p:nvPr/>
        </p:nvSpPr>
        <p:spPr>
          <a:xfrm xmlns:a="http://schemas.openxmlformats.org/drawingml/2006/main">
            <a:off x="914400" y="19240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Initiative disposition</a:t>
            </a:r>
          </a:p>
        </p:txBody>
      </p:sp>
      <p:sp>
        <p:nvSpPr>
          <p:cNvPr id="8" name="">
            <a:extLst xmlns:a="http://schemas.openxmlformats.org/drawingml/2006/main">
              <a:ext uri="{FF2B5EF4-FFF2-40B4-BE49-F238E27FC236}">
                <a16:creationId xmlns:a16="http://schemas.microsoft.com/office/drawing/2014/main" id="{723E06B6-1E55-4855-9596-6EE397D28818}"/>
              </a:ext>
            </a:extLst>
          </p:cNvPr>
          <p:cNvSpPr>
            <a:spLocks xmlns:a="http://schemas.openxmlformats.org/drawingml/2006/main" noGrp="1"/>
          </p:cNvSpPr>
          <p:nvPr/>
        </p:nvSpPr>
        <p:spPr>
          <a:xfrm xmlns:a="http://schemas.openxmlformats.org/drawingml/2006/main">
            <a:off x="685800" y="25146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AB165CD7-4871-45E6-92E3-11A8AEC05DE8}"/>
              </a:ext>
            </a:extLst>
          </p:cNvPr>
          <p:cNvSpPr>
            <a:spLocks xmlns:a="http://schemas.openxmlformats.org/drawingml/2006/main" noGrp="1"/>
          </p:cNvSpPr>
          <p:nvPr/>
        </p:nvSpPr>
        <p:spPr>
          <a:xfrm xmlns:a="http://schemas.openxmlformats.org/drawingml/2006/main">
            <a:off x="914400" y="243840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Readiness and risk</a:t>
            </a:r>
          </a:p>
        </p:txBody>
      </p:sp>
      <p:sp>
        <p:nvSpPr>
          <p:cNvPr id="10" name="">
            <a:extLst xmlns:a="http://schemas.openxmlformats.org/drawingml/2006/main">
              <a:ext uri="{FF2B5EF4-FFF2-40B4-BE49-F238E27FC236}">
                <a16:creationId xmlns:a16="http://schemas.microsoft.com/office/drawing/2014/main" id="{008DE3CB-1556-48BB-9016-5CF12DC2C8CB}"/>
              </a:ext>
            </a:extLst>
          </p:cNvPr>
          <p:cNvSpPr>
            <a:spLocks xmlns:a="http://schemas.openxmlformats.org/drawingml/2006/main" noGrp="1"/>
          </p:cNvSpPr>
          <p:nvPr/>
        </p:nvSpPr>
        <p:spPr>
          <a:xfrm xmlns:a="http://schemas.openxmlformats.org/drawingml/2006/main">
            <a:off x="685800" y="30289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D9BB88B-A2A0-4C63-9FCE-E8552C4050D6}"/>
              </a:ext>
            </a:extLst>
          </p:cNvPr>
          <p:cNvSpPr>
            <a:spLocks xmlns:a="http://schemas.openxmlformats.org/drawingml/2006/main" noGrp="1"/>
          </p:cNvSpPr>
          <p:nvPr/>
        </p:nvSpPr>
        <p:spPr>
          <a:xfrm xmlns:a="http://schemas.openxmlformats.org/drawingml/2006/main">
            <a:off x="914400" y="29527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Open work and blockers</a:t>
            </a:r>
          </a:p>
        </p:txBody>
      </p:sp>
      <p:sp>
        <p:nvSpPr>
          <p:cNvPr id="12" name="">
            <a:extLst xmlns:a="http://schemas.openxmlformats.org/drawingml/2006/main">
              <a:ext uri="{FF2B5EF4-FFF2-40B4-BE49-F238E27FC236}">
                <a16:creationId xmlns:a16="http://schemas.microsoft.com/office/drawing/2014/main" id="{422D8135-F5CD-491C-B365-C4FD53348EC0}"/>
              </a:ext>
            </a:extLst>
          </p:cNvPr>
          <p:cNvSpPr>
            <a:spLocks xmlns:a="http://schemas.openxmlformats.org/drawingml/2006/main" noGrp="1"/>
          </p:cNvSpPr>
          <p:nvPr/>
        </p:nvSpPr>
        <p:spPr>
          <a:xfrm xmlns:a="http://schemas.openxmlformats.org/drawingml/2006/main">
            <a:off x="685800" y="35433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0495593-F4CF-4C47-864B-2D221C5FE516}"/>
              </a:ext>
            </a:extLst>
          </p:cNvPr>
          <p:cNvSpPr>
            <a:spLocks xmlns:a="http://schemas.openxmlformats.org/drawingml/2006/main" noGrp="1"/>
          </p:cNvSpPr>
          <p:nvPr/>
        </p:nvSpPr>
        <p:spPr>
          <a:xfrm xmlns:a="http://schemas.openxmlformats.org/drawingml/2006/main">
            <a:off x="914400" y="346710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Source lineage</a:t>
            </a:r>
          </a:p>
        </p:txBody>
      </p:sp>
      <p:sp>
        <p:nvSpPr>
          <p:cNvPr id="14" name="">
            <a:extLst xmlns:a="http://schemas.openxmlformats.org/drawingml/2006/main">
              <a:ext uri="{FF2B5EF4-FFF2-40B4-BE49-F238E27FC236}">
                <a16:creationId xmlns:a16="http://schemas.microsoft.com/office/drawing/2014/main" id="{1EFEEFC8-B5E6-44E8-AB1E-FDAB90211173}"/>
              </a:ext>
            </a:extLst>
          </p:cNvPr>
          <p:cNvSpPr>
            <a:spLocks xmlns:a="http://schemas.openxmlformats.org/drawingml/2006/main" noGrp="1"/>
          </p:cNvSpPr>
          <p:nvPr/>
        </p:nvSpPr>
        <p:spPr>
          <a:xfrm xmlns:a="http://schemas.openxmlformats.org/drawingml/2006/main">
            <a:off x="685800" y="40576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00540AC-6195-4658-9250-18EDFB0F87DA}"/>
              </a:ext>
            </a:extLst>
          </p:cNvPr>
          <p:cNvSpPr>
            <a:spLocks xmlns:a="http://schemas.openxmlformats.org/drawingml/2006/main" noGrp="1"/>
          </p:cNvSpPr>
          <p:nvPr/>
        </p:nvSpPr>
        <p:spPr>
          <a:xfrm xmlns:a="http://schemas.openxmlformats.org/drawingml/2006/main">
            <a:off x="914400" y="3981450"/>
            <a:ext cx="34861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Outcome recording state</a:t>
            </a:r>
          </a:p>
        </p:txBody>
      </p:sp>
      <p:sp>
        <p:nvSpPr>
          <p:cNvPr id="16" name="">
            <a:extLst xmlns:a="http://schemas.openxmlformats.org/drawingml/2006/main">
              <a:ext uri="{FF2B5EF4-FFF2-40B4-BE49-F238E27FC236}">
                <a16:creationId xmlns:a16="http://schemas.microsoft.com/office/drawing/2014/main" id="{FAD9F9E8-AA20-4DE0-AAD4-6B1752701A6E}"/>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17" name="">
            <a:extLst xmlns:a="http://schemas.openxmlformats.org/drawingml/2006/main">
              <a:ext uri="{FF2B5EF4-FFF2-40B4-BE49-F238E27FC236}">
                <a16:creationId xmlns:a16="http://schemas.microsoft.com/office/drawing/2014/main" id="{C96ADF6E-80F7-4ABA-ABF0-9642A7BED573}"/>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Read-only visibility over recorded data. No live runtime telemetry; fixture percentages are not client outcomes.</a:t>
            </a:r>
          </a:p>
        </p:txBody>
      </p:sp>
      <p:sp>
        <p:nvSpPr>
          <p:cNvPr id="18" name="">
            <a:extLst xmlns:a="http://schemas.openxmlformats.org/drawingml/2006/main">
              <a:ext uri="{FF2B5EF4-FFF2-40B4-BE49-F238E27FC236}">
                <a16:creationId xmlns:a16="http://schemas.microsoft.com/office/drawing/2014/main" id="{EF245D7A-E959-499D-BEB3-21639AF97F54}"/>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10</a:t>
            </a:r>
          </a:p>
        </p:txBody>
      </p:sp>
    </p:spTree>
    <p:extLst>
      <p:ext uri="{BB962C8B-B14F-4D97-AF65-F5344CB8AC3E}">
        <p14:creationId xmlns:p14="http://schemas.microsoft.com/office/powerpoint/2010/main" val="2125604583"/>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3003A3F-7D73-4B1B-9714-05B00CEA123C}"/>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9803FD5-F6C2-41B2-B566-7A28EC8FADE9}"/>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BUILT AROUND ENTERPRISE WORK</a:t>
            </a:r>
          </a:p>
        </p:txBody>
      </p:sp>
      <p:sp>
        <p:nvSpPr>
          <p:cNvPr id="3" name="">
            <a:extLst xmlns:a="http://schemas.openxmlformats.org/drawingml/2006/main">
              <a:ext uri="{FF2B5EF4-FFF2-40B4-BE49-F238E27FC236}">
                <a16:creationId xmlns:a16="http://schemas.microsoft.com/office/drawing/2014/main" id="{AC1A5168-4B58-4B06-A444-678C099715FB}"/>
              </a:ext>
            </a:extLst>
          </p:cNvPr>
          <p:cNvSpPr>
            <a:spLocks xmlns:a="http://schemas.openxmlformats.org/drawingml/2006/main" noGrp="1"/>
          </p:cNvSpPr>
          <p:nvPr/>
        </p:nvSpPr>
        <p:spPr>
          <a:xfrm xmlns:a="http://schemas.openxmlformats.org/drawingml/2006/main">
            <a:off x="609600" y="666750"/>
            <a:ext cx="102870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Familiar roles and artifacts reduce adoption friction.</a:t>
            </a:r>
          </a:p>
        </p:txBody>
      </p:sp>
      <p:sp>
        <p:nvSpPr>
          <p:cNvPr id="4" name="">
            <a:extLst xmlns:a="http://schemas.openxmlformats.org/drawingml/2006/main">
              <a:ext uri="{FF2B5EF4-FFF2-40B4-BE49-F238E27FC236}">
                <a16:creationId xmlns:a16="http://schemas.microsoft.com/office/drawing/2014/main" id="{9EABD177-E65E-4BDD-9627-2CB10D4E8556}"/>
              </a:ext>
            </a:extLst>
          </p:cNvPr>
          <p:cNvSpPr>
            <a:spLocks xmlns:a="http://schemas.openxmlformats.org/drawingml/2006/main" noGrp="1"/>
          </p:cNvSpPr>
          <p:nvPr/>
        </p:nvSpPr>
        <p:spPr>
          <a:xfrm xmlns:a="http://schemas.openxmlformats.org/drawingml/2006/main">
            <a:off x="1047750" y="18859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D3E3818-BF4C-4744-A5CC-B2E6BC5BCEDA}"/>
              </a:ext>
            </a:extLst>
          </p:cNvPr>
          <p:cNvSpPr>
            <a:spLocks xmlns:a="http://schemas.openxmlformats.org/drawingml/2006/main" noGrp="1"/>
          </p:cNvSpPr>
          <p:nvPr/>
        </p:nvSpPr>
        <p:spPr>
          <a:xfrm xmlns:a="http://schemas.openxmlformats.org/drawingml/2006/main">
            <a:off x="1276350" y="180975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Process owner</a:t>
            </a:r>
          </a:p>
        </p:txBody>
      </p:sp>
      <p:sp>
        <p:nvSpPr>
          <p:cNvPr id="6" name="">
            <a:extLst xmlns:a="http://schemas.openxmlformats.org/drawingml/2006/main">
              <a:ext uri="{FF2B5EF4-FFF2-40B4-BE49-F238E27FC236}">
                <a16:creationId xmlns:a16="http://schemas.microsoft.com/office/drawing/2014/main" id="{8FA1C216-65CE-4FC5-BAE0-380DB6616827}"/>
              </a:ext>
            </a:extLst>
          </p:cNvPr>
          <p:cNvSpPr>
            <a:spLocks xmlns:a="http://schemas.openxmlformats.org/drawingml/2006/main" noGrp="1"/>
          </p:cNvSpPr>
          <p:nvPr/>
        </p:nvSpPr>
        <p:spPr>
          <a:xfrm xmlns:a="http://schemas.openxmlformats.org/drawingml/2006/main">
            <a:off x="1047750" y="25908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762BCD0-6F0F-4346-ADFF-8364EE3CF2F2}"/>
              </a:ext>
            </a:extLst>
          </p:cNvPr>
          <p:cNvSpPr>
            <a:spLocks xmlns:a="http://schemas.openxmlformats.org/drawingml/2006/main" noGrp="1"/>
          </p:cNvSpPr>
          <p:nvPr/>
        </p:nvSpPr>
        <p:spPr>
          <a:xfrm xmlns:a="http://schemas.openxmlformats.org/drawingml/2006/main">
            <a:off x="1276350" y="251460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Process analyst</a:t>
            </a:r>
          </a:p>
        </p:txBody>
      </p:sp>
      <p:sp>
        <p:nvSpPr>
          <p:cNvPr id="8" name="">
            <a:extLst xmlns:a="http://schemas.openxmlformats.org/drawingml/2006/main">
              <a:ext uri="{FF2B5EF4-FFF2-40B4-BE49-F238E27FC236}">
                <a16:creationId xmlns:a16="http://schemas.microsoft.com/office/drawing/2014/main" id="{3012812F-A752-461B-A551-53F966A4EEB9}"/>
              </a:ext>
            </a:extLst>
          </p:cNvPr>
          <p:cNvSpPr>
            <a:spLocks xmlns:a="http://schemas.openxmlformats.org/drawingml/2006/main" noGrp="1"/>
          </p:cNvSpPr>
          <p:nvPr/>
        </p:nvSpPr>
        <p:spPr>
          <a:xfrm xmlns:a="http://schemas.openxmlformats.org/drawingml/2006/main">
            <a:off x="1047750" y="32956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604E294E-4C8D-4E94-85B1-460D155ACD5D}"/>
              </a:ext>
            </a:extLst>
          </p:cNvPr>
          <p:cNvSpPr>
            <a:spLocks xmlns:a="http://schemas.openxmlformats.org/drawingml/2006/main" noGrp="1"/>
          </p:cNvSpPr>
          <p:nvPr/>
        </p:nvSpPr>
        <p:spPr>
          <a:xfrm xmlns:a="http://schemas.openxmlformats.org/drawingml/2006/main">
            <a:off x="1276350" y="321945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Business analyst</a:t>
            </a:r>
          </a:p>
        </p:txBody>
      </p:sp>
      <p:sp>
        <p:nvSpPr>
          <p:cNvPr id="10" name="">
            <a:extLst xmlns:a="http://schemas.openxmlformats.org/drawingml/2006/main">
              <a:ext uri="{FF2B5EF4-FFF2-40B4-BE49-F238E27FC236}">
                <a16:creationId xmlns:a16="http://schemas.microsoft.com/office/drawing/2014/main" id="{A73AF856-F949-4637-BBD6-7A53B7E272B5}"/>
              </a:ext>
            </a:extLst>
          </p:cNvPr>
          <p:cNvSpPr>
            <a:spLocks xmlns:a="http://schemas.openxmlformats.org/drawingml/2006/main" noGrp="1"/>
          </p:cNvSpPr>
          <p:nvPr/>
        </p:nvSpPr>
        <p:spPr>
          <a:xfrm xmlns:a="http://schemas.openxmlformats.org/drawingml/2006/main">
            <a:off x="1047750" y="40005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855BA97-A5E8-49DA-94E1-5A248A47EC4C}"/>
              </a:ext>
            </a:extLst>
          </p:cNvPr>
          <p:cNvSpPr>
            <a:spLocks xmlns:a="http://schemas.openxmlformats.org/drawingml/2006/main" noGrp="1"/>
          </p:cNvSpPr>
          <p:nvPr/>
        </p:nvSpPr>
        <p:spPr>
          <a:xfrm xmlns:a="http://schemas.openxmlformats.org/drawingml/2006/main">
            <a:off x="1276350" y="392430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Control reviewer</a:t>
            </a:r>
          </a:p>
        </p:txBody>
      </p:sp>
      <p:sp>
        <p:nvSpPr>
          <p:cNvPr id="12" name="">
            <a:extLst xmlns:a="http://schemas.openxmlformats.org/drawingml/2006/main">
              <a:ext uri="{FF2B5EF4-FFF2-40B4-BE49-F238E27FC236}">
                <a16:creationId xmlns:a16="http://schemas.microsoft.com/office/drawing/2014/main" id="{8104D865-B15D-47FC-AFB3-1832736474C4}"/>
              </a:ext>
            </a:extLst>
          </p:cNvPr>
          <p:cNvSpPr>
            <a:spLocks xmlns:a="http://schemas.openxmlformats.org/drawingml/2006/main" noGrp="1"/>
          </p:cNvSpPr>
          <p:nvPr/>
        </p:nvSpPr>
        <p:spPr>
          <a:xfrm xmlns:a="http://schemas.openxmlformats.org/drawingml/2006/main">
            <a:off x="6096000" y="1762125"/>
            <a:ext cx="38100" cy="3714750"/>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A9404E0-B4B2-4501-86DE-B6E194F9A92C}"/>
              </a:ext>
            </a:extLst>
          </p:cNvPr>
          <p:cNvSpPr>
            <a:spLocks xmlns:a="http://schemas.openxmlformats.org/drawingml/2006/main" noGrp="1"/>
          </p:cNvSpPr>
          <p:nvPr/>
        </p:nvSpPr>
        <p:spPr>
          <a:xfrm xmlns:a="http://schemas.openxmlformats.org/drawingml/2006/main">
            <a:off x="6858000" y="18859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1375D7F-37E6-4E96-A6EB-F4A49D38352A}"/>
              </a:ext>
            </a:extLst>
          </p:cNvPr>
          <p:cNvSpPr>
            <a:spLocks xmlns:a="http://schemas.openxmlformats.org/drawingml/2006/main" noGrp="1"/>
          </p:cNvSpPr>
          <p:nvPr/>
        </p:nvSpPr>
        <p:spPr>
          <a:xfrm xmlns:a="http://schemas.openxmlformats.org/drawingml/2006/main">
            <a:off x="7086600" y="180975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Delivery lead</a:t>
            </a:r>
          </a:p>
        </p:txBody>
      </p:sp>
      <p:sp>
        <p:nvSpPr>
          <p:cNvPr id="15" name="">
            <a:extLst xmlns:a="http://schemas.openxmlformats.org/drawingml/2006/main">
              <a:ext uri="{FF2B5EF4-FFF2-40B4-BE49-F238E27FC236}">
                <a16:creationId xmlns:a16="http://schemas.microsoft.com/office/drawing/2014/main" id="{ED15F84F-0B00-491B-8246-1A8983C21D12}"/>
              </a:ext>
            </a:extLst>
          </p:cNvPr>
          <p:cNvSpPr>
            <a:spLocks xmlns:a="http://schemas.openxmlformats.org/drawingml/2006/main" noGrp="1"/>
          </p:cNvSpPr>
          <p:nvPr/>
        </p:nvSpPr>
        <p:spPr>
          <a:xfrm xmlns:a="http://schemas.openxmlformats.org/drawingml/2006/main">
            <a:off x="6858000" y="25908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85B4ED8-C9E8-4EC8-B69A-D0525F1DB1E8}"/>
              </a:ext>
            </a:extLst>
          </p:cNvPr>
          <p:cNvSpPr>
            <a:spLocks xmlns:a="http://schemas.openxmlformats.org/drawingml/2006/main" noGrp="1"/>
          </p:cNvSpPr>
          <p:nvPr/>
        </p:nvSpPr>
        <p:spPr>
          <a:xfrm xmlns:a="http://schemas.openxmlformats.org/drawingml/2006/main">
            <a:off x="7086600" y="251460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Executive / buyer</a:t>
            </a:r>
          </a:p>
        </p:txBody>
      </p:sp>
      <p:sp>
        <p:nvSpPr>
          <p:cNvPr id="17" name="">
            <a:extLst xmlns:a="http://schemas.openxmlformats.org/drawingml/2006/main">
              <a:ext uri="{FF2B5EF4-FFF2-40B4-BE49-F238E27FC236}">
                <a16:creationId xmlns:a16="http://schemas.microsoft.com/office/drawing/2014/main" id="{54978C2C-F977-40FA-90F2-3899AE63CB2D}"/>
              </a:ext>
            </a:extLst>
          </p:cNvPr>
          <p:cNvSpPr>
            <a:spLocks xmlns:a="http://schemas.openxmlformats.org/drawingml/2006/main" noGrp="1"/>
          </p:cNvSpPr>
          <p:nvPr/>
        </p:nvSpPr>
        <p:spPr>
          <a:xfrm xmlns:a="http://schemas.openxmlformats.org/drawingml/2006/main">
            <a:off x="6858000" y="32956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52162B3-1CF2-4A1C-899F-AF0D0595DF12}"/>
              </a:ext>
            </a:extLst>
          </p:cNvPr>
          <p:cNvSpPr>
            <a:spLocks xmlns:a="http://schemas.openxmlformats.org/drawingml/2006/main" noGrp="1"/>
          </p:cNvSpPr>
          <p:nvPr/>
        </p:nvSpPr>
        <p:spPr>
          <a:xfrm xmlns:a="http://schemas.openxmlformats.org/drawingml/2006/main">
            <a:off x="7086600" y="3219450"/>
            <a:ext cx="38671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B1426"/>
                </a:solidFill>
                <a:latin typeface="Inter"/>
                <a:ea typeface="Inter"/>
                <a:cs typeface="Inter"/>
              </a:defRPr>
            </a:pPr>
            <a:r>
              <a:rPr sz="1575" b="1">
                <a:solidFill>
                  <a:srgbClr val="0B1426"/>
                </a:solidFill>
                <a:latin typeface="Inter"/>
                <a:ea typeface="Inter"/>
                <a:cs typeface="Inter"/>
              </a:rPr>
              <a:t>Platform admin</a:t>
            </a:r>
          </a:p>
        </p:txBody>
      </p:sp>
      <p:sp>
        <p:nvSpPr>
          <p:cNvPr id="19" name="">
            <a:extLst xmlns:a="http://schemas.openxmlformats.org/drawingml/2006/main">
              <a:ext uri="{FF2B5EF4-FFF2-40B4-BE49-F238E27FC236}">
                <a16:creationId xmlns:a16="http://schemas.microsoft.com/office/drawing/2014/main" id="{D001D385-B8E7-4F79-9DE3-819184CB52FE}"/>
              </a:ext>
            </a:extLst>
          </p:cNvPr>
          <p:cNvSpPr>
            <a:spLocks xmlns:a="http://schemas.openxmlformats.org/drawingml/2006/main" noGrp="1"/>
          </p:cNvSpPr>
          <p:nvPr/>
        </p:nvSpPr>
        <p:spPr>
          <a:xfrm xmlns:a="http://schemas.openxmlformats.org/drawingml/2006/main">
            <a:off x="952500" y="5524500"/>
            <a:ext cx="10287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52627A"/>
                </a:solidFill>
                <a:latin typeface="Inter"/>
                <a:ea typeface="Inter"/>
                <a:cs typeface="Inter"/>
              </a:defRPr>
            </a:pPr>
            <a:r>
              <a:rPr sz="1125" b="0">
                <a:solidFill>
                  <a:srgbClr val="52627A"/>
                </a:solidFill>
                <a:latin typeface="Inter"/>
                <a:ea typeface="Inter"/>
                <a:cs typeface="Inter"/>
              </a:rPr>
              <a:t>Process catalog  •  Decision Pack  •  BRD / FRD / PDD  •  Work items  •  Delivery Pack  •  Portfolio views</a:t>
            </a:r>
          </a:p>
        </p:txBody>
      </p:sp>
      <p:sp>
        <p:nvSpPr>
          <p:cNvPr id="20" name="">
            <a:extLst xmlns:a="http://schemas.openxmlformats.org/drawingml/2006/main">
              <a:ext uri="{FF2B5EF4-FFF2-40B4-BE49-F238E27FC236}">
                <a16:creationId xmlns:a16="http://schemas.microsoft.com/office/drawing/2014/main" id="{64A759CD-CA56-4F82-A0F7-6FED52783197}"/>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21" name="">
            <a:extLst xmlns:a="http://schemas.openxmlformats.org/drawingml/2006/main">
              <a:ext uri="{FF2B5EF4-FFF2-40B4-BE49-F238E27FC236}">
                <a16:creationId xmlns:a16="http://schemas.microsoft.com/office/drawing/2014/main" id="{E63FDE39-43C5-4817-9EDE-66E218094E48}"/>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Designed to reduce adoption friction; no zero-training claim.</a:t>
            </a:r>
          </a:p>
        </p:txBody>
      </p:sp>
      <p:sp>
        <p:nvSpPr>
          <p:cNvPr id="22" name="">
            <a:extLst xmlns:a="http://schemas.openxmlformats.org/drawingml/2006/main">
              <a:ext uri="{FF2B5EF4-FFF2-40B4-BE49-F238E27FC236}">
                <a16:creationId xmlns:a16="http://schemas.microsoft.com/office/drawing/2014/main" id="{7EFE692B-A738-4D5A-9864-B722A3B996BF}"/>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11</a:t>
            </a:r>
          </a:p>
        </p:txBody>
      </p:sp>
    </p:spTree>
    <p:extLst>
      <p:ext uri="{BB962C8B-B14F-4D97-AF65-F5344CB8AC3E}">
        <p14:creationId xmlns:p14="http://schemas.microsoft.com/office/powerpoint/2010/main" val="308126599"/>
      </p:ext>
    </p:extLst>
  </p:cSld>
</p:sld>
</file>

<file path=ppt/slides/slide12.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1A81AA6-0447-4603-A0F6-931B5251E228}"/>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BFFB36B-EC59-45E9-BF4E-5D0BC0A6EA9A}"/>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TRUST, AUTHORITY + BYOK</a:t>
            </a:r>
          </a:p>
        </p:txBody>
      </p:sp>
      <p:sp>
        <p:nvSpPr>
          <p:cNvPr id="3" name="">
            <a:extLst xmlns:a="http://schemas.openxmlformats.org/drawingml/2006/main">
              <a:ext uri="{FF2B5EF4-FFF2-40B4-BE49-F238E27FC236}">
                <a16:creationId xmlns:a16="http://schemas.microsoft.com/office/drawing/2014/main" id="{934AA3B0-49BA-49B1-ADCC-16887D8D52A9}"/>
              </a:ext>
            </a:extLst>
          </p:cNvPr>
          <p:cNvSpPr>
            <a:spLocks xmlns:a="http://schemas.openxmlformats.org/drawingml/2006/main" noGrp="1"/>
          </p:cNvSpPr>
          <p:nvPr/>
        </p:nvSpPr>
        <p:spPr>
          <a:xfrm xmlns:a="http://schemas.openxmlformats.org/drawingml/2006/main">
            <a:off x="609600" y="666750"/>
            <a:ext cx="6286500" cy="1095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FFFFFF"/>
                </a:solidFill>
                <a:latin typeface="Outfit"/>
                <a:ea typeface="Outfit"/>
                <a:cs typeface="Outfit"/>
              </a:defRPr>
            </a:pPr>
            <a:r>
              <a:rPr sz="2925" b="1">
                <a:solidFill>
                  <a:srgbClr val="FFFFFF"/>
                </a:solidFill>
                <a:latin typeface="Outfit"/>
                <a:ea typeface="Outfit"/>
                <a:cs typeface="Outfit"/>
              </a:rPr>
              <a:t>Control boundaries keep model authority and decision authority separate.</a:t>
            </a:r>
          </a:p>
        </p:txBody>
      </p:sp>
      <p:sp>
        <p:nvSpPr>
          <p:cNvPr id="4" name="">
            <a:extLst xmlns:a="http://schemas.openxmlformats.org/drawingml/2006/main">
              <a:ext uri="{FF2B5EF4-FFF2-40B4-BE49-F238E27FC236}">
                <a16:creationId xmlns:a16="http://schemas.microsoft.com/office/drawing/2014/main" id="{4C5C9595-935A-4510-BBC3-627C62BCA1F4}"/>
              </a:ext>
            </a:extLst>
          </p:cNvPr>
          <p:cNvSpPr>
            <a:spLocks xmlns:a="http://schemas.openxmlformats.org/drawingml/2006/main" noGrp="1"/>
          </p:cNvSpPr>
          <p:nvPr/>
        </p:nvSpPr>
        <p:spPr>
          <a:xfrm xmlns:a="http://schemas.openxmlformats.org/drawingml/2006/main">
            <a:off x="704850" y="20955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C013E60-D319-4332-9AF1-1A750662A206}"/>
              </a:ext>
            </a:extLst>
          </p:cNvPr>
          <p:cNvSpPr>
            <a:spLocks xmlns:a="http://schemas.openxmlformats.org/drawingml/2006/main" noGrp="1"/>
          </p:cNvSpPr>
          <p:nvPr/>
        </p:nvSpPr>
        <p:spPr>
          <a:xfrm xmlns:a="http://schemas.openxmlformats.org/drawingml/2006/main">
            <a:off x="933450" y="2019300"/>
            <a:ext cx="3962400" cy="504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Inter"/>
                <a:ea typeface="Inter"/>
                <a:cs typeface="Inter"/>
              </a:defRPr>
            </a:pPr>
            <a:r>
              <a:rPr sz="1350" b="0">
                <a:solidFill>
                  <a:srgbClr val="FFFFFF"/>
                </a:solidFill>
                <a:latin typeface="Inter"/>
                <a:ea typeface="Inter"/>
                <a:cs typeface="Inter"/>
              </a:rPr>
              <a:t>BYOK-ready architecture</a:t>
            </a:r>
          </a:p>
        </p:txBody>
      </p:sp>
      <p:sp>
        <p:nvSpPr>
          <p:cNvPr id="6" name="">
            <a:extLst xmlns:a="http://schemas.openxmlformats.org/drawingml/2006/main">
              <a:ext uri="{FF2B5EF4-FFF2-40B4-BE49-F238E27FC236}">
                <a16:creationId xmlns:a16="http://schemas.microsoft.com/office/drawing/2014/main" id="{24AA8753-ABBE-44BF-8992-70775C026D25}"/>
              </a:ext>
            </a:extLst>
          </p:cNvPr>
          <p:cNvSpPr>
            <a:spLocks xmlns:a="http://schemas.openxmlformats.org/drawingml/2006/main" noGrp="1"/>
          </p:cNvSpPr>
          <p:nvPr/>
        </p:nvSpPr>
        <p:spPr>
          <a:xfrm xmlns:a="http://schemas.openxmlformats.org/drawingml/2006/main">
            <a:off x="704850" y="26384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03FEA33-D6C8-4EC5-B8D9-9C916ECEB03E}"/>
              </a:ext>
            </a:extLst>
          </p:cNvPr>
          <p:cNvSpPr>
            <a:spLocks xmlns:a="http://schemas.openxmlformats.org/drawingml/2006/main" noGrp="1"/>
          </p:cNvSpPr>
          <p:nvPr/>
        </p:nvSpPr>
        <p:spPr>
          <a:xfrm xmlns:a="http://schemas.openxmlformats.org/drawingml/2006/main">
            <a:off x="933450" y="2562225"/>
            <a:ext cx="3962400" cy="504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Inter"/>
                <a:ea typeface="Inter"/>
                <a:cs typeface="Inter"/>
              </a:defRPr>
            </a:pPr>
            <a:r>
              <a:rPr sz="1350" b="0">
                <a:solidFill>
                  <a:srgbClr val="FFFFFF"/>
                </a:solidFill>
                <a:latin typeface="Inter"/>
                <a:ea typeface="Inter"/>
                <a:cs typeface="Inter"/>
              </a:rPr>
              <a:t>Designed for customer-controlled model access</a:t>
            </a:r>
          </a:p>
        </p:txBody>
      </p:sp>
      <p:sp>
        <p:nvSpPr>
          <p:cNvPr id="8" name="">
            <a:extLst xmlns:a="http://schemas.openxmlformats.org/drawingml/2006/main">
              <a:ext uri="{FF2B5EF4-FFF2-40B4-BE49-F238E27FC236}">
                <a16:creationId xmlns:a16="http://schemas.microsoft.com/office/drawing/2014/main" id="{9D0F3594-E76F-40B6-9FDD-FB6F37EAC864}"/>
              </a:ext>
            </a:extLst>
          </p:cNvPr>
          <p:cNvSpPr>
            <a:spLocks xmlns:a="http://schemas.openxmlformats.org/drawingml/2006/main" noGrp="1"/>
          </p:cNvSpPr>
          <p:nvPr/>
        </p:nvSpPr>
        <p:spPr>
          <a:xfrm xmlns:a="http://schemas.openxmlformats.org/drawingml/2006/main">
            <a:off x="704850" y="31813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1D842D8-230D-4EEF-8362-22266C6473B1}"/>
              </a:ext>
            </a:extLst>
          </p:cNvPr>
          <p:cNvSpPr>
            <a:spLocks xmlns:a="http://schemas.openxmlformats.org/drawingml/2006/main" noGrp="1"/>
          </p:cNvSpPr>
          <p:nvPr/>
        </p:nvSpPr>
        <p:spPr>
          <a:xfrm xmlns:a="http://schemas.openxmlformats.org/drawingml/2006/main">
            <a:off x="933450" y="3105150"/>
            <a:ext cx="3962400" cy="504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Inter"/>
                <a:ea typeface="Inter"/>
                <a:cs typeface="Inter"/>
              </a:defRPr>
            </a:pPr>
            <a:r>
              <a:rPr sz="1350" b="0">
                <a:solidFill>
                  <a:srgbClr val="FFFFFF"/>
                </a:solidFill>
                <a:latin typeface="Inter"/>
                <a:ea typeface="Inter"/>
                <a:cs typeface="Inter"/>
              </a:rPr>
              <a:t>Server-side secret boundary</a:t>
            </a:r>
          </a:p>
        </p:txBody>
      </p:sp>
      <p:sp>
        <p:nvSpPr>
          <p:cNvPr id="10" name="">
            <a:extLst xmlns:a="http://schemas.openxmlformats.org/drawingml/2006/main">
              <a:ext uri="{FF2B5EF4-FFF2-40B4-BE49-F238E27FC236}">
                <a16:creationId xmlns:a16="http://schemas.microsoft.com/office/drawing/2014/main" id="{2C1D6DCC-C459-45E3-A961-1A71DBB036A2}"/>
              </a:ext>
            </a:extLst>
          </p:cNvPr>
          <p:cNvSpPr>
            <a:spLocks xmlns:a="http://schemas.openxmlformats.org/drawingml/2006/main" noGrp="1"/>
          </p:cNvSpPr>
          <p:nvPr/>
        </p:nvSpPr>
        <p:spPr>
          <a:xfrm xmlns:a="http://schemas.openxmlformats.org/drawingml/2006/main">
            <a:off x="704850" y="372427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28BD73B6-6DB7-4D38-8F67-A8696AC139B7}"/>
              </a:ext>
            </a:extLst>
          </p:cNvPr>
          <p:cNvSpPr>
            <a:spLocks xmlns:a="http://schemas.openxmlformats.org/drawingml/2006/main" noGrp="1"/>
          </p:cNvSpPr>
          <p:nvPr/>
        </p:nvSpPr>
        <p:spPr>
          <a:xfrm xmlns:a="http://schemas.openxmlformats.org/drawingml/2006/main">
            <a:off x="933450" y="3648075"/>
            <a:ext cx="3962400" cy="504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Inter"/>
                <a:ea typeface="Inter"/>
                <a:cs typeface="Inter"/>
              </a:defRPr>
            </a:pPr>
            <a:r>
              <a:rPr sz="1350" b="0">
                <a:solidFill>
                  <a:srgbClr val="FFFFFF"/>
                </a:solidFill>
                <a:latin typeface="Inter"/>
                <a:ea typeface="Inter"/>
                <a:cs typeface="Inter"/>
              </a:rPr>
              <a:t>Human approval</a:t>
            </a:r>
          </a:p>
        </p:txBody>
      </p:sp>
      <p:sp>
        <p:nvSpPr>
          <p:cNvPr id="12" name="">
            <a:extLst xmlns:a="http://schemas.openxmlformats.org/drawingml/2006/main">
              <a:ext uri="{FF2B5EF4-FFF2-40B4-BE49-F238E27FC236}">
                <a16:creationId xmlns:a16="http://schemas.microsoft.com/office/drawing/2014/main" id="{EC04B47E-EB06-492B-AF23-38A47B507FDB}"/>
              </a:ext>
            </a:extLst>
          </p:cNvPr>
          <p:cNvSpPr>
            <a:spLocks xmlns:a="http://schemas.openxmlformats.org/drawingml/2006/main" noGrp="1"/>
          </p:cNvSpPr>
          <p:nvPr/>
        </p:nvSpPr>
        <p:spPr>
          <a:xfrm xmlns:a="http://schemas.openxmlformats.org/drawingml/2006/main">
            <a:off x="704850" y="42672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DA192D2D-CF15-4EB8-BBCC-77991669B62E}"/>
              </a:ext>
            </a:extLst>
          </p:cNvPr>
          <p:cNvSpPr>
            <a:spLocks xmlns:a="http://schemas.openxmlformats.org/drawingml/2006/main" noGrp="1"/>
          </p:cNvSpPr>
          <p:nvPr/>
        </p:nvSpPr>
        <p:spPr>
          <a:xfrm xmlns:a="http://schemas.openxmlformats.org/drawingml/2006/main">
            <a:off x="933450" y="4191000"/>
            <a:ext cx="3962400" cy="504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Inter"/>
                <a:ea typeface="Inter"/>
                <a:cs typeface="Inter"/>
              </a:defRPr>
            </a:pPr>
            <a:r>
              <a:rPr sz="1350" b="0">
                <a:solidFill>
                  <a:srgbClr val="FFFFFF"/>
                </a:solidFill>
                <a:latin typeface="Inter"/>
                <a:ea typeface="Inter"/>
                <a:cs typeface="Inter"/>
              </a:rPr>
              <a:t>Evidence and audit</a:t>
            </a:r>
          </a:p>
        </p:txBody>
      </p:sp>
      <p:sp>
        <p:nvSpPr>
          <p:cNvPr id="14" name="">
            <a:extLst xmlns:a="http://schemas.openxmlformats.org/drawingml/2006/main">
              <a:ext uri="{FF2B5EF4-FFF2-40B4-BE49-F238E27FC236}">
                <a16:creationId xmlns:a16="http://schemas.microsoft.com/office/drawing/2014/main" id="{C3DD8974-C27B-47C3-869E-DB61BCC8C4ED}"/>
              </a:ext>
            </a:extLst>
          </p:cNvPr>
          <p:cNvSpPr>
            <a:spLocks xmlns:a="http://schemas.openxmlformats.org/drawingml/2006/main" noGrp="1"/>
          </p:cNvSpPr>
          <p:nvPr/>
        </p:nvSpPr>
        <p:spPr>
          <a:xfrm xmlns:a="http://schemas.openxmlformats.org/drawingml/2006/main">
            <a:off x="704850" y="4810125"/>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A574338-366C-42B2-A618-998D299D62C2}"/>
              </a:ext>
            </a:extLst>
          </p:cNvPr>
          <p:cNvSpPr>
            <a:spLocks xmlns:a="http://schemas.openxmlformats.org/drawingml/2006/main" noGrp="1"/>
          </p:cNvSpPr>
          <p:nvPr/>
        </p:nvSpPr>
        <p:spPr>
          <a:xfrm xmlns:a="http://schemas.openxmlformats.org/drawingml/2006/main">
            <a:off x="933450" y="4733925"/>
            <a:ext cx="3962400" cy="504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FFFFF"/>
                </a:solidFill>
                <a:latin typeface="Inter"/>
                <a:ea typeface="Inter"/>
                <a:cs typeface="Inter"/>
              </a:defRPr>
            </a:pPr>
            <a:r>
              <a:rPr sz="1350" b="0">
                <a:solidFill>
                  <a:srgbClr val="FFFFFF"/>
                </a:solidFill>
                <a:latin typeface="Inter"/>
                <a:ea typeface="Inter"/>
                <a:cs typeface="Inter"/>
              </a:rPr>
              <a:t>Fail-closed behavior</a:t>
            </a:r>
          </a:p>
        </p:txBody>
      </p:sp>
      <p:sp>
        <p:nvSpPr>
          <p:cNvPr id="16" name="">
            <a:extLst xmlns:a="http://schemas.openxmlformats.org/drawingml/2006/main">
              <a:ext uri="{FF2B5EF4-FFF2-40B4-BE49-F238E27FC236}">
                <a16:creationId xmlns:a16="http://schemas.microsoft.com/office/drawing/2014/main" id="{81266426-C714-4B8A-9B19-87880174992B}"/>
              </a:ext>
            </a:extLst>
          </p:cNvPr>
          <p:cNvSpPr>
            <a:spLocks xmlns:a="http://schemas.openxmlformats.org/drawingml/2006/main" noGrp="1"/>
          </p:cNvSpPr>
          <p:nvPr/>
        </p:nvSpPr>
        <p:spPr>
          <a:xfrm xmlns:a="http://schemas.openxmlformats.org/drawingml/2006/main">
            <a:off x="5276850" y="1562100"/>
            <a:ext cx="6362700" cy="4352925"/>
          </a:xfrm>
          <a:prstGeom xmlns:a="http://schemas.openxmlformats.org/drawingml/2006/main" prst="roundRect">
            <a:avLst>
              <a:gd name="adj" fmla="val 1751"/>
            </a:avLst>
          </a:prstGeom>
          <a:solidFill xmlns:a="http://schemas.openxmlformats.org/drawingml/2006/main">
            <a:srgbClr val="002C4B"/>
          </a:solidFill>
          <a:ln xmlns:a="http://schemas.openxmlformats.org/drawingml/2006/main" w="9525">
            <a:solidFill>
              <a:srgbClr val="0C3B5B"/>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a75f3ea50eec49a2"/>
          <a:srcRect xmlns:a="http://schemas.openxmlformats.org/drawingml/2006/main" l="0" t="5153" r="0" b="5153"/>
          <a:stretch xmlns:a="http://schemas.openxmlformats.org/drawingml/2006/main">
            <a:fillRect l="0" t="0" r="0" b="0"/>
          </a:stretch>
        </p:blipFill>
        <p:spPr>
          <a:xfrm xmlns:a="http://schemas.openxmlformats.org/drawingml/2006/main">
            <a:off x="5334000" y="1619250"/>
            <a:ext cx="6248400" cy="4238625"/>
          </a:xfrm>
          <a:prstGeom xmlns:a="http://schemas.openxmlformats.org/drawingml/2006/main" prst="roundRect">
            <a:avLst>
              <a:gd name="adj" fmla="val 2697"/>
            </a:avLst>
          </a:prstGeom>
        </p:spPr>
      </p:pic>
      <p:sp>
        <p:nvSpPr>
          <p:cNvPr id="18" name="">
            <a:extLst xmlns:a="http://schemas.openxmlformats.org/drawingml/2006/main">
              <a:ext uri="{FF2B5EF4-FFF2-40B4-BE49-F238E27FC236}">
                <a16:creationId xmlns:a16="http://schemas.microsoft.com/office/drawing/2014/main" id="{109628CA-3C27-4C26-AE5A-39FD110D0EDF}"/>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From Process Evidence to Governed Delivery • CIO/COO, Automation or AI leadership, Process Owners, BA/PMO, Risk and delivery leaders</a:t>
            </a:r>
          </a:p>
        </p:txBody>
      </p:sp>
      <p:sp>
        <p:nvSpPr>
          <p:cNvPr id="19" name="">
            <a:extLst xmlns:a="http://schemas.openxmlformats.org/drawingml/2006/main">
              <a:ext uri="{FF2B5EF4-FFF2-40B4-BE49-F238E27FC236}">
                <a16:creationId xmlns:a16="http://schemas.microsoft.com/office/drawing/2014/main" id="{268FA820-D3EC-41DD-9B81-863C96C2195F}"/>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Provider availability is deployment-dependent. Hosted tenant isolation and compliance readiness remain unproven.</a:t>
            </a:r>
          </a:p>
        </p:txBody>
      </p:sp>
      <p:sp>
        <p:nvSpPr>
          <p:cNvPr id="20" name="">
            <a:extLst xmlns:a="http://schemas.openxmlformats.org/drawingml/2006/main">
              <a:ext uri="{FF2B5EF4-FFF2-40B4-BE49-F238E27FC236}">
                <a16:creationId xmlns:a16="http://schemas.microsoft.com/office/drawing/2014/main" id="{375D1A00-5325-4B51-8EC3-7D022742A81C}"/>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12</a:t>
            </a:r>
          </a:p>
        </p:txBody>
      </p:sp>
    </p:spTree>
    <p:extLst>
      <p:ext uri="{BB962C8B-B14F-4D97-AF65-F5344CB8AC3E}">
        <p14:creationId xmlns:p14="http://schemas.microsoft.com/office/powerpoint/2010/main" val="830148282"/>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FA8154D-5023-4160-A76B-66E688580F38}"/>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9CAF42F-C1C3-4427-BC5C-A873D749E468}"/>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SUGGESTED ENGAGEMENT PATH</a:t>
            </a:r>
          </a:p>
        </p:txBody>
      </p:sp>
      <p:sp>
        <p:nvSpPr>
          <p:cNvPr id="3" name="">
            <a:extLst xmlns:a="http://schemas.openxmlformats.org/drawingml/2006/main">
              <a:ext uri="{FF2B5EF4-FFF2-40B4-BE49-F238E27FC236}">
                <a16:creationId xmlns:a16="http://schemas.microsoft.com/office/drawing/2014/main" id="{D1B5E13F-8F25-428C-9ECD-1FD132CBA348}"/>
              </a:ext>
            </a:extLst>
          </p:cNvPr>
          <p:cNvSpPr>
            <a:spLocks xmlns:a="http://schemas.openxmlformats.org/drawingml/2006/main" noGrp="1"/>
          </p:cNvSpPr>
          <p:nvPr/>
        </p:nvSpPr>
        <p:spPr>
          <a:xfrm xmlns:a="http://schemas.openxmlformats.org/drawingml/2006/main">
            <a:off x="609600" y="638175"/>
            <a:ext cx="10287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Start with one decision, then earn the right to scale.</a:t>
            </a:r>
          </a:p>
        </p:txBody>
      </p:sp>
      <p:sp>
        <p:nvSpPr>
          <p:cNvPr id="4" name="">
            <a:extLst xmlns:a="http://schemas.openxmlformats.org/drawingml/2006/main">
              <a:ext uri="{FF2B5EF4-FFF2-40B4-BE49-F238E27FC236}">
                <a16:creationId xmlns:a16="http://schemas.microsoft.com/office/drawing/2014/main" id="{EFE921FF-4B22-434B-9D23-524C16E50E4B}"/>
              </a:ext>
            </a:extLst>
          </p:cNvPr>
          <p:cNvSpPr>
            <a:spLocks xmlns:a="http://schemas.openxmlformats.org/drawingml/2006/main" noGrp="1"/>
          </p:cNvSpPr>
          <p:nvPr/>
        </p:nvSpPr>
        <p:spPr>
          <a:xfrm xmlns:a="http://schemas.openxmlformats.org/drawingml/2006/main">
            <a:off x="857250" y="2190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C52D84C-983B-426D-B448-AACFDC180ECA}"/>
              </a:ext>
            </a:extLst>
          </p:cNvPr>
          <p:cNvSpPr>
            <a:spLocks xmlns:a="http://schemas.openxmlformats.org/drawingml/2006/main" noGrp="1"/>
          </p:cNvSpPr>
          <p:nvPr/>
        </p:nvSpPr>
        <p:spPr>
          <a:xfrm xmlns:a="http://schemas.openxmlformats.org/drawingml/2006/main">
            <a:off x="857250" y="2343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1</a:t>
            </a:r>
          </a:p>
        </p:txBody>
      </p:sp>
      <p:sp>
        <p:nvSpPr>
          <p:cNvPr id="6" name="">
            <a:extLst xmlns:a="http://schemas.openxmlformats.org/drawingml/2006/main">
              <a:ext uri="{FF2B5EF4-FFF2-40B4-BE49-F238E27FC236}">
                <a16:creationId xmlns:a16="http://schemas.microsoft.com/office/drawing/2014/main" id="{DB13335F-F1CB-49CB-A269-13996F14015D}"/>
              </a:ext>
            </a:extLst>
          </p:cNvPr>
          <p:cNvSpPr>
            <a:spLocks xmlns:a="http://schemas.openxmlformats.org/drawingml/2006/main" noGrp="1"/>
          </p:cNvSpPr>
          <p:nvPr/>
        </p:nvSpPr>
        <p:spPr>
          <a:xfrm xmlns:a="http://schemas.openxmlformats.org/drawingml/2006/main">
            <a:off x="1600200" y="2162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Candidate process + evidence discovery</a:t>
            </a:r>
          </a:p>
        </p:txBody>
      </p:sp>
      <p:sp>
        <p:nvSpPr>
          <p:cNvPr id="7" name="">
            <a:extLst xmlns:a="http://schemas.openxmlformats.org/drawingml/2006/main">
              <a:ext uri="{FF2B5EF4-FFF2-40B4-BE49-F238E27FC236}">
                <a16:creationId xmlns:a16="http://schemas.microsoft.com/office/drawing/2014/main" id="{172A374B-0E87-4BC9-8171-4B9AE1592197}"/>
              </a:ext>
            </a:extLst>
          </p:cNvPr>
          <p:cNvSpPr>
            <a:spLocks xmlns:a="http://schemas.openxmlformats.org/drawingml/2006/main" noGrp="1"/>
          </p:cNvSpPr>
          <p:nvPr/>
        </p:nvSpPr>
        <p:spPr>
          <a:xfrm xmlns:a="http://schemas.openxmlformats.org/drawingml/2006/main">
            <a:off x="3952875" y="2333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641EB90-D143-4435-B721-C5F83A83E3BC}"/>
              </a:ext>
            </a:extLst>
          </p:cNvPr>
          <p:cNvSpPr>
            <a:spLocks xmlns:a="http://schemas.openxmlformats.org/drawingml/2006/main" noGrp="1"/>
          </p:cNvSpPr>
          <p:nvPr/>
        </p:nvSpPr>
        <p:spPr>
          <a:xfrm xmlns:a="http://schemas.openxmlformats.org/drawingml/2006/main">
            <a:off x="4572000" y="2190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F555F7D-4EB3-46E4-B4AB-107418278D40}"/>
              </a:ext>
            </a:extLst>
          </p:cNvPr>
          <p:cNvSpPr>
            <a:spLocks xmlns:a="http://schemas.openxmlformats.org/drawingml/2006/main" noGrp="1"/>
          </p:cNvSpPr>
          <p:nvPr/>
        </p:nvSpPr>
        <p:spPr>
          <a:xfrm xmlns:a="http://schemas.openxmlformats.org/drawingml/2006/main">
            <a:off x="4572000" y="2343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2</a:t>
            </a:r>
          </a:p>
        </p:txBody>
      </p:sp>
      <p:sp>
        <p:nvSpPr>
          <p:cNvPr id="10" name="">
            <a:extLst xmlns:a="http://schemas.openxmlformats.org/drawingml/2006/main">
              <a:ext uri="{FF2B5EF4-FFF2-40B4-BE49-F238E27FC236}">
                <a16:creationId xmlns:a16="http://schemas.microsoft.com/office/drawing/2014/main" id="{71D1C00D-A9CF-431C-8314-F5078CB45A8F}"/>
              </a:ext>
            </a:extLst>
          </p:cNvPr>
          <p:cNvSpPr>
            <a:spLocks xmlns:a="http://schemas.openxmlformats.org/drawingml/2006/main" noGrp="1"/>
          </p:cNvSpPr>
          <p:nvPr/>
        </p:nvSpPr>
        <p:spPr>
          <a:xfrm xmlns:a="http://schemas.openxmlformats.org/drawingml/2006/main">
            <a:off x="5314950" y="2162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Governed assessment + Decision Pack</a:t>
            </a:r>
          </a:p>
        </p:txBody>
      </p:sp>
      <p:sp>
        <p:nvSpPr>
          <p:cNvPr id="11" name="">
            <a:extLst xmlns:a="http://schemas.openxmlformats.org/drawingml/2006/main">
              <a:ext uri="{FF2B5EF4-FFF2-40B4-BE49-F238E27FC236}">
                <a16:creationId xmlns:a16="http://schemas.microsoft.com/office/drawing/2014/main" id="{427BDF11-5684-4117-B8F3-849392B3BEAB}"/>
              </a:ext>
            </a:extLst>
          </p:cNvPr>
          <p:cNvSpPr>
            <a:spLocks xmlns:a="http://schemas.openxmlformats.org/drawingml/2006/main" noGrp="1"/>
          </p:cNvSpPr>
          <p:nvPr/>
        </p:nvSpPr>
        <p:spPr>
          <a:xfrm xmlns:a="http://schemas.openxmlformats.org/drawingml/2006/main">
            <a:off x="7667625" y="2333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2976AA8F-438C-4C5D-A951-3BC9AA129B8A}"/>
              </a:ext>
            </a:extLst>
          </p:cNvPr>
          <p:cNvSpPr>
            <a:spLocks xmlns:a="http://schemas.openxmlformats.org/drawingml/2006/main" noGrp="1"/>
          </p:cNvSpPr>
          <p:nvPr/>
        </p:nvSpPr>
        <p:spPr>
          <a:xfrm xmlns:a="http://schemas.openxmlformats.org/drawingml/2006/main">
            <a:off x="8286750" y="2190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9E275845-8195-4DC9-B7FE-520D30C472EF}"/>
              </a:ext>
            </a:extLst>
          </p:cNvPr>
          <p:cNvSpPr>
            <a:spLocks xmlns:a="http://schemas.openxmlformats.org/drawingml/2006/main" noGrp="1"/>
          </p:cNvSpPr>
          <p:nvPr/>
        </p:nvSpPr>
        <p:spPr>
          <a:xfrm xmlns:a="http://schemas.openxmlformats.org/drawingml/2006/main">
            <a:off x="8286750" y="2343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3</a:t>
            </a:r>
          </a:p>
        </p:txBody>
      </p:sp>
      <p:sp>
        <p:nvSpPr>
          <p:cNvPr id="14" name="">
            <a:extLst xmlns:a="http://schemas.openxmlformats.org/drawingml/2006/main">
              <a:ext uri="{FF2B5EF4-FFF2-40B4-BE49-F238E27FC236}">
                <a16:creationId xmlns:a16="http://schemas.microsoft.com/office/drawing/2014/main" id="{ACE83672-5039-460B-8C49-8E58AE7CACFD}"/>
              </a:ext>
            </a:extLst>
          </p:cNvPr>
          <p:cNvSpPr>
            <a:spLocks xmlns:a="http://schemas.openxmlformats.org/drawingml/2006/main" noGrp="1"/>
          </p:cNvSpPr>
          <p:nvPr/>
        </p:nvSpPr>
        <p:spPr>
          <a:xfrm xmlns:a="http://schemas.openxmlformats.org/drawingml/2006/main">
            <a:off x="9029700" y="2162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Studio artifact + approval</a:t>
            </a:r>
          </a:p>
        </p:txBody>
      </p:sp>
      <p:sp>
        <p:nvSpPr>
          <p:cNvPr id="15" name="">
            <a:extLst xmlns:a="http://schemas.openxmlformats.org/drawingml/2006/main">
              <a:ext uri="{FF2B5EF4-FFF2-40B4-BE49-F238E27FC236}">
                <a16:creationId xmlns:a16="http://schemas.microsoft.com/office/drawing/2014/main" id="{CB63CF83-ECEB-413C-898C-E8B8B3F2CABC}"/>
              </a:ext>
            </a:extLst>
          </p:cNvPr>
          <p:cNvSpPr>
            <a:spLocks xmlns:a="http://schemas.openxmlformats.org/drawingml/2006/main" noGrp="1"/>
          </p:cNvSpPr>
          <p:nvPr/>
        </p:nvSpPr>
        <p:spPr>
          <a:xfrm xmlns:a="http://schemas.openxmlformats.org/drawingml/2006/main">
            <a:off x="857250" y="4095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70116A3-CFF1-42EB-B988-5E2F3BC73ABF}"/>
              </a:ext>
            </a:extLst>
          </p:cNvPr>
          <p:cNvSpPr>
            <a:spLocks xmlns:a="http://schemas.openxmlformats.org/drawingml/2006/main" noGrp="1"/>
          </p:cNvSpPr>
          <p:nvPr/>
        </p:nvSpPr>
        <p:spPr>
          <a:xfrm xmlns:a="http://schemas.openxmlformats.org/drawingml/2006/main">
            <a:off x="857250" y="4248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4</a:t>
            </a:r>
          </a:p>
        </p:txBody>
      </p:sp>
      <p:sp>
        <p:nvSpPr>
          <p:cNvPr id="17" name="">
            <a:extLst xmlns:a="http://schemas.openxmlformats.org/drawingml/2006/main">
              <a:ext uri="{FF2B5EF4-FFF2-40B4-BE49-F238E27FC236}">
                <a16:creationId xmlns:a16="http://schemas.microsoft.com/office/drawing/2014/main" id="{D8677529-0C84-463C-A0A1-4B3159EF849B}"/>
              </a:ext>
            </a:extLst>
          </p:cNvPr>
          <p:cNvSpPr>
            <a:spLocks xmlns:a="http://schemas.openxmlformats.org/drawingml/2006/main" noGrp="1"/>
          </p:cNvSpPr>
          <p:nvPr/>
        </p:nvSpPr>
        <p:spPr>
          <a:xfrm xmlns:a="http://schemas.openxmlformats.org/drawingml/2006/main">
            <a:off x="1600200" y="4067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Delivery-handoff validation</a:t>
            </a:r>
          </a:p>
        </p:txBody>
      </p:sp>
      <p:sp>
        <p:nvSpPr>
          <p:cNvPr id="18" name="">
            <a:extLst xmlns:a="http://schemas.openxmlformats.org/drawingml/2006/main">
              <a:ext uri="{FF2B5EF4-FFF2-40B4-BE49-F238E27FC236}">
                <a16:creationId xmlns:a16="http://schemas.microsoft.com/office/drawing/2014/main" id="{C8163073-7A06-4BD1-8521-3ED1A124AC9C}"/>
              </a:ext>
            </a:extLst>
          </p:cNvPr>
          <p:cNvSpPr>
            <a:spLocks xmlns:a="http://schemas.openxmlformats.org/drawingml/2006/main" noGrp="1"/>
          </p:cNvSpPr>
          <p:nvPr/>
        </p:nvSpPr>
        <p:spPr>
          <a:xfrm xmlns:a="http://schemas.openxmlformats.org/drawingml/2006/main">
            <a:off x="3952875" y="4238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E64C56FC-42C3-41CD-9729-3FD20DB69D38}"/>
              </a:ext>
            </a:extLst>
          </p:cNvPr>
          <p:cNvSpPr>
            <a:spLocks xmlns:a="http://schemas.openxmlformats.org/drawingml/2006/main" noGrp="1"/>
          </p:cNvSpPr>
          <p:nvPr/>
        </p:nvSpPr>
        <p:spPr>
          <a:xfrm xmlns:a="http://schemas.openxmlformats.org/drawingml/2006/main">
            <a:off x="4572000" y="4095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C66DEE0F-8D1E-42F6-AA37-18CC6A9D33BF}"/>
              </a:ext>
            </a:extLst>
          </p:cNvPr>
          <p:cNvSpPr>
            <a:spLocks xmlns:a="http://schemas.openxmlformats.org/drawingml/2006/main" noGrp="1"/>
          </p:cNvSpPr>
          <p:nvPr/>
        </p:nvSpPr>
        <p:spPr>
          <a:xfrm xmlns:a="http://schemas.openxmlformats.org/drawingml/2006/main">
            <a:off x="4572000" y="4248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5</a:t>
            </a:r>
          </a:p>
        </p:txBody>
      </p:sp>
      <p:sp>
        <p:nvSpPr>
          <p:cNvPr id="21" name="">
            <a:extLst xmlns:a="http://schemas.openxmlformats.org/drawingml/2006/main">
              <a:ext uri="{FF2B5EF4-FFF2-40B4-BE49-F238E27FC236}">
                <a16:creationId xmlns:a16="http://schemas.microsoft.com/office/drawing/2014/main" id="{3D8AC28D-655E-4C5A-9875-D9A81370903B}"/>
              </a:ext>
            </a:extLst>
          </p:cNvPr>
          <p:cNvSpPr>
            <a:spLocks xmlns:a="http://schemas.openxmlformats.org/drawingml/2006/main" noGrp="1"/>
          </p:cNvSpPr>
          <p:nvPr/>
        </p:nvSpPr>
        <p:spPr>
          <a:xfrm xmlns:a="http://schemas.openxmlformats.org/drawingml/2006/main">
            <a:off x="5314950" y="4067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Monitor + outcome review</a:t>
            </a:r>
          </a:p>
        </p:txBody>
      </p:sp>
      <p:sp>
        <p:nvSpPr>
          <p:cNvPr id="22" name="">
            <a:extLst xmlns:a="http://schemas.openxmlformats.org/drawingml/2006/main">
              <a:ext uri="{FF2B5EF4-FFF2-40B4-BE49-F238E27FC236}">
                <a16:creationId xmlns:a16="http://schemas.microsoft.com/office/drawing/2014/main" id="{6AE3294B-F759-4A3B-8FF6-C2DB307CF229}"/>
              </a:ext>
            </a:extLst>
          </p:cNvPr>
          <p:cNvSpPr>
            <a:spLocks xmlns:a="http://schemas.openxmlformats.org/drawingml/2006/main" noGrp="1"/>
          </p:cNvSpPr>
          <p:nvPr/>
        </p:nvSpPr>
        <p:spPr>
          <a:xfrm xmlns:a="http://schemas.openxmlformats.org/drawingml/2006/main">
            <a:off x="7667625" y="4238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4323AFA4-FE10-4F2F-AD76-A3AFE3E7F54E}"/>
              </a:ext>
            </a:extLst>
          </p:cNvPr>
          <p:cNvSpPr>
            <a:spLocks xmlns:a="http://schemas.openxmlformats.org/drawingml/2006/main" noGrp="1"/>
          </p:cNvSpPr>
          <p:nvPr/>
        </p:nvSpPr>
        <p:spPr>
          <a:xfrm xmlns:a="http://schemas.openxmlformats.org/drawingml/2006/main">
            <a:off x="8286750" y="4095750"/>
            <a:ext cx="552450" cy="552450"/>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4AD53758-B86F-4F70-8BE4-0E1F3FBCA6F4}"/>
              </a:ext>
            </a:extLst>
          </p:cNvPr>
          <p:cNvSpPr>
            <a:spLocks xmlns:a="http://schemas.openxmlformats.org/drawingml/2006/main" noGrp="1"/>
          </p:cNvSpPr>
          <p:nvPr/>
        </p:nvSpPr>
        <p:spPr>
          <a:xfrm xmlns:a="http://schemas.openxmlformats.org/drawingml/2006/main">
            <a:off x="8286750" y="4248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01B30"/>
                </a:solidFill>
                <a:latin typeface="Inter"/>
                <a:ea typeface="Inter"/>
                <a:cs typeface="Inter"/>
              </a:defRPr>
            </a:pPr>
            <a:r>
              <a:rPr sz="1275" b="1">
                <a:solidFill>
                  <a:srgbClr val="001B30"/>
                </a:solidFill>
                <a:latin typeface="Inter"/>
                <a:ea typeface="Inter"/>
                <a:cs typeface="Inter"/>
              </a:rPr>
              <a:t>6</a:t>
            </a:r>
          </a:p>
        </p:txBody>
      </p:sp>
      <p:sp>
        <p:nvSpPr>
          <p:cNvPr id="25" name="">
            <a:extLst xmlns:a="http://schemas.openxmlformats.org/drawingml/2006/main">
              <a:ext uri="{FF2B5EF4-FFF2-40B4-BE49-F238E27FC236}">
                <a16:creationId xmlns:a16="http://schemas.microsoft.com/office/drawing/2014/main" id="{39B6C48D-B8C1-4AC1-86C3-DF3CC9DDC11C}"/>
              </a:ext>
            </a:extLst>
          </p:cNvPr>
          <p:cNvSpPr>
            <a:spLocks xmlns:a="http://schemas.openxmlformats.org/drawingml/2006/main" noGrp="1"/>
          </p:cNvSpPr>
          <p:nvPr/>
        </p:nvSpPr>
        <p:spPr>
          <a:xfrm xmlns:a="http://schemas.openxmlformats.org/drawingml/2006/main">
            <a:off x="9029700" y="4067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Controlled scale-out decision</a:t>
            </a:r>
          </a:p>
        </p:txBody>
      </p:sp>
      <p:sp>
        <p:nvSpPr>
          <p:cNvPr id="26" name="">
            <a:extLst xmlns:a="http://schemas.openxmlformats.org/drawingml/2006/main">
              <a:ext uri="{FF2B5EF4-FFF2-40B4-BE49-F238E27FC236}">
                <a16:creationId xmlns:a16="http://schemas.microsoft.com/office/drawing/2014/main" id="{93A83465-7DAC-4E49-9B6A-1C244192EB9E}"/>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27" name="">
            <a:extLst xmlns:a="http://schemas.openxmlformats.org/drawingml/2006/main">
              <a:ext uri="{FF2B5EF4-FFF2-40B4-BE49-F238E27FC236}">
                <a16:creationId xmlns:a16="http://schemas.microsoft.com/office/drawing/2014/main" id="{A031A549-0B26-4661-84A8-08340F797839}"/>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No timeline promise. Later pilot and scale stages depend on separately accepted readiness evidence.</a:t>
            </a:r>
          </a:p>
        </p:txBody>
      </p:sp>
      <p:sp>
        <p:nvSpPr>
          <p:cNvPr id="28" name="">
            <a:extLst xmlns:a="http://schemas.openxmlformats.org/drawingml/2006/main">
              <a:ext uri="{FF2B5EF4-FFF2-40B4-BE49-F238E27FC236}">
                <a16:creationId xmlns:a16="http://schemas.microsoft.com/office/drawing/2014/main" id="{B3925099-FBEA-4F19-AD2A-C7E84AB90AC8}"/>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13</a:t>
            </a:r>
          </a:p>
        </p:txBody>
      </p:sp>
    </p:spTree>
    <p:extLst>
      <p:ext uri="{BB962C8B-B14F-4D97-AF65-F5344CB8AC3E}">
        <p14:creationId xmlns:p14="http://schemas.microsoft.com/office/powerpoint/2010/main" val="1244832465"/>
      </p:ext>
    </p:extLst>
  </p:cSld>
</p:sld>
</file>

<file path=ppt/slides/slide14.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C816D56-6BF0-42BF-9058-FB4F882F4FD7}"/>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00ACE5A-A96A-4CC6-8710-DD467B0C480B}"/>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NEXT STEP</a:t>
            </a:r>
          </a:p>
        </p:txBody>
      </p:sp>
      <p:sp>
        <p:nvSpPr>
          <p:cNvPr id="3" name="">
            <a:extLst xmlns:a="http://schemas.openxmlformats.org/drawingml/2006/main">
              <a:ext uri="{FF2B5EF4-FFF2-40B4-BE49-F238E27FC236}">
                <a16:creationId xmlns:a16="http://schemas.microsoft.com/office/drawing/2014/main" id="{B36A72E1-C3F3-4E32-87A9-1967AB546D6C}"/>
              </a:ext>
            </a:extLst>
          </p:cNvPr>
          <p:cNvSpPr>
            <a:spLocks xmlns:a="http://schemas.openxmlformats.org/drawingml/2006/main" noGrp="1"/>
          </p:cNvSpPr>
          <p:nvPr/>
        </p:nvSpPr>
        <p:spPr>
          <a:xfrm xmlns:a="http://schemas.openxmlformats.org/drawingml/2006/main">
            <a:off x="762000" y="1143000"/>
            <a:ext cx="106680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450" b="1">
                <a:solidFill>
                  <a:srgbClr val="FFFFFF"/>
                </a:solidFill>
                <a:latin typeface="Outfit"/>
                <a:ea typeface="Outfit"/>
                <a:cs typeface="Outfit"/>
              </a:defRPr>
            </a:pPr>
            <a:r>
              <a:rPr sz="3450" b="1">
                <a:solidFill>
                  <a:srgbClr val="FFFFFF"/>
                </a:solidFill>
                <a:latin typeface="Outfit"/>
                <a:ea typeface="Outfit"/>
                <a:cs typeface="Outfit"/>
              </a:rPr>
              <a:t>Select one process before committing build budget.</a:t>
            </a:r>
          </a:p>
        </p:txBody>
      </p:sp>
      <p:sp>
        <p:nvSpPr>
          <p:cNvPr id="4" name="">
            <a:extLst xmlns:a="http://schemas.openxmlformats.org/drawingml/2006/main">
              <a:ext uri="{FF2B5EF4-FFF2-40B4-BE49-F238E27FC236}">
                <a16:creationId xmlns:a16="http://schemas.microsoft.com/office/drawing/2014/main" id="{FC9238D7-E528-4484-87B4-908BB03D4306}"/>
              </a:ext>
            </a:extLst>
          </p:cNvPr>
          <p:cNvSpPr>
            <a:spLocks xmlns:a="http://schemas.openxmlformats.org/drawingml/2006/main" noGrp="1"/>
          </p:cNvSpPr>
          <p:nvPr/>
        </p:nvSpPr>
        <p:spPr>
          <a:xfrm xmlns:a="http://schemas.openxmlformats.org/drawingml/2006/main">
            <a:off x="1809750" y="2714625"/>
            <a:ext cx="8572500" cy="1000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0">
                <a:solidFill>
                  <a:srgbClr val="DCE6EF"/>
                </a:solidFill>
                <a:latin typeface="Inter"/>
                <a:ea typeface="Inter"/>
                <a:cs typeface="Inter"/>
              </a:defRPr>
            </a:pPr>
            <a:r>
              <a:rPr sz="1575" b="0">
                <a:solidFill>
                  <a:srgbClr val="DCE6EF"/>
                </a:solidFill>
                <a:latin typeface="Inter"/>
                <a:ea typeface="Inter"/>
                <a:cs typeface="Inter"/>
              </a:rPr>
              <a:t>Bring a named process owner, a candidate process, available evidence, and known constraints. Leave with a reviewed Decision Pack, control requirements, and an explicit next-step disposition.</a:t>
            </a:r>
          </a:p>
        </p:txBody>
      </p:sp>
      <p:sp>
        <p:nvSpPr>
          <p:cNvPr id="5" name="">
            <a:extLst xmlns:a="http://schemas.openxmlformats.org/drawingml/2006/main">
              <a:ext uri="{FF2B5EF4-FFF2-40B4-BE49-F238E27FC236}">
                <a16:creationId xmlns:a16="http://schemas.microsoft.com/office/drawing/2014/main" id="{414735C9-7F13-4217-B2C1-CD49C072052E}"/>
              </a:ext>
            </a:extLst>
          </p:cNvPr>
          <p:cNvSpPr>
            <a:spLocks xmlns:a="http://schemas.openxmlformats.org/drawingml/2006/main" noGrp="1"/>
          </p:cNvSpPr>
          <p:nvPr/>
        </p:nvSpPr>
        <p:spPr>
          <a:xfrm xmlns:a="http://schemas.openxmlformats.org/drawingml/2006/main">
            <a:off x="2984500" y="4238625"/>
            <a:ext cx="381000" cy="381000"/>
          </a:xfrm>
          <a:prstGeom xmlns:a="http://schemas.openxmlformats.org/drawingml/2006/main" prst="ellipse">
            <a:avLst/>
          </a:prstGeom>
          <a:solidFill xmlns:a="http://schemas.openxmlformats.org/drawingml/2006/main">
            <a:srgbClr val="0C3B5B"/>
          </a:solidFill>
          <a:ln xmlns:a="http://schemas.openxmlformats.org/drawingml/2006/main" w="9525">
            <a:solidFill>
              <a:srgbClr val="FFBC03"/>
            </a:solidFill>
            <a:prstDash val="solid"/>
          </a:ln>
        </p:spPr>
      </p:sp>
      <p:sp>
        <p:nvSpPr>
          <p:cNvPr id="6" name="">
            <a:extLst xmlns:a="http://schemas.openxmlformats.org/drawingml/2006/main">
              <a:ext uri="{FF2B5EF4-FFF2-40B4-BE49-F238E27FC236}">
                <a16:creationId xmlns:a16="http://schemas.microsoft.com/office/drawing/2014/main" id="{0222A3EF-510D-4DB3-B90A-F93A2823E0A6}"/>
              </a:ext>
            </a:extLst>
          </p:cNvPr>
          <p:cNvSpPr>
            <a:spLocks xmlns:a="http://schemas.openxmlformats.org/drawingml/2006/main" noGrp="1"/>
          </p:cNvSpPr>
          <p:nvPr/>
        </p:nvSpPr>
        <p:spPr>
          <a:xfrm xmlns:a="http://schemas.openxmlformats.org/drawingml/2006/main">
            <a:off x="2984500" y="43243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Inter"/>
                <a:ea typeface="Inter"/>
                <a:cs typeface="Inter"/>
              </a:defRPr>
            </a:pPr>
            <a:r>
              <a:rPr sz="1125" b="1">
                <a:solidFill>
                  <a:srgbClr val="FFFFFF"/>
                </a:solidFill>
                <a:latin typeface="Inter"/>
                <a:ea typeface="Inter"/>
                <a:cs typeface="Inter"/>
              </a:rPr>
              <a:t>1</a:t>
            </a:r>
          </a:p>
        </p:txBody>
      </p:sp>
      <p:sp>
        <p:nvSpPr>
          <p:cNvPr id="7" name="">
            <a:extLst xmlns:a="http://schemas.openxmlformats.org/drawingml/2006/main">
              <a:ext uri="{FF2B5EF4-FFF2-40B4-BE49-F238E27FC236}">
                <a16:creationId xmlns:a16="http://schemas.microsoft.com/office/drawing/2014/main" id="{3BB6911A-7BFD-483C-B489-BF128B169192}"/>
              </a:ext>
            </a:extLst>
          </p:cNvPr>
          <p:cNvSpPr>
            <a:spLocks xmlns:a="http://schemas.openxmlformats.org/drawingml/2006/main" noGrp="1"/>
          </p:cNvSpPr>
          <p:nvPr/>
        </p:nvSpPr>
        <p:spPr>
          <a:xfrm xmlns:a="http://schemas.openxmlformats.org/drawingml/2006/main">
            <a:off x="1714500" y="4810125"/>
            <a:ext cx="2921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Run a governed assessment</a:t>
            </a:r>
          </a:p>
        </p:txBody>
      </p:sp>
      <p:sp>
        <p:nvSpPr>
          <p:cNvPr id="8" name="">
            <a:extLst xmlns:a="http://schemas.openxmlformats.org/drawingml/2006/main">
              <a:ext uri="{FF2B5EF4-FFF2-40B4-BE49-F238E27FC236}">
                <a16:creationId xmlns:a16="http://schemas.microsoft.com/office/drawing/2014/main" id="{1DF46C2C-7770-4E43-A8B7-12606B2181A8}"/>
              </a:ext>
            </a:extLst>
          </p:cNvPr>
          <p:cNvSpPr>
            <a:spLocks xmlns:a="http://schemas.openxmlformats.org/drawingml/2006/main" noGrp="1"/>
          </p:cNvSpPr>
          <p:nvPr/>
        </p:nvSpPr>
        <p:spPr>
          <a:xfrm xmlns:a="http://schemas.openxmlformats.org/drawingml/2006/main">
            <a:off x="5905500" y="4238625"/>
            <a:ext cx="381000" cy="381000"/>
          </a:xfrm>
          <a:prstGeom xmlns:a="http://schemas.openxmlformats.org/drawingml/2006/main" prst="ellipse">
            <a:avLst/>
          </a:prstGeom>
          <a:solidFill xmlns:a="http://schemas.openxmlformats.org/drawingml/2006/main">
            <a:srgbClr val="0C3B5B"/>
          </a:solidFill>
          <a:ln xmlns:a="http://schemas.openxmlformats.org/drawingml/2006/main" w="9525">
            <a:solidFill>
              <a:srgbClr val="FFBC03"/>
            </a:solidFill>
            <a:prstDash val="solid"/>
          </a:ln>
        </p:spPr>
      </p:sp>
      <p:sp>
        <p:nvSpPr>
          <p:cNvPr id="9" name="">
            <a:extLst xmlns:a="http://schemas.openxmlformats.org/drawingml/2006/main">
              <a:ext uri="{FF2B5EF4-FFF2-40B4-BE49-F238E27FC236}">
                <a16:creationId xmlns:a16="http://schemas.microsoft.com/office/drawing/2014/main" id="{D030B970-4D3C-4563-93CE-5FEBAE53E78D}"/>
              </a:ext>
            </a:extLst>
          </p:cNvPr>
          <p:cNvSpPr>
            <a:spLocks xmlns:a="http://schemas.openxmlformats.org/drawingml/2006/main" noGrp="1"/>
          </p:cNvSpPr>
          <p:nvPr/>
        </p:nvSpPr>
        <p:spPr>
          <a:xfrm xmlns:a="http://schemas.openxmlformats.org/drawingml/2006/main">
            <a:off x="5905500" y="43243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FFFFF"/>
                </a:solidFill>
                <a:latin typeface="Inter"/>
                <a:ea typeface="Inter"/>
                <a:cs typeface="Inter"/>
              </a:defRPr>
            </a:pPr>
            <a:r>
              <a:rPr sz="1125" b="1">
                <a:solidFill>
                  <a:srgbClr val="FFFFFF"/>
                </a:solidFill>
                <a:latin typeface="Inter"/>
                <a:ea typeface="Inter"/>
                <a:cs typeface="Inter"/>
              </a:rPr>
              <a:t>2</a:t>
            </a:r>
          </a:p>
        </p:txBody>
      </p:sp>
      <p:sp>
        <p:nvSpPr>
          <p:cNvPr id="10" name="">
            <a:extLst xmlns:a="http://schemas.openxmlformats.org/drawingml/2006/main">
              <a:ext uri="{FF2B5EF4-FFF2-40B4-BE49-F238E27FC236}">
                <a16:creationId xmlns:a16="http://schemas.microsoft.com/office/drawing/2014/main" id="{C639E1C3-2294-460C-99A8-C89D03F766B1}"/>
              </a:ext>
            </a:extLst>
          </p:cNvPr>
          <p:cNvSpPr>
            <a:spLocks xmlns:a="http://schemas.openxmlformats.org/drawingml/2006/main" noGrp="1"/>
          </p:cNvSpPr>
          <p:nvPr/>
        </p:nvSpPr>
        <p:spPr>
          <a:xfrm xmlns:a="http://schemas.openxmlformats.org/drawingml/2006/main">
            <a:off x="4635500" y="4810125"/>
            <a:ext cx="2921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Review the recommendation</a:t>
            </a:r>
          </a:p>
        </p:txBody>
      </p:sp>
      <p:sp>
        <p:nvSpPr>
          <p:cNvPr id="11" name="">
            <a:extLst xmlns:a="http://schemas.openxmlformats.org/drawingml/2006/main">
              <a:ext uri="{FF2B5EF4-FFF2-40B4-BE49-F238E27FC236}">
                <a16:creationId xmlns:a16="http://schemas.microsoft.com/office/drawing/2014/main" id="{9D133AB1-2B5A-4B60-882C-19E9BECE0F1E}"/>
              </a:ext>
            </a:extLst>
          </p:cNvPr>
          <p:cNvSpPr>
            <a:spLocks xmlns:a="http://schemas.openxmlformats.org/drawingml/2006/main" noGrp="1"/>
          </p:cNvSpPr>
          <p:nvPr/>
        </p:nvSpPr>
        <p:spPr>
          <a:xfrm xmlns:a="http://schemas.openxmlformats.org/drawingml/2006/main">
            <a:off x="8826500" y="4238625"/>
            <a:ext cx="381000" cy="381000"/>
          </a:xfrm>
          <a:prstGeom xmlns:a="http://schemas.openxmlformats.org/drawingml/2006/main" prst="ellipse">
            <a:avLst/>
          </a:prstGeom>
          <a:solidFill xmlns:a="http://schemas.openxmlformats.org/drawingml/2006/main">
            <a:srgbClr val="FFBC03"/>
          </a:solidFill>
          <a:ln xmlns:a="http://schemas.openxmlformats.org/drawingml/2006/main" w="9525">
            <a:solidFill>
              <a:srgbClr val="FFBC03"/>
            </a:solidFill>
            <a:prstDash val="solid"/>
          </a:ln>
        </p:spPr>
      </p:sp>
      <p:sp>
        <p:nvSpPr>
          <p:cNvPr id="12" name="">
            <a:extLst xmlns:a="http://schemas.openxmlformats.org/drawingml/2006/main">
              <a:ext uri="{FF2B5EF4-FFF2-40B4-BE49-F238E27FC236}">
                <a16:creationId xmlns:a16="http://schemas.microsoft.com/office/drawing/2014/main" id="{676FE0B7-E2F7-487A-AB34-0463AE67510B}"/>
              </a:ext>
            </a:extLst>
          </p:cNvPr>
          <p:cNvSpPr>
            <a:spLocks xmlns:a="http://schemas.openxmlformats.org/drawingml/2006/main" noGrp="1"/>
          </p:cNvSpPr>
          <p:nvPr/>
        </p:nvSpPr>
        <p:spPr>
          <a:xfrm xmlns:a="http://schemas.openxmlformats.org/drawingml/2006/main">
            <a:off x="8826500" y="43243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001B30"/>
                </a:solidFill>
                <a:latin typeface="Inter"/>
                <a:ea typeface="Inter"/>
                <a:cs typeface="Inter"/>
              </a:defRPr>
            </a:pPr>
            <a:r>
              <a:rPr sz="1125" b="1">
                <a:solidFill>
                  <a:srgbClr val="001B30"/>
                </a:solidFill>
                <a:latin typeface="Inter"/>
                <a:ea typeface="Inter"/>
                <a:cs typeface="Inter"/>
              </a:rPr>
              <a:t>3</a:t>
            </a:r>
          </a:p>
        </p:txBody>
      </p:sp>
      <p:sp>
        <p:nvSpPr>
          <p:cNvPr id="13" name="">
            <a:extLst xmlns:a="http://schemas.openxmlformats.org/drawingml/2006/main">
              <a:ext uri="{FF2B5EF4-FFF2-40B4-BE49-F238E27FC236}">
                <a16:creationId xmlns:a16="http://schemas.microsoft.com/office/drawing/2014/main" id="{4BFE697C-28AA-4905-A602-BA99E2CB7B44}"/>
              </a:ext>
            </a:extLst>
          </p:cNvPr>
          <p:cNvSpPr>
            <a:spLocks xmlns:a="http://schemas.openxmlformats.org/drawingml/2006/main" noGrp="1"/>
          </p:cNvSpPr>
          <p:nvPr/>
        </p:nvSpPr>
        <p:spPr>
          <a:xfrm xmlns:a="http://schemas.openxmlformats.org/drawingml/2006/main">
            <a:off x="7556500" y="4810125"/>
            <a:ext cx="2921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Then decide whether to build</a:t>
            </a:r>
          </a:p>
        </p:txBody>
      </p:sp>
      <p:sp>
        <p:nvSpPr>
          <p:cNvPr id="14" name="">
            <a:extLst xmlns:a="http://schemas.openxmlformats.org/drawingml/2006/main">
              <a:ext uri="{FF2B5EF4-FFF2-40B4-BE49-F238E27FC236}">
                <a16:creationId xmlns:a16="http://schemas.microsoft.com/office/drawing/2014/main" id="{2081F8EA-21EB-4AD3-9490-A4A056E72902}"/>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15" name="">
            <a:extLst xmlns:a="http://schemas.openxmlformats.org/drawingml/2006/main">
              <a:ext uri="{FF2B5EF4-FFF2-40B4-BE49-F238E27FC236}">
                <a16:creationId xmlns:a16="http://schemas.microsoft.com/office/drawing/2014/main" id="{10792B0A-B465-4F08-83BD-7B40FF50C37F}"/>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Success is a defensible decision, not a deployed automation.</a:t>
            </a:r>
          </a:p>
        </p:txBody>
      </p:sp>
      <p:sp>
        <p:nvSpPr>
          <p:cNvPr id="16" name="">
            <a:extLst xmlns:a="http://schemas.openxmlformats.org/drawingml/2006/main">
              <a:ext uri="{FF2B5EF4-FFF2-40B4-BE49-F238E27FC236}">
                <a16:creationId xmlns:a16="http://schemas.microsoft.com/office/drawing/2014/main" id="{F65A22ED-ACEB-4220-ACFB-A180C9617126}"/>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14</a:t>
            </a:r>
          </a:p>
        </p:txBody>
      </p:sp>
    </p:spTree>
    <p:extLst>
      <p:ext uri="{BB962C8B-B14F-4D97-AF65-F5344CB8AC3E}">
        <p14:creationId xmlns:p14="http://schemas.microsoft.com/office/powerpoint/2010/main" val="979366273"/>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D850DE7-7A40-49C0-9E94-9F9733986F0E}"/>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B914514-8F7D-4234-BFB7-206DB9646030}"/>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MODULAR INSERT • CONSULTING PARTNER</a:t>
            </a:r>
          </a:p>
        </p:txBody>
      </p:sp>
      <p:sp>
        <p:nvSpPr>
          <p:cNvPr id="3" name="">
            <a:extLst xmlns:a="http://schemas.openxmlformats.org/drawingml/2006/main">
              <a:ext uri="{FF2B5EF4-FFF2-40B4-BE49-F238E27FC236}">
                <a16:creationId xmlns:a16="http://schemas.microsoft.com/office/drawing/2014/main" id="{B0E865BA-31A5-4E50-82CB-862CFF7FC957}"/>
              </a:ext>
            </a:extLst>
          </p:cNvPr>
          <p:cNvSpPr>
            <a:spLocks xmlns:a="http://schemas.openxmlformats.org/drawingml/2006/main" noGrp="1"/>
          </p:cNvSpPr>
          <p:nvPr/>
        </p:nvSpPr>
        <p:spPr>
          <a:xfrm xmlns:a="http://schemas.openxmlformats.org/drawingml/2006/main">
            <a:off x="609600" y="638175"/>
            <a:ext cx="10477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Turn discovery into a repeatable, evidence-backed client method.</a:t>
            </a:r>
          </a:p>
        </p:txBody>
      </p:sp>
      <p:sp>
        <p:nvSpPr>
          <p:cNvPr id="4" name="">
            <a:extLst xmlns:a="http://schemas.openxmlformats.org/drawingml/2006/main">
              <a:ext uri="{FF2B5EF4-FFF2-40B4-BE49-F238E27FC236}">
                <a16:creationId xmlns:a16="http://schemas.microsoft.com/office/drawing/2014/main" id="{7C383862-DCA8-46CA-A814-B71FC9D000FF}"/>
              </a:ext>
            </a:extLst>
          </p:cNvPr>
          <p:cNvSpPr>
            <a:spLocks xmlns:a="http://schemas.openxmlformats.org/drawingml/2006/main" noGrp="1"/>
          </p:cNvSpPr>
          <p:nvPr/>
        </p:nvSpPr>
        <p:spPr>
          <a:xfrm xmlns:a="http://schemas.openxmlformats.org/drawingml/2006/main">
            <a:off x="609600" y="1619250"/>
            <a:ext cx="10972800" cy="4762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7F62138-4B5D-459A-9D39-C4F4484808E6}"/>
              </a:ext>
            </a:extLst>
          </p:cNvPr>
          <p:cNvSpPr>
            <a:spLocks xmlns:a="http://schemas.openxmlformats.org/drawingml/2006/main" noGrp="1"/>
          </p:cNvSpPr>
          <p:nvPr/>
        </p:nvSpPr>
        <p:spPr>
          <a:xfrm xmlns:a="http://schemas.openxmlformats.org/drawingml/2006/main">
            <a:off x="952500" y="21717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65E4F52-3A32-494F-BE2F-49CE5072D1E3}"/>
              </a:ext>
            </a:extLst>
          </p:cNvPr>
          <p:cNvSpPr>
            <a:spLocks xmlns:a="http://schemas.openxmlformats.org/drawingml/2006/main" noGrp="1"/>
          </p:cNvSpPr>
          <p:nvPr/>
        </p:nvSpPr>
        <p:spPr>
          <a:xfrm xmlns:a="http://schemas.openxmlformats.org/drawingml/2006/main">
            <a:off x="1181100" y="209550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Reusable assessment structure</a:t>
            </a:r>
          </a:p>
        </p:txBody>
      </p:sp>
      <p:sp>
        <p:nvSpPr>
          <p:cNvPr id="7" name="">
            <a:extLst xmlns:a="http://schemas.openxmlformats.org/drawingml/2006/main">
              <a:ext uri="{FF2B5EF4-FFF2-40B4-BE49-F238E27FC236}">
                <a16:creationId xmlns:a16="http://schemas.microsoft.com/office/drawing/2014/main" id="{6A0B7597-4AD8-4911-9D94-9C3748403D26}"/>
              </a:ext>
            </a:extLst>
          </p:cNvPr>
          <p:cNvSpPr>
            <a:spLocks xmlns:a="http://schemas.openxmlformats.org/drawingml/2006/main" noGrp="1"/>
          </p:cNvSpPr>
          <p:nvPr/>
        </p:nvSpPr>
        <p:spPr>
          <a:xfrm xmlns:a="http://schemas.openxmlformats.org/drawingml/2006/main">
            <a:off x="952500" y="27241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B0E305A-E969-47F9-BF7E-504CAC96AC50}"/>
              </a:ext>
            </a:extLst>
          </p:cNvPr>
          <p:cNvSpPr>
            <a:spLocks xmlns:a="http://schemas.openxmlformats.org/drawingml/2006/main" noGrp="1"/>
          </p:cNvSpPr>
          <p:nvPr/>
        </p:nvSpPr>
        <p:spPr>
          <a:xfrm xmlns:a="http://schemas.openxmlformats.org/drawingml/2006/main">
            <a:off x="1181100" y="264795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Client-specific evidence and Decision Pack</a:t>
            </a:r>
          </a:p>
        </p:txBody>
      </p:sp>
      <p:sp>
        <p:nvSpPr>
          <p:cNvPr id="9" name="">
            <a:extLst xmlns:a="http://schemas.openxmlformats.org/drawingml/2006/main">
              <a:ext uri="{FF2B5EF4-FFF2-40B4-BE49-F238E27FC236}">
                <a16:creationId xmlns:a16="http://schemas.microsoft.com/office/drawing/2014/main" id="{9C6EDBEC-B11E-42C9-86D7-A83ABA6D2B37}"/>
              </a:ext>
            </a:extLst>
          </p:cNvPr>
          <p:cNvSpPr>
            <a:spLocks xmlns:a="http://schemas.openxmlformats.org/drawingml/2006/main" noGrp="1"/>
          </p:cNvSpPr>
          <p:nvPr/>
        </p:nvSpPr>
        <p:spPr>
          <a:xfrm xmlns:a="http://schemas.openxmlformats.org/drawingml/2006/main">
            <a:off x="952500" y="32766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34B4C30-B8FD-4188-9F63-F95E7B9AAFFF}"/>
              </a:ext>
            </a:extLst>
          </p:cNvPr>
          <p:cNvSpPr>
            <a:spLocks xmlns:a="http://schemas.openxmlformats.org/drawingml/2006/main" noGrp="1"/>
          </p:cNvSpPr>
          <p:nvPr/>
        </p:nvSpPr>
        <p:spPr>
          <a:xfrm xmlns:a="http://schemas.openxmlformats.org/drawingml/2006/main">
            <a:off x="1181100" y="320040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Governed BRD/FRD/PDD package</a:t>
            </a:r>
          </a:p>
        </p:txBody>
      </p:sp>
      <p:sp>
        <p:nvSpPr>
          <p:cNvPr id="11" name="">
            <a:extLst xmlns:a="http://schemas.openxmlformats.org/drawingml/2006/main">
              <a:ext uri="{FF2B5EF4-FFF2-40B4-BE49-F238E27FC236}">
                <a16:creationId xmlns:a16="http://schemas.microsoft.com/office/drawing/2014/main" id="{93ABFFBC-A309-4E4D-8657-9AA037163DFB}"/>
              </a:ext>
            </a:extLst>
          </p:cNvPr>
          <p:cNvSpPr>
            <a:spLocks xmlns:a="http://schemas.openxmlformats.org/drawingml/2006/main" noGrp="1"/>
          </p:cNvSpPr>
          <p:nvPr/>
        </p:nvSpPr>
        <p:spPr>
          <a:xfrm xmlns:a="http://schemas.openxmlformats.org/drawingml/2006/main">
            <a:off x="952500" y="38290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FE66F7E-3DA5-4458-90B5-3D5113A93301}"/>
              </a:ext>
            </a:extLst>
          </p:cNvPr>
          <p:cNvSpPr>
            <a:spLocks xmlns:a="http://schemas.openxmlformats.org/drawingml/2006/main" noGrp="1"/>
          </p:cNvSpPr>
          <p:nvPr/>
        </p:nvSpPr>
        <p:spPr>
          <a:xfrm xmlns:a="http://schemas.openxmlformats.org/drawingml/2006/main">
            <a:off x="1181100" y="375285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Delivery-handoff preparation</a:t>
            </a:r>
          </a:p>
        </p:txBody>
      </p:sp>
      <p:sp>
        <p:nvSpPr>
          <p:cNvPr id="13" name="">
            <a:extLst xmlns:a="http://schemas.openxmlformats.org/drawingml/2006/main">
              <a:ext uri="{FF2B5EF4-FFF2-40B4-BE49-F238E27FC236}">
                <a16:creationId xmlns:a16="http://schemas.microsoft.com/office/drawing/2014/main" id="{241AD73D-66E1-4461-88FD-E1F97E85B396}"/>
              </a:ext>
            </a:extLst>
          </p:cNvPr>
          <p:cNvSpPr>
            <a:spLocks xmlns:a="http://schemas.openxmlformats.org/drawingml/2006/main" noGrp="1"/>
          </p:cNvSpPr>
          <p:nvPr/>
        </p:nvSpPr>
        <p:spPr>
          <a:xfrm xmlns:a="http://schemas.openxmlformats.org/drawingml/2006/main">
            <a:off x="952500" y="43815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E81C737-6D88-43CD-B5A9-81186D166A9B}"/>
              </a:ext>
            </a:extLst>
          </p:cNvPr>
          <p:cNvSpPr>
            <a:spLocks xmlns:a="http://schemas.openxmlformats.org/drawingml/2006/main" noGrp="1"/>
          </p:cNvSpPr>
          <p:nvPr/>
        </p:nvSpPr>
        <p:spPr>
          <a:xfrm xmlns:a="http://schemas.openxmlformats.org/drawingml/2006/main">
            <a:off x="1181100" y="430530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Repeatable review and control language</a:t>
            </a:r>
          </a:p>
        </p:txBody>
      </p:sp>
      <p:sp>
        <p:nvSpPr>
          <p:cNvPr id="15" name="">
            <a:extLst xmlns:a="http://schemas.openxmlformats.org/drawingml/2006/main">
              <a:ext uri="{FF2B5EF4-FFF2-40B4-BE49-F238E27FC236}">
                <a16:creationId xmlns:a16="http://schemas.microsoft.com/office/drawing/2014/main" id="{1CBA9EF5-831D-43C2-A69D-07769A4D7376}"/>
              </a:ext>
            </a:extLst>
          </p:cNvPr>
          <p:cNvSpPr>
            <a:spLocks xmlns:a="http://schemas.openxmlformats.org/drawingml/2006/main" noGrp="1"/>
          </p:cNvSpPr>
          <p:nvPr/>
        </p:nvSpPr>
        <p:spPr>
          <a:xfrm xmlns:a="http://schemas.openxmlformats.org/drawingml/2006/main">
            <a:off x="7810500" y="2333625"/>
            <a:ext cx="2857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C45500"/>
                </a:solidFill>
                <a:latin typeface="Inter"/>
                <a:ea typeface="Inter"/>
                <a:cs typeface="Inter"/>
              </a:defRPr>
            </a:pPr>
            <a:r>
              <a:rPr sz="1200" b="1">
                <a:solidFill>
                  <a:srgbClr val="C45500"/>
                </a:solidFill>
                <a:latin typeface="Inter"/>
                <a:ea typeface="Inter"/>
                <a:cs typeface="Inter"/>
              </a:rPr>
              <a:t>DECISION CONTRACT</a:t>
            </a:r>
          </a:p>
        </p:txBody>
      </p:sp>
      <p:sp>
        <p:nvSpPr>
          <p:cNvPr id="16" name="">
            <a:extLst xmlns:a="http://schemas.openxmlformats.org/drawingml/2006/main">
              <a:ext uri="{FF2B5EF4-FFF2-40B4-BE49-F238E27FC236}">
                <a16:creationId xmlns:a16="http://schemas.microsoft.com/office/drawing/2014/main" id="{4D95D495-C485-49AF-BD8A-5D309CE0F62E}"/>
              </a:ext>
            </a:extLst>
          </p:cNvPr>
          <p:cNvSpPr>
            <a:spLocks xmlns:a="http://schemas.openxmlformats.org/drawingml/2006/main" noGrp="1"/>
          </p:cNvSpPr>
          <p:nvPr/>
        </p:nvSpPr>
        <p:spPr>
          <a:xfrm xmlns:a="http://schemas.openxmlformats.org/drawingml/2006/main">
            <a:off x="8524875" y="3000375"/>
            <a:ext cx="1428750" cy="1428750"/>
          </a:xfrm>
          <a:prstGeom xmlns:a="http://schemas.openxmlformats.org/drawingml/2006/main" prst="ellipse">
            <a:avLst/>
          </a:prstGeom>
          <a:solidFill xmlns:a="http://schemas.openxmlformats.org/drawingml/2006/main">
            <a:srgbClr val="001B30"/>
          </a:solidFill>
          <a:ln xmlns:a="http://schemas.openxmlformats.org/drawingml/2006/main" w="47625">
            <a:solidFill>
              <a:srgbClr val="FFBC03"/>
            </a:solidFill>
            <a:prstDash val="solid"/>
          </a:ln>
        </p:spPr>
      </p:sp>
      <p:sp>
        <p:nvSpPr>
          <p:cNvPr id="17" name="">
            <a:extLst xmlns:a="http://schemas.openxmlformats.org/drawingml/2006/main">
              <a:ext uri="{FF2B5EF4-FFF2-40B4-BE49-F238E27FC236}">
                <a16:creationId xmlns:a16="http://schemas.microsoft.com/office/drawing/2014/main" id="{05A0C77A-1A74-448D-B2C7-5BAB470F794E}"/>
              </a:ext>
            </a:extLst>
          </p:cNvPr>
          <p:cNvSpPr>
            <a:spLocks xmlns:a="http://schemas.openxmlformats.org/drawingml/2006/main" noGrp="1"/>
          </p:cNvSpPr>
          <p:nvPr/>
        </p:nvSpPr>
        <p:spPr>
          <a:xfrm xmlns:a="http://schemas.openxmlformats.org/drawingml/2006/main">
            <a:off x="8620125" y="3286125"/>
            <a:ext cx="12382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Inter"/>
                <a:ea typeface="Inter"/>
                <a:cs typeface="Inter"/>
              </a:defRPr>
            </a:pPr>
            <a:r>
              <a:rPr sz="1500" b="1">
                <a:solidFill>
                  <a:srgbClr val="FFFFFF"/>
                </a:solidFill>
                <a:latin typeface="Inter"/>
                <a:ea typeface="Inter"/>
                <a:cs typeface="Inter"/>
              </a:rPr>
              <a:t>Evidence</a:t>
            </a:r>
          </a:p>
          <a:p xmlns:a="http://schemas.openxmlformats.org/drawingml/2006/main">
            <a:pPr algn="ctr">
              <a:defRPr sz="1500" b="1">
                <a:solidFill>
                  <a:srgbClr val="FFFFFF"/>
                </a:solidFill>
                <a:latin typeface="Inter"/>
                <a:ea typeface="Inter"/>
                <a:cs typeface="Inter"/>
              </a:defRPr>
            </a:pPr>
            <a:r>
              <a:rPr sz="1500" b="1">
                <a:solidFill>
                  <a:srgbClr val="FFFFFF"/>
                </a:solidFill>
                <a:latin typeface="Inter"/>
                <a:ea typeface="Inter"/>
                <a:cs typeface="Inter"/>
              </a:rPr>
              <a:t>+</a:t>
            </a:r>
          </a:p>
          <a:p xmlns:a="http://schemas.openxmlformats.org/drawingml/2006/main">
            <a:pPr algn="ctr">
              <a:defRPr sz="1500" b="1">
                <a:solidFill>
                  <a:srgbClr val="FFFFFF"/>
                </a:solidFill>
                <a:latin typeface="Inter"/>
                <a:ea typeface="Inter"/>
                <a:cs typeface="Inter"/>
              </a:defRPr>
            </a:pPr>
            <a:r>
              <a:rPr sz="1500" b="1">
                <a:solidFill>
                  <a:srgbClr val="FFFFFF"/>
                </a:solidFill>
                <a:latin typeface="Inter"/>
                <a:ea typeface="Inter"/>
                <a:cs typeface="Inter"/>
              </a:rPr>
              <a:t>Authority</a:t>
            </a:r>
          </a:p>
        </p:txBody>
      </p:sp>
      <p:sp>
        <p:nvSpPr>
          <p:cNvPr id="18" name="">
            <a:extLst xmlns:a="http://schemas.openxmlformats.org/drawingml/2006/main">
              <a:ext uri="{FF2B5EF4-FFF2-40B4-BE49-F238E27FC236}">
                <a16:creationId xmlns:a16="http://schemas.microsoft.com/office/drawing/2014/main" id="{2C79A165-1524-40AB-8943-B565DE5D8A3E}"/>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19" name="">
            <a:extLst xmlns:a="http://schemas.openxmlformats.org/drawingml/2006/main">
              <a:ext uri="{FF2B5EF4-FFF2-40B4-BE49-F238E27FC236}">
                <a16:creationId xmlns:a16="http://schemas.microsoft.com/office/drawing/2014/main" id="{D6FF2453-6076-40C4-8D56-2769700072D7}"/>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Proposed partner operating model; no current white-label, reseller, or client-branding claim.</a:t>
            </a:r>
          </a:p>
        </p:txBody>
      </p:sp>
      <p:sp>
        <p:nvSpPr>
          <p:cNvPr id="20" name="">
            <a:extLst xmlns:a="http://schemas.openxmlformats.org/drawingml/2006/main">
              <a:ext uri="{FF2B5EF4-FFF2-40B4-BE49-F238E27FC236}">
                <a16:creationId xmlns:a16="http://schemas.microsoft.com/office/drawing/2014/main" id="{5337084C-CDAE-4669-B9CB-9093896212CB}"/>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15</a:t>
            </a:r>
          </a:p>
        </p:txBody>
      </p:sp>
    </p:spTree>
    <p:extLst>
      <p:ext uri="{BB962C8B-B14F-4D97-AF65-F5344CB8AC3E}">
        <p14:creationId xmlns:p14="http://schemas.microsoft.com/office/powerpoint/2010/main" val="1319342461"/>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F54473EB-80FE-4636-A6B0-DB6D3C93E405}"/>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4E518E6-DB63-4966-A4A1-1DF4B8DA6E13}"/>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MODULAR INSERT • CONSULTING PARTNER</a:t>
            </a:r>
          </a:p>
        </p:txBody>
      </p:sp>
      <p:sp>
        <p:nvSpPr>
          <p:cNvPr id="3" name="">
            <a:extLst xmlns:a="http://schemas.openxmlformats.org/drawingml/2006/main">
              <a:ext uri="{FF2B5EF4-FFF2-40B4-BE49-F238E27FC236}">
                <a16:creationId xmlns:a16="http://schemas.microsoft.com/office/drawing/2014/main" id="{6B55928B-EBF5-4556-8D01-8BC7B1EC687B}"/>
              </a:ext>
            </a:extLst>
          </p:cNvPr>
          <p:cNvSpPr>
            <a:spLocks xmlns:a="http://schemas.openxmlformats.org/drawingml/2006/main" noGrp="1"/>
          </p:cNvSpPr>
          <p:nvPr/>
        </p:nvSpPr>
        <p:spPr>
          <a:xfrm xmlns:a="http://schemas.openxmlformats.org/drawingml/2006/main">
            <a:off x="609600" y="647700"/>
            <a:ext cx="10287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Define the partner model before making a commercial promise.</a:t>
            </a:r>
          </a:p>
        </p:txBody>
      </p:sp>
      <p:sp>
        <p:nvSpPr>
          <p:cNvPr id="4" name="">
            <a:extLst xmlns:a="http://schemas.openxmlformats.org/drawingml/2006/main">
              <a:ext uri="{FF2B5EF4-FFF2-40B4-BE49-F238E27FC236}">
                <a16:creationId xmlns:a16="http://schemas.microsoft.com/office/drawing/2014/main" id="{1C3B4E09-BBE6-4590-B0EC-C9B506C3126D}"/>
              </a:ext>
            </a:extLst>
          </p:cNvPr>
          <p:cNvSpPr>
            <a:spLocks xmlns:a="http://schemas.openxmlformats.org/drawingml/2006/main" noGrp="1"/>
          </p:cNvSpPr>
          <p:nvPr/>
        </p:nvSpPr>
        <p:spPr>
          <a:xfrm xmlns:a="http://schemas.openxmlformats.org/drawingml/2006/main">
            <a:off x="609600" y="1571625"/>
            <a:ext cx="5143500" cy="4429125"/>
          </a:xfrm>
          <a:prstGeom xmlns:a="http://schemas.openxmlformats.org/drawingml/2006/main" prst="roundRect">
            <a:avLst>
              <a:gd name="adj" fmla="val 1720"/>
            </a:avLst>
          </a:prstGeom>
          <a:solidFill xmlns:a="http://schemas.openxmlformats.org/drawingml/2006/main">
            <a:srgbClr val="FFFFFF"/>
          </a:solidFill>
          <a:ln xmlns:a="http://schemas.openxmlformats.org/drawingml/2006/main" w="9525">
            <a:solidFill>
              <a:srgbClr val="D7E0E8"/>
            </a:solidFill>
            <a:prstDash val="solid"/>
          </a:ln>
        </p:spPr>
      </p:sp>
      <p:sp>
        <p:nvSpPr>
          <p:cNvPr id="5" name="">
            <a:extLst xmlns:a="http://schemas.openxmlformats.org/drawingml/2006/main">
              <a:ext uri="{FF2B5EF4-FFF2-40B4-BE49-F238E27FC236}">
                <a16:creationId xmlns:a16="http://schemas.microsoft.com/office/drawing/2014/main" id="{4813B181-BDB4-48F7-8FB0-3D06C38DBAE5}"/>
              </a:ext>
            </a:extLst>
          </p:cNvPr>
          <p:cNvSpPr>
            <a:spLocks xmlns:a="http://schemas.openxmlformats.org/drawingml/2006/main" noGrp="1"/>
          </p:cNvSpPr>
          <p:nvPr/>
        </p:nvSpPr>
        <p:spPr>
          <a:xfrm xmlns:a="http://schemas.openxmlformats.org/drawingml/2006/main">
            <a:off x="6438900" y="1571625"/>
            <a:ext cx="5143500" cy="4429125"/>
          </a:xfrm>
          <a:prstGeom xmlns:a="http://schemas.openxmlformats.org/drawingml/2006/main" prst="roundRect">
            <a:avLst>
              <a:gd name="adj" fmla="val 1720"/>
            </a:avLst>
          </a:prstGeom>
          <a:solidFill xmlns:a="http://schemas.openxmlformats.org/drawingml/2006/main">
            <a:srgbClr val="FFFFFF"/>
          </a:solidFill>
          <a:ln xmlns:a="http://schemas.openxmlformats.org/drawingml/2006/main" w="9525">
            <a:solidFill>
              <a:srgbClr val="D7E0E8"/>
            </a:solidFill>
            <a:prstDash val="solid"/>
          </a:ln>
        </p:spPr>
      </p:sp>
      <p:sp>
        <p:nvSpPr>
          <p:cNvPr id="6" name="">
            <a:extLst xmlns:a="http://schemas.openxmlformats.org/drawingml/2006/main">
              <a:ext uri="{FF2B5EF4-FFF2-40B4-BE49-F238E27FC236}">
                <a16:creationId xmlns:a16="http://schemas.microsoft.com/office/drawing/2014/main" id="{E9CB47FD-B13C-44DF-9F5C-2CAD20914014}"/>
              </a:ext>
            </a:extLst>
          </p:cNvPr>
          <p:cNvSpPr>
            <a:spLocks xmlns:a="http://schemas.openxmlformats.org/drawingml/2006/main" noGrp="1"/>
          </p:cNvSpPr>
          <p:nvPr/>
        </p:nvSpPr>
        <p:spPr>
          <a:xfrm xmlns:a="http://schemas.openxmlformats.org/drawingml/2006/main">
            <a:off x="876300" y="1752600"/>
            <a:ext cx="4762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C45500"/>
                </a:solidFill>
                <a:latin typeface="Outfit"/>
                <a:ea typeface="Outfit"/>
                <a:cs typeface="Outfit"/>
              </a:defRPr>
            </a:pPr>
            <a:r>
              <a:rPr sz="1800" b="1">
                <a:solidFill>
                  <a:srgbClr val="C45500"/>
                </a:solidFill>
                <a:latin typeface="Outfit"/>
                <a:ea typeface="Outfit"/>
                <a:cs typeface="Outfit"/>
              </a:rPr>
              <a:t>Partner</a:t>
            </a:r>
          </a:p>
        </p:txBody>
      </p:sp>
      <p:sp>
        <p:nvSpPr>
          <p:cNvPr id="7" name="">
            <a:extLst xmlns:a="http://schemas.openxmlformats.org/drawingml/2006/main">
              <a:ext uri="{FF2B5EF4-FFF2-40B4-BE49-F238E27FC236}">
                <a16:creationId xmlns:a16="http://schemas.microsoft.com/office/drawing/2014/main" id="{37CDE377-2F94-4CD2-9823-860033371887}"/>
              </a:ext>
            </a:extLst>
          </p:cNvPr>
          <p:cNvSpPr>
            <a:spLocks xmlns:a="http://schemas.openxmlformats.org/drawingml/2006/main" noGrp="1"/>
          </p:cNvSpPr>
          <p:nvPr/>
        </p:nvSpPr>
        <p:spPr>
          <a:xfrm xmlns:a="http://schemas.openxmlformats.org/drawingml/2006/main">
            <a:off x="876300" y="24955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C83198F-52B6-4538-9EC0-DACE20CBB6F7}"/>
              </a:ext>
            </a:extLst>
          </p:cNvPr>
          <p:cNvSpPr>
            <a:spLocks xmlns:a="http://schemas.openxmlformats.org/drawingml/2006/main" noGrp="1"/>
          </p:cNvSpPr>
          <p:nvPr/>
        </p:nvSpPr>
        <p:spPr>
          <a:xfrm xmlns:a="http://schemas.openxmlformats.org/drawingml/2006/main">
            <a:off x="1143000" y="24384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Client relationship</a:t>
            </a:r>
          </a:p>
        </p:txBody>
      </p:sp>
      <p:sp>
        <p:nvSpPr>
          <p:cNvPr id="9" name="">
            <a:extLst xmlns:a="http://schemas.openxmlformats.org/drawingml/2006/main">
              <a:ext uri="{FF2B5EF4-FFF2-40B4-BE49-F238E27FC236}">
                <a16:creationId xmlns:a16="http://schemas.microsoft.com/office/drawing/2014/main" id="{CEC7C981-219A-4902-A9BD-19FC1C9C19B5}"/>
              </a:ext>
            </a:extLst>
          </p:cNvPr>
          <p:cNvSpPr>
            <a:spLocks xmlns:a="http://schemas.openxmlformats.org/drawingml/2006/main" noGrp="1"/>
          </p:cNvSpPr>
          <p:nvPr/>
        </p:nvSpPr>
        <p:spPr>
          <a:xfrm xmlns:a="http://schemas.openxmlformats.org/drawingml/2006/main">
            <a:off x="923925" y="26860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A6D673B-738F-4E6B-BDD1-87336E5C7A99}"/>
              </a:ext>
            </a:extLst>
          </p:cNvPr>
          <p:cNvSpPr>
            <a:spLocks xmlns:a="http://schemas.openxmlformats.org/drawingml/2006/main" noGrp="1"/>
          </p:cNvSpPr>
          <p:nvPr/>
        </p:nvSpPr>
        <p:spPr>
          <a:xfrm xmlns:a="http://schemas.openxmlformats.org/drawingml/2006/main">
            <a:off x="876300" y="29527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BB120D25-E2F0-4FEE-B800-DF3CC7E0BF7B}"/>
              </a:ext>
            </a:extLst>
          </p:cNvPr>
          <p:cNvSpPr>
            <a:spLocks xmlns:a="http://schemas.openxmlformats.org/drawingml/2006/main" noGrp="1"/>
          </p:cNvSpPr>
          <p:nvPr/>
        </p:nvSpPr>
        <p:spPr>
          <a:xfrm xmlns:a="http://schemas.openxmlformats.org/drawingml/2006/main">
            <a:off x="1143000" y="28956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Discovery</a:t>
            </a:r>
          </a:p>
        </p:txBody>
      </p:sp>
      <p:sp>
        <p:nvSpPr>
          <p:cNvPr id="12" name="">
            <a:extLst xmlns:a="http://schemas.openxmlformats.org/drawingml/2006/main">
              <a:ext uri="{FF2B5EF4-FFF2-40B4-BE49-F238E27FC236}">
                <a16:creationId xmlns:a16="http://schemas.microsoft.com/office/drawing/2014/main" id="{43A80ACE-F7C0-4B64-AB1D-436775943287}"/>
              </a:ext>
            </a:extLst>
          </p:cNvPr>
          <p:cNvSpPr>
            <a:spLocks xmlns:a="http://schemas.openxmlformats.org/drawingml/2006/main" noGrp="1"/>
          </p:cNvSpPr>
          <p:nvPr/>
        </p:nvSpPr>
        <p:spPr>
          <a:xfrm xmlns:a="http://schemas.openxmlformats.org/drawingml/2006/main">
            <a:off x="923925" y="31432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65F58ACB-3F77-48D6-882D-DD09679456CC}"/>
              </a:ext>
            </a:extLst>
          </p:cNvPr>
          <p:cNvSpPr>
            <a:spLocks xmlns:a="http://schemas.openxmlformats.org/drawingml/2006/main" noGrp="1"/>
          </p:cNvSpPr>
          <p:nvPr/>
        </p:nvSpPr>
        <p:spPr>
          <a:xfrm xmlns:a="http://schemas.openxmlformats.org/drawingml/2006/main">
            <a:off x="876300" y="34099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2161407-A2A3-4C07-BE79-91561DA59C4D}"/>
              </a:ext>
            </a:extLst>
          </p:cNvPr>
          <p:cNvSpPr>
            <a:spLocks xmlns:a="http://schemas.openxmlformats.org/drawingml/2006/main" noGrp="1"/>
          </p:cNvSpPr>
          <p:nvPr/>
        </p:nvSpPr>
        <p:spPr>
          <a:xfrm xmlns:a="http://schemas.openxmlformats.org/drawingml/2006/main">
            <a:off x="1143000" y="33528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Implementation</a:t>
            </a:r>
          </a:p>
        </p:txBody>
      </p:sp>
      <p:sp>
        <p:nvSpPr>
          <p:cNvPr id="15" name="">
            <a:extLst xmlns:a="http://schemas.openxmlformats.org/drawingml/2006/main">
              <a:ext uri="{FF2B5EF4-FFF2-40B4-BE49-F238E27FC236}">
                <a16:creationId xmlns:a16="http://schemas.microsoft.com/office/drawing/2014/main" id="{D22222EC-1C12-44C5-9E22-8AAF2BF0E4B3}"/>
              </a:ext>
            </a:extLst>
          </p:cNvPr>
          <p:cNvSpPr>
            <a:spLocks xmlns:a="http://schemas.openxmlformats.org/drawingml/2006/main" noGrp="1"/>
          </p:cNvSpPr>
          <p:nvPr/>
        </p:nvSpPr>
        <p:spPr>
          <a:xfrm xmlns:a="http://schemas.openxmlformats.org/drawingml/2006/main">
            <a:off x="923925" y="36004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449C4A2-ED4F-4037-8208-939F6AE4EE17}"/>
              </a:ext>
            </a:extLst>
          </p:cNvPr>
          <p:cNvSpPr>
            <a:spLocks xmlns:a="http://schemas.openxmlformats.org/drawingml/2006/main" noGrp="1"/>
          </p:cNvSpPr>
          <p:nvPr/>
        </p:nvSpPr>
        <p:spPr>
          <a:xfrm xmlns:a="http://schemas.openxmlformats.org/drawingml/2006/main">
            <a:off x="876300" y="38671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1F479A6E-4C54-43A9-AACD-397723877C5B}"/>
              </a:ext>
            </a:extLst>
          </p:cNvPr>
          <p:cNvSpPr>
            <a:spLocks xmlns:a="http://schemas.openxmlformats.org/drawingml/2006/main" noGrp="1"/>
          </p:cNvSpPr>
          <p:nvPr/>
        </p:nvSpPr>
        <p:spPr>
          <a:xfrm xmlns:a="http://schemas.openxmlformats.org/drawingml/2006/main">
            <a:off x="1143000" y="38100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Enablement</a:t>
            </a:r>
          </a:p>
        </p:txBody>
      </p:sp>
      <p:sp>
        <p:nvSpPr>
          <p:cNvPr id="18" name="">
            <a:extLst xmlns:a="http://schemas.openxmlformats.org/drawingml/2006/main">
              <a:ext uri="{FF2B5EF4-FFF2-40B4-BE49-F238E27FC236}">
                <a16:creationId xmlns:a16="http://schemas.microsoft.com/office/drawing/2014/main" id="{62CD22A9-4E39-442C-A73F-4F612E7A37C6}"/>
              </a:ext>
            </a:extLst>
          </p:cNvPr>
          <p:cNvSpPr>
            <a:spLocks xmlns:a="http://schemas.openxmlformats.org/drawingml/2006/main" noGrp="1"/>
          </p:cNvSpPr>
          <p:nvPr/>
        </p:nvSpPr>
        <p:spPr>
          <a:xfrm xmlns:a="http://schemas.openxmlformats.org/drawingml/2006/main">
            <a:off x="923925" y="40576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3B119E1F-70C4-4A68-8C81-D0DC8A754569}"/>
              </a:ext>
            </a:extLst>
          </p:cNvPr>
          <p:cNvSpPr>
            <a:spLocks xmlns:a="http://schemas.openxmlformats.org/drawingml/2006/main" noGrp="1"/>
          </p:cNvSpPr>
          <p:nvPr/>
        </p:nvSpPr>
        <p:spPr>
          <a:xfrm xmlns:a="http://schemas.openxmlformats.org/drawingml/2006/main">
            <a:off x="876300" y="43243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E1B32ABA-6F02-4114-A1EC-2E39C2C7941B}"/>
              </a:ext>
            </a:extLst>
          </p:cNvPr>
          <p:cNvSpPr>
            <a:spLocks xmlns:a="http://schemas.openxmlformats.org/drawingml/2006/main" noGrp="1"/>
          </p:cNvSpPr>
          <p:nvPr/>
        </p:nvSpPr>
        <p:spPr>
          <a:xfrm xmlns:a="http://schemas.openxmlformats.org/drawingml/2006/main">
            <a:off x="1143000" y="42672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Approved customisation</a:t>
            </a:r>
          </a:p>
        </p:txBody>
      </p:sp>
      <p:sp>
        <p:nvSpPr>
          <p:cNvPr id="21" name="">
            <a:extLst xmlns:a="http://schemas.openxmlformats.org/drawingml/2006/main">
              <a:ext uri="{FF2B5EF4-FFF2-40B4-BE49-F238E27FC236}">
                <a16:creationId xmlns:a16="http://schemas.microsoft.com/office/drawing/2014/main" id="{1D009338-CE97-4393-853E-024A474CF5A7}"/>
              </a:ext>
            </a:extLst>
          </p:cNvPr>
          <p:cNvSpPr>
            <a:spLocks xmlns:a="http://schemas.openxmlformats.org/drawingml/2006/main" noGrp="1"/>
          </p:cNvSpPr>
          <p:nvPr/>
        </p:nvSpPr>
        <p:spPr>
          <a:xfrm xmlns:a="http://schemas.openxmlformats.org/drawingml/2006/main">
            <a:off x="6705600" y="1752600"/>
            <a:ext cx="4762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1B30"/>
                </a:solidFill>
                <a:latin typeface="Outfit"/>
                <a:ea typeface="Outfit"/>
                <a:cs typeface="Outfit"/>
              </a:defRPr>
            </a:pPr>
            <a:r>
              <a:rPr sz="1800" b="1">
                <a:solidFill>
                  <a:srgbClr val="001B30"/>
                </a:solidFill>
                <a:latin typeface="Outfit"/>
                <a:ea typeface="Outfit"/>
                <a:cs typeface="Outfit"/>
              </a:rPr>
              <a:t>AvalaOS + joint boundary</a:t>
            </a:r>
          </a:p>
        </p:txBody>
      </p:sp>
      <p:sp>
        <p:nvSpPr>
          <p:cNvPr id="22" name="">
            <a:extLst xmlns:a="http://schemas.openxmlformats.org/drawingml/2006/main">
              <a:ext uri="{FF2B5EF4-FFF2-40B4-BE49-F238E27FC236}">
                <a16:creationId xmlns:a16="http://schemas.microsoft.com/office/drawing/2014/main" id="{DF4C1A81-C9DD-4C2A-9557-3F8E516BAAF8}"/>
              </a:ext>
            </a:extLst>
          </p:cNvPr>
          <p:cNvSpPr>
            <a:spLocks xmlns:a="http://schemas.openxmlformats.org/drawingml/2006/main" noGrp="1"/>
          </p:cNvSpPr>
          <p:nvPr/>
        </p:nvSpPr>
        <p:spPr>
          <a:xfrm xmlns:a="http://schemas.openxmlformats.org/drawingml/2006/main">
            <a:off x="6705600" y="24955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9EBF7D33-DFE6-4FFB-B764-10EF384FF074}"/>
              </a:ext>
            </a:extLst>
          </p:cNvPr>
          <p:cNvSpPr>
            <a:spLocks xmlns:a="http://schemas.openxmlformats.org/drawingml/2006/main" noGrp="1"/>
          </p:cNvSpPr>
          <p:nvPr/>
        </p:nvSpPr>
        <p:spPr>
          <a:xfrm xmlns:a="http://schemas.openxmlformats.org/drawingml/2006/main">
            <a:off x="6972300" y="24384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Platform IP</a:t>
            </a:r>
          </a:p>
        </p:txBody>
      </p:sp>
      <p:sp>
        <p:nvSpPr>
          <p:cNvPr id="24" name="">
            <a:extLst xmlns:a="http://schemas.openxmlformats.org/drawingml/2006/main">
              <a:ext uri="{FF2B5EF4-FFF2-40B4-BE49-F238E27FC236}">
                <a16:creationId xmlns:a16="http://schemas.microsoft.com/office/drawing/2014/main" id="{0F6DCB47-A65F-43A7-AA27-BAF8BB469F36}"/>
              </a:ext>
            </a:extLst>
          </p:cNvPr>
          <p:cNvSpPr>
            <a:spLocks xmlns:a="http://schemas.openxmlformats.org/drawingml/2006/main" noGrp="1"/>
          </p:cNvSpPr>
          <p:nvPr/>
        </p:nvSpPr>
        <p:spPr>
          <a:xfrm xmlns:a="http://schemas.openxmlformats.org/drawingml/2006/main">
            <a:off x="6753225" y="2686050"/>
            <a:ext cx="19050" cy="228600"/>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0B0CDF0A-A505-4724-8903-F347D97C8978}"/>
              </a:ext>
            </a:extLst>
          </p:cNvPr>
          <p:cNvSpPr>
            <a:spLocks xmlns:a="http://schemas.openxmlformats.org/drawingml/2006/main" noGrp="1"/>
          </p:cNvSpPr>
          <p:nvPr/>
        </p:nvSpPr>
        <p:spPr>
          <a:xfrm xmlns:a="http://schemas.openxmlformats.org/drawingml/2006/main">
            <a:off x="6705600" y="29527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054B8F01-11D7-4191-94D4-50A7B963EBD6}"/>
              </a:ext>
            </a:extLst>
          </p:cNvPr>
          <p:cNvSpPr>
            <a:spLocks xmlns:a="http://schemas.openxmlformats.org/drawingml/2006/main" noGrp="1"/>
          </p:cNvSpPr>
          <p:nvPr/>
        </p:nvSpPr>
        <p:spPr>
          <a:xfrm xmlns:a="http://schemas.openxmlformats.org/drawingml/2006/main">
            <a:off x="6972300" y="28956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Decision law</a:t>
            </a:r>
          </a:p>
        </p:txBody>
      </p:sp>
      <p:sp>
        <p:nvSpPr>
          <p:cNvPr id="27" name="">
            <a:extLst xmlns:a="http://schemas.openxmlformats.org/drawingml/2006/main">
              <a:ext uri="{FF2B5EF4-FFF2-40B4-BE49-F238E27FC236}">
                <a16:creationId xmlns:a16="http://schemas.microsoft.com/office/drawing/2014/main" id="{4F18045E-A702-4673-B86A-F2522A5C194C}"/>
              </a:ext>
            </a:extLst>
          </p:cNvPr>
          <p:cNvSpPr>
            <a:spLocks xmlns:a="http://schemas.openxmlformats.org/drawingml/2006/main" noGrp="1"/>
          </p:cNvSpPr>
          <p:nvPr/>
        </p:nvSpPr>
        <p:spPr>
          <a:xfrm xmlns:a="http://schemas.openxmlformats.org/drawingml/2006/main">
            <a:off x="6753225" y="3143250"/>
            <a:ext cx="19050" cy="228600"/>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4385369-57AB-41C5-B74C-A8D112C91ED1}"/>
              </a:ext>
            </a:extLst>
          </p:cNvPr>
          <p:cNvSpPr>
            <a:spLocks xmlns:a="http://schemas.openxmlformats.org/drawingml/2006/main" noGrp="1"/>
          </p:cNvSpPr>
          <p:nvPr/>
        </p:nvSpPr>
        <p:spPr>
          <a:xfrm xmlns:a="http://schemas.openxmlformats.org/drawingml/2006/main">
            <a:off x="6705600" y="34099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6A8902BD-AAD9-45F1-8BA9-C789CFF5BB47}"/>
              </a:ext>
            </a:extLst>
          </p:cNvPr>
          <p:cNvSpPr>
            <a:spLocks xmlns:a="http://schemas.openxmlformats.org/drawingml/2006/main" noGrp="1"/>
          </p:cNvSpPr>
          <p:nvPr/>
        </p:nvSpPr>
        <p:spPr>
          <a:xfrm xmlns:a="http://schemas.openxmlformats.org/drawingml/2006/main">
            <a:off x="6972300" y="33528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Product releases</a:t>
            </a:r>
          </a:p>
        </p:txBody>
      </p:sp>
      <p:sp>
        <p:nvSpPr>
          <p:cNvPr id="30" name="">
            <a:extLst xmlns:a="http://schemas.openxmlformats.org/drawingml/2006/main">
              <a:ext uri="{FF2B5EF4-FFF2-40B4-BE49-F238E27FC236}">
                <a16:creationId xmlns:a16="http://schemas.microsoft.com/office/drawing/2014/main" id="{36F81308-E7EF-447D-9343-F13BBD4D4E96}"/>
              </a:ext>
            </a:extLst>
          </p:cNvPr>
          <p:cNvSpPr>
            <a:spLocks xmlns:a="http://schemas.openxmlformats.org/drawingml/2006/main" noGrp="1"/>
          </p:cNvSpPr>
          <p:nvPr/>
        </p:nvSpPr>
        <p:spPr>
          <a:xfrm xmlns:a="http://schemas.openxmlformats.org/drawingml/2006/main">
            <a:off x="6753225" y="3600450"/>
            <a:ext cx="19050" cy="228600"/>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465E6F30-8E33-4A9C-B1A3-97494083F2E3}"/>
              </a:ext>
            </a:extLst>
          </p:cNvPr>
          <p:cNvSpPr>
            <a:spLocks xmlns:a="http://schemas.openxmlformats.org/drawingml/2006/main" noGrp="1"/>
          </p:cNvSpPr>
          <p:nvPr/>
        </p:nvSpPr>
        <p:spPr>
          <a:xfrm xmlns:a="http://schemas.openxmlformats.org/drawingml/2006/main">
            <a:off x="6705600" y="38671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5CA311F8-E170-4AFA-85DC-ADE6A4739E04}"/>
              </a:ext>
            </a:extLst>
          </p:cNvPr>
          <p:cNvSpPr>
            <a:spLocks xmlns:a="http://schemas.openxmlformats.org/drawingml/2006/main" noGrp="1"/>
          </p:cNvSpPr>
          <p:nvPr/>
        </p:nvSpPr>
        <p:spPr>
          <a:xfrm xmlns:a="http://schemas.openxmlformats.org/drawingml/2006/main">
            <a:off x="6972300" y="38100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Change control</a:t>
            </a:r>
          </a:p>
        </p:txBody>
      </p:sp>
      <p:sp>
        <p:nvSpPr>
          <p:cNvPr id="33" name="">
            <a:extLst xmlns:a="http://schemas.openxmlformats.org/drawingml/2006/main">
              <a:ext uri="{FF2B5EF4-FFF2-40B4-BE49-F238E27FC236}">
                <a16:creationId xmlns:a16="http://schemas.microsoft.com/office/drawing/2014/main" id="{88F925FB-D7AE-4DA6-BF28-5F1349793B79}"/>
              </a:ext>
            </a:extLst>
          </p:cNvPr>
          <p:cNvSpPr>
            <a:spLocks xmlns:a="http://schemas.openxmlformats.org/drawingml/2006/main" noGrp="1"/>
          </p:cNvSpPr>
          <p:nvPr/>
        </p:nvSpPr>
        <p:spPr>
          <a:xfrm xmlns:a="http://schemas.openxmlformats.org/drawingml/2006/main">
            <a:off x="6753225" y="4057650"/>
            <a:ext cx="19050" cy="228600"/>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522C325B-5ADC-4C81-9E96-1A4A61ADE167}"/>
              </a:ext>
            </a:extLst>
          </p:cNvPr>
          <p:cNvSpPr>
            <a:spLocks xmlns:a="http://schemas.openxmlformats.org/drawingml/2006/main" noGrp="1"/>
          </p:cNvSpPr>
          <p:nvPr/>
        </p:nvSpPr>
        <p:spPr>
          <a:xfrm xmlns:a="http://schemas.openxmlformats.org/drawingml/2006/main">
            <a:off x="6705600" y="43243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C9C20F0C-B4D5-4727-A223-78B6D89E04D2}"/>
              </a:ext>
            </a:extLst>
          </p:cNvPr>
          <p:cNvSpPr>
            <a:spLocks xmlns:a="http://schemas.openxmlformats.org/drawingml/2006/main" noGrp="1"/>
          </p:cNvSpPr>
          <p:nvPr/>
        </p:nvSpPr>
        <p:spPr>
          <a:xfrm xmlns:a="http://schemas.openxmlformats.org/drawingml/2006/main">
            <a:off x="6972300" y="42672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Support and evidence ownership</a:t>
            </a:r>
          </a:p>
        </p:txBody>
      </p:sp>
      <p:sp>
        <p:nvSpPr>
          <p:cNvPr id="36" name="">
            <a:extLst xmlns:a="http://schemas.openxmlformats.org/drawingml/2006/main">
              <a:ext uri="{FF2B5EF4-FFF2-40B4-BE49-F238E27FC236}">
                <a16:creationId xmlns:a16="http://schemas.microsoft.com/office/drawing/2014/main" id="{1C9A3ADD-7EAE-46B8-814F-ACFACDC26E1A}"/>
              </a:ext>
            </a:extLst>
          </p:cNvPr>
          <p:cNvSpPr>
            <a:spLocks xmlns:a="http://schemas.openxmlformats.org/drawingml/2006/main" noGrp="1"/>
          </p:cNvSpPr>
          <p:nvPr/>
        </p:nvSpPr>
        <p:spPr>
          <a:xfrm xmlns:a="http://schemas.openxmlformats.org/drawingml/2006/main">
            <a:off x="5810250" y="3476625"/>
            <a:ext cx="571500" cy="428625"/>
          </a:xfrm>
          <a:prstGeom xmlns:a="http://schemas.openxmlformats.org/drawingml/2006/main" prst="rightArrow">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C2F7FA6E-24B9-4C51-AB6D-E2774747E904}"/>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38" name="">
            <a:extLst xmlns:a="http://schemas.openxmlformats.org/drawingml/2006/main">
              <a:ext uri="{FF2B5EF4-FFF2-40B4-BE49-F238E27FC236}">
                <a16:creationId xmlns:a16="http://schemas.microsoft.com/office/drawing/2014/main" id="{6D53D6C1-289A-4586-A4CC-0A10C75BD5BE}"/>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REQUIRES AP / LEGAL INPUT — licensing, territory, branding, pricing, support, and IP terms.</a:t>
            </a:r>
          </a:p>
        </p:txBody>
      </p:sp>
      <p:sp>
        <p:nvSpPr>
          <p:cNvPr id="39" name="">
            <a:extLst xmlns:a="http://schemas.openxmlformats.org/drawingml/2006/main">
              <a:ext uri="{FF2B5EF4-FFF2-40B4-BE49-F238E27FC236}">
                <a16:creationId xmlns:a16="http://schemas.microsoft.com/office/drawing/2014/main" id="{BD9E3824-A403-485D-A48C-2A289F03BBE1}"/>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16</a:t>
            </a:r>
          </a:p>
        </p:txBody>
      </p:sp>
    </p:spTree>
    <p:extLst>
      <p:ext uri="{BB962C8B-B14F-4D97-AF65-F5344CB8AC3E}">
        <p14:creationId xmlns:p14="http://schemas.microsoft.com/office/powerpoint/2010/main" val="1220916855"/>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9057CB9-56F6-40CE-8337-1B443DE057A3}"/>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8C99F77-6E4F-4D7A-90CA-301CD1113633}"/>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MODULAR INSERT • ENTERPRISE AI / AUTOMATION COE</a:t>
            </a:r>
          </a:p>
        </p:txBody>
      </p:sp>
      <p:sp>
        <p:nvSpPr>
          <p:cNvPr id="3" name="">
            <a:extLst xmlns:a="http://schemas.openxmlformats.org/drawingml/2006/main">
              <a:ext uri="{FF2B5EF4-FFF2-40B4-BE49-F238E27FC236}">
                <a16:creationId xmlns:a16="http://schemas.microsoft.com/office/drawing/2014/main" id="{87A9DB87-78EF-4359-B715-C2CACD4E4922}"/>
              </a:ext>
            </a:extLst>
          </p:cNvPr>
          <p:cNvSpPr>
            <a:spLocks xmlns:a="http://schemas.openxmlformats.org/drawingml/2006/main" noGrp="1"/>
          </p:cNvSpPr>
          <p:nvPr/>
        </p:nvSpPr>
        <p:spPr>
          <a:xfrm xmlns:a="http://schemas.openxmlformats.org/drawingml/2006/main">
            <a:off x="609600" y="638175"/>
            <a:ext cx="10477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Build portfolio discipline before technology becomes the default.</a:t>
            </a:r>
          </a:p>
        </p:txBody>
      </p:sp>
      <p:sp>
        <p:nvSpPr>
          <p:cNvPr id="4" name="">
            <a:extLst xmlns:a="http://schemas.openxmlformats.org/drawingml/2006/main">
              <a:ext uri="{FF2B5EF4-FFF2-40B4-BE49-F238E27FC236}">
                <a16:creationId xmlns:a16="http://schemas.microsoft.com/office/drawing/2014/main" id="{9F8362F3-C92B-4EC2-BEBB-B123103035FE}"/>
              </a:ext>
            </a:extLst>
          </p:cNvPr>
          <p:cNvSpPr>
            <a:spLocks xmlns:a="http://schemas.openxmlformats.org/drawingml/2006/main" noGrp="1"/>
          </p:cNvSpPr>
          <p:nvPr/>
        </p:nvSpPr>
        <p:spPr>
          <a:xfrm xmlns:a="http://schemas.openxmlformats.org/drawingml/2006/main">
            <a:off x="609600" y="1619250"/>
            <a:ext cx="10972800" cy="4762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0C052A9-5EED-415A-9A70-6CC9DD29A863}"/>
              </a:ext>
            </a:extLst>
          </p:cNvPr>
          <p:cNvSpPr>
            <a:spLocks xmlns:a="http://schemas.openxmlformats.org/drawingml/2006/main" noGrp="1"/>
          </p:cNvSpPr>
          <p:nvPr/>
        </p:nvSpPr>
        <p:spPr>
          <a:xfrm xmlns:a="http://schemas.openxmlformats.org/drawingml/2006/main">
            <a:off x="952500" y="21717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7285F7E-1573-42FA-ADF9-BB5BF7A3E695}"/>
              </a:ext>
            </a:extLst>
          </p:cNvPr>
          <p:cNvSpPr>
            <a:spLocks xmlns:a="http://schemas.openxmlformats.org/drawingml/2006/main" noGrp="1"/>
          </p:cNvSpPr>
          <p:nvPr/>
        </p:nvSpPr>
        <p:spPr>
          <a:xfrm xmlns:a="http://schemas.openxmlformats.org/drawingml/2006/main">
            <a:off x="1181100" y="209550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Process and application inventory</a:t>
            </a:r>
          </a:p>
        </p:txBody>
      </p:sp>
      <p:sp>
        <p:nvSpPr>
          <p:cNvPr id="7" name="">
            <a:extLst xmlns:a="http://schemas.openxmlformats.org/drawingml/2006/main">
              <a:ext uri="{FF2B5EF4-FFF2-40B4-BE49-F238E27FC236}">
                <a16:creationId xmlns:a16="http://schemas.microsoft.com/office/drawing/2014/main" id="{A79AA78C-A1E2-414E-934D-A675A7E81305}"/>
              </a:ext>
            </a:extLst>
          </p:cNvPr>
          <p:cNvSpPr>
            <a:spLocks xmlns:a="http://schemas.openxmlformats.org/drawingml/2006/main" noGrp="1"/>
          </p:cNvSpPr>
          <p:nvPr/>
        </p:nvSpPr>
        <p:spPr>
          <a:xfrm xmlns:a="http://schemas.openxmlformats.org/drawingml/2006/main">
            <a:off x="952500" y="27241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54B51B5-92AD-42C2-B95B-BEF4EC75B7B2}"/>
              </a:ext>
            </a:extLst>
          </p:cNvPr>
          <p:cNvSpPr>
            <a:spLocks xmlns:a="http://schemas.openxmlformats.org/drawingml/2006/main" noGrp="1"/>
          </p:cNvSpPr>
          <p:nvPr/>
        </p:nvSpPr>
        <p:spPr>
          <a:xfrm xmlns:a="http://schemas.openxmlformats.org/drawingml/2006/main">
            <a:off x="1181100" y="264795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Evidence and accountable owners</a:t>
            </a:r>
          </a:p>
        </p:txBody>
      </p:sp>
      <p:sp>
        <p:nvSpPr>
          <p:cNvPr id="9" name="">
            <a:extLst xmlns:a="http://schemas.openxmlformats.org/drawingml/2006/main">
              <a:ext uri="{FF2B5EF4-FFF2-40B4-BE49-F238E27FC236}">
                <a16:creationId xmlns:a16="http://schemas.microsoft.com/office/drawing/2014/main" id="{9368D6B3-CE8F-4E6C-B3BE-1AD848D38139}"/>
              </a:ext>
            </a:extLst>
          </p:cNvPr>
          <p:cNvSpPr>
            <a:spLocks xmlns:a="http://schemas.openxmlformats.org/drawingml/2006/main" noGrp="1"/>
          </p:cNvSpPr>
          <p:nvPr/>
        </p:nvSpPr>
        <p:spPr>
          <a:xfrm xmlns:a="http://schemas.openxmlformats.org/drawingml/2006/main">
            <a:off x="952500" y="32766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4580329-A3C7-40A0-AA48-FB03E8871DA9}"/>
              </a:ext>
            </a:extLst>
          </p:cNvPr>
          <p:cNvSpPr>
            <a:spLocks xmlns:a="http://schemas.openxmlformats.org/drawingml/2006/main" noGrp="1"/>
          </p:cNvSpPr>
          <p:nvPr/>
        </p:nvSpPr>
        <p:spPr>
          <a:xfrm xmlns:a="http://schemas.openxmlformats.org/drawingml/2006/main">
            <a:off x="1181100" y="320040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Governed dispositions</a:t>
            </a:r>
          </a:p>
        </p:txBody>
      </p:sp>
      <p:sp>
        <p:nvSpPr>
          <p:cNvPr id="11" name="">
            <a:extLst xmlns:a="http://schemas.openxmlformats.org/drawingml/2006/main">
              <a:ext uri="{FF2B5EF4-FFF2-40B4-BE49-F238E27FC236}">
                <a16:creationId xmlns:a16="http://schemas.microsoft.com/office/drawing/2014/main" id="{4C04E099-C9F8-4811-8733-DD17F3698DB5}"/>
              </a:ext>
            </a:extLst>
          </p:cNvPr>
          <p:cNvSpPr>
            <a:spLocks xmlns:a="http://schemas.openxmlformats.org/drawingml/2006/main" noGrp="1"/>
          </p:cNvSpPr>
          <p:nvPr/>
        </p:nvSpPr>
        <p:spPr>
          <a:xfrm xmlns:a="http://schemas.openxmlformats.org/drawingml/2006/main">
            <a:off x="952500" y="38290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346FA68-DED8-404D-BB12-F56FAC0B87CA}"/>
              </a:ext>
            </a:extLst>
          </p:cNvPr>
          <p:cNvSpPr>
            <a:spLocks xmlns:a="http://schemas.openxmlformats.org/drawingml/2006/main" noGrp="1"/>
          </p:cNvSpPr>
          <p:nvPr/>
        </p:nvSpPr>
        <p:spPr>
          <a:xfrm xmlns:a="http://schemas.openxmlformats.org/drawingml/2006/main">
            <a:off x="1181100" y="375285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Application-readiness bands</a:t>
            </a:r>
          </a:p>
        </p:txBody>
      </p:sp>
      <p:sp>
        <p:nvSpPr>
          <p:cNvPr id="13" name="">
            <a:extLst xmlns:a="http://schemas.openxmlformats.org/drawingml/2006/main">
              <a:ext uri="{FF2B5EF4-FFF2-40B4-BE49-F238E27FC236}">
                <a16:creationId xmlns:a16="http://schemas.microsoft.com/office/drawing/2014/main" id="{AD8F5A41-99D4-47E9-AB47-23F6CB05715B}"/>
              </a:ext>
            </a:extLst>
          </p:cNvPr>
          <p:cNvSpPr>
            <a:spLocks xmlns:a="http://schemas.openxmlformats.org/drawingml/2006/main" noGrp="1"/>
          </p:cNvSpPr>
          <p:nvPr/>
        </p:nvSpPr>
        <p:spPr>
          <a:xfrm xmlns:a="http://schemas.openxmlformats.org/drawingml/2006/main">
            <a:off x="952500" y="43815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6C1A172-FB9E-4A54-B806-BF2173B1F0E5}"/>
              </a:ext>
            </a:extLst>
          </p:cNvPr>
          <p:cNvSpPr>
            <a:spLocks xmlns:a="http://schemas.openxmlformats.org/drawingml/2006/main" noGrp="1"/>
          </p:cNvSpPr>
          <p:nvPr/>
        </p:nvSpPr>
        <p:spPr>
          <a:xfrm xmlns:a="http://schemas.openxmlformats.org/drawingml/2006/main">
            <a:off x="1181100" y="430530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Dependency waves</a:t>
            </a:r>
          </a:p>
        </p:txBody>
      </p:sp>
      <p:sp>
        <p:nvSpPr>
          <p:cNvPr id="15" name="">
            <a:extLst xmlns:a="http://schemas.openxmlformats.org/drawingml/2006/main">
              <a:ext uri="{FF2B5EF4-FFF2-40B4-BE49-F238E27FC236}">
                <a16:creationId xmlns:a16="http://schemas.microsoft.com/office/drawing/2014/main" id="{39BFF2FC-FDFB-42EF-9FDF-020CB130E2F3}"/>
              </a:ext>
            </a:extLst>
          </p:cNvPr>
          <p:cNvSpPr>
            <a:spLocks xmlns:a="http://schemas.openxmlformats.org/drawingml/2006/main" noGrp="1"/>
          </p:cNvSpPr>
          <p:nvPr/>
        </p:nvSpPr>
        <p:spPr>
          <a:xfrm xmlns:a="http://schemas.openxmlformats.org/drawingml/2006/main">
            <a:off x="952500" y="49339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BF7D1ED2-E5BE-4939-AC52-EF49463338E4}"/>
              </a:ext>
            </a:extLst>
          </p:cNvPr>
          <p:cNvSpPr>
            <a:spLocks xmlns:a="http://schemas.openxmlformats.org/drawingml/2006/main" noGrp="1"/>
          </p:cNvSpPr>
          <p:nvPr/>
        </p:nvSpPr>
        <p:spPr>
          <a:xfrm xmlns:a="http://schemas.openxmlformats.org/drawingml/2006/main">
            <a:off x="1181100" y="485775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Risk, control, and economics ranges</a:t>
            </a:r>
          </a:p>
        </p:txBody>
      </p:sp>
      <p:sp>
        <p:nvSpPr>
          <p:cNvPr id="17" name="">
            <a:extLst xmlns:a="http://schemas.openxmlformats.org/drawingml/2006/main">
              <a:ext uri="{FF2B5EF4-FFF2-40B4-BE49-F238E27FC236}">
                <a16:creationId xmlns:a16="http://schemas.microsoft.com/office/drawing/2014/main" id="{F9B5F0E9-010B-4302-A13F-A715E0628A65}"/>
              </a:ext>
            </a:extLst>
          </p:cNvPr>
          <p:cNvSpPr>
            <a:spLocks xmlns:a="http://schemas.openxmlformats.org/drawingml/2006/main" noGrp="1"/>
          </p:cNvSpPr>
          <p:nvPr/>
        </p:nvSpPr>
        <p:spPr>
          <a:xfrm xmlns:a="http://schemas.openxmlformats.org/drawingml/2006/main">
            <a:off x="7810500" y="2333625"/>
            <a:ext cx="2857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C45500"/>
                </a:solidFill>
                <a:latin typeface="Inter"/>
                <a:ea typeface="Inter"/>
                <a:cs typeface="Inter"/>
              </a:defRPr>
            </a:pPr>
            <a:r>
              <a:rPr sz="1200" b="1">
                <a:solidFill>
                  <a:srgbClr val="C45500"/>
                </a:solidFill>
                <a:latin typeface="Inter"/>
                <a:ea typeface="Inter"/>
                <a:cs typeface="Inter"/>
              </a:rPr>
              <a:t>DECISION CONTRACT</a:t>
            </a:r>
          </a:p>
        </p:txBody>
      </p:sp>
      <p:sp>
        <p:nvSpPr>
          <p:cNvPr id="18" name="">
            <a:extLst xmlns:a="http://schemas.openxmlformats.org/drawingml/2006/main">
              <a:ext uri="{FF2B5EF4-FFF2-40B4-BE49-F238E27FC236}">
                <a16:creationId xmlns:a16="http://schemas.microsoft.com/office/drawing/2014/main" id="{6AF24B7A-20AA-4B0D-A542-05C2E35894DC}"/>
              </a:ext>
            </a:extLst>
          </p:cNvPr>
          <p:cNvSpPr>
            <a:spLocks xmlns:a="http://schemas.openxmlformats.org/drawingml/2006/main" noGrp="1"/>
          </p:cNvSpPr>
          <p:nvPr/>
        </p:nvSpPr>
        <p:spPr>
          <a:xfrm xmlns:a="http://schemas.openxmlformats.org/drawingml/2006/main">
            <a:off x="8524875" y="3000375"/>
            <a:ext cx="1428750" cy="1428750"/>
          </a:xfrm>
          <a:prstGeom xmlns:a="http://schemas.openxmlformats.org/drawingml/2006/main" prst="ellipse">
            <a:avLst/>
          </a:prstGeom>
          <a:solidFill xmlns:a="http://schemas.openxmlformats.org/drawingml/2006/main">
            <a:srgbClr val="001B30"/>
          </a:solidFill>
          <a:ln xmlns:a="http://schemas.openxmlformats.org/drawingml/2006/main" w="47625">
            <a:solidFill>
              <a:srgbClr val="FFBC03"/>
            </a:solidFill>
            <a:prstDash val="solid"/>
          </a:ln>
        </p:spPr>
      </p:sp>
      <p:sp>
        <p:nvSpPr>
          <p:cNvPr id="19" name="">
            <a:extLst xmlns:a="http://schemas.openxmlformats.org/drawingml/2006/main">
              <a:ext uri="{FF2B5EF4-FFF2-40B4-BE49-F238E27FC236}">
                <a16:creationId xmlns:a16="http://schemas.microsoft.com/office/drawing/2014/main" id="{6061BD2B-B441-4264-A9EA-9B6D0752C393}"/>
              </a:ext>
            </a:extLst>
          </p:cNvPr>
          <p:cNvSpPr>
            <a:spLocks xmlns:a="http://schemas.openxmlformats.org/drawingml/2006/main" noGrp="1"/>
          </p:cNvSpPr>
          <p:nvPr/>
        </p:nvSpPr>
        <p:spPr>
          <a:xfrm xmlns:a="http://schemas.openxmlformats.org/drawingml/2006/main">
            <a:off x="8620125" y="3286125"/>
            <a:ext cx="12382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Inter"/>
                <a:ea typeface="Inter"/>
                <a:cs typeface="Inter"/>
              </a:defRPr>
            </a:pPr>
            <a:r>
              <a:rPr sz="1500" b="1">
                <a:solidFill>
                  <a:srgbClr val="FFFFFF"/>
                </a:solidFill>
                <a:latin typeface="Inter"/>
                <a:ea typeface="Inter"/>
                <a:cs typeface="Inter"/>
              </a:rPr>
              <a:t>Evidence</a:t>
            </a:r>
          </a:p>
          <a:p xmlns:a="http://schemas.openxmlformats.org/drawingml/2006/main">
            <a:pPr algn="ctr">
              <a:defRPr sz="1500" b="1">
                <a:solidFill>
                  <a:srgbClr val="FFFFFF"/>
                </a:solidFill>
                <a:latin typeface="Inter"/>
                <a:ea typeface="Inter"/>
                <a:cs typeface="Inter"/>
              </a:defRPr>
            </a:pPr>
            <a:r>
              <a:rPr sz="1500" b="1">
                <a:solidFill>
                  <a:srgbClr val="FFFFFF"/>
                </a:solidFill>
                <a:latin typeface="Inter"/>
                <a:ea typeface="Inter"/>
                <a:cs typeface="Inter"/>
              </a:rPr>
              <a:t>+</a:t>
            </a:r>
          </a:p>
          <a:p xmlns:a="http://schemas.openxmlformats.org/drawingml/2006/main">
            <a:pPr algn="ctr">
              <a:defRPr sz="1500" b="1">
                <a:solidFill>
                  <a:srgbClr val="FFFFFF"/>
                </a:solidFill>
                <a:latin typeface="Inter"/>
                <a:ea typeface="Inter"/>
                <a:cs typeface="Inter"/>
              </a:defRPr>
            </a:pPr>
            <a:r>
              <a:rPr sz="1500" b="1">
                <a:solidFill>
                  <a:srgbClr val="FFFFFF"/>
                </a:solidFill>
                <a:latin typeface="Inter"/>
                <a:ea typeface="Inter"/>
                <a:cs typeface="Inter"/>
              </a:rPr>
              <a:t>Authority</a:t>
            </a:r>
          </a:p>
        </p:txBody>
      </p:sp>
      <p:sp>
        <p:nvSpPr>
          <p:cNvPr id="20" name="">
            <a:extLst xmlns:a="http://schemas.openxmlformats.org/drawingml/2006/main">
              <a:ext uri="{FF2B5EF4-FFF2-40B4-BE49-F238E27FC236}">
                <a16:creationId xmlns:a16="http://schemas.microsoft.com/office/drawing/2014/main" id="{6E2A2BD3-550B-4775-A492-1DCE84C44BB2}"/>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21" name="">
            <a:extLst xmlns:a="http://schemas.openxmlformats.org/drawingml/2006/main">
              <a:ext uri="{FF2B5EF4-FFF2-40B4-BE49-F238E27FC236}">
                <a16:creationId xmlns:a16="http://schemas.microsoft.com/office/drawing/2014/main" id="{79B9036A-A9A6-43EC-99C6-6697FAAA8B36}"/>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No live CMDB scanning, automatic roadmap approval, or operational telemetry.</a:t>
            </a:r>
          </a:p>
        </p:txBody>
      </p:sp>
      <p:sp>
        <p:nvSpPr>
          <p:cNvPr id="22" name="">
            <a:extLst xmlns:a="http://schemas.openxmlformats.org/drawingml/2006/main">
              <a:ext uri="{FF2B5EF4-FFF2-40B4-BE49-F238E27FC236}">
                <a16:creationId xmlns:a16="http://schemas.microsoft.com/office/drawing/2014/main" id="{FBA6B99A-BD77-49D8-9F2E-454B9FFCED5A}"/>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17</a:t>
            </a:r>
          </a:p>
        </p:txBody>
      </p:sp>
    </p:spTree>
    <p:extLst>
      <p:ext uri="{BB962C8B-B14F-4D97-AF65-F5344CB8AC3E}">
        <p14:creationId xmlns:p14="http://schemas.microsoft.com/office/powerpoint/2010/main" val="366210343"/>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2DCCB96-A5CA-4484-836D-F7CCBC5001A2}"/>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0562F29-0A7A-49BF-A35E-0F26A597A7EC}"/>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MODULAR INSERT • ENTERPRISE AI / AUTOMATION COE</a:t>
            </a:r>
          </a:p>
        </p:txBody>
      </p:sp>
      <p:sp>
        <p:nvSpPr>
          <p:cNvPr id="3" name="">
            <a:extLst xmlns:a="http://schemas.openxmlformats.org/drawingml/2006/main">
              <a:ext uri="{FF2B5EF4-FFF2-40B4-BE49-F238E27FC236}">
                <a16:creationId xmlns:a16="http://schemas.microsoft.com/office/drawing/2014/main" id="{4FA8C58E-B63E-485D-88C8-6F0B0737857D}"/>
              </a:ext>
            </a:extLst>
          </p:cNvPr>
          <p:cNvSpPr>
            <a:spLocks xmlns:a="http://schemas.openxmlformats.org/drawingml/2006/main" noGrp="1"/>
          </p:cNvSpPr>
          <p:nvPr/>
        </p:nvSpPr>
        <p:spPr>
          <a:xfrm xmlns:a="http://schemas.openxmlformats.org/drawingml/2006/main">
            <a:off x="609600" y="638175"/>
            <a:ext cx="10287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Give every initiative the same decision-to-handoff contract.</a:t>
            </a:r>
          </a:p>
        </p:txBody>
      </p:sp>
      <p:sp>
        <p:nvSpPr>
          <p:cNvPr id="4" name="">
            <a:extLst xmlns:a="http://schemas.openxmlformats.org/drawingml/2006/main">
              <a:ext uri="{FF2B5EF4-FFF2-40B4-BE49-F238E27FC236}">
                <a16:creationId xmlns:a16="http://schemas.microsoft.com/office/drawing/2014/main" id="{4835507D-FC37-43F4-B139-F99A11587DC6}"/>
              </a:ext>
            </a:extLst>
          </p:cNvPr>
          <p:cNvSpPr>
            <a:spLocks xmlns:a="http://schemas.openxmlformats.org/drawingml/2006/main" noGrp="1"/>
          </p:cNvSpPr>
          <p:nvPr/>
        </p:nvSpPr>
        <p:spPr>
          <a:xfrm xmlns:a="http://schemas.openxmlformats.org/drawingml/2006/main">
            <a:off x="857250" y="2190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DF978AB-1EAE-48A0-959C-89EF32CF0B53}"/>
              </a:ext>
            </a:extLst>
          </p:cNvPr>
          <p:cNvSpPr>
            <a:spLocks xmlns:a="http://schemas.openxmlformats.org/drawingml/2006/main" noGrp="1"/>
          </p:cNvSpPr>
          <p:nvPr/>
        </p:nvSpPr>
        <p:spPr>
          <a:xfrm xmlns:a="http://schemas.openxmlformats.org/drawingml/2006/main">
            <a:off x="857250" y="2343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1</a:t>
            </a:r>
          </a:p>
        </p:txBody>
      </p:sp>
      <p:sp>
        <p:nvSpPr>
          <p:cNvPr id="6" name="">
            <a:extLst xmlns:a="http://schemas.openxmlformats.org/drawingml/2006/main">
              <a:ext uri="{FF2B5EF4-FFF2-40B4-BE49-F238E27FC236}">
                <a16:creationId xmlns:a16="http://schemas.microsoft.com/office/drawing/2014/main" id="{AA6DC161-D412-4014-80B1-0EF2774993C9}"/>
              </a:ext>
            </a:extLst>
          </p:cNvPr>
          <p:cNvSpPr>
            <a:spLocks xmlns:a="http://schemas.openxmlformats.org/drawingml/2006/main" noGrp="1"/>
          </p:cNvSpPr>
          <p:nvPr/>
        </p:nvSpPr>
        <p:spPr>
          <a:xfrm xmlns:a="http://schemas.openxmlformats.org/drawingml/2006/main">
            <a:off x="1600200" y="2162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Evidence + assumptions</a:t>
            </a:r>
          </a:p>
        </p:txBody>
      </p:sp>
      <p:sp>
        <p:nvSpPr>
          <p:cNvPr id="7" name="">
            <a:extLst xmlns:a="http://schemas.openxmlformats.org/drawingml/2006/main">
              <a:ext uri="{FF2B5EF4-FFF2-40B4-BE49-F238E27FC236}">
                <a16:creationId xmlns:a16="http://schemas.microsoft.com/office/drawing/2014/main" id="{1894275A-686E-48B7-9649-C3405AA7BB28}"/>
              </a:ext>
            </a:extLst>
          </p:cNvPr>
          <p:cNvSpPr>
            <a:spLocks xmlns:a="http://schemas.openxmlformats.org/drawingml/2006/main" noGrp="1"/>
          </p:cNvSpPr>
          <p:nvPr/>
        </p:nvSpPr>
        <p:spPr>
          <a:xfrm xmlns:a="http://schemas.openxmlformats.org/drawingml/2006/main">
            <a:off x="3952875" y="2333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96DA4AE-5352-493A-A2FB-0CB861D42932}"/>
              </a:ext>
            </a:extLst>
          </p:cNvPr>
          <p:cNvSpPr>
            <a:spLocks xmlns:a="http://schemas.openxmlformats.org/drawingml/2006/main" noGrp="1"/>
          </p:cNvSpPr>
          <p:nvPr/>
        </p:nvSpPr>
        <p:spPr>
          <a:xfrm xmlns:a="http://schemas.openxmlformats.org/drawingml/2006/main">
            <a:off x="4572000" y="2190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991F2EB-0316-4703-916E-DBF1D30F0562}"/>
              </a:ext>
            </a:extLst>
          </p:cNvPr>
          <p:cNvSpPr>
            <a:spLocks xmlns:a="http://schemas.openxmlformats.org/drawingml/2006/main" noGrp="1"/>
          </p:cNvSpPr>
          <p:nvPr/>
        </p:nvSpPr>
        <p:spPr>
          <a:xfrm xmlns:a="http://schemas.openxmlformats.org/drawingml/2006/main">
            <a:off x="4572000" y="2343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2</a:t>
            </a:r>
          </a:p>
        </p:txBody>
      </p:sp>
      <p:sp>
        <p:nvSpPr>
          <p:cNvPr id="10" name="">
            <a:extLst xmlns:a="http://schemas.openxmlformats.org/drawingml/2006/main">
              <a:ext uri="{FF2B5EF4-FFF2-40B4-BE49-F238E27FC236}">
                <a16:creationId xmlns:a16="http://schemas.microsoft.com/office/drawing/2014/main" id="{ABE862B2-4366-4379-B159-FB6A4C757004}"/>
              </a:ext>
            </a:extLst>
          </p:cNvPr>
          <p:cNvSpPr>
            <a:spLocks xmlns:a="http://schemas.openxmlformats.org/drawingml/2006/main" noGrp="1"/>
          </p:cNvSpPr>
          <p:nvPr/>
        </p:nvSpPr>
        <p:spPr>
          <a:xfrm xmlns:a="http://schemas.openxmlformats.org/drawingml/2006/main">
            <a:off x="5314950" y="2162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Versioned deterministic recommendation</a:t>
            </a:r>
          </a:p>
        </p:txBody>
      </p:sp>
      <p:sp>
        <p:nvSpPr>
          <p:cNvPr id="11" name="">
            <a:extLst xmlns:a="http://schemas.openxmlformats.org/drawingml/2006/main">
              <a:ext uri="{FF2B5EF4-FFF2-40B4-BE49-F238E27FC236}">
                <a16:creationId xmlns:a16="http://schemas.microsoft.com/office/drawing/2014/main" id="{9937ADF6-89F3-4585-96CC-E0B70F5BBE08}"/>
              </a:ext>
            </a:extLst>
          </p:cNvPr>
          <p:cNvSpPr>
            <a:spLocks xmlns:a="http://schemas.openxmlformats.org/drawingml/2006/main" noGrp="1"/>
          </p:cNvSpPr>
          <p:nvPr/>
        </p:nvSpPr>
        <p:spPr>
          <a:xfrm xmlns:a="http://schemas.openxmlformats.org/drawingml/2006/main">
            <a:off x="7667625" y="2333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22D9794-FE2C-4734-B269-ED85CA3AE07A}"/>
              </a:ext>
            </a:extLst>
          </p:cNvPr>
          <p:cNvSpPr>
            <a:spLocks xmlns:a="http://schemas.openxmlformats.org/drawingml/2006/main" noGrp="1"/>
          </p:cNvSpPr>
          <p:nvPr/>
        </p:nvSpPr>
        <p:spPr>
          <a:xfrm xmlns:a="http://schemas.openxmlformats.org/drawingml/2006/main">
            <a:off x="8286750" y="2190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A134B6B5-D0DF-4365-AB0C-333FA0765B73}"/>
              </a:ext>
            </a:extLst>
          </p:cNvPr>
          <p:cNvSpPr>
            <a:spLocks xmlns:a="http://schemas.openxmlformats.org/drawingml/2006/main" noGrp="1"/>
          </p:cNvSpPr>
          <p:nvPr/>
        </p:nvSpPr>
        <p:spPr>
          <a:xfrm xmlns:a="http://schemas.openxmlformats.org/drawingml/2006/main">
            <a:off x="8286750" y="2343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3</a:t>
            </a:r>
          </a:p>
        </p:txBody>
      </p:sp>
      <p:sp>
        <p:nvSpPr>
          <p:cNvPr id="14" name="">
            <a:extLst xmlns:a="http://schemas.openxmlformats.org/drawingml/2006/main">
              <a:ext uri="{FF2B5EF4-FFF2-40B4-BE49-F238E27FC236}">
                <a16:creationId xmlns:a16="http://schemas.microsoft.com/office/drawing/2014/main" id="{9368C32A-196D-491C-82C5-AB47F6F12E78}"/>
              </a:ext>
            </a:extLst>
          </p:cNvPr>
          <p:cNvSpPr>
            <a:spLocks xmlns:a="http://schemas.openxmlformats.org/drawingml/2006/main" noGrp="1"/>
          </p:cNvSpPr>
          <p:nvPr/>
        </p:nvSpPr>
        <p:spPr>
          <a:xfrm xmlns:a="http://schemas.openxmlformats.org/drawingml/2006/main">
            <a:off x="9029700" y="2162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Human review + controls</a:t>
            </a:r>
          </a:p>
        </p:txBody>
      </p:sp>
      <p:sp>
        <p:nvSpPr>
          <p:cNvPr id="15" name="">
            <a:extLst xmlns:a="http://schemas.openxmlformats.org/drawingml/2006/main">
              <a:ext uri="{FF2B5EF4-FFF2-40B4-BE49-F238E27FC236}">
                <a16:creationId xmlns:a16="http://schemas.microsoft.com/office/drawing/2014/main" id="{5A8FFFF3-C3E2-4644-A928-3D484F902856}"/>
              </a:ext>
            </a:extLst>
          </p:cNvPr>
          <p:cNvSpPr>
            <a:spLocks xmlns:a="http://schemas.openxmlformats.org/drawingml/2006/main" noGrp="1"/>
          </p:cNvSpPr>
          <p:nvPr/>
        </p:nvSpPr>
        <p:spPr>
          <a:xfrm xmlns:a="http://schemas.openxmlformats.org/drawingml/2006/main">
            <a:off x="857250" y="4095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99FFC0A8-20EA-4FD1-B7E5-0CE590C300AE}"/>
              </a:ext>
            </a:extLst>
          </p:cNvPr>
          <p:cNvSpPr>
            <a:spLocks xmlns:a="http://schemas.openxmlformats.org/drawingml/2006/main" noGrp="1"/>
          </p:cNvSpPr>
          <p:nvPr/>
        </p:nvSpPr>
        <p:spPr>
          <a:xfrm xmlns:a="http://schemas.openxmlformats.org/drawingml/2006/main">
            <a:off x="857250" y="4248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4</a:t>
            </a:r>
          </a:p>
        </p:txBody>
      </p:sp>
      <p:sp>
        <p:nvSpPr>
          <p:cNvPr id="17" name="">
            <a:extLst xmlns:a="http://schemas.openxmlformats.org/drawingml/2006/main">
              <a:ext uri="{FF2B5EF4-FFF2-40B4-BE49-F238E27FC236}">
                <a16:creationId xmlns:a16="http://schemas.microsoft.com/office/drawing/2014/main" id="{567F08FB-42D8-4E3D-9A9C-D6EE23B15C21}"/>
              </a:ext>
            </a:extLst>
          </p:cNvPr>
          <p:cNvSpPr>
            <a:spLocks xmlns:a="http://schemas.openxmlformats.org/drawingml/2006/main" noGrp="1"/>
          </p:cNvSpPr>
          <p:nvPr/>
        </p:nvSpPr>
        <p:spPr>
          <a:xfrm xmlns:a="http://schemas.openxmlformats.org/drawingml/2006/main">
            <a:off x="1600200" y="4067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Approved artifact</a:t>
            </a:r>
          </a:p>
        </p:txBody>
      </p:sp>
      <p:sp>
        <p:nvSpPr>
          <p:cNvPr id="18" name="">
            <a:extLst xmlns:a="http://schemas.openxmlformats.org/drawingml/2006/main">
              <a:ext uri="{FF2B5EF4-FFF2-40B4-BE49-F238E27FC236}">
                <a16:creationId xmlns:a16="http://schemas.microsoft.com/office/drawing/2014/main" id="{D0AFD61E-A14F-49A8-A3F2-AF4FA2413E97}"/>
              </a:ext>
            </a:extLst>
          </p:cNvPr>
          <p:cNvSpPr>
            <a:spLocks xmlns:a="http://schemas.openxmlformats.org/drawingml/2006/main" noGrp="1"/>
          </p:cNvSpPr>
          <p:nvPr/>
        </p:nvSpPr>
        <p:spPr>
          <a:xfrm xmlns:a="http://schemas.openxmlformats.org/drawingml/2006/main">
            <a:off x="3952875" y="4238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356ADEFC-A09B-4FB1-A470-5195B1AB0464}"/>
              </a:ext>
            </a:extLst>
          </p:cNvPr>
          <p:cNvSpPr>
            <a:spLocks xmlns:a="http://schemas.openxmlformats.org/drawingml/2006/main" noGrp="1"/>
          </p:cNvSpPr>
          <p:nvPr/>
        </p:nvSpPr>
        <p:spPr>
          <a:xfrm xmlns:a="http://schemas.openxmlformats.org/drawingml/2006/main">
            <a:off x="4572000" y="4095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1297B65-43F2-4A6F-A164-6DAD461EAD92}"/>
              </a:ext>
            </a:extLst>
          </p:cNvPr>
          <p:cNvSpPr>
            <a:spLocks xmlns:a="http://schemas.openxmlformats.org/drawingml/2006/main" noGrp="1"/>
          </p:cNvSpPr>
          <p:nvPr/>
        </p:nvSpPr>
        <p:spPr>
          <a:xfrm xmlns:a="http://schemas.openxmlformats.org/drawingml/2006/main">
            <a:off x="4572000" y="4248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5</a:t>
            </a:r>
          </a:p>
        </p:txBody>
      </p:sp>
      <p:sp>
        <p:nvSpPr>
          <p:cNvPr id="21" name="">
            <a:extLst xmlns:a="http://schemas.openxmlformats.org/drawingml/2006/main">
              <a:ext uri="{FF2B5EF4-FFF2-40B4-BE49-F238E27FC236}">
                <a16:creationId xmlns:a16="http://schemas.microsoft.com/office/drawing/2014/main" id="{79B0150A-C2FF-48D1-BA9F-C110A7A1ACB6}"/>
              </a:ext>
            </a:extLst>
          </p:cNvPr>
          <p:cNvSpPr>
            <a:spLocks xmlns:a="http://schemas.openxmlformats.org/drawingml/2006/main" noGrp="1"/>
          </p:cNvSpPr>
          <p:nvPr/>
        </p:nvSpPr>
        <p:spPr>
          <a:xfrm xmlns:a="http://schemas.openxmlformats.org/drawingml/2006/main">
            <a:off x="5314950" y="4067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Source-linked handoff</a:t>
            </a:r>
          </a:p>
        </p:txBody>
      </p:sp>
      <p:sp>
        <p:nvSpPr>
          <p:cNvPr id="22" name="">
            <a:extLst xmlns:a="http://schemas.openxmlformats.org/drawingml/2006/main">
              <a:ext uri="{FF2B5EF4-FFF2-40B4-BE49-F238E27FC236}">
                <a16:creationId xmlns:a16="http://schemas.microsoft.com/office/drawing/2014/main" id="{1BB4AA67-775F-4978-BCF9-462CF253B834}"/>
              </a:ext>
            </a:extLst>
          </p:cNvPr>
          <p:cNvSpPr>
            <a:spLocks xmlns:a="http://schemas.openxmlformats.org/drawingml/2006/main" noGrp="1"/>
          </p:cNvSpPr>
          <p:nvPr/>
        </p:nvSpPr>
        <p:spPr>
          <a:xfrm xmlns:a="http://schemas.openxmlformats.org/drawingml/2006/main">
            <a:off x="7667625" y="4238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C0EEE426-288E-46B0-82AE-2659F2E4896A}"/>
              </a:ext>
            </a:extLst>
          </p:cNvPr>
          <p:cNvSpPr>
            <a:spLocks xmlns:a="http://schemas.openxmlformats.org/drawingml/2006/main" noGrp="1"/>
          </p:cNvSpPr>
          <p:nvPr/>
        </p:nvSpPr>
        <p:spPr>
          <a:xfrm xmlns:a="http://schemas.openxmlformats.org/drawingml/2006/main">
            <a:off x="8286750" y="4095750"/>
            <a:ext cx="552450" cy="552450"/>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D4C79595-AA00-4B2E-82C0-5A8879F5109B}"/>
              </a:ext>
            </a:extLst>
          </p:cNvPr>
          <p:cNvSpPr>
            <a:spLocks xmlns:a="http://schemas.openxmlformats.org/drawingml/2006/main" noGrp="1"/>
          </p:cNvSpPr>
          <p:nvPr/>
        </p:nvSpPr>
        <p:spPr>
          <a:xfrm xmlns:a="http://schemas.openxmlformats.org/drawingml/2006/main">
            <a:off x="8286750" y="4248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01B30"/>
                </a:solidFill>
                <a:latin typeface="Inter"/>
                <a:ea typeface="Inter"/>
                <a:cs typeface="Inter"/>
              </a:defRPr>
            </a:pPr>
            <a:r>
              <a:rPr sz="1275" b="1">
                <a:solidFill>
                  <a:srgbClr val="001B30"/>
                </a:solidFill>
                <a:latin typeface="Inter"/>
                <a:ea typeface="Inter"/>
                <a:cs typeface="Inter"/>
              </a:rPr>
              <a:t>6</a:t>
            </a:r>
          </a:p>
        </p:txBody>
      </p:sp>
      <p:sp>
        <p:nvSpPr>
          <p:cNvPr id="25" name="">
            <a:extLst xmlns:a="http://schemas.openxmlformats.org/drawingml/2006/main">
              <a:ext uri="{FF2B5EF4-FFF2-40B4-BE49-F238E27FC236}">
                <a16:creationId xmlns:a16="http://schemas.microsoft.com/office/drawing/2014/main" id="{D6D5F365-DFED-4151-B1CF-DF73A58C3B82}"/>
              </a:ext>
            </a:extLst>
          </p:cNvPr>
          <p:cNvSpPr>
            <a:spLocks xmlns:a="http://schemas.openxmlformats.org/drawingml/2006/main" noGrp="1"/>
          </p:cNvSpPr>
          <p:nvPr/>
        </p:nvSpPr>
        <p:spPr>
          <a:xfrm xmlns:a="http://schemas.openxmlformats.org/drawingml/2006/main">
            <a:off x="9029700" y="4067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Executive visibility</a:t>
            </a:r>
          </a:p>
        </p:txBody>
      </p:sp>
      <p:sp>
        <p:nvSpPr>
          <p:cNvPr id="26" name="">
            <a:extLst xmlns:a="http://schemas.openxmlformats.org/drawingml/2006/main">
              <a:ext uri="{FF2B5EF4-FFF2-40B4-BE49-F238E27FC236}">
                <a16:creationId xmlns:a16="http://schemas.microsoft.com/office/drawing/2014/main" id="{2C6F22D0-BDCF-4487-92B4-CA701B1371DA}"/>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From Process Evidence to Governed Delivery • CIO/COO, Automation or AI leadership, Process Owners, BA/PMO, Risk and delivery leaders</a:t>
            </a:r>
          </a:p>
        </p:txBody>
      </p:sp>
      <p:sp>
        <p:nvSpPr>
          <p:cNvPr id="27" name="">
            <a:extLst xmlns:a="http://schemas.openxmlformats.org/drawingml/2006/main">
              <a:ext uri="{FF2B5EF4-FFF2-40B4-BE49-F238E27FC236}">
                <a16:creationId xmlns:a16="http://schemas.microsoft.com/office/drawing/2014/main" id="{B0F3B7CC-5754-469B-A1ED-B2E0B36E3DEE}"/>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A standard decision contract, not autonomous execution or direct tool integration.</a:t>
            </a:r>
          </a:p>
        </p:txBody>
      </p:sp>
      <p:sp>
        <p:nvSpPr>
          <p:cNvPr id="28" name="">
            <a:extLst xmlns:a="http://schemas.openxmlformats.org/drawingml/2006/main">
              <a:ext uri="{FF2B5EF4-FFF2-40B4-BE49-F238E27FC236}">
                <a16:creationId xmlns:a16="http://schemas.microsoft.com/office/drawing/2014/main" id="{497A06C7-9D34-4382-9457-5A2AEFE5DAE6}"/>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18</a:t>
            </a:r>
          </a:p>
        </p:txBody>
      </p:sp>
    </p:spTree>
    <p:extLst>
      <p:ext uri="{BB962C8B-B14F-4D97-AF65-F5344CB8AC3E}">
        <p14:creationId xmlns:p14="http://schemas.microsoft.com/office/powerpoint/2010/main" val="9720447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2026-08-02T11:34:44.6580000Z</dcterms:created>
  <dcterms:modified xsi:type="dcterms:W3CDTF">2026-08-02T11:34:44.6580000Z</dcterms:modified>
</coreProperties>
</file>